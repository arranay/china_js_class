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4"/>
    <p:sldId id="284" r:id="rId15"/>
    <p:sldId id="285" r:id="rId16"/>
    <p:sldId id="271" r:id="rId17"/>
    <p:sldId id="272" r:id="rId18"/>
    <p:sldId id="273" r:id="rId19"/>
    <p:sldId id="274" r:id="rId20"/>
    <p:sldId id="275" r:id="rId21"/>
    <p:sldId id="28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Google Shape;84;p1"/>
          <p:cNvSpPr/>
          <p:nvPr/>
        </p:nvSpPr>
        <p:spPr>
          <a:xfrm>
            <a:off x="0" y="316603"/>
            <a:ext cx="12192000" cy="898525"/>
          </a:xfrm>
          <a:prstGeom prst="rect">
            <a:avLst/>
          </a:prstGeom>
          <a:solidFill>
            <a:schemeClr val="accent1">
              <a:alpha val="45882"/>
            </a:schemeClr>
          </a:solidFill>
          <a:ln w="12700" cap="flat" cmpd="sng">
            <a:solidFill>
              <a:srgbClr val="3A5F8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" name="Google Shape;85;p1"/>
          <p:cNvSpPr/>
          <p:nvPr/>
        </p:nvSpPr>
        <p:spPr>
          <a:xfrm>
            <a:off x="260985" y="438700"/>
            <a:ext cx="1027672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p>
            <a:pPr marL="0" marR="0" lvl="0" indent="0" algn="l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ВЛАДИМИРСКИЙ ГОСУДАРСТВЕННЫЙ УНИВЕРСИТЕТ</a:t>
            </a:r>
            <a:r>
              <a:rPr lang="en-US"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ИМЕНИ 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АЛЕКСАНДРА ГРИГОРЬЕВИЧА И НИКОЛАЯ ГРИГОРЬЕВИЧА СТОЛЕТОВЫХ</a:t>
            </a:r>
            <a:endParaRPr sz="14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1" name="Google Shape;86;p1" descr="Владимирский государственный университет имени Александра Григорьевича и  Николая Григорьевича Столетовых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43603" y="77207"/>
            <a:ext cx="1381125" cy="137731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7;p1"/>
          <p:cNvSpPr txBox="1"/>
          <p:nvPr/>
        </p:nvSpPr>
        <p:spPr>
          <a:xfrm>
            <a:off x="635" y="1649730"/>
            <a:ext cx="12191365" cy="249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«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Разработка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веб-интерфейсного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скрипта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»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“Web </a:t>
            </a:r>
            <a:r>
              <a:rPr lang="en-US" sz="2400" b="0" i="0" u="none" strike="noStrike" cap="none" dirty="0" err="1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前端脚本开发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”</a:t>
            </a: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32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Google Shape;88;p1"/>
          <p:cNvSpPr txBox="1"/>
          <p:nvPr/>
        </p:nvSpPr>
        <p:spPr>
          <a:xfrm>
            <a:off x="7366000" y="5497830"/>
            <a:ext cx="4676775" cy="920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Преподаватель кафедры </a:t>
            </a:r>
            <a:r>
              <a:rPr lang="ru-RU" alt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информационных систем и программной инженерии </a:t>
            </a:r>
            <a:endParaRPr lang="ru-RU" altLang="en-US"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Хлызова Валерия Григорьевна.</a:t>
            </a: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04520" y="3429000"/>
            <a:ext cx="11220450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3200">
                <a:latin typeface="Times New Roman Regular" panose="02020603050405020304" charset="0"/>
                <a:cs typeface="Times New Roman Regular" panose="02020603050405020304" charset="0"/>
              </a:rPr>
              <a:t>JavaScript BOM (Browser Object Model). Управление </a:t>
            </a:r>
            <a:r>
              <a:rPr lang="en-US" sz="3200">
                <a:latin typeface="Times New Roman Regular" panose="02020603050405020304" charset="0"/>
                <a:cs typeface="Times New Roman Regular" panose="02020603050405020304" charset="0"/>
              </a:rPr>
              <a:t>BOM</a:t>
            </a:r>
            <a:r>
              <a:rPr sz="3200">
                <a:latin typeface="Times New Roman Regular" panose="02020603050405020304" charset="0"/>
                <a:cs typeface="Times New Roman Regular" panose="02020603050405020304" charset="0"/>
              </a:rPr>
              <a:t>.</a:t>
            </a:r>
            <a:endParaRPr sz="32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pPr algn="ctr"/>
            <a:r>
              <a:rPr sz="32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JavaScript BOM (Browser Object Model)</a:t>
            </a:r>
            <a:r>
              <a:rPr sz="3200">
                <a:latin typeface="Times New Roman Regular" panose="02020603050405020304" charset="0"/>
                <a:cs typeface="Times New Roman Regular" panose="02020603050405020304" charset="0"/>
              </a:rPr>
              <a:t>. </a:t>
            </a:r>
            <a:r>
              <a:rPr sz="3200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BOM </a:t>
            </a:r>
            <a:r>
              <a:rPr sz="3200">
                <a:latin typeface="Times New Roman Regular" panose="02020603050405020304" charset="0"/>
                <a:cs typeface="Times New Roman Regular" panose="02020603050405020304" charset="0"/>
              </a:rPr>
              <a:t>的操作管理。</a:t>
            </a:r>
            <a:endParaRPr sz="32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850265" y="1334135"/>
            <a:ext cx="483171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Browser Object Model (BOM) — это объектная модель браузера, которая позволяет JavaScript взаимодействовать с веб-браузером. BOM включает объекты и методы для работы с:</a:t>
            </a:r>
            <a:endParaRPr lang="en-US"/>
          </a:p>
          <a:p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Окном браузера,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Навигацией,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Историей,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Локальным хранилищем,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Экраном и другими компонентами.</a:t>
            </a:r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6757670" y="1334135"/>
            <a:ext cx="406400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浏览器对象模型 (BOM) 是一种 JavaScript 提供与浏览器交互的方法。通过 BOM，您可以访问和控制浏览器窗口、导航历史、屏幕信息等。</a:t>
            </a:r>
            <a:endParaRPr lang="en-US" sz="2800"/>
          </a:p>
          <a:p>
            <a:endParaRPr 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37210" y="557530"/>
            <a:ext cx="759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Основные компоненты BOM / BOM 的主要组件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876935" y="1263015"/>
            <a:ext cx="406400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window</a:t>
            </a:r>
            <a:endParaRPr lang="en-US"/>
          </a:p>
          <a:p>
            <a:r>
              <a:rPr lang="en-US"/>
              <a:t>Главный объект BOM, представляющий окно браузера. Все остальные объекты, такие как document, navigator и другие, являются его свойствами. Например: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105660" y="4276090"/>
            <a:ext cx="8266430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innerWidth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Ширина окна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href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Текущий URL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6854190" y="126301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window </a:t>
            </a:r>
            <a:endParaRPr lang="en-US"/>
          </a:p>
          <a:p>
            <a:r>
              <a:rPr lang="en-US"/>
              <a:t>是 BOM 的核心对象，代表浏览器窗口。其他对象（如 document、navigator 等）都是它的属性。</a:t>
            </a:r>
            <a:endParaRPr lang="en-US"/>
          </a:p>
          <a:p>
            <a:r>
              <a:rPr lang="en-US"/>
              <a:t>例如：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736600" y="2352675"/>
            <a:ext cx="4775835" cy="1476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t>Объект window представляет окно браузера и предоставляет функции для управления его содержимым, открытия новых окон, работы с таймерами и многого другого.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969000" y="2352992"/>
            <a:ext cx="5080000" cy="1198880"/>
          </a:xfrm>
          <a:prstGeom prst="rect">
            <a:avLst/>
          </a:prstGeom>
        </p:spPr>
        <p:txBody>
          <a:bodyPr>
            <a:spAutoFit/>
          </a:bodyPr>
          <a:p>
            <a:r>
              <a:rPr sz="2400"/>
              <a:t>window对象表示浏览器窗口，提供管理窗口内容、打开新窗口、操作定时器等功能。</a:t>
            </a:r>
            <a:endParaRPr sz="24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774700" y="7750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Работа с размерами окна:</a:t>
            </a:r>
            <a:endParaRPr sz="1600"/>
          </a:p>
          <a:p>
            <a:r>
              <a:rPr sz="1600"/>
              <a:t>操作窗口尺寸：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774700" y="1955800"/>
            <a:ext cx="924496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/>
              <a:t>window.innerWidth и window.innerHeight – возвращают размеры окна </a:t>
            </a:r>
            <a:r>
              <a:rPr lang="ru-RU" sz="1600"/>
              <a:t>/ </a:t>
            </a:r>
            <a:r>
              <a:rPr sz="1600"/>
              <a:t>返回窗口的宽度和高度。</a:t>
            </a:r>
            <a:endParaRPr sz="1600"/>
          </a:p>
        </p:txBody>
      </p:sp>
      <p:sp>
        <p:nvSpPr>
          <p:cNvPr id="6" name="Text Box 5"/>
          <p:cNvSpPr txBox="1"/>
          <p:nvPr/>
        </p:nvSpPr>
        <p:spPr>
          <a:xfrm>
            <a:off x="2933700" y="3349625"/>
            <a:ext cx="7200265" cy="10661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"Ширина окна:"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innerWidth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"窗口宽度："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innerWidth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"Высота окна:"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innerHeight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"窗口高度："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innerHeight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596900" y="11179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Открытие и закрытие окон:</a:t>
            </a:r>
            <a:endParaRPr sz="1600"/>
          </a:p>
          <a:p>
            <a:r>
              <a:rPr sz="1600"/>
              <a:t>打开和关闭窗口：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596900" y="2197100"/>
            <a:ext cx="96005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window.open(url, name, specs) – открывает новое окно </a:t>
            </a:r>
            <a:r>
              <a:rPr lang="ru-RU" altLang="en-US"/>
              <a:t>/ </a:t>
            </a:r>
            <a:r>
              <a:rPr lang="en-US"/>
              <a:t>打开新窗口。</a:t>
            </a:r>
            <a:endParaRPr lang="en-US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lang="en-US"/>
              <a:t>window.close() – закрывает текущее окно </a:t>
            </a:r>
            <a:r>
              <a:rPr lang="ru-RU" altLang="en-US"/>
              <a:t>/ </a:t>
            </a:r>
            <a:r>
              <a:rPr lang="en-US"/>
              <a:t>关闭当前窗口。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85800" y="3429000"/>
            <a:ext cx="11125200" cy="1476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let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newWindow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6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open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"https://www.vlsu.ru/"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"Новое окно"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6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"width=600,height=400"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setTimeout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(() 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=&gt;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{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newWindow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close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Закрыть новое окно 关闭新窗口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}, </a:t>
            </a:r>
            <a:r>
              <a:rPr sz="16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10000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6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596900" y="1087755"/>
            <a:ext cx="8014335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t>window.print()</a:t>
            </a:r>
          </a:p>
          <a:p/>
          <a:p>
            <a:pPr marL="285750" indent="-285750">
              <a:buFont typeface="Arial" panose="020B0704020202020204" pitchFamily="34" charset="0"/>
              <a:buChar char="•"/>
            </a:pPr>
            <a:r>
              <a:t>Открывает диалоговое окно для печати текущей страницы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t>打开当前页面的打印对话框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590800" y="3080067"/>
            <a:ext cx="5080000" cy="2399665"/>
          </a:xfrm>
          <a:prstGeom prst="rect">
            <a:avLst/>
          </a:prstGeom>
        </p:spPr>
        <p:txBody>
          <a:bodyPr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&lt;!DOCTYPE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html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&lt;html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lang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"ru"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&lt;head&gt;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&lt;meta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6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charset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6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"UTF-8"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&lt;/head&gt;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r>
              <a:rPr sz="1600" b="0">
                <a:solidFill>
                  <a:srgbClr val="FF0000"/>
                </a:solidFill>
                <a:latin typeface="Menlo" panose="020B0609030804020204"/>
                <a:ea typeface="Menlo" panose="020B0609030804020204"/>
              </a:rPr>
              <a:t>window.print()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&lt;p&gt;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Hello</a:t>
            </a: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&lt;/p&gt;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6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&lt;/html&gt;</a:t>
            </a:r>
            <a:endParaRPr sz="16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723900" y="897890"/>
            <a:ext cx="609600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t>window.location.reload()</a:t>
            </a:r>
          </a:p>
          <a:p/>
          <a:p>
            <a:pPr marL="285750" indent="-285750">
              <a:buFont typeface="Arial" panose="020B0704020202020204" pitchFamily="34" charset="0"/>
              <a:buChar char="•"/>
            </a:pPr>
            <a:r>
              <a:t>Перезагружает текущую страницу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t>重新加载当前页面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1379855" y="3152775"/>
            <a:ext cx="9432925" cy="321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setTimeout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(() </a:t>
            </a:r>
            <a:r>
              <a:rPr sz="24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=&gt;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reload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(), </a:t>
            </a:r>
            <a:r>
              <a:rPr sz="24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5000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660400" y="753110"/>
            <a:ext cx="5207000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t>window.location.assign(url)</a:t>
            </a:r>
          </a:p>
          <a:p/>
          <a:p>
            <a:pPr marL="285750" indent="-285750">
              <a:buFont typeface="Arial" panose="020B0704020202020204" pitchFamily="34" charset="0"/>
              <a:buChar char="•"/>
            </a:pPr>
            <a:r>
              <a:t>Перенаправляет на указанный URL</a:t>
            </a: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t>跳转到指定的URL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89635" y="3285490"/>
            <a:ext cx="10464800" cy="321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28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28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8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28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8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assign</a:t>
            </a:r>
            <a:r>
              <a:rPr sz="28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8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"https://www.vlsu.ru/"</a:t>
            </a:r>
            <a:r>
              <a:rPr sz="28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8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876300" y="998855"/>
            <a:ext cx="8775065" cy="11988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t>window.location.replace(url)</a:t>
            </a:r>
          </a:p>
          <a:p/>
          <a:p>
            <a:pPr marL="285750" indent="-285750">
              <a:buFont typeface="Arial" panose="020B0704020202020204" pitchFamily="34" charset="0"/>
              <a:buChar char="•"/>
            </a:pPr>
            <a:r>
              <a:t>(Заменяет текущий URL новым,</a:t>
            </a:r>
            <a:r>
              <a:rPr>
                <a:solidFill>
                  <a:schemeClr val="tx1"/>
                </a:solidFill>
              </a:rPr>
              <a:t> не сохраняя старый в истории)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>
                <a:solidFill>
                  <a:schemeClr val="tx1"/>
                </a:solidFill>
              </a:rPr>
              <a:t>(用新URL替换当前URL，不保留旧的历史记录)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76300" y="3255010"/>
            <a:ext cx="9936480" cy="321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4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replace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4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"https://www.vlsu.ru/"</a:t>
            </a:r>
            <a:r>
              <a:rPr sz="24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4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635000" y="715327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r>
              <a:rPr sz="2000"/>
              <a:t>window.addEventListener(type, listener)</a:t>
            </a:r>
            <a:endParaRPr sz="2000"/>
          </a:p>
          <a:p>
            <a:endParaRPr sz="20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sz="2000"/>
              <a:t>(Добавляет обработчик события)</a:t>
            </a:r>
            <a:endParaRPr sz="2000"/>
          </a:p>
          <a:p>
            <a:pPr marL="285750" indent="-285750">
              <a:buFont typeface="Arial" panose="020B0704020202020204" pitchFamily="34" charset="0"/>
              <a:buChar char="•"/>
            </a:pPr>
            <a:r>
              <a:rPr sz="2000"/>
              <a:t>(添加事件监听器)</a:t>
            </a:r>
            <a:endParaRPr sz="2000"/>
          </a:p>
        </p:txBody>
      </p:sp>
      <p:sp>
        <p:nvSpPr>
          <p:cNvPr id="4" name="Text Box 3"/>
          <p:cNvSpPr txBox="1"/>
          <p:nvPr/>
        </p:nvSpPr>
        <p:spPr>
          <a:xfrm>
            <a:off x="2413000" y="2789555"/>
            <a:ext cx="7365365" cy="1014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addEventListener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"resize"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() </a:t>
            </a:r>
            <a:r>
              <a:rPr sz="20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=&gt;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{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"Размер окна изменен"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});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ts val="1200"/>
              </a:spcAft>
            </a:pP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723900" y="651510"/>
            <a:ext cx="5854700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/>
              <a:t>window.removeEventListener(type, listener)</a:t>
            </a:r>
            <a:endParaRPr sz="2000"/>
          </a:p>
          <a:p>
            <a:endParaRPr sz="2000"/>
          </a:p>
          <a:p>
            <a:r>
              <a:rPr sz="2000"/>
              <a:t>(Удаляет обработчик события)</a:t>
            </a:r>
            <a:endParaRPr sz="2000"/>
          </a:p>
          <a:p>
            <a:r>
              <a:rPr sz="2000"/>
              <a:t>(移除事件监听器)</a:t>
            </a:r>
            <a:endParaRPr sz="2000"/>
          </a:p>
        </p:txBody>
      </p:sp>
      <p:sp>
        <p:nvSpPr>
          <p:cNvPr id="4" name="Text Box 3"/>
          <p:cNvSpPr txBox="1"/>
          <p:nvPr/>
        </p:nvSpPr>
        <p:spPr>
          <a:xfrm>
            <a:off x="1423035" y="2567940"/>
            <a:ext cx="9346565" cy="17221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function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handle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 {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"Размер окна изменен"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addEventListener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"resize"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handle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1600">
                <a:latin typeface="Times New Roman" panose="02020603050405020304"/>
                <a:ea typeface="SimSun"/>
              </a:rPr>
              <a:t> </a:t>
            </a:r>
            <a:endParaRPr sz="1600">
              <a:latin typeface="Times New Roman" panose="02020603050405020304"/>
              <a:ea typeface="SimSun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setTimeout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((() </a:t>
            </a:r>
            <a:r>
              <a:rPr sz="17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=&gt;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7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removeEventListener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7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"resize"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7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handle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)), </a:t>
            </a:r>
            <a:r>
              <a:rPr sz="1700" b="0">
                <a:solidFill>
                  <a:srgbClr val="098658"/>
                </a:solidFill>
                <a:latin typeface="Menlo" panose="020B0609030804020204"/>
                <a:ea typeface="Menlo" panose="020B0609030804020204"/>
              </a:rPr>
              <a:t>5000</a:t>
            </a:r>
            <a:r>
              <a:rPr sz="17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7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6731000" y="3140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algn="r"/>
            <a:r>
              <a:rPr sz="1600"/>
              <a:t>Общие методы объекта окна (window)</a:t>
            </a:r>
            <a:br>
              <a:rPr sz="1600"/>
            </a:br>
            <a:r>
              <a:rPr sz="1600"/>
              <a:t>窗口对象（window）的常用方法</a:t>
            </a:r>
            <a:endParaRPr sz="1600"/>
          </a:p>
        </p:txBody>
      </p:sp>
      <p:sp>
        <p:nvSpPr>
          <p:cNvPr id="3" name="Text Box 2"/>
          <p:cNvSpPr txBox="1"/>
          <p:nvPr/>
        </p:nvSpPr>
        <p:spPr>
          <a:xfrm>
            <a:off x="673100" y="770890"/>
            <a:ext cx="5688965" cy="132207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/>
              <a:t>window.navigator.clipboard.writeText(text)</a:t>
            </a:r>
            <a:endParaRPr sz="2000"/>
          </a:p>
          <a:p>
            <a:endParaRPr sz="2000"/>
          </a:p>
          <a:p>
            <a:r>
              <a:rPr sz="2000"/>
              <a:t>(Записывает текст в буфер обмена)</a:t>
            </a:r>
            <a:endParaRPr sz="2000"/>
          </a:p>
          <a:p>
            <a:r>
              <a:rPr sz="2000"/>
              <a:t>(将文本写入剪贴板)</a:t>
            </a:r>
            <a:endParaRPr sz="2000"/>
          </a:p>
        </p:txBody>
      </p:sp>
      <p:sp>
        <p:nvSpPr>
          <p:cNvPr id="4" name="Text Box 3"/>
          <p:cNvSpPr txBox="1"/>
          <p:nvPr/>
        </p:nvSpPr>
        <p:spPr>
          <a:xfrm>
            <a:off x="1320800" y="3429000"/>
            <a:ext cx="10033000" cy="321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20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navigator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clipboard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20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writeText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20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"Текст для копирования"</a:t>
            </a:r>
            <a:r>
              <a:rPr sz="20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20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666750" y="1526540"/>
            <a:ext cx="517779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navigator</a:t>
            </a:r>
            <a:endParaRPr lang="en-US"/>
          </a:p>
          <a:p>
            <a:endParaRPr lang="en-US"/>
          </a:p>
          <a:p>
            <a:r>
              <a:rPr lang="en-US"/>
              <a:t>Объект предоставляет информацию о браузере и устройстве пользователя. </a:t>
            </a:r>
            <a:endParaRPr lang="en-US"/>
          </a:p>
          <a:p>
            <a:r>
              <a:rPr lang="en-US"/>
              <a:t>Например:</a:t>
            </a:r>
            <a:endParaRPr lang="en-US"/>
          </a:p>
          <a:p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167890" y="4157345"/>
            <a:ext cx="8246110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navigator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userAgent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Информация о браузере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navigator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language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Язык браузера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37210" y="557530"/>
            <a:ext cx="759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Основные компоненты BOM / BOM 的主要组件</a:t>
            </a:r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350000" y="1526540"/>
            <a:ext cx="406400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/>
              <a:t>navigator</a:t>
            </a:r>
            <a:endParaRPr lang="en-US" sz="2000"/>
          </a:p>
          <a:p>
            <a:endParaRPr lang="en-US" sz="2000"/>
          </a:p>
          <a:p>
            <a:r>
              <a:rPr lang="en-US" sz="2000"/>
              <a:t>提供有关用户浏览器和设备的信息。</a:t>
            </a:r>
            <a:endParaRPr lang="en-US" sz="2000"/>
          </a:p>
          <a:p>
            <a:endParaRPr lang="en-US" sz="2000"/>
          </a:p>
          <a:p>
            <a:r>
              <a:rPr lang="en-US" sz="2000"/>
              <a:t>例如：</a:t>
            </a:r>
            <a:endParaRPr 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37210" y="1778000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location</a:t>
            </a:r>
            <a:endParaRPr lang="en-US"/>
          </a:p>
          <a:p>
            <a:endParaRPr lang="en-US"/>
          </a:p>
          <a:p>
            <a:r>
              <a:rPr lang="en-US"/>
              <a:t>Этот объект позволяет управлять URL-адресом текущей страницы. </a:t>
            </a:r>
            <a:endParaRPr lang="en-US"/>
          </a:p>
          <a:p>
            <a:endParaRPr lang="en-US"/>
          </a:p>
          <a:p>
            <a:r>
              <a:rPr lang="en-US"/>
              <a:t>Примеры: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2615565" y="4330700"/>
            <a:ext cx="6961505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href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Текущий URL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reload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Перезагрузка страницы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7210" y="557530"/>
            <a:ext cx="759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Основные компоненты BOM / BOM 的主要组件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950075" y="177800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location</a:t>
            </a:r>
            <a:endParaRPr lang="en-US"/>
          </a:p>
          <a:p>
            <a:endParaRPr lang="en-US"/>
          </a:p>
          <a:p>
            <a:r>
              <a:rPr lang="en-US"/>
              <a:t>允许您获取或更改当前页面的 URL。</a:t>
            </a:r>
            <a:endParaRPr lang="en-US"/>
          </a:p>
          <a:p>
            <a:endParaRPr lang="en-US"/>
          </a:p>
          <a:p>
            <a:r>
              <a:rPr lang="en-US"/>
              <a:t>例如：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37210" y="1640522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history</a:t>
            </a:r>
            <a:endParaRPr sz="1600"/>
          </a:p>
          <a:p>
            <a:endParaRPr sz="1600"/>
          </a:p>
          <a:p>
            <a:r>
              <a:rPr sz="1600"/>
              <a:t>Этот объект позволяет работать с историей посещений. </a:t>
            </a:r>
            <a:endParaRPr sz="1600"/>
          </a:p>
          <a:p>
            <a:endParaRPr sz="1600"/>
          </a:p>
          <a:p>
            <a:r>
              <a:rPr sz="1600"/>
              <a:t>Например: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2106295" y="3958590"/>
            <a:ext cx="7978775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history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back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Возврат к предыдущей странице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history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forward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Переход к следующей странице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7210" y="557530"/>
            <a:ext cx="759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Основные компоненты BOM / BOM 的主要组件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719570" y="1640522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history</a:t>
            </a:r>
            <a:endParaRPr lang="en-US"/>
          </a:p>
          <a:p>
            <a:endParaRPr lang="en-US"/>
          </a:p>
          <a:p>
            <a:r>
              <a:rPr lang="en-US"/>
              <a:t>history 对象用于管理浏览记录。</a:t>
            </a:r>
            <a:endParaRPr lang="en-US"/>
          </a:p>
          <a:p>
            <a:endParaRPr lang="en-US"/>
          </a:p>
          <a:p>
            <a:r>
              <a:rPr lang="en-US"/>
              <a:t>例如：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537210" y="1746567"/>
            <a:ext cx="5080000" cy="1568450"/>
          </a:xfrm>
          <a:prstGeom prst="rect">
            <a:avLst/>
          </a:prstGeom>
        </p:spPr>
        <p:txBody>
          <a:bodyPr>
            <a:spAutoFit/>
          </a:bodyPr>
          <a:p>
            <a:r>
              <a:rPr sz="1600"/>
              <a:t>screen</a:t>
            </a:r>
            <a:endParaRPr sz="1600"/>
          </a:p>
          <a:p>
            <a:endParaRPr sz="1600"/>
          </a:p>
          <a:p>
            <a:r>
              <a:rPr sz="1600"/>
              <a:t>Объект screen содержит информацию о разрешении экрана устройства. </a:t>
            </a:r>
            <a:endParaRPr sz="1600"/>
          </a:p>
          <a:p>
            <a:endParaRPr sz="1600"/>
          </a:p>
          <a:p>
            <a:r>
              <a:rPr sz="1600"/>
              <a:t>Пример:</a:t>
            </a:r>
            <a:endParaRPr sz="1600"/>
          </a:p>
        </p:txBody>
      </p:sp>
      <p:sp>
        <p:nvSpPr>
          <p:cNvPr id="4" name="Text Box 3"/>
          <p:cNvSpPr txBox="1"/>
          <p:nvPr/>
        </p:nvSpPr>
        <p:spPr>
          <a:xfrm>
            <a:off x="2595880" y="4073525"/>
            <a:ext cx="7806690" cy="55308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screen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width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Ширина экрана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ts val="1800"/>
              </a:lnSpc>
            </a:pP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console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log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6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screen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600" b="0">
                <a:solidFill>
                  <a:srgbClr val="0070C1"/>
                </a:solidFill>
                <a:latin typeface="Menlo" panose="020B0609030804020204"/>
                <a:ea typeface="Menlo" panose="020B0609030804020204"/>
              </a:rPr>
              <a:t>height</a:t>
            </a:r>
            <a:r>
              <a:rPr sz="16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); </a:t>
            </a:r>
            <a:r>
              <a:rPr sz="16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Высота экрана</a:t>
            </a:r>
            <a:endParaRPr sz="16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537210" y="557530"/>
            <a:ext cx="75965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Основные компоненты BOM / BOM 的主要组件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6338570" y="1746567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screen </a:t>
            </a:r>
            <a:endParaRPr lang="en-US">
              <a:sym typeface="+mn-ea"/>
            </a:endParaRPr>
          </a:p>
          <a:p>
            <a:endParaRPr lang="en-US"/>
          </a:p>
          <a:p>
            <a:r>
              <a:rPr lang="en-US"/>
              <a:t>screen 对象提供有关用户屏幕的信息。</a:t>
            </a:r>
            <a:endParaRPr lang="en-US"/>
          </a:p>
          <a:p>
            <a:endParaRPr lang="en-US"/>
          </a:p>
          <a:p>
            <a:r>
              <a:rPr lang="en-US"/>
              <a:t>例如：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73355" y="210820"/>
            <a:ext cx="6546850" cy="65544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&lt;body&gt;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"reload"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Перезагрузить страницу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&lt;button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r>
              <a:rPr sz="1200" b="0">
                <a:solidFill>
                  <a:srgbClr val="E50000"/>
                </a:solidFill>
                <a:latin typeface="Menlo" panose="020B0609030804020204"/>
                <a:ea typeface="Menlo" panose="020B0609030804020204"/>
              </a:rPr>
              <a:t>id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=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"newPage"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&gt;</a:t>
            </a: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Открыть новую страницу</a:t>
            </a: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&lt;/button&gt;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3B3B3B"/>
                </a:solidFill>
                <a:latin typeface="Menlo" panose="020B0609030804020204"/>
                <a:ea typeface="Menlo" panose="020B0609030804020204"/>
              </a:rPr>
              <a:t> </a:t>
            </a:r>
            <a:endParaRPr sz="1200" b="0">
              <a:solidFill>
                <a:srgbClr val="3B3B3B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&lt;script&gt;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write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`&lt;h1&gt;Пример работы с BOM&lt;/h1&gt;</a:t>
            </a:r>
            <a:endParaRPr sz="1200" b="0">
              <a:solidFill>
                <a:srgbClr val="A31515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&lt;p id="info"&gt;Информация о вашем браузере:&lt;/p&gt;`</a:t>
            </a:r>
            <a:endParaRPr sz="1200" b="0">
              <a:solidFill>
                <a:srgbClr val="A31515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1000">
                <a:latin typeface="Calibri" panose="020F0502020204030204"/>
                <a:ea typeface="SimSun"/>
              </a:rPr>
              <a:t> </a:t>
            </a:r>
            <a:endParaRPr sz="1000">
              <a:latin typeface="Calibri" panose="020F0502020204030204"/>
              <a:ea typeface="SimSun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Отображаем информацию о браузере</a:t>
            </a:r>
            <a:endParaRPr sz="12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write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`&lt;strong&gt;Ширина окна:&lt;/strong&gt; 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innerWidth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px&lt;br&gt;</a:t>
            </a:r>
            <a:endParaRPr sz="1200" b="0">
              <a:solidFill>
                <a:srgbClr val="A31515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&lt;strong&gt;Высота окна:&lt;/strong&gt; 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innerHeight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px&lt;br&gt;</a:t>
            </a:r>
            <a:endParaRPr sz="1200" b="0">
              <a:solidFill>
                <a:srgbClr val="A31515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&lt;strong&gt;Текущий URL:&lt;/strong&gt; 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href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&lt;br&gt;</a:t>
            </a:r>
            <a:endParaRPr sz="1200" b="0">
              <a:solidFill>
                <a:srgbClr val="A31515"/>
              </a:solidFill>
              <a:latin typeface="Menlo" panose="020B0609030804020204"/>
              <a:ea typeface="Menlo" panose="020B0609030804020204"/>
            </a:endParaRPr>
          </a:p>
          <a:p>
            <a:pPr marL="457200" lvl="1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&lt;strong&gt;Язык браузера:&lt;/strong&gt; 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${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navigator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language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}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&lt;br&gt;`</a:t>
            </a:r>
            <a:endParaRPr sz="1200" b="0">
              <a:solidFill>
                <a:srgbClr val="A31515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1000">
                <a:latin typeface="Calibri" panose="020F0502020204030204"/>
                <a:ea typeface="SimSun"/>
              </a:rPr>
              <a:t> </a:t>
            </a:r>
            <a:endParaRPr sz="1000">
              <a:latin typeface="Calibri" panose="020F0502020204030204"/>
              <a:ea typeface="SimSun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Кнопка для перезагрузки страницы</a:t>
            </a:r>
            <a:endParaRPr sz="12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"reload"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onclick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= () 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=&gt;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{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location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reload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();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spcAft>
                <a:spcPct val="0"/>
              </a:spcAft>
            </a:pPr>
            <a:r>
              <a:rPr sz="1000">
                <a:latin typeface="Calibri" panose="020F0502020204030204"/>
                <a:ea typeface="SimSun"/>
              </a:rPr>
              <a:t> </a:t>
            </a:r>
            <a:endParaRPr sz="1000">
              <a:latin typeface="Calibri" panose="020F0502020204030204"/>
              <a:ea typeface="SimSun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8000"/>
                </a:solidFill>
                <a:latin typeface="Menlo" panose="020B0609030804020204"/>
                <a:ea typeface="Menlo" panose="020B0609030804020204"/>
              </a:rPr>
              <a:t>// Кнопка для открытия новой страницы</a:t>
            </a:r>
            <a:endParaRPr sz="1200" b="0">
              <a:solidFill>
                <a:srgbClr val="008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document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getElementById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"newPage"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onclick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= () </a:t>
            </a:r>
            <a:r>
              <a:rPr sz="1200" b="0">
                <a:solidFill>
                  <a:srgbClr val="0000FF"/>
                </a:solidFill>
                <a:latin typeface="Menlo" panose="020B0609030804020204"/>
                <a:ea typeface="Menlo" panose="020B0609030804020204"/>
              </a:rPr>
              <a:t>=&gt;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 {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45720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1080"/>
                </a:solidFill>
                <a:latin typeface="Menlo" panose="020B0609030804020204"/>
                <a:ea typeface="Menlo" panose="020B0609030804020204"/>
              </a:rPr>
              <a:t>window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.</a:t>
            </a:r>
            <a:r>
              <a:rPr sz="1200" b="0">
                <a:solidFill>
                  <a:srgbClr val="795E26"/>
                </a:solidFill>
                <a:latin typeface="Menlo" panose="020B0609030804020204"/>
                <a:ea typeface="Menlo" panose="020B0609030804020204"/>
              </a:rPr>
              <a:t>open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(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"https://www.vlsu.ru/"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, </a:t>
            </a:r>
            <a:r>
              <a:rPr sz="1200" b="0">
                <a:solidFill>
                  <a:srgbClr val="A31515"/>
                </a:solidFill>
                <a:latin typeface="Menlo" panose="020B0609030804020204"/>
                <a:ea typeface="Menlo" panose="020B0609030804020204"/>
              </a:rPr>
              <a:t>"_blank"</a:t>
            </a: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);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000000"/>
                </a:solidFill>
                <a:latin typeface="Menlo" panose="020B0609030804020204"/>
                <a:ea typeface="Menlo" panose="020B0609030804020204"/>
              </a:rPr>
              <a:t>};</a:t>
            </a:r>
            <a:endParaRPr sz="1200" b="0">
              <a:solidFill>
                <a:srgbClr val="0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&lt;/script&gt;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  <a:p>
            <a:pPr marL="0" indent="0" algn="l" defTabSz="266700">
              <a:lnSpc>
                <a:spcPts val="1800"/>
              </a:lnSpc>
              <a:spcAft>
                <a:spcPct val="0"/>
              </a:spcAft>
            </a:pPr>
            <a:r>
              <a:rPr sz="1200" b="0">
                <a:solidFill>
                  <a:srgbClr val="800000"/>
                </a:solidFill>
                <a:latin typeface="Menlo" panose="020B0609030804020204"/>
                <a:ea typeface="Menlo" panose="020B0609030804020204"/>
              </a:rPr>
              <a:t>&lt;/body&gt;</a:t>
            </a:r>
            <a:endParaRPr sz="1200" b="0">
              <a:solidFill>
                <a:srgbClr val="800000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256780" y="807085"/>
            <a:ext cx="40640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Вот простой пример использования BOM, который отображает основную информацию о браузере и позволяет пользователю взаимодействовать с окном:</a:t>
            </a:r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256780" y="338010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这是一个简单的 BOM 示例，它显示浏览器的基本信息，并允许用户与窗口交互: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5352</Words>
  <Application>WPS Writer</Application>
  <PresentationFormat>Widescreen</PresentationFormat>
  <Paragraphs>272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7" baseType="lpstr">
      <vt:lpstr>Arial</vt:lpstr>
      <vt:lpstr>SimSun</vt:lpstr>
      <vt:lpstr>Wingdings</vt:lpstr>
      <vt:lpstr>Calibri</vt:lpstr>
      <vt:lpstr>Arial</vt:lpstr>
      <vt:lpstr>Helvetica Neue</vt:lpstr>
      <vt:lpstr>Times New Roman</vt:lpstr>
      <vt:lpstr>Times New Roman Regular</vt:lpstr>
      <vt:lpstr>Menlo</vt:lpstr>
      <vt:lpstr>SimSun</vt:lpstr>
      <vt:lpstr>宋体-简</vt:lpstr>
      <vt:lpstr>SimSun</vt:lpstr>
      <vt:lpstr>Microsoft YaHei</vt:lpstr>
      <vt:lpstr>汉仪旗黑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valeriakhlyzoa</dc:creator>
  <cp:lastModifiedBy>valeriakhlyzoa</cp:lastModifiedBy>
  <cp:revision>16</cp:revision>
  <dcterms:created xsi:type="dcterms:W3CDTF">2025-12-06T23:35:53Z</dcterms:created>
  <dcterms:modified xsi:type="dcterms:W3CDTF">2025-12-06T23:35:53Z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15CD97EC38CB227D3FBD4F679484E65D_41</vt:lpwstr>
  </property>
  <property fmtid="{D5CDD505-2E9C-101B-9397-08002B2CF9AE}" pid="3" name="KSOProductBuildVer">
    <vt:lpwstr>1033-12.1.23152.23152</vt:lpwstr>
  </property>
</Properties>
</file>