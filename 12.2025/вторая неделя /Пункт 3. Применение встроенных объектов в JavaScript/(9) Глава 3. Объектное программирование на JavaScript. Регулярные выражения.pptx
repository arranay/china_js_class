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6" r:id="rId3"/>
    <p:sldId id="257" r:id="rId5"/>
    <p:sldId id="277" r:id="rId6"/>
    <p:sldId id="278" r:id="rId7"/>
    <p:sldId id="280" r:id="rId8"/>
    <p:sldId id="282" r:id="rId9"/>
    <p:sldId id="283" r:id="rId10"/>
    <p:sldId id="284" r:id="rId11"/>
    <p:sldId id="286" r:id="rId12"/>
    <p:sldId id="291" r:id="rId13"/>
    <p:sldId id="287" r:id="rId14"/>
    <p:sldId id="288" r:id="rId15"/>
    <p:sldId id="289" r:id="rId16"/>
    <p:sldId id="290" r:id="rId17"/>
    <p:sldId id="258" r:id="rId18"/>
    <p:sldId id="259" r:id="rId19"/>
    <p:sldId id="268" r:id="rId20"/>
    <p:sldId id="269" r:id="rId21"/>
    <p:sldId id="276" r:id="rId22"/>
    <p:sldId id="293" r:id="rId23"/>
    <p:sldId id="294" r:id="rId24"/>
    <p:sldId id="295" r:id="rId25"/>
    <p:sldId id="296" r:id="rId26"/>
    <p:sldId id="270" r:id="rId27"/>
    <p:sldId id="298" r:id="rId28"/>
    <p:sldId id="299" r:id="rId29"/>
    <p:sldId id="300" r:id="rId30"/>
    <p:sldId id="301" r:id="rId31"/>
    <p:sldId id="302" r:id="rId32"/>
    <p:sldId id="303" r:id="rId33"/>
    <p:sldId id="271" r:id="rId34"/>
    <p:sldId id="305" r:id="rId35"/>
    <p:sldId id="306" r:id="rId36"/>
    <p:sldId id="272" r:id="rId37"/>
    <p:sldId id="260" r:id="rId38"/>
    <p:sldId id="261" r:id="rId39"/>
    <p:sldId id="262" r:id="rId40"/>
    <p:sldId id="263" r:id="rId41"/>
    <p:sldId id="332" r:id="rId42"/>
    <p:sldId id="264" r:id="rId43"/>
    <p:sldId id="333" r:id="rId44"/>
    <p:sldId id="267" r:id="rId45"/>
    <p:sldId id="334" r:id="rId46"/>
    <p:sldId id="335" r:id="rId47"/>
    <p:sldId id="336" r:id="rId48"/>
    <p:sldId id="362" r:id="rId49"/>
    <p:sldId id="363" r:id="rId50"/>
    <p:sldId id="364" r:id="rId51"/>
    <p:sldId id="265" r:id="rId52"/>
    <p:sldId id="350" r:id="rId53"/>
    <p:sldId id="351" r:id="rId54"/>
    <p:sldId id="346" r:id="rId55"/>
    <p:sldId id="352" r:id="rId56"/>
    <p:sldId id="353" r:id="rId57"/>
    <p:sldId id="347" r:id="rId58"/>
    <p:sldId id="354" r:id="rId59"/>
    <p:sldId id="355" r:id="rId60"/>
    <p:sldId id="348" r:id="rId61"/>
    <p:sldId id="356" r:id="rId62"/>
    <p:sldId id="357" r:id="rId63"/>
    <p:sldId id="266" r:id="rId64"/>
    <p:sldId id="360" r:id="rId65"/>
    <p:sldId id="361" r:id="rId66"/>
    <p:sldId id="367" r:id="rId67"/>
    <p:sldId id="365" r:id="rId68"/>
    <p:sldId id="366" r:id="rId69"/>
    <p:sldId id="368" r:id="rId70"/>
    <p:sldId id="369" r:id="rId71"/>
    <p:sldId id="370" r:id="rId72"/>
    <p:sldId id="274"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Google Shape;84;p1"/>
          <p:cNvSpPr/>
          <p:nvPr/>
        </p:nvSpPr>
        <p:spPr>
          <a:xfrm>
            <a:off x="0" y="316603"/>
            <a:ext cx="12192000" cy="898525"/>
          </a:xfrm>
          <a:prstGeom prst="rect">
            <a:avLst/>
          </a:prstGeom>
          <a:solidFill>
            <a:schemeClr val="accent1">
              <a:alpha val="45882"/>
            </a:schemeClr>
          </a:solidFill>
          <a:ln w="12700" cap="flat" cmpd="sng">
            <a:solidFill>
              <a:srgbClr val="3A5F8B"/>
            </a:solidFill>
            <a:prstDash val="solid"/>
            <a:round/>
            <a:headEnd type="none" w="sm" len="sm"/>
            <a:tailEnd type="none" w="sm" len="sm"/>
          </a:ln>
        </p:spPr>
        <p:txBody>
          <a:bodyPr spcFirstLastPara="1" wrap="square" lIns="91425" tIns="45700" rIns="91425" bIns="45700" anchor="t" anchorCtr="0">
            <a:noAutofit/>
          </a:bodyPr>
          <a:p>
            <a:pPr marL="0" marR="0" lvl="0" indent="0" algn="l"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85;p1"/>
          <p:cNvSpPr/>
          <p:nvPr/>
        </p:nvSpPr>
        <p:spPr>
          <a:xfrm>
            <a:off x="260985" y="438700"/>
            <a:ext cx="10276727" cy="942975"/>
          </a:xfrm>
          <a:prstGeom prst="rect">
            <a:avLst/>
          </a:prstGeom>
          <a:noFill/>
          <a:ln>
            <a:noFill/>
          </a:ln>
        </p:spPr>
        <p:txBody>
          <a:bodyPr spcFirstLastPara="1" wrap="square" lIns="90000" tIns="45000" rIns="90000" bIns="45000" anchor="t" anchorCtr="0">
            <a:noAutofit/>
          </a:bodyPr>
          <a:p>
            <a:pPr marL="0" marR="0" lvl="0" indent="0" algn="l" rtl="0">
              <a:lnSpc>
                <a:spcPct val="107000"/>
              </a:lnSpc>
              <a:spcBef>
                <a:spcPts val="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ВЛАДИМИРСКИЙ ГОСУДАРСТВЕННЫЙ УНИВЕРСИТЕТ</a:t>
            </a:r>
            <a:r>
              <a:rPr lang="en-US" sz="14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ИМЕНИ </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7000"/>
              </a:lnSpc>
              <a:spcBef>
                <a:spcPts val="80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АЛЕКСАНДРА ГРИГОРЬЕВИЧА И НИКОЛАЯ ГРИГОРЬЕВИЧА СТОЛЕТОВЫХ</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 name="Google Shape;86;p1" descr="Владимирский государственный университет имени Александра Григорьевича и  Николая Григорьевича Столетовых"/>
          <p:cNvPicPr preferRelativeResize="0"/>
          <p:nvPr/>
        </p:nvPicPr>
        <p:blipFill rotWithShape="1">
          <a:blip r:embed="rId1"/>
          <a:srcRect/>
          <a:stretch>
            <a:fillRect/>
          </a:stretch>
        </p:blipFill>
        <p:spPr>
          <a:xfrm>
            <a:off x="10443603" y="77207"/>
            <a:ext cx="1381125" cy="1377315"/>
          </a:xfrm>
          <a:prstGeom prst="rect">
            <a:avLst/>
          </a:prstGeom>
          <a:noFill/>
          <a:ln>
            <a:noFill/>
          </a:ln>
        </p:spPr>
      </p:pic>
      <p:sp>
        <p:nvSpPr>
          <p:cNvPr id="12" name="Google Shape;87;p1"/>
          <p:cNvSpPr txBox="1"/>
          <p:nvPr/>
        </p:nvSpPr>
        <p:spPr>
          <a:xfrm>
            <a:off x="635" y="1649730"/>
            <a:ext cx="12191365" cy="2490470"/>
          </a:xfrm>
          <a:prstGeom prst="rect">
            <a:avLst/>
          </a:prstGeom>
          <a:noFill/>
          <a:ln>
            <a:noFill/>
          </a:ln>
        </p:spPr>
        <p:txBody>
          <a:bodyPr spcFirstLastPara="1" wrap="square" lIns="91425" tIns="45700" rIns="91425" bIns="45700" anchor="t" anchorCtr="0">
            <a:spAutoFit/>
          </a:bodyPr>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Разработка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веб-интерфейсного</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скрипта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“Web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前端脚本开发</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3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88;p1"/>
          <p:cNvSpPr txBox="1"/>
          <p:nvPr/>
        </p:nvSpPr>
        <p:spPr>
          <a:xfrm>
            <a:off x="7366000" y="5497830"/>
            <a:ext cx="4676775" cy="920750"/>
          </a:xfrm>
          <a:prstGeom prst="rect">
            <a:avLst/>
          </a:prstGeom>
          <a:noFill/>
          <a:ln>
            <a:noFill/>
          </a:ln>
        </p:spPr>
        <p:txBody>
          <a:bodyPr spcFirstLastPara="1" wrap="square" lIns="91425" tIns="45700" rIns="91425" bIns="45700" anchor="t" anchorCtr="0">
            <a:spAutoFit/>
          </a:bodyPr>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Преподаватель кафедры </a:t>
            </a:r>
            <a:r>
              <a:rPr lang="ru-RU" alt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информационных систем и программной инженерии </a:t>
            </a:r>
            <a:endParaRPr lang="ru-RU" alt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Хлызова Валерия Григорьевна.</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Text Box 3"/>
          <p:cNvSpPr txBox="1"/>
          <p:nvPr/>
        </p:nvSpPr>
        <p:spPr>
          <a:xfrm>
            <a:off x="1786890" y="3260725"/>
            <a:ext cx="9094470" cy="1076325"/>
          </a:xfrm>
          <a:prstGeom prst="rect">
            <a:avLst/>
          </a:prstGeom>
        </p:spPr>
        <p:txBody>
          <a:bodyPr wrap="square">
            <a:spAutoFit/>
          </a:bodyPr>
          <a:p>
            <a:pPr algn="ctr"/>
            <a:r>
              <a:rPr sz="3200">
                <a:latin typeface="Times New Roman Regular" panose="02020603050405020304" charset="0"/>
                <a:cs typeface="Times New Roman Regular" panose="02020603050405020304" charset="0"/>
              </a:rPr>
              <a:t>Регулярные выражения (Regular Expressions)</a:t>
            </a:r>
            <a:endParaRPr sz="3200">
              <a:latin typeface="Times New Roman Regular" panose="02020603050405020304" charset="0"/>
              <a:cs typeface="Times New Roman Regular" panose="02020603050405020304" charset="0"/>
            </a:endParaRPr>
          </a:p>
          <a:p>
            <a:pPr algn="ctr"/>
            <a:r>
              <a:rPr sz="3200">
                <a:latin typeface="Times New Roman Regular" panose="02020603050405020304" charset="0"/>
                <a:cs typeface="Times New Roman Regular" panose="02020603050405020304" charset="0"/>
              </a:rPr>
              <a:t>正则表达式</a:t>
            </a:r>
            <a:endParaRPr sz="3200">
              <a:latin typeface="Times New Roman Regular" panose="02020603050405020304" charset="0"/>
              <a:cs typeface="Times New Roman Regular"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3575" y="706755"/>
            <a:ext cx="10804525" cy="1322070"/>
          </a:xfrm>
          <a:prstGeom prst="rect">
            <a:avLst/>
          </a:prstGeom>
        </p:spPr>
        <p:txBody>
          <a:bodyPr wrap="square">
            <a:spAutoFit/>
          </a:bodyPr>
          <a:p>
            <a:pPr indent="457200" algn="just"/>
            <a:r>
              <a:rPr sz="2000">
                <a:latin typeface="Times New Roman Regular" panose="02020603050405020304" charset="0"/>
                <a:cs typeface="Times New Roman Regular" panose="02020603050405020304" charset="0"/>
              </a:rPr>
              <a:t>Регулярные выражения, или regex (от "regular expressions"), — это мощный инструмент для поиска, сопоставления и работы со строками текста. Они используются во многих языках программирования для задач, связанных с анализом и обработкой текстовых данных, таких как валидация, поиск и замена текста.</a:t>
            </a:r>
            <a:endParaRPr sz="2000">
              <a:latin typeface="Times New Roman Regular" panose="02020603050405020304" charset="0"/>
              <a:cs typeface="Times New Roman Regular" panose="02020603050405020304" charset="0"/>
            </a:endParaRPr>
          </a:p>
        </p:txBody>
      </p:sp>
      <p:sp>
        <p:nvSpPr>
          <p:cNvPr id="5" name="Text Box 4"/>
          <p:cNvSpPr txBox="1"/>
          <p:nvPr/>
        </p:nvSpPr>
        <p:spPr>
          <a:xfrm>
            <a:off x="663575" y="2588260"/>
            <a:ext cx="10804525" cy="1814830"/>
          </a:xfrm>
          <a:prstGeom prst="rect">
            <a:avLst/>
          </a:prstGeom>
        </p:spPr>
        <p:txBody>
          <a:bodyPr wrap="square">
            <a:spAutoFit/>
          </a:bodyPr>
          <a:p>
            <a:r>
              <a:rPr sz="2800"/>
              <a:t>正则表达式，简称为regex（来自英文"regular expressions"），是一种强大的工具，用于在文本中查找、匹配和操作字符串。它在许多编程语言中用于与文本数据相关的任务，比如验证、查找和替换文本。</a:t>
            </a:r>
            <a:endParaRPr sz="28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21970" y="501650"/>
            <a:ext cx="10814685" cy="1938020"/>
          </a:xfrm>
          <a:prstGeom prst="rect">
            <a:avLst/>
          </a:prstGeom>
        </p:spPr>
        <p:txBody>
          <a:bodyPr wrap="square">
            <a:spAutoFit/>
          </a:bodyPr>
          <a:p>
            <a:pPr indent="457200" algn="just"/>
            <a:r>
              <a:rPr sz="2000">
                <a:latin typeface="Times New Roman Regular" panose="02020603050405020304" charset="0"/>
                <a:cs typeface="Times New Roman Regular" panose="02020603050405020304" charset="0"/>
              </a:rPr>
              <a:t>Регулярные выражения (regex) — это инструмент для работы с текстом, позволяющий искать, заменять и проверять данные в строках. Они незаменимы в задачах, связанных с обработкой данных, поскольку позволяют эффективно находить нужные шаблоны в больших объемах текста. Применение регулярных выражений широко распространено в разработке программного обеспечения, веб-разработке, анализе данных и даже в задачах администрирования систем.</a:t>
            </a:r>
            <a:endParaRPr sz="2000">
              <a:latin typeface="Times New Roman Regular" panose="02020603050405020304" charset="0"/>
              <a:cs typeface="Times New Roman Regular" panose="02020603050405020304" charset="0"/>
            </a:endParaRPr>
          </a:p>
        </p:txBody>
      </p:sp>
      <p:sp>
        <p:nvSpPr>
          <p:cNvPr id="5" name="Text Box 4"/>
          <p:cNvSpPr txBox="1"/>
          <p:nvPr/>
        </p:nvSpPr>
        <p:spPr>
          <a:xfrm>
            <a:off x="643255" y="2828925"/>
            <a:ext cx="10693400" cy="1814830"/>
          </a:xfrm>
          <a:prstGeom prst="rect">
            <a:avLst/>
          </a:prstGeom>
        </p:spPr>
        <p:txBody>
          <a:bodyPr wrap="square">
            <a:spAutoFit/>
          </a:bodyPr>
          <a:p>
            <a:r>
              <a:rPr sz="2800"/>
              <a:t>正则表达式（regex）是一种处理文本的工具，能够在字符串中搜索、替换和验证数据。在处理数据相关的任务中，正则表达式非常重要，因为它可以在大量文本中高效地找到所需的模式。正则表达式广泛应用于软件开发、网页开发、数据分析，甚至系统管理任务中。</a:t>
            </a:r>
            <a:endParaRPr sz="28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29895" y="347345"/>
            <a:ext cx="4766945" cy="829945"/>
          </a:xfrm>
          <a:prstGeom prst="rect">
            <a:avLst/>
          </a:prstGeom>
        </p:spPr>
        <p:txBody>
          <a:bodyPr wrap="square">
            <a:spAutoFit/>
          </a:bodyPr>
          <a:p>
            <a:r>
              <a:rPr sz="2400" b="1"/>
              <a:t>1. </a:t>
            </a:r>
            <a:r>
              <a:rPr sz="2400" b="1">
                <a:latin typeface="Times New Roman Regular" panose="02020603050405020304" charset="0"/>
                <a:cs typeface="Times New Roman Regular" panose="02020603050405020304" charset="0"/>
              </a:rPr>
              <a:t>Поиск и извлечение данных</a:t>
            </a:r>
            <a:r>
              <a:rPr sz="2400" b="1"/>
              <a:t> </a:t>
            </a:r>
            <a:endParaRPr sz="2400" b="1"/>
          </a:p>
          <a:p>
            <a:r>
              <a:rPr sz="2400" b="1"/>
              <a:t>搜索和提取数据</a:t>
            </a:r>
            <a:endParaRPr sz="2400" b="1"/>
          </a:p>
        </p:txBody>
      </p:sp>
      <p:sp>
        <p:nvSpPr>
          <p:cNvPr id="4" name="Text Box 3"/>
          <p:cNvSpPr txBox="1"/>
          <p:nvPr/>
        </p:nvSpPr>
        <p:spPr>
          <a:xfrm>
            <a:off x="541655" y="1970088"/>
            <a:ext cx="5080000" cy="1630045"/>
          </a:xfrm>
          <a:prstGeom prst="rect">
            <a:avLst/>
          </a:prstGeom>
        </p:spPr>
        <p:txBody>
          <a:bodyPr>
            <a:spAutoFit/>
          </a:bodyPr>
          <a:p>
            <a:pPr indent="457200" algn="just"/>
            <a:r>
              <a:rPr sz="2000">
                <a:latin typeface="Times New Roman Regular" panose="02020603050405020304" charset="0"/>
                <a:cs typeface="Times New Roman Regular" panose="02020603050405020304" charset="0"/>
              </a:rPr>
              <a:t>Регулярные выражения позволяют быстро находить и извлекать нужные фрагменты текста. Например, с их помощью можно выделить email-адреса, номера телефонов или ссылки из текста.</a:t>
            </a:r>
            <a:endParaRPr sz="2000">
              <a:latin typeface="Times New Roman Regular" panose="02020603050405020304" charset="0"/>
              <a:cs typeface="Times New Roman Regular" panose="02020603050405020304" charset="0"/>
            </a:endParaRPr>
          </a:p>
        </p:txBody>
      </p:sp>
      <p:sp>
        <p:nvSpPr>
          <p:cNvPr id="5" name="Text Box 4"/>
          <p:cNvSpPr txBox="1"/>
          <p:nvPr/>
        </p:nvSpPr>
        <p:spPr>
          <a:xfrm>
            <a:off x="6276975" y="1970722"/>
            <a:ext cx="5080000" cy="1568450"/>
          </a:xfrm>
          <a:prstGeom prst="rect">
            <a:avLst/>
          </a:prstGeom>
        </p:spPr>
        <p:txBody>
          <a:bodyPr>
            <a:spAutoFit/>
          </a:bodyPr>
          <a:p>
            <a:r>
              <a:rPr sz="2400"/>
              <a:t>正则表达式可以快速查找和提取所需的文本片段。例如，可以用它从文本中提取电子邮件地址、电话号码或链接。</a:t>
            </a:r>
            <a:endParaRPr sz="24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0540" y="297180"/>
            <a:ext cx="4068445" cy="1093470"/>
          </a:xfrm>
          <a:prstGeom prst="rect">
            <a:avLst/>
          </a:prstGeom>
        </p:spPr>
        <p:txBody>
          <a:bodyPr wrap="square">
            <a:spAutoFit/>
          </a:bodyPr>
          <a:p>
            <a:pPr>
              <a:spcAft>
                <a:spcPct val="60000"/>
              </a:spcAft>
            </a:pPr>
            <a:r>
              <a:rPr sz="2400" b="1"/>
              <a:t>2. Валидация данных </a:t>
            </a:r>
            <a:endParaRPr sz="2400" b="1"/>
          </a:p>
          <a:p>
            <a:pPr>
              <a:spcAft>
                <a:spcPct val="60000"/>
              </a:spcAft>
            </a:pPr>
            <a:r>
              <a:rPr sz="2400" b="1"/>
              <a:t>验证数据</a:t>
            </a:r>
            <a:endParaRPr sz="2400" b="1"/>
          </a:p>
        </p:txBody>
      </p:sp>
      <p:sp>
        <p:nvSpPr>
          <p:cNvPr id="3" name="Text Box 2"/>
          <p:cNvSpPr txBox="1"/>
          <p:nvPr/>
        </p:nvSpPr>
        <p:spPr>
          <a:xfrm>
            <a:off x="510540" y="2240280"/>
            <a:ext cx="5080000" cy="1568450"/>
          </a:xfrm>
          <a:prstGeom prst="rect">
            <a:avLst/>
          </a:prstGeom>
        </p:spPr>
        <p:txBody>
          <a:bodyPr>
            <a:spAutoFit/>
          </a:bodyPr>
          <a:p>
            <a:r>
              <a:rPr sz="1600"/>
              <a:t>Регулярные выражения используются для проверки правильности введённых данных, например, email, пароля, номера телефона, формата даты и др. Валидация помогает обеспечить корректность информации, получаемой от пользователей.</a:t>
            </a:r>
            <a:endParaRPr sz="1600"/>
          </a:p>
        </p:txBody>
      </p:sp>
      <p:sp>
        <p:nvSpPr>
          <p:cNvPr id="4" name="Text Box 3"/>
          <p:cNvSpPr txBox="1"/>
          <p:nvPr/>
        </p:nvSpPr>
        <p:spPr>
          <a:xfrm>
            <a:off x="6337300" y="2240597"/>
            <a:ext cx="5080000" cy="1322070"/>
          </a:xfrm>
          <a:prstGeom prst="rect">
            <a:avLst/>
          </a:prstGeom>
        </p:spPr>
        <p:txBody>
          <a:bodyPr>
            <a:spAutoFit/>
          </a:bodyPr>
          <a:p>
            <a:r>
              <a:rPr sz="2000">
                <a:latin typeface="Arial Bold" panose="020B0704020202020204" charset="0"/>
              </a:rPr>
              <a:t>正则表达式用于检查输入数据的正确性，例如电子邮件、密码、电话号码、日期格式等。验证有助于确保从用户那里获取到的数据信息的正确性。</a:t>
            </a:r>
            <a:endParaRPr sz="2000">
              <a:latin typeface="Arial Bold" panose="020B0704020202020204" charset="0"/>
            </a:endParaRPr>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2620" y="468948"/>
            <a:ext cx="5080000" cy="583565"/>
          </a:xfrm>
          <a:prstGeom prst="rect">
            <a:avLst/>
          </a:prstGeom>
        </p:spPr>
        <p:txBody>
          <a:bodyPr>
            <a:spAutoFit/>
          </a:bodyPr>
          <a:p>
            <a:r>
              <a:rPr sz="1600" b="1"/>
              <a:t>3. Поиск и замена </a:t>
            </a:r>
            <a:endParaRPr sz="1600" b="1"/>
          </a:p>
          <a:p>
            <a:r>
              <a:rPr sz="1600" b="1"/>
              <a:t>查找和替换</a:t>
            </a:r>
            <a:endParaRPr sz="1600" b="1"/>
          </a:p>
        </p:txBody>
      </p:sp>
      <p:sp>
        <p:nvSpPr>
          <p:cNvPr id="3" name="Text Box 2"/>
          <p:cNvSpPr txBox="1"/>
          <p:nvPr/>
        </p:nvSpPr>
        <p:spPr>
          <a:xfrm>
            <a:off x="642620" y="1574800"/>
            <a:ext cx="5080000" cy="1322070"/>
          </a:xfrm>
          <a:prstGeom prst="rect">
            <a:avLst/>
          </a:prstGeom>
        </p:spPr>
        <p:txBody>
          <a:bodyPr>
            <a:spAutoFit/>
          </a:bodyPr>
          <a:p>
            <a:r>
              <a:rPr sz="1600"/>
              <a:t>Regex отлично подходит для задач поиска и замены текста. Например, в больших текстовых данных можно заменить все URL на другой текст или удалить ненужные символы, такие как пробелы и знаки препинания.</a:t>
            </a:r>
            <a:endParaRPr sz="1600"/>
          </a:p>
        </p:txBody>
      </p:sp>
      <p:sp>
        <p:nvSpPr>
          <p:cNvPr id="4" name="Text Box 3"/>
          <p:cNvSpPr txBox="1"/>
          <p:nvPr/>
        </p:nvSpPr>
        <p:spPr>
          <a:xfrm>
            <a:off x="6438900" y="1575117"/>
            <a:ext cx="5080000" cy="1568450"/>
          </a:xfrm>
          <a:prstGeom prst="rect">
            <a:avLst/>
          </a:prstGeom>
        </p:spPr>
        <p:txBody>
          <a:bodyPr>
            <a:spAutoFit/>
          </a:bodyPr>
          <a:p>
            <a:r>
              <a:rPr sz="2400"/>
              <a:t>正则表达式非常适合用于查找和替换文本。例如，可以在大数据中将所有的URL替换为其他文本，或删除不需要的字符（如空格和标点符号）。</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42620" y="274320"/>
            <a:ext cx="8042910" cy="583565"/>
          </a:xfrm>
          <a:prstGeom prst="rect">
            <a:avLst/>
          </a:prstGeom>
        </p:spPr>
        <p:txBody>
          <a:bodyPr wrap="square">
            <a:spAutoFit/>
          </a:bodyPr>
          <a:p>
            <a:r>
              <a:rPr sz="1600" b="1"/>
              <a:t>4. Улучшение автоматизации и производительности </a:t>
            </a:r>
            <a:endParaRPr sz="1600" b="1"/>
          </a:p>
          <a:p>
            <a:r>
              <a:rPr sz="1600" b="1"/>
              <a:t>提高自动化和性能</a:t>
            </a:r>
            <a:endParaRPr sz="1600" b="1"/>
          </a:p>
        </p:txBody>
      </p:sp>
      <p:sp>
        <p:nvSpPr>
          <p:cNvPr id="5" name="Text Box 4"/>
          <p:cNvSpPr txBox="1"/>
          <p:nvPr/>
        </p:nvSpPr>
        <p:spPr>
          <a:xfrm>
            <a:off x="642620" y="1358265"/>
            <a:ext cx="5080000" cy="1814830"/>
          </a:xfrm>
          <a:prstGeom prst="rect">
            <a:avLst/>
          </a:prstGeom>
        </p:spPr>
        <p:txBody>
          <a:bodyPr>
            <a:spAutoFit/>
          </a:bodyPr>
          <a:p>
            <a:r>
              <a:rPr sz="1600"/>
              <a:t>С помощью регулярных выражений можно создавать более универсальные скрипты для обработки текста, что снижает количество кода и повышает производительность. Например, регулярные выражения позволяют обработать множество шаблонов с минимальным количеством строк кода.</a:t>
            </a:r>
            <a:endParaRPr sz="1600"/>
          </a:p>
        </p:txBody>
      </p:sp>
      <p:sp>
        <p:nvSpPr>
          <p:cNvPr id="6" name="Text Box 5"/>
          <p:cNvSpPr txBox="1"/>
          <p:nvPr/>
        </p:nvSpPr>
        <p:spPr>
          <a:xfrm>
            <a:off x="6327140" y="1358582"/>
            <a:ext cx="5080000" cy="1568450"/>
          </a:xfrm>
          <a:prstGeom prst="rect">
            <a:avLst/>
          </a:prstGeom>
        </p:spPr>
        <p:txBody>
          <a:bodyPr>
            <a:spAutoFit/>
          </a:bodyPr>
          <a:p>
            <a:r>
              <a:rPr sz="2400"/>
              <a:t>通过正则表达式，可以创建更通用的文本处理脚本，从而减少代码量并提高性能。例如，正则表达式可以通过最少的代码行数处理大量的模式。</a:t>
            </a:r>
            <a:endParaRPr sz="2400"/>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48285" y="314325"/>
            <a:ext cx="8033385" cy="583565"/>
          </a:xfrm>
          <a:prstGeom prst="rect">
            <a:avLst/>
          </a:prstGeom>
        </p:spPr>
        <p:txBody>
          <a:bodyPr wrap="square">
            <a:spAutoFit/>
          </a:bodyPr>
          <a:p>
            <a:r>
              <a:rPr sz="1600" b="1"/>
              <a:t>5. Упрощение анализа текстовых данных </a:t>
            </a:r>
            <a:endParaRPr sz="1600" b="1"/>
          </a:p>
          <a:p>
            <a:r>
              <a:rPr sz="1600" b="1"/>
              <a:t>简化文本数据分析</a:t>
            </a:r>
            <a:endParaRPr sz="1600" b="1"/>
          </a:p>
        </p:txBody>
      </p:sp>
      <p:sp>
        <p:nvSpPr>
          <p:cNvPr id="5" name="Text Box 4"/>
          <p:cNvSpPr txBox="1"/>
          <p:nvPr/>
        </p:nvSpPr>
        <p:spPr>
          <a:xfrm>
            <a:off x="369570" y="1716405"/>
            <a:ext cx="5080000" cy="1322070"/>
          </a:xfrm>
          <a:prstGeom prst="rect">
            <a:avLst/>
          </a:prstGeom>
        </p:spPr>
        <p:txBody>
          <a:bodyPr>
            <a:spAutoFit/>
          </a:bodyPr>
          <a:p>
            <a:r>
              <a:rPr sz="1600"/>
              <a:t>Regex может анализировать большие объемы текстовых данных, такие как файлы логов, HTML-код или содержимое базы данных. Он позволяет легко извлекать нужные данные из сложных текстовых структур.</a:t>
            </a:r>
            <a:endParaRPr sz="1600"/>
          </a:p>
        </p:txBody>
      </p:sp>
      <p:sp>
        <p:nvSpPr>
          <p:cNvPr id="6" name="Text Box 5"/>
          <p:cNvSpPr txBox="1"/>
          <p:nvPr/>
        </p:nvSpPr>
        <p:spPr>
          <a:xfrm>
            <a:off x="6246495" y="1716722"/>
            <a:ext cx="5080000" cy="1014730"/>
          </a:xfrm>
          <a:prstGeom prst="rect">
            <a:avLst/>
          </a:prstGeom>
        </p:spPr>
        <p:txBody>
          <a:bodyPr>
            <a:spAutoFit/>
          </a:bodyPr>
          <a:p>
            <a:r>
              <a:rPr sz="2000"/>
              <a:t>正则表达式可以解析大量文本数据，例如日志文件、HTML代码或数据库内容。它使从复杂文本结构中提取所需数据变得更容易。</a:t>
            </a:r>
            <a:endParaRPr sz="2000"/>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90855" y="962025"/>
            <a:ext cx="7978140" cy="706755"/>
          </a:xfrm>
          <a:prstGeom prst="rect">
            <a:avLst/>
          </a:prstGeom>
        </p:spPr>
        <p:txBody>
          <a:bodyPr wrap="square">
            <a:spAutoFit/>
          </a:bodyPr>
          <a:p>
            <a:r>
              <a:rPr sz="2000"/>
              <a:t>Кто в команде разработки использует регулярные выражения и как они помогают</a:t>
            </a:r>
            <a:endParaRPr sz="2000"/>
          </a:p>
        </p:txBody>
      </p:sp>
      <p:sp>
        <p:nvSpPr>
          <p:cNvPr id="6" name="Text Box 5"/>
          <p:cNvSpPr txBox="1"/>
          <p:nvPr/>
        </p:nvSpPr>
        <p:spPr>
          <a:xfrm>
            <a:off x="490855" y="1743710"/>
            <a:ext cx="7978140" cy="398780"/>
          </a:xfrm>
          <a:prstGeom prst="rect">
            <a:avLst/>
          </a:prstGeom>
        </p:spPr>
        <p:txBody>
          <a:bodyPr wrap="square">
            <a:spAutoFit/>
          </a:bodyPr>
          <a:p>
            <a:pPr>
              <a:spcAft>
                <a:spcPct val="60000"/>
              </a:spcAft>
            </a:pPr>
            <a:r>
              <a:rPr sz="2000" b="1"/>
              <a:t>谁在开发团队中使用正则表达式，它们如何帮助工作</a:t>
            </a:r>
            <a:endParaRPr sz="2000" b="1"/>
          </a:p>
        </p:txBody>
      </p:sp>
      <p:pic>
        <p:nvPicPr>
          <p:cNvPr id="7" name="Picture 6"/>
          <p:cNvPicPr/>
          <p:nvPr/>
        </p:nvPicPr>
        <p:blipFill>
          <a:blip r:embed="rId1"/>
        </p:blipFill>
        <p:spPr>
          <a:xfrm>
            <a:off x="6530975" y="3258185"/>
            <a:ext cx="5114290" cy="3072130"/>
          </a:xfrm>
          <a:prstGeom prst="rect">
            <a:avLst/>
          </a:prstGeom>
        </p:spPr>
      </p:pic>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61365" y="775970"/>
            <a:ext cx="4421505" cy="3046095"/>
          </a:xfrm>
          <a:prstGeom prst="rect">
            <a:avLst/>
          </a:prstGeom>
          <a:noFill/>
        </p:spPr>
        <p:txBody>
          <a:bodyPr wrap="square" rtlCol="0">
            <a:spAutoFit/>
          </a:bodyPr>
          <a:p>
            <a:pPr indent="457200" algn="l"/>
            <a:r>
              <a:rPr lang="en-US" sz="2400"/>
              <a:t>В зависимости от роли в проекте каждый специалист может использовать регулярные выражения по-разному. Давайте рассмотрим, как они помогают различным членам команды разработки.</a:t>
            </a:r>
            <a:endParaRPr lang="en-US" sz="2400"/>
          </a:p>
        </p:txBody>
      </p:sp>
      <p:sp>
        <p:nvSpPr>
          <p:cNvPr id="5" name="Text Box 4"/>
          <p:cNvSpPr txBox="1"/>
          <p:nvPr/>
        </p:nvSpPr>
        <p:spPr>
          <a:xfrm>
            <a:off x="5831205" y="775970"/>
            <a:ext cx="5080000" cy="2061210"/>
          </a:xfrm>
          <a:prstGeom prst="rect">
            <a:avLst/>
          </a:prstGeom>
        </p:spPr>
        <p:txBody>
          <a:bodyPr>
            <a:spAutoFit/>
          </a:bodyPr>
          <a:p>
            <a:r>
              <a:rPr sz="3200"/>
              <a:t>根据在项目中的角色，每位成员对正则表达式的使用方式不同。下面我们来了解它如何帮助不同的团队成员。</a:t>
            </a:r>
            <a:endParaRPr sz="32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8960" y="411480"/>
            <a:ext cx="5835015" cy="337185"/>
          </a:xfrm>
          <a:prstGeom prst="rect">
            <a:avLst/>
          </a:prstGeom>
        </p:spPr>
        <p:txBody>
          <a:bodyPr wrap="square">
            <a:spAutoFit/>
          </a:bodyPr>
          <a:p>
            <a:r>
              <a:rPr sz="1600" b="1"/>
              <a:t>Программисты и разработчики / 程序员和开发人员</a:t>
            </a:r>
            <a:endParaRPr sz="1600" b="1"/>
          </a:p>
        </p:txBody>
      </p:sp>
      <p:sp>
        <p:nvSpPr>
          <p:cNvPr id="3" name="Text Box 2"/>
          <p:cNvSpPr txBox="1"/>
          <p:nvPr/>
        </p:nvSpPr>
        <p:spPr>
          <a:xfrm>
            <a:off x="603250" y="1367790"/>
            <a:ext cx="5080000" cy="2061210"/>
          </a:xfrm>
          <a:prstGeom prst="rect">
            <a:avLst/>
          </a:prstGeom>
        </p:spPr>
        <p:txBody>
          <a:bodyPr>
            <a:spAutoFit/>
          </a:bodyPr>
          <a:p>
            <a:r>
              <a:rPr sz="1600"/>
              <a:t>Программисты часто используют регулярные выражения для валидации данных, парсинга текстовых файлов и автоматизации задач. Например, с помощью regex можно проверять, соответствует ли введённый пользователем email правильному формату, находить ключевые слова в текстах или очищать данные от лишних символов.</a:t>
            </a:r>
            <a:endParaRPr sz="1600"/>
          </a:p>
        </p:txBody>
      </p:sp>
      <p:sp>
        <p:nvSpPr>
          <p:cNvPr id="4" name="Text Box 3"/>
          <p:cNvSpPr txBox="1"/>
          <p:nvPr/>
        </p:nvSpPr>
        <p:spPr>
          <a:xfrm>
            <a:off x="6221730" y="1367473"/>
            <a:ext cx="5080000" cy="2306955"/>
          </a:xfrm>
          <a:prstGeom prst="rect">
            <a:avLst/>
          </a:prstGeom>
        </p:spPr>
        <p:txBody>
          <a:bodyPr>
            <a:spAutoFit/>
          </a:bodyPr>
          <a:p>
            <a:r>
              <a:rPr sz="2400">
                <a:latin typeface="Arial Bold" panose="020B0704020202020204" charset="0"/>
              </a:rPr>
              <a:t>程序员经常使用正则表达式来验证数据、解析文本文件和自动化任务。例如，通过正则表达式可以检查用户输入的电子邮件地址是否符合正确格式、查找文本中的关键词，或清理数据中的多余字符。</a:t>
            </a:r>
            <a:endParaRPr sz="2400">
              <a:latin typeface="Arial Bold" panose="020B0704020202020204" charset="0"/>
            </a:endParaRPr>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30530" y="330518"/>
            <a:ext cx="5080000" cy="337185"/>
          </a:xfrm>
          <a:prstGeom prst="rect">
            <a:avLst/>
          </a:prstGeom>
        </p:spPr>
        <p:txBody>
          <a:bodyPr>
            <a:spAutoFit/>
          </a:bodyPr>
          <a:p>
            <a:r>
              <a:rPr sz="1600" b="1"/>
              <a:t>Тестировщики / 测试人员</a:t>
            </a:r>
            <a:endParaRPr sz="1600" b="1"/>
          </a:p>
        </p:txBody>
      </p:sp>
      <p:sp>
        <p:nvSpPr>
          <p:cNvPr id="3" name="Text Box 2"/>
          <p:cNvSpPr txBox="1"/>
          <p:nvPr/>
        </p:nvSpPr>
        <p:spPr>
          <a:xfrm>
            <a:off x="430530" y="1185545"/>
            <a:ext cx="5080000" cy="1568450"/>
          </a:xfrm>
          <a:prstGeom prst="rect">
            <a:avLst/>
          </a:prstGeom>
        </p:spPr>
        <p:txBody>
          <a:bodyPr>
            <a:spAutoFit/>
          </a:bodyPr>
          <a:p>
            <a:r>
              <a:rPr sz="1600"/>
              <a:t>Тестировщики применяют регулярные выражения для автоматизированного тестирования и создания тестовых данных. Например, с помощью regex можно проверять, содержат ли файлы логов ошибки, или искать некорректные данные в системе.</a:t>
            </a:r>
            <a:endParaRPr sz="1600"/>
          </a:p>
        </p:txBody>
      </p:sp>
      <p:sp>
        <p:nvSpPr>
          <p:cNvPr id="4" name="Text Box 3"/>
          <p:cNvSpPr txBox="1"/>
          <p:nvPr/>
        </p:nvSpPr>
        <p:spPr>
          <a:xfrm>
            <a:off x="6095365" y="1185862"/>
            <a:ext cx="5080000" cy="1938020"/>
          </a:xfrm>
          <a:prstGeom prst="rect">
            <a:avLst/>
          </a:prstGeom>
        </p:spPr>
        <p:txBody>
          <a:bodyPr>
            <a:spAutoFit/>
          </a:bodyPr>
          <a:p>
            <a:r>
              <a:rPr sz="2400"/>
              <a:t>测试人员使用正则表达式来进行自动化测试和生成测试数据。例如，通过正则表达式可以检查日志文件中是否包含错误，或查找系统中的不正确数据。</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2595" y="402590"/>
            <a:ext cx="7701915" cy="337185"/>
          </a:xfrm>
          <a:prstGeom prst="rect">
            <a:avLst/>
          </a:prstGeom>
        </p:spPr>
        <p:txBody>
          <a:bodyPr wrap="square">
            <a:spAutoFit/>
          </a:bodyPr>
          <a:p>
            <a:r>
              <a:rPr sz="1600" b="1"/>
              <a:t>Специалисты по обработке данных и аналитики / 数据处理和分析人员</a:t>
            </a:r>
            <a:endParaRPr sz="1600" b="1"/>
          </a:p>
        </p:txBody>
      </p:sp>
      <p:sp>
        <p:nvSpPr>
          <p:cNvPr id="3" name="Text Box 2"/>
          <p:cNvSpPr txBox="1"/>
          <p:nvPr/>
        </p:nvSpPr>
        <p:spPr>
          <a:xfrm>
            <a:off x="442595" y="1403985"/>
            <a:ext cx="5080000" cy="1568450"/>
          </a:xfrm>
          <a:prstGeom prst="rect">
            <a:avLst/>
          </a:prstGeom>
        </p:spPr>
        <p:txBody>
          <a:bodyPr>
            <a:spAutoFit/>
          </a:bodyPr>
          <a:p>
            <a:r>
              <a:rPr sz="1600"/>
              <a:t>Аналитики используют регулярные выражения для извлечения полезных данных из больших текстовых файлов, таких как отчёты, базы данных и лог-файлы. Например, можно вычленить IP-адреса, email или номера телефонов из текстовых данных для последующего анализа.</a:t>
            </a:r>
            <a:endParaRPr sz="1600"/>
          </a:p>
        </p:txBody>
      </p:sp>
      <p:sp>
        <p:nvSpPr>
          <p:cNvPr id="4" name="Text Box 3"/>
          <p:cNvSpPr txBox="1"/>
          <p:nvPr/>
        </p:nvSpPr>
        <p:spPr>
          <a:xfrm>
            <a:off x="6278880" y="1403668"/>
            <a:ext cx="5080000" cy="1938020"/>
          </a:xfrm>
          <a:prstGeom prst="rect">
            <a:avLst/>
          </a:prstGeom>
        </p:spPr>
        <p:txBody>
          <a:bodyPr>
            <a:spAutoFit/>
          </a:bodyPr>
          <a:p>
            <a:r>
              <a:rPr sz="2400"/>
              <a:t>数据分析人员使用正则表达式从大型文本文件中提取有用信息，例如报告、数据库和日志文件。例如，可以从文本数据中提取IP地址、电子邮件或电话号码以供进一步分析。</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91820" y="299402"/>
            <a:ext cx="5080000" cy="583565"/>
          </a:xfrm>
          <a:prstGeom prst="rect">
            <a:avLst/>
          </a:prstGeom>
        </p:spPr>
        <p:txBody>
          <a:bodyPr>
            <a:spAutoFit/>
          </a:bodyPr>
          <a:p>
            <a:r>
              <a:rPr sz="1600" b="1"/>
              <a:t>Администраторы системы и DevOps-инженеры / 系统管理员和DevOps工程师</a:t>
            </a:r>
            <a:endParaRPr sz="1600" b="1"/>
          </a:p>
        </p:txBody>
      </p:sp>
      <p:sp>
        <p:nvSpPr>
          <p:cNvPr id="3" name="Text Box 2"/>
          <p:cNvSpPr txBox="1"/>
          <p:nvPr/>
        </p:nvSpPr>
        <p:spPr>
          <a:xfrm>
            <a:off x="591820" y="1783080"/>
            <a:ext cx="5080000" cy="1568450"/>
          </a:xfrm>
          <a:prstGeom prst="rect">
            <a:avLst/>
          </a:prstGeom>
        </p:spPr>
        <p:txBody>
          <a:bodyPr>
            <a:spAutoFit/>
          </a:bodyPr>
          <a:p>
            <a:r>
              <a:rPr sz="1600"/>
              <a:t>Системные администраторы и DevOps-инженеры используют регулярные выражения для анализа логов и автоматизации задач. Например, с их помощью можно искать определённые ошибки в логах, фильтровать данные или автоматически заменять конфигурации.</a:t>
            </a:r>
            <a:endParaRPr sz="1600"/>
          </a:p>
        </p:txBody>
      </p:sp>
      <p:sp>
        <p:nvSpPr>
          <p:cNvPr id="4" name="Text Box 3"/>
          <p:cNvSpPr txBox="1"/>
          <p:nvPr/>
        </p:nvSpPr>
        <p:spPr>
          <a:xfrm>
            <a:off x="6439535" y="1783397"/>
            <a:ext cx="5080000" cy="1938020"/>
          </a:xfrm>
          <a:prstGeom prst="rect">
            <a:avLst/>
          </a:prstGeom>
        </p:spPr>
        <p:txBody>
          <a:bodyPr>
            <a:spAutoFit/>
          </a:bodyPr>
          <a:p>
            <a:r>
              <a:rPr sz="2400"/>
              <a:t>系统管理员和DevOps工程师使用正则表达式分析日志和自动化任务。例如，正则表达式可以帮助查找日志中的特定错误，过滤数据或自动替换配置。</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9410" y="267335"/>
            <a:ext cx="7264400" cy="842645"/>
          </a:xfrm>
          <a:prstGeom prst="rect">
            <a:avLst/>
          </a:prstGeom>
        </p:spPr>
        <p:txBody>
          <a:bodyPr wrap="square">
            <a:spAutoFit/>
          </a:bodyPr>
          <a:p>
            <a:pPr>
              <a:spcAft>
                <a:spcPct val="60000"/>
              </a:spcAft>
            </a:pPr>
            <a:r>
              <a:rPr b="1"/>
              <a:t>Основные элементы регулярных выражений</a:t>
            </a:r>
            <a:endParaRPr b="1"/>
          </a:p>
          <a:p>
            <a:pPr>
              <a:spcAft>
                <a:spcPct val="60000"/>
              </a:spcAft>
            </a:pPr>
            <a:r>
              <a:rPr b="1"/>
              <a:t>正则表达式的基本元素</a:t>
            </a:r>
            <a:endParaRPr b="1"/>
          </a:p>
        </p:txBody>
      </p:sp>
      <p:sp>
        <p:nvSpPr>
          <p:cNvPr id="3" name="Text Box 2"/>
          <p:cNvSpPr txBox="1"/>
          <p:nvPr/>
        </p:nvSpPr>
        <p:spPr>
          <a:xfrm>
            <a:off x="430530" y="1837690"/>
            <a:ext cx="11078210" cy="1014730"/>
          </a:xfrm>
          <a:prstGeom prst="rect">
            <a:avLst/>
          </a:prstGeom>
        </p:spPr>
        <p:txBody>
          <a:bodyPr wrap="square">
            <a:spAutoFit/>
          </a:bodyPr>
          <a:p>
            <a:pPr algn="just"/>
            <a:r>
              <a:rPr sz="2000"/>
              <a:t>Регулярные выражения состоят из символов и специальных метасимволов. Вот основные элементы:</a:t>
            </a:r>
            <a:endParaRPr sz="2000"/>
          </a:p>
          <a:p>
            <a:pPr algn="just"/>
            <a:endParaRPr sz="2000"/>
          </a:p>
        </p:txBody>
      </p:sp>
      <p:sp>
        <p:nvSpPr>
          <p:cNvPr id="4" name="Text Box 3"/>
          <p:cNvSpPr txBox="1"/>
          <p:nvPr/>
        </p:nvSpPr>
        <p:spPr>
          <a:xfrm>
            <a:off x="430530" y="3260090"/>
            <a:ext cx="11078210" cy="1198880"/>
          </a:xfrm>
          <a:prstGeom prst="rect">
            <a:avLst/>
          </a:prstGeom>
          <a:noFill/>
        </p:spPr>
        <p:txBody>
          <a:bodyPr wrap="square" rtlCol="0" anchor="t">
            <a:spAutoFit/>
          </a:bodyPr>
          <a:p>
            <a:r>
              <a:rPr sz="3600">
                <a:sym typeface="+mn-ea"/>
              </a:rPr>
              <a:t>正则表达式由字符和特殊的元字符组成。以下是一些基本元素：</a:t>
            </a:r>
            <a:endParaRPr lang="en-US" sz="3600">
              <a:sym typeface="+mn-ea"/>
            </a:endParaRPr>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9410" y="267335"/>
            <a:ext cx="8275955" cy="842645"/>
          </a:xfrm>
          <a:prstGeom prst="rect">
            <a:avLst/>
          </a:prstGeom>
        </p:spPr>
        <p:txBody>
          <a:bodyPr wrap="square">
            <a:spAutoFit/>
          </a:bodyPr>
          <a:p>
            <a:pPr>
              <a:spcAft>
                <a:spcPct val="60000"/>
              </a:spcAft>
            </a:pPr>
            <a:r>
              <a:rPr b="1"/>
              <a:t>1. Основные элементы регулярных выражений</a:t>
            </a:r>
            <a:endParaRPr b="1"/>
          </a:p>
          <a:p>
            <a:pPr>
              <a:spcAft>
                <a:spcPct val="60000"/>
              </a:spcAft>
            </a:pPr>
            <a:r>
              <a:rPr b="1"/>
              <a:t>1. 正则表达式的基本元素</a:t>
            </a:r>
            <a:endParaRPr b="1"/>
          </a:p>
        </p:txBody>
      </p:sp>
      <p:sp>
        <p:nvSpPr>
          <p:cNvPr id="4" name="Text Box 3"/>
          <p:cNvSpPr txBox="1"/>
          <p:nvPr/>
        </p:nvSpPr>
        <p:spPr>
          <a:xfrm>
            <a:off x="359410" y="1790382"/>
            <a:ext cx="5080000" cy="1014730"/>
          </a:xfrm>
          <a:prstGeom prst="rect">
            <a:avLst/>
          </a:prstGeom>
        </p:spPr>
        <p:txBody>
          <a:bodyPr>
            <a:spAutoFit/>
          </a:bodyPr>
          <a:p>
            <a:r>
              <a:rPr sz="2000"/>
              <a:t>Литералы — обычные символы, например, a, b, 1, которые означают сами себя в строке.</a:t>
            </a:r>
            <a:endParaRPr sz="2000"/>
          </a:p>
        </p:txBody>
      </p:sp>
      <p:sp>
        <p:nvSpPr>
          <p:cNvPr id="5" name="Text Box 4"/>
          <p:cNvSpPr txBox="1"/>
          <p:nvPr/>
        </p:nvSpPr>
        <p:spPr>
          <a:xfrm>
            <a:off x="6155690" y="1790382"/>
            <a:ext cx="5080000" cy="829945"/>
          </a:xfrm>
          <a:prstGeom prst="rect">
            <a:avLst/>
          </a:prstGeom>
        </p:spPr>
        <p:txBody>
          <a:bodyPr>
            <a:spAutoFit/>
          </a:bodyPr>
          <a:p>
            <a:r>
              <a:rPr sz="2400"/>
              <a:t>字面量——普通字符，如a、b、1，它们在字符串中表示自身。</a:t>
            </a:r>
            <a:endParaRPr sz="2400"/>
          </a:p>
        </p:txBody>
      </p:sp>
      <p:pic>
        <p:nvPicPr>
          <p:cNvPr id="6" name="Picture 5"/>
          <p:cNvPicPr>
            <a:picLocks noChangeAspect="1"/>
          </p:cNvPicPr>
          <p:nvPr/>
        </p:nvPicPr>
        <p:blipFill>
          <a:blip r:embed="rId1"/>
          <a:stretch>
            <a:fillRect/>
          </a:stretch>
        </p:blipFill>
        <p:spPr>
          <a:xfrm>
            <a:off x="1264285" y="3300095"/>
            <a:ext cx="9663430" cy="2287905"/>
          </a:xfrm>
          <a:prstGeom prst="rect">
            <a:avLst/>
          </a:prstGeom>
        </p:spPr>
      </p:pic>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9410" y="267335"/>
            <a:ext cx="7204075" cy="842645"/>
          </a:xfrm>
          <a:prstGeom prst="rect">
            <a:avLst/>
          </a:prstGeom>
        </p:spPr>
        <p:txBody>
          <a:bodyPr wrap="square">
            <a:spAutoFit/>
          </a:bodyPr>
          <a:p>
            <a:pPr>
              <a:spcAft>
                <a:spcPct val="60000"/>
              </a:spcAft>
            </a:pPr>
            <a:r>
              <a:rPr b="1"/>
              <a:t>1. Основные элементы регулярных выражений</a:t>
            </a:r>
            <a:endParaRPr b="1"/>
          </a:p>
          <a:p>
            <a:pPr>
              <a:spcAft>
                <a:spcPct val="60000"/>
              </a:spcAft>
            </a:pPr>
            <a:r>
              <a:rPr b="1"/>
              <a:t>1. 正则表达式的基本元素</a:t>
            </a:r>
            <a:endParaRPr b="1"/>
          </a:p>
        </p:txBody>
      </p:sp>
      <p:sp>
        <p:nvSpPr>
          <p:cNvPr id="3" name="Text Box 2"/>
          <p:cNvSpPr txBox="1"/>
          <p:nvPr/>
        </p:nvSpPr>
        <p:spPr>
          <a:xfrm>
            <a:off x="471170" y="1993583"/>
            <a:ext cx="5080000" cy="1014730"/>
          </a:xfrm>
          <a:prstGeom prst="rect">
            <a:avLst/>
          </a:prstGeom>
        </p:spPr>
        <p:txBody>
          <a:bodyPr>
            <a:spAutoFit/>
          </a:bodyPr>
          <a:p>
            <a:r>
              <a:rPr sz="2000"/>
              <a:t>Точки . — метасимвол, обозначающий любой одиночный символ, кроме новой строки.</a:t>
            </a:r>
            <a:endParaRPr sz="2000"/>
          </a:p>
        </p:txBody>
      </p:sp>
      <p:sp>
        <p:nvSpPr>
          <p:cNvPr id="4" name="Text Box 3"/>
          <p:cNvSpPr txBox="1"/>
          <p:nvPr/>
        </p:nvSpPr>
        <p:spPr>
          <a:xfrm>
            <a:off x="6115050" y="1993583"/>
            <a:ext cx="5080000" cy="829945"/>
          </a:xfrm>
          <a:prstGeom prst="rect">
            <a:avLst/>
          </a:prstGeom>
        </p:spPr>
        <p:txBody>
          <a:bodyPr>
            <a:spAutoFit/>
          </a:bodyPr>
          <a:p>
            <a:r>
              <a:rPr sz="2400"/>
              <a:t>点号.——表示除换行符外的任意单个字符。</a:t>
            </a:r>
            <a:endParaRPr sz="2400"/>
          </a:p>
        </p:txBody>
      </p:sp>
      <p:pic>
        <p:nvPicPr>
          <p:cNvPr id="5" name="Picture 4"/>
          <p:cNvPicPr>
            <a:picLocks noChangeAspect="1"/>
          </p:cNvPicPr>
          <p:nvPr/>
        </p:nvPicPr>
        <p:blipFill>
          <a:blip r:embed="rId1"/>
          <a:stretch>
            <a:fillRect/>
          </a:stretch>
        </p:blipFill>
        <p:spPr>
          <a:xfrm>
            <a:off x="1647825" y="3227705"/>
            <a:ext cx="9010015" cy="2551430"/>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9410" y="267335"/>
            <a:ext cx="5080000" cy="759460"/>
          </a:xfrm>
          <a:prstGeom prst="rect">
            <a:avLst/>
          </a:prstGeom>
        </p:spPr>
        <p:txBody>
          <a:bodyPr>
            <a:spAutoFit/>
          </a:bodyPr>
          <a:p>
            <a:pPr>
              <a:spcAft>
                <a:spcPct val="60000"/>
              </a:spcAft>
            </a:pPr>
            <a:r>
              <a:rPr sz="1600" b="1"/>
              <a:t>1. Основные элементы регулярных выражений</a:t>
            </a:r>
            <a:endParaRPr sz="1600" b="1"/>
          </a:p>
          <a:p>
            <a:pPr>
              <a:spcAft>
                <a:spcPct val="60000"/>
              </a:spcAft>
            </a:pPr>
            <a:r>
              <a:rPr sz="1600" b="1"/>
              <a:t>1. 正则表达式的基本元素</a:t>
            </a:r>
            <a:endParaRPr sz="1600" b="1"/>
          </a:p>
        </p:txBody>
      </p:sp>
      <p:sp>
        <p:nvSpPr>
          <p:cNvPr id="3" name="Text Box 2"/>
          <p:cNvSpPr txBox="1"/>
          <p:nvPr/>
        </p:nvSpPr>
        <p:spPr>
          <a:xfrm>
            <a:off x="723900" y="1632903"/>
            <a:ext cx="5080000" cy="829945"/>
          </a:xfrm>
          <a:prstGeom prst="rect">
            <a:avLst/>
          </a:prstGeom>
        </p:spPr>
        <p:txBody>
          <a:bodyPr>
            <a:spAutoFit/>
          </a:bodyPr>
          <a:p>
            <a:r>
              <a:rPr sz="1600"/>
              <a:t>Квантификаторы — указывают количество повторений символа или группы символов. Например: </a:t>
            </a:r>
            <a:endParaRPr sz="1600"/>
          </a:p>
        </p:txBody>
      </p:sp>
      <p:sp>
        <p:nvSpPr>
          <p:cNvPr id="4" name="Text Box 3"/>
          <p:cNvSpPr txBox="1"/>
          <p:nvPr/>
        </p:nvSpPr>
        <p:spPr>
          <a:xfrm>
            <a:off x="5803900" y="1633220"/>
            <a:ext cx="6096000" cy="583565"/>
          </a:xfrm>
          <a:prstGeom prst="rect">
            <a:avLst/>
          </a:prstGeom>
          <a:noFill/>
        </p:spPr>
        <p:txBody>
          <a:bodyPr wrap="square" rtlCol="0" anchor="t">
            <a:spAutoFit/>
          </a:bodyPr>
          <a:p>
            <a:r>
              <a:rPr sz="1600">
                <a:sym typeface="+mn-ea"/>
              </a:rPr>
              <a:t>量词——用于指定字符或字符组的重复次数。</a:t>
            </a:r>
            <a:endParaRPr sz="1600">
              <a:sym typeface="+mn-ea"/>
            </a:endParaRPr>
          </a:p>
          <a:p>
            <a:r>
              <a:rPr sz="1600">
                <a:sym typeface="+mn-ea"/>
              </a:rPr>
              <a:t>例如：</a:t>
            </a:r>
            <a:endParaRPr lang="en-US" sz="1600">
              <a:sym typeface="+mn-ea"/>
            </a:endParaRPr>
          </a:p>
        </p:txBody>
      </p:sp>
      <p:graphicFrame>
        <p:nvGraphicFramePr>
          <p:cNvPr id="5" name="Table 4"/>
          <p:cNvGraphicFramePr/>
          <p:nvPr/>
        </p:nvGraphicFramePr>
        <p:xfrm>
          <a:off x="1828800" y="3344545"/>
          <a:ext cx="8534400" cy="3429000"/>
        </p:xfrm>
        <a:graphic>
          <a:graphicData uri="http://schemas.openxmlformats.org/drawingml/2006/table">
            <a:tbl>
              <a:tblPr bandRow="1">
                <a:tableStyleId>{C083E6E3-FA7D-4D7B-A595-EF9225AFEA82}</a:tableStyleId>
              </a:tblPr>
              <a:tblGrid>
                <a:gridCol w="2844800"/>
                <a:gridCol w="2844800"/>
                <a:gridCol w="2844800"/>
              </a:tblGrid>
              <a:tr h="381000">
                <a:tc>
                  <a:txBody>
                    <a:bodyPr/>
                    <a:p>
                      <a:pPr algn="ctr">
                        <a:buNone/>
                      </a:pPr>
                      <a:r>
                        <a:rPr lang="en-US"/>
                        <a:t>*</a:t>
                      </a:r>
                      <a:endParaRPr lang="en-US"/>
                    </a:p>
                  </a:txBody>
                  <a:tcPr/>
                </a:tc>
                <a:tc>
                  <a:txBody>
                    <a:bodyPr/>
                    <a:p>
                      <a:pPr>
                        <a:buNone/>
                      </a:pPr>
                      <a:r>
                        <a:rPr lang="en-US"/>
                        <a:t>0 или больше раз</a:t>
                      </a:r>
                      <a:endParaRPr lang="en-US"/>
                    </a:p>
                  </a:txBody>
                  <a:tcPr/>
                </a:tc>
                <a:tc>
                  <a:txBody>
                    <a:bodyPr/>
                    <a:p>
                      <a:pPr>
                        <a:buNone/>
                      </a:pPr>
                      <a:r>
                        <a:rPr lang="en-US"/>
                        <a:t>0次或更多次。</a:t>
                      </a:r>
                      <a:endParaRPr lang="en-US"/>
                    </a:p>
                  </a:txBody>
                  <a:tcPr/>
                </a:tc>
              </a:tr>
              <a:tr h="381000">
                <a:tc>
                  <a:txBody>
                    <a:bodyPr/>
                    <a:p>
                      <a:pPr algn="ctr">
                        <a:buNone/>
                      </a:pPr>
                      <a:r>
                        <a:rPr lang="en-US"/>
                        <a:t>+</a:t>
                      </a:r>
                      <a:endParaRPr lang="en-US"/>
                    </a:p>
                  </a:txBody>
                  <a:tcPr/>
                </a:tc>
                <a:tc>
                  <a:txBody>
                    <a:bodyPr/>
                    <a:p>
                      <a:pPr>
                        <a:buNone/>
                      </a:pPr>
                      <a:r>
                        <a:rPr lang="en-US" sz="1800">
                          <a:sym typeface="+mn-ea"/>
                        </a:rPr>
                        <a:t>1 или больше раз.</a:t>
                      </a:r>
                      <a:endParaRPr lang="en-US"/>
                    </a:p>
                  </a:txBody>
                  <a:tcPr/>
                </a:tc>
                <a:tc>
                  <a:txBody>
                    <a:bodyPr/>
                    <a:p>
                      <a:pPr>
                        <a:buNone/>
                      </a:pPr>
                      <a:r>
                        <a:rPr lang="en-US"/>
                        <a:t>1次或更多次。</a:t>
                      </a:r>
                      <a:endParaRPr lang="en-US"/>
                    </a:p>
                  </a:txBody>
                  <a:tcPr/>
                </a:tc>
              </a:tr>
              <a:tr h="381000">
                <a:tc>
                  <a:txBody>
                    <a:bodyPr/>
                    <a:p>
                      <a:pPr algn="ctr">
                        <a:buNone/>
                      </a:pPr>
                      <a:r>
                        <a:rPr lang="en-US"/>
                        <a:t>?</a:t>
                      </a:r>
                      <a:endParaRPr lang="en-US"/>
                    </a:p>
                  </a:txBody>
                  <a:tcPr/>
                </a:tc>
                <a:tc>
                  <a:txBody>
                    <a:bodyPr/>
                    <a:p>
                      <a:pPr>
                        <a:buNone/>
                      </a:pPr>
                      <a:r>
                        <a:rPr lang="en-US"/>
                        <a:t>0 или 1 раз.</a:t>
                      </a:r>
                      <a:endParaRPr lang="en-US"/>
                    </a:p>
                  </a:txBody>
                  <a:tcPr/>
                </a:tc>
                <a:tc>
                  <a:txBody>
                    <a:bodyPr/>
                    <a:p>
                      <a:pPr>
                        <a:buNone/>
                      </a:pPr>
                      <a:r>
                        <a:rPr lang="en-US"/>
                        <a:t>0次或1次。</a:t>
                      </a:r>
                      <a:endParaRPr lang="en-US"/>
                    </a:p>
                  </a:txBody>
                  <a:tcPr/>
                </a:tc>
              </a:tr>
              <a:tr h="381000">
                <a:tc>
                  <a:txBody>
                    <a:bodyPr/>
                    <a:p>
                      <a:pPr algn="ctr">
                        <a:buNone/>
                      </a:pPr>
                      <a:r>
                        <a:rPr lang="en-US"/>
                        <a:t>{n}</a:t>
                      </a:r>
                      <a:endParaRPr lang="en-US"/>
                    </a:p>
                  </a:txBody>
                  <a:tcPr/>
                </a:tc>
                <a:tc>
                  <a:txBody>
                    <a:bodyPr/>
                    <a:p>
                      <a:pPr>
                        <a:buNone/>
                      </a:pPr>
                      <a:r>
                        <a:rPr lang="en-US"/>
                        <a:t>ровно n раз.</a:t>
                      </a:r>
                      <a:endParaRPr lang="en-US"/>
                    </a:p>
                  </a:txBody>
                  <a:tcPr/>
                </a:tc>
                <a:tc>
                  <a:txBody>
                    <a:bodyPr/>
                    <a:p>
                      <a:pPr>
                        <a:buNone/>
                      </a:pPr>
                      <a:r>
                        <a:rPr lang="en-US"/>
                        <a:t>恰好n次。</a:t>
                      </a:r>
                      <a:endParaRPr lang="en-US"/>
                    </a:p>
                  </a:txBody>
                  <a:tcPr/>
                </a:tc>
              </a:tr>
              <a:tr h="381000">
                <a:tc>
                  <a:txBody>
                    <a:bodyPr/>
                    <a:p>
                      <a:pPr algn="ctr">
                        <a:buNone/>
                      </a:pPr>
                      <a:r>
                        <a:rPr lang="en-US"/>
                        <a:t>{n, m}</a:t>
                      </a:r>
                      <a:endParaRPr lang="en-US"/>
                    </a:p>
                  </a:txBody>
                  <a:tcPr/>
                </a:tc>
                <a:tc>
                  <a:txBody>
                    <a:bodyPr/>
                    <a:p>
                      <a:pPr>
                        <a:buNone/>
                      </a:pPr>
                      <a:r>
                        <a:rPr lang="en-US"/>
                        <a:t>от n до m раз.</a:t>
                      </a:r>
                      <a:endParaRPr lang="en-US"/>
                    </a:p>
                  </a:txBody>
                  <a:tcPr/>
                </a:tc>
                <a:tc>
                  <a:txBody>
                    <a:bodyPr/>
                    <a:p>
                      <a:pPr>
                        <a:buNone/>
                      </a:pPr>
                      <a:r>
                        <a:rPr lang="en-US"/>
                        <a:t>从n次到m次。</a:t>
                      </a:r>
                      <a:endParaRPr lang="en-US"/>
                    </a:p>
                  </a:txBody>
                  <a:tcPr/>
                </a:tc>
              </a:tr>
            </a:tbl>
          </a:graphicData>
        </a:graphic>
      </p:graphicFrame>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2124075" y="1899920"/>
            <a:ext cx="7943850" cy="3057525"/>
          </a:xfrm>
          <a:prstGeom prst="rect">
            <a:avLst/>
          </a:prstGeom>
        </p:spPr>
      </p:pic>
      <p:sp>
        <p:nvSpPr>
          <p:cNvPr id="6" name="Text Box 5"/>
          <p:cNvSpPr txBox="1"/>
          <p:nvPr/>
        </p:nvSpPr>
        <p:spPr>
          <a:xfrm>
            <a:off x="490855" y="415925"/>
            <a:ext cx="7628255" cy="706755"/>
          </a:xfrm>
          <a:prstGeom prst="rect">
            <a:avLst/>
          </a:prstGeom>
        </p:spPr>
        <p:txBody>
          <a:bodyPr wrap="square">
            <a:spAutoFit/>
          </a:bodyPr>
          <a:p>
            <a:r>
              <a:rPr sz="2000"/>
              <a:t>Пример: a* найдет a, aa, или даже пустую строку.</a:t>
            </a:r>
            <a:endParaRPr sz="2000"/>
          </a:p>
          <a:p>
            <a:r>
              <a:rPr sz="2000"/>
              <a:t>示例：a*可以匹配a、aa，甚至空字符串。</a:t>
            </a:r>
            <a:endParaRPr sz="2000"/>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741045" y="482917"/>
            <a:ext cx="5080000" cy="583565"/>
          </a:xfrm>
          <a:prstGeom prst="rect">
            <a:avLst/>
          </a:prstGeom>
        </p:spPr>
        <p:txBody>
          <a:bodyPr>
            <a:spAutoFit/>
          </a:bodyPr>
          <a:p>
            <a:r>
              <a:rPr sz="1600"/>
              <a:t>Пример: a+ найдет a, aa, но не пустую строку.</a:t>
            </a:r>
            <a:endParaRPr sz="1600"/>
          </a:p>
          <a:p>
            <a:r>
              <a:rPr sz="1600"/>
              <a:t>示例：a+可以匹配a、aa，但不匹配空字符串。</a:t>
            </a:r>
            <a:endParaRPr sz="1600"/>
          </a:p>
        </p:txBody>
      </p:sp>
      <p:pic>
        <p:nvPicPr>
          <p:cNvPr id="6" name="Picture 5"/>
          <p:cNvPicPr>
            <a:picLocks noChangeAspect="1"/>
          </p:cNvPicPr>
          <p:nvPr/>
        </p:nvPicPr>
        <p:blipFill>
          <a:blip r:embed="rId1"/>
          <a:stretch>
            <a:fillRect/>
          </a:stretch>
        </p:blipFill>
        <p:spPr>
          <a:xfrm>
            <a:off x="2128520" y="1885950"/>
            <a:ext cx="7934325" cy="30861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672465" y="676910"/>
            <a:ext cx="6683375" cy="645160"/>
          </a:xfrm>
          <a:prstGeom prst="rect">
            <a:avLst/>
          </a:prstGeom>
          <a:noFill/>
        </p:spPr>
        <p:txBody>
          <a:bodyPr wrap="square" rtlCol="0">
            <a:spAutoFit/>
          </a:bodyPr>
          <a:p>
            <a:r>
              <a:rPr lang="en-US"/>
              <a:t>Пример: colou?r найдет color и colour.</a:t>
            </a:r>
            <a:endParaRPr lang="en-US"/>
          </a:p>
          <a:p>
            <a:r>
              <a:rPr lang="en-US"/>
              <a:t>示例：colou?r可以匹配color和colour。</a:t>
            </a:r>
            <a:endParaRPr lang="en-US"/>
          </a:p>
        </p:txBody>
      </p:sp>
      <p:pic>
        <p:nvPicPr>
          <p:cNvPr id="6" name="Picture 5"/>
          <p:cNvPicPr>
            <a:picLocks noChangeAspect="1"/>
          </p:cNvPicPr>
          <p:nvPr/>
        </p:nvPicPr>
        <p:blipFill>
          <a:blip r:embed="rId1"/>
          <a:stretch>
            <a:fillRect/>
          </a:stretch>
        </p:blipFill>
        <p:spPr>
          <a:xfrm>
            <a:off x="2080895" y="2528570"/>
            <a:ext cx="8029575" cy="18002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603250" y="543560"/>
            <a:ext cx="9044305" cy="583565"/>
          </a:xfrm>
          <a:prstGeom prst="rect">
            <a:avLst/>
          </a:prstGeom>
        </p:spPr>
        <p:txBody>
          <a:bodyPr wrap="square">
            <a:spAutoFit/>
          </a:bodyPr>
          <a:p>
            <a:r>
              <a:rPr sz="1600"/>
              <a:t>Пример: </a:t>
            </a:r>
            <a:r>
              <a:rPr lang="en-US" sz="1600"/>
              <a:t>1</a:t>
            </a:r>
            <a:r>
              <a:rPr sz="1600"/>
              <a:t>{3} найдет последовательность из трех цифр</a:t>
            </a:r>
            <a:r>
              <a:rPr lang="en-US" sz="1600"/>
              <a:t> 1</a:t>
            </a:r>
            <a:r>
              <a:rPr sz="1600"/>
              <a:t>, например </a:t>
            </a:r>
            <a:r>
              <a:rPr lang="en-US" sz="1600"/>
              <a:t>111</a:t>
            </a:r>
            <a:r>
              <a:rPr sz="1600"/>
              <a:t>.</a:t>
            </a:r>
            <a:endParaRPr sz="1600"/>
          </a:p>
          <a:p>
            <a:r>
              <a:rPr sz="1600"/>
              <a:t>示例：</a:t>
            </a:r>
            <a:r>
              <a:rPr lang="en-US" sz="1600"/>
              <a:t>1</a:t>
            </a:r>
            <a:r>
              <a:rPr sz="1600"/>
              <a:t>{3}可以匹配三个数字的序列，如</a:t>
            </a:r>
            <a:r>
              <a:rPr lang="en-US" sz="1600"/>
              <a:t>111</a:t>
            </a:r>
            <a:r>
              <a:rPr sz="1600"/>
              <a:t>。</a:t>
            </a:r>
            <a:endParaRPr sz="1600"/>
          </a:p>
        </p:txBody>
      </p:sp>
      <p:pic>
        <p:nvPicPr>
          <p:cNvPr id="6" name="Picture 5"/>
          <p:cNvPicPr>
            <a:picLocks noChangeAspect="1"/>
          </p:cNvPicPr>
          <p:nvPr/>
        </p:nvPicPr>
        <p:blipFill>
          <a:blip r:embed="rId1"/>
          <a:stretch>
            <a:fillRect/>
          </a:stretch>
        </p:blipFill>
        <p:spPr>
          <a:xfrm>
            <a:off x="1141095" y="2103120"/>
            <a:ext cx="10126345" cy="29381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741045" y="609282"/>
            <a:ext cx="5080000" cy="583565"/>
          </a:xfrm>
          <a:prstGeom prst="rect">
            <a:avLst/>
          </a:prstGeom>
        </p:spPr>
        <p:txBody>
          <a:bodyPr>
            <a:spAutoFit/>
          </a:bodyPr>
          <a:p>
            <a:r>
              <a:rPr sz="1600"/>
              <a:t>Пример: a{2,4} найдет aa, aaa или aaaa.</a:t>
            </a:r>
            <a:endParaRPr sz="1600"/>
          </a:p>
          <a:p>
            <a:r>
              <a:rPr sz="1600"/>
              <a:t>示例：a{2,4}可以匹配aa、aaa或aaaa。</a:t>
            </a:r>
            <a:endParaRPr sz="1600"/>
          </a:p>
        </p:txBody>
      </p:sp>
      <p:pic>
        <p:nvPicPr>
          <p:cNvPr id="6" name="Picture 5"/>
          <p:cNvPicPr>
            <a:picLocks noChangeAspect="1"/>
          </p:cNvPicPr>
          <p:nvPr/>
        </p:nvPicPr>
        <p:blipFill>
          <a:blip r:embed="rId1"/>
          <a:stretch>
            <a:fillRect/>
          </a:stretch>
        </p:blipFill>
        <p:spPr>
          <a:xfrm>
            <a:off x="2105025" y="2404745"/>
            <a:ext cx="7981950" cy="20478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9410" y="267335"/>
            <a:ext cx="5080000" cy="759460"/>
          </a:xfrm>
          <a:prstGeom prst="rect">
            <a:avLst/>
          </a:prstGeom>
        </p:spPr>
        <p:txBody>
          <a:bodyPr>
            <a:spAutoFit/>
          </a:bodyPr>
          <a:p>
            <a:pPr>
              <a:spcAft>
                <a:spcPct val="60000"/>
              </a:spcAft>
            </a:pPr>
            <a:r>
              <a:rPr sz="1600" b="1"/>
              <a:t>1. Основные элементы регулярных выражений</a:t>
            </a:r>
            <a:endParaRPr sz="1600" b="1"/>
          </a:p>
          <a:p>
            <a:pPr>
              <a:spcAft>
                <a:spcPct val="60000"/>
              </a:spcAft>
            </a:pPr>
            <a:r>
              <a:rPr sz="1600" b="1"/>
              <a:t>1. 正则表达式的基本元素</a:t>
            </a:r>
            <a:endParaRPr sz="1600" b="1"/>
          </a:p>
        </p:txBody>
      </p:sp>
      <p:sp>
        <p:nvSpPr>
          <p:cNvPr id="3" name="Text Box 2"/>
          <p:cNvSpPr txBox="1"/>
          <p:nvPr/>
        </p:nvSpPr>
        <p:spPr>
          <a:xfrm>
            <a:off x="359410" y="1591628"/>
            <a:ext cx="5080000" cy="337185"/>
          </a:xfrm>
          <a:prstGeom prst="rect">
            <a:avLst/>
          </a:prstGeom>
        </p:spPr>
        <p:txBody>
          <a:bodyPr>
            <a:spAutoFit/>
          </a:bodyPr>
          <a:p>
            <a:r>
              <a:rPr sz="1600"/>
              <a:t>Специальные символы:</a:t>
            </a:r>
            <a:endParaRPr sz="1600"/>
          </a:p>
        </p:txBody>
      </p:sp>
      <p:graphicFrame>
        <p:nvGraphicFramePr>
          <p:cNvPr id="4" name="Table 3"/>
          <p:cNvGraphicFramePr/>
          <p:nvPr/>
        </p:nvGraphicFramePr>
        <p:xfrm>
          <a:off x="1329690" y="3500120"/>
          <a:ext cx="9695815" cy="4069080"/>
        </p:xfrm>
        <a:graphic>
          <a:graphicData uri="http://schemas.openxmlformats.org/drawingml/2006/table">
            <a:tbl>
              <a:tblPr bandRow="1">
                <a:tableStyleId>{C083E6E3-FA7D-4D7B-A595-EF9225AFEA82}</a:tableStyleId>
              </a:tblPr>
              <a:tblGrid>
                <a:gridCol w="975995"/>
                <a:gridCol w="4815205"/>
                <a:gridCol w="3904615"/>
              </a:tblGrid>
              <a:tr h="381000">
                <a:tc>
                  <a:txBody>
                    <a:bodyPr/>
                    <a:p>
                      <a:pPr algn="ctr">
                        <a:buNone/>
                      </a:pPr>
                      <a:r>
                        <a:rPr lang="en-US"/>
                        <a:t>\d</a:t>
                      </a:r>
                      <a:endParaRPr lang="en-US"/>
                    </a:p>
                  </a:txBody>
                  <a:tcPr/>
                </a:tc>
                <a:tc>
                  <a:txBody>
                    <a:bodyPr/>
                    <a:p>
                      <a:pPr>
                        <a:buNone/>
                      </a:pPr>
                      <a:r>
                        <a:rPr lang="en-US"/>
                        <a:t>любая цифра ([0-9]).</a:t>
                      </a:r>
                      <a:endParaRPr lang="en-US"/>
                    </a:p>
                  </a:txBody>
                  <a:tcPr/>
                </a:tc>
                <a:tc>
                  <a:txBody>
                    <a:bodyPr/>
                    <a:p>
                      <a:pPr>
                        <a:buNone/>
                      </a:pPr>
                      <a:r>
                        <a:rPr lang="en-US"/>
                        <a:t>任意数字字符 ([0-9])。</a:t>
                      </a:r>
                      <a:endParaRPr lang="en-US"/>
                    </a:p>
                  </a:txBody>
                  <a:tcPr/>
                </a:tc>
              </a:tr>
              <a:tr h="381000">
                <a:tc>
                  <a:txBody>
                    <a:bodyPr/>
                    <a:p>
                      <a:pPr algn="ctr">
                        <a:buNone/>
                      </a:pPr>
                      <a:r>
                        <a:rPr lang="en-US"/>
                        <a:t>\D</a:t>
                      </a:r>
                      <a:endParaRPr lang="en-US"/>
                    </a:p>
                  </a:txBody>
                  <a:tcPr/>
                </a:tc>
                <a:tc>
                  <a:txBody>
                    <a:bodyPr/>
                    <a:p>
                      <a:pPr>
                        <a:buNone/>
                      </a:pPr>
                      <a:r>
                        <a:rPr lang="en-US"/>
                        <a:t>любой символ, кроме цифры.</a:t>
                      </a:r>
                      <a:endParaRPr lang="en-US"/>
                    </a:p>
                  </a:txBody>
                  <a:tcPr/>
                </a:tc>
                <a:tc>
                  <a:txBody>
                    <a:bodyPr/>
                    <a:p>
                      <a:pPr>
                        <a:buNone/>
                      </a:pPr>
                      <a:r>
                        <a:rPr lang="en-US"/>
                        <a:t>非数字字符。</a:t>
                      </a:r>
                      <a:endParaRPr lang="en-US"/>
                    </a:p>
                  </a:txBody>
                  <a:tcPr/>
                </a:tc>
              </a:tr>
              <a:tr h="381000">
                <a:tc>
                  <a:txBody>
                    <a:bodyPr/>
                    <a:p>
                      <a:pPr algn="ctr">
                        <a:buNone/>
                      </a:pPr>
                      <a:r>
                        <a:rPr lang="en-US"/>
                        <a:t>\w</a:t>
                      </a:r>
                      <a:endParaRPr lang="en-US"/>
                    </a:p>
                  </a:txBody>
                  <a:tcPr/>
                </a:tc>
                <a:tc>
                  <a:txBody>
                    <a:bodyPr/>
                    <a:p>
                      <a:pPr>
                        <a:buNone/>
                      </a:pPr>
                      <a:r>
                        <a:rPr lang="en-US"/>
                        <a:t>любой алфавитно-цифровой символ или нижнее подчеркивание ([a-zA-Z0-9_]).</a:t>
                      </a:r>
                      <a:endParaRPr lang="en-US"/>
                    </a:p>
                  </a:txBody>
                  <a:tcPr/>
                </a:tc>
                <a:tc>
                  <a:txBody>
                    <a:bodyPr/>
                    <a:p>
                      <a:pPr>
                        <a:buNone/>
                      </a:pPr>
                      <a:r>
                        <a:rPr lang="en-US"/>
                        <a:t>字母、数字或下划线 ([a-zA-Z0-9_])。</a:t>
                      </a:r>
                      <a:endParaRPr lang="en-US"/>
                    </a:p>
                  </a:txBody>
                  <a:tcPr/>
                </a:tc>
              </a:tr>
              <a:tr h="381000">
                <a:tc>
                  <a:txBody>
                    <a:bodyPr/>
                    <a:p>
                      <a:pPr algn="ctr">
                        <a:buNone/>
                      </a:pPr>
                      <a:r>
                        <a:rPr lang="en-US"/>
                        <a:t>\W</a:t>
                      </a:r>
                      <a:endParaRPr lang="en-US"/>
                    </a:p>
                  </a:txBody>
                  <a:tcPr/>
                </a:tc>
                <a:tc>
                  <a:txBody>
                    <a:bodyPr/>
                    <a:p>
                      <a:pPr>
                        <a:buNone/>
                      </a:pPr>
                      <a:r>
                        <a:rPr lang="en-US"/>
                        <a:t>любой символ, кроме \w.</a:t>
                      </a:r>
                      <a:endParaRPr lang="en-US"/>
                    </a:p>
                  </a:txBody>
                  <a:tcPr/>
                </a:tc>
                <a:tc>
                  <a:txBody>
                    <a:bodyPr/>
                    <a:p>
                      <a:pPr>
                        <a:buNone/>
                      </a:pPr>
                      <a:r>
                        <a:rPr lang="en-US"/>
                        <a:t>非字母、数字或下划线字符。</a:t>
                      </a:r>
                      <a:endParaRPr lang="en-US"/>
                    </a:p>
                  </a:txBody>
                  <a:tcPr/>
                </a:tc>
              </a:tr>
              <a:tr h="381000">
                <a:tc>
                  <a:txBody>
                    <a:bodyPr/>
                    <a:p>
                      <a:pPr algn="ctr">
                        <a:buNone/>
                      </a:pPr>
                      <a:r>
                        <a:rPr lang="en-US"/>
                        <a:t>\s</a:t>
                      </a:r>
                      <a:endParaRPr lang="en-US"/>
                    </a:p>
                  </a:txBody>
                  <a:tcPr/>
                </a:tc>
                <a:tc>
                  <a:txBody>
                    <a:bodyPr/>
                    <a:p>
                      <a:pPr>
                        <a:buNone/>
                      </a:pPr>
                      <a:r>
                        <a:rPr lang="en-US"/>
                        <a:t>любой пробельный символ.</a:t>
                      </a:r>
                      <a:endParaRPr lang="en-US"/>
                    </a:p>
                  </a:txBody>
                  <a:tcPr/>
                </a:tc>
                <a:tc>
                  <a:txBody>
                    <a:bodyPr/>
                    <a:p>
                      <a:pPr>
                        <a:buNone/>
                      </a:pPr>
                      <a:r>
                        <a:rPr lang="en-US"/>
                        <a:t>空白字符。</a:t>
                      </a:r>
                      <a:endParaRPr lang="en-US"/>
                    </a:p>
                  </a:txBody>
                  <a:tcPr/>
                </a:tc>
              </a:tr>
              <a:tr h="381000">
                <a:tc>
                  <a:txBody>
                    <a:bodyPr/>
                    <a:p>
                      <a:pPr algn="ctr">
                        <a:buNone/>
                      </a:pPr>
                      <a:r>
                        <a:rPr lang="en-US"/>
                        <a:t>\S</a:t>
                      </a:r>
                      <a:endParaRPr lang="en-US"/>
                    </a:p>
                  </a:txBody>
                  <a:tcPr/>
                </a:tc>
                <a:tc>
                  <a:txBody>
                    <a:bodyPr/>
                    <a:p>
                      <a:pPr>
                        <a:buNone/>
                      </a:pPr>
                      <a:r>
                        <a:rPr lang="en-US"/>
                        <a:t>любой непробельный символ.</a:t>
                      </a:r>
                      <a:endParaRPr lang="en-US"/>
                    </a:p>
                  </a:txBody>
                  <a:tcPr/>
                </a:tc>
                <a:tc>
                  <a:txBody>
                    <a:bodyPr/>
                    <a:p>
                      <a:pPr>
                        <a:buNone/>
                      </a:pPr>
                      <a:r>
                        <a:rPr lang="en-US"/>
                        <a:t>非空白字符。</a:t>
                      </a:r>
                      <a:endParaRPr lang="en-US"/>
                    </a:p>
                  </a:txBody>
                  <a:tcPr/>
                </a:tc>
              </a:tr>
            </a:tbl>
          </a:graphicData>
        </a:graphic>
      </p:graphicFrame>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88315" y="566420"/>
            <a:ext cx="5676900" cy="583565"/>
          </a:xfrm>
          <a:prstGeom prst="rect">
            <a:avLst/>
          </a:prstGeom>
        </p:spPr>
        <p:txBody>
          <a:bodyPr wrap="square">
            <a:spAutoFit/>
          </a:bodyPr>
          <a:p>
            <a:r>
              <a:rPr sz="1600"/>
              <a:t>Пример: \d\d найдет две цифры, такие как 12 или 45.</a:t>
            </a:r>
            <a:endParaRPr sz="1600"/>
          </a:p>
          <a:p>
            <a:r>
              <a:rPr sz="1600"/>
              <a:t>示例：\d\d可以匹配两个数字，如12或45。</a:t>
            </a:r>
            <a:endParaRPr sz="1600"/>
          </a:p>
        </p:txBody>
      </p:sp>
      <p:pic>
        <p:nvPicPr>
          <p:cNvPr id="6" name="Picture 5"/>
          <p:cNvPicPr>
            <a:picLocks noChangeAspect="1"/>
          </p:cNvPicPr>
          <p:nvPr/>
        </p:nvPicPr>
        <p:blipFill>
          <a:blip r:embed="rId1"/>
          <a:stretch>
            <a:fillRect/>
          </a:stretch>
        </p:blipFill>
        <p:spPr>
          <a:xfrm>
            <a:off x="1428750" y="1765935"/>
            <a:ext cx="9334500" cy="30003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878840" y="681355"/>
            <a:ext cx="7732395" cy="583565"/>
          </a:xfrm>
          <a:prstGeom prst="rect">
            <a:avLst/>
          </a:prstGeom>
        </p:spPr>
        <p:txBody>
          <a:bodyPr wrap="square">
            <a:spAutoFit/>
          </a:bodyPr>
          <a:p>
            <a:r>
              <a:rPr sz="1600"/>
              <a:t>Пример: \D найдет любой символ, кроме цифр, например, a или !.</a:t>
            </a:r>
            <a:endParaRPr sz="1600"/>
          </a:p>
          <a:p>
            <a:r>
              <a:rPr sz="1600"/>
              <a:t>示例：\D可以匹配非数字字符，如a或!。</a:t>
            </a:r>
            <a:endParaRPr sz="1600"/>
          </a:p>
        </p:txBody>
      </p:sp>
      <p:pic>
        <p:nvPicPr>
          <p:cNvPr id="3" name="Picture 2"/>
          <p:cNvPicPr>
            <a:picLocks noChangeAspect="1"/>
          </p:cNvPicPr>
          <p:nvPr/>
        </p:nvPicPr>
        <p:blipFill>
          <a:blip r:embed="rId1"/>
          <a:stretch>
            <a:fillRect/>
          </a:stretch>
        </p:blipFill>
        <p:spPr>
          <a:xfrm>
            <a:off x="1462405" y="2458085"/>
            <a:ext cx="9796780" cy="17068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568960" y="486410"/>
            <a:ext cx="7779385" cy="583565"/>
          </a:xfrm>
          <a:prstGeom prst="rect">
            <a:avLst/>
          </a:prstGeom>
        </p:spPr>
        <p:txBody>
          <a:bodyPr wrap="square">
            <a:spAutoFit/>
          </a:bodyPr>
          <a:p>
            <a:r>
              <a:rPr sz="1600"/>
              <a:t>Пример: \w\w\w найдет три символа, такие как abc или 1a_.</a:t>
            </a:r>
            <a:endParaRPr sz="1600"/>
          </a:p>
          <a:p>
            <a:r>
              <a:rPr sz="1600"/>
              <a:t>示例：\w\w\w可以匹配三个字符，如abc或1a_。</a:t>
            </a:r>
            <a:endParaRPr sz="1600"/>
          </a:p>
        </p:txBody>
      </p:sp>
      <p:pic>
        <p:nvPicPr>
          <p:cNvPr id="3" name="Picture 2"/>
          <p:cNvPicPr>
            <a:picLocks noChangeAspect="1"/>
          </p:cNvPicPr>
          <p:nvPr/>
        </p:nvPicPr>
        <p:blipFill>
          <a:blip r:embed="rId1"/>
          <a:stretch>
            <a:fillRect/>
          </a:stretch>
        </p:blipFill>
        <p:spPr>
          <a:xfrm>
            <a:off x="2099945" y="2309495"/>
            <a:ext cx="7991475" cy="22383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556895" y="558800"/>
            <a:ext cx="10020300" cy="583565"/>
          </a:xfrm>
          <a:prstGeom prst="rect">
            <a:avLst/>
          </a:prstGeom>
        </p:spPr>
        <p:txBody>
          <a:bodyPr wrap="square">
            <a:spAutoFit/>
          </a:bodyPr>
          <a:p>
            <a:r>
              <a:rPr sz="1600"/>
              <a:t>Пример: \W найдет любой символ, кроме букв, цифр или подчеркивания, например # или @.</a:t>
            </a:r>
            <a:endParaRPr sz="1600"/>
          </a:p>
          <a:p>
            <a:r>
              <a:rPr sz="1600"/>
              <a:t>示例：\W可以匹配非字母、非数字或非下划线字符，如#或@。</a:t>
            </a:r>
            <a:endParaRPr sz="1600"/>
          </a:p>
        </p:txBody>
      </p:sp>
      <p:pic>
        <p:nvPicPr>
          <p:cNvPr id="3" name="Picture 2"/>
          <p:cNvPicPr>
            <a:picLocks noChangeAspect="1"/>
          </p:cNvPicPr>
          <p:nvPr/>
        </p:nvPicPr>
        <p:blipFill>
          <a:blip r:embed="rId1"/>
          <a:stretch>
            <a:fillRect/>
          </a:stretch>
        </p:blipFill>
        <p:spPr>
          <a:xfrm>
            <a:off x="2109470" y="2719070"/>
            <a:ext cx="7972425" cy="14192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717550" y="566420"/>
            <a:ext cx="6964045" cy="583565"/>
          </a:xfrm>
          <a:prstGeom prst="rect">
            <a:avLst/>
          </a:prstGeom>
        </p:spPr>
        <p:txBody>
          <a:bodyPr wrap="square">
            <a:spAutoFit/>
          </a:bodyPr>
          <a:p>
            <a:r>
              <a:rPr sz="1600"/>
              <a:t>Пример: \s найдет пробел, табуляцию и другие пробельные символы.</a:t>
            </a:r>
            <a:endParaRPr sz="1600"/>
          </a:p>
          <a:p>
            <a:r>
              <a:rPr sz="1600"/>
              <a:t>示例：\s可以匹配空格、制表符等空白字符。</a:t>
            </a:r>
            <a:endParaRPr sz="1600"/>
          </a:p>
        </p:txBody>
      </p:sp>
      <p:pic>
        <p:nvPicPr>
          <p:cNvPr id="3" name="Picture 2"/>
          <p:cNvPicPr>
            <a:picLocks noChangeAspect="1"/>
          </p:cNvPicPr>
          <p:nvPr/>
        </p:nvPicPr>
        <p:blipFill>
          <a:blip r:embed="rId1"/>
          <a:stretch>
            <a:fillRect/>
          </a:stretch>
        </p:blipFill>
        <p:spPr>
          <a:xfrm>
            <a:off x="2090420" y="2667000"/>
            <a:ext cx="8010525" cy="152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638175" y="550545"/>
            <a:ext cx="10715625" cy="645160"/>
          </a:xfrm>
          <a:prstGeom prst="rect">
            <a:avLst/>
          </a:prstGeom>
          <a:noFill/>
        </p:spPr>
        <p:txBody>
          <a:bodyPr wrap="square" rtlCol="0">
            <a:spAutoFit/>
          </a:bodyPr>
          <a:p>
            <a:r>
              <a:rPr lang="en-US"/>
              <a:t>Пример: \S найдет любой символ, кроме пробельного, например a или 9.</a:t>
            </a:r>
            <a:endParaRPr lang="en-US"/>
          </a:p>
          <a:p>
            <a:r>
              <a:rPr lang="en-US"/>
              <a:t>示例：\S可以匹配任何非空白字符，如a或9。</a:t>
            </a:r>
            <a:endParaRPr lang="en-US"/>
          </a:p>
        </p:txBody>
      </p:sp>
      <p:pic>
        <p:nvPicPr>
          <p:cNvPr id="6" name="Picture 5"/>
          <p:cNvPicPr>
            <a:picLocks noChangeAspect="1"/>
          </p:cNvPicPr>
          <p:nvPr/>
        </p:nvPicPr>
        <p:blipFill>
          <a:blip r:embed="rId1"/>
          <a:stretch>
            <a:fillRect/>
          </a:stretch>
        </p:blipFill>
        <p:spPr>
          <a:xfrm>
            <a:off x="2080895" y="2657475"/>
            <a:ext cx="8029575" cy="15430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9410" y="267335"/>
            <a:ext cx="5080000" cy="759460"/>
          </a:xfrm>
          <a:prstGeom prst="rect">
            <a:avLst/>
          </a:prstGeom>
        </p:spPr>
        <p:txBody>
          <a:bodyPr>
            <a:spAutoFit/>
          </a:bodyPr>
          <a:p>
            <a:pPr>
              <a:spcAft>
                <a:spcPct val="60000"/>
              </a:spcAft>
            </a:pPr>
            <a:r>
              <a:rPr sz="1600" b="1"/>
              <a:t>1. Основные элементы регулярных выражений</a:t>
            </a:r>
            <a:endParaRPr sz="1600" b="1"/>
          </a:p>
          <a:p>
            <a:pPr>
              <a:spcAft>
                <a:spcPct val="60000"/>
              </a:spcAft>
            </a:pPr>
            <a:r>
              <a:rPr sz="1600" b="1"/>
              <a:t>1. 正则表达式的基本元素</a:t>
            </a:r>
            <a:endParaRPr sz="1600" b="1"/>
          </a:p>
        </p:txBody>
      </p:sp>
      <p:sp>
        <p:nvSpPr>
          <p:cNvPr id="3" name="Text Box 2"/>
          <p:cNvSpPr txBox="1"/>
          <p:nvPr/>
        </p:nvSpPr>
        <p:spPr>
          <a:xfrm>
            <a:off x="501015" y="1427797"/>
            <a:ext cx="5080000" cy="583565"/>
          </a:xfrm>
          <a:prstGeom prst="rect">
            <a:avLst/>
          </a:prstGeom>
        </p:spPr>
        <p:txBody>
          <a:bodyPr>
            <a:spAutoFit/>
          </a:bodyPr>
          <a:p>
            <a:r>
              <a:rPr sz="1600"/>
              <a:t>Якоря — обозначают положение символа в строке:</a:t>
            </a:r>
            <a:endParaRPr sz="1600"/>
          </a:p>
        </p:txBody>
      </p:sp>
      <p:graphicFrame>
        <p:nvGraphicFramePr>
          <p:cNvPr id="4" name="Table 3"/>
          <p:cNvGraphicFramePr/>
          <p:nvPr/>
        </p:nvGraphicFramePr>
        <p:xfrm>
          <a:off x="1828800" y="3048000"/>
          <a:ext cx="8534400" cy="762000"/>
        </p:xfrm>
        <a:graphic>
          <a:graphicData uri="http://schemas.openxmlformats.org/drawingml/2006/table">
            <a:tbl>
              <a:tblPr bandRow="1">
                <a:tableStyleId>{C083E6E3-FA7D-4D7B-A595-EF9225AFEA82}</a:tableStyleId>
              </a:tblPr>
              <a:tblGrid>
                <a:gridCol w="2844800"/>
                <a:gridCol w="2844800"/>
                <a:gridCol w="2844800"/>
              </a:tblGrid>
              <a:tr h="381000">
                <a:tc>
                  <a:txBody>
                    <a:bodyPr/>
                    <a:p>
                      <a:pPr>
                        <a:buNone/>
                      </a:pPr>
                      <a:r>
                        <a:rPr lang="en-US"/>
                        <a:t>^</a:t>
                      </a:r>
                      <a:endParaRPr lang="en-US"/>
                    </a:p>
                  </a:txBody>
                  <a:tcPr/>
                </a:tc>
                <a:tc>
                  <a:txBody>
                    <a:bodyPr/>
                    <a:p>
                      <a:pPr>
                        <a:buNone/>
                      </a:pPr>
                      <a:r>
                        <a:rPr lang="en-US"/>
                        <a:t>начало строки.</a:t>
                      </a:r>
                      <a:endParaRPr lang="en-US"/>
                    </a:p>
                  </a:txBody>
                  <a:tcPr/>
                </a:tc>
                <a:tc>
                  <a:txBody>
                    <a:bodyPr/>
                    <a:p>
                      <a:pPr>
                        <a:buNone/>
                      </a:pPr>
                      <a:r>
                        <a:rPr lang="en-US"/>
                        <a:t>字符串的开头。</a:t>
                      </a:r>
                      <a:endParaRPr lang="en-US"/>
                    </a:p>
                  </a:txBody>
                  <a:tcPr/>
                </a:tc>
              </a:tr>
              <a:tr h="381000">
                <a:tc>
                  <a:txBody>
                    <a:bodyPr/>
                    <a:p>
                      <a:pPr>
                        <a:buNone/>
                      </a:pPr>
                      <a:r>
                        <a:rPr lang="en-US"/>
                        <a:t>$</a:t>
                      </a:r>
                      <a:endParaRPr lang="en-US"/>
                    </a:p>
                  </a:txBody>
                  <a:tcPr/>
                </a:tc>
                <a:tc>
                  <a:txBody>
                    <a:bodyPr/>
                    <a:p>
                      <a:pPr>
                        <a:buNone/>
                      </a:pPr>
                      <a:r>
                        <a:rPr lang="en-US"/>
                        <a:t>конец строки.</a:t>
                      </a:r>
                      <a:endParaRPr lang="en-US"/>
                    </a:p>
                  </a:txBody>
                  <a:tcPr/>
                </a:tc>
                <a:tc>
                  <a:txBody>
                    <a:bodyPr/>
                    <a:p>
                      <a:pPr>
                        <a:buNone/>
                      </a:pPr>
                      <a:r>
                        <a:rPr lang="en-US"/>
                        <a:t>字符串的结尾。</a:t>
                      </a:r>
                      <a:endParaRPr lang="en-US"/>
                    </a:p>
                  </a:txBody>
                  <a:tcPr/>
                </a:tc>
              </a:tr>
            </a:tbl>
          </a:graphicData>
        </a:graphic>
      </p:graphicFrame>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1175" y="600710"/>
            <a:ext cx="7285990" cy="583565"/>
          </a:xfrm>
          <a:prstGeom prst="rect">
            <a:avLst/>
          </a:prstGeom>
        </p:spPr>
        <p:txBody>
          <a:bodyPr wrap="square">
            <a:spAutoFit/>
          </a:bodyPr>
          <a:p>
            <a:r>
              <a:rPr sz="1600"/>
              <a:t>Пример: ^Hello найдет Hello только в начале строки.</a:t>
            </a:r>
            <a:endParaRPr sz="1600"/>
          </a:p>
          <a:p>
            <a:r>
              <a:rPr sz="1600"/>
              <a:t>示例：^Hello仅匹配在字符串开头的Hello。</a:t>
            </a:r>
            <a:endParaRPr sz="1600"/>
          </a:p>
        </p:txBody>
      </p:sp>
      <p:pic>
        <p:nvPicPr>
          <p:cNvPr id="6" name="Picture 5"/>
          <p:cNvPicPr>
            <a:picLocks noChangeAspect="1"/>
          </p:cNvPicPr>
          <p:nvPr/>
        </p:nvPicPr>
        <p:blipFill>
          <a:blip r:embed="rId1"/>
          <a:stretch>
            <a:fillRect/>
          </a:stretch>
        </p:blipFill>
        <p:spPr>
          <a:xfrm>
            <a:off x="2095500" y="2714625"/>
            <a:ext cx="8001000" cy="14287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648970" y="601345"/>
            <a:ext cx="7595235" cy="583565"/>
          </a:xfrm>
          <a:prstGeom prst="rect">
            <a:avLst/>
          </a:prstGeom>
        </p:spPr>
        <p:txBody>
          <a:bodyPr wrap="square">
            <a:spAutoFit/>
          </a:bodyPr>
          <a:p>
            <a:r>
              <a:rPr sz="1600"/>
              <a:t>Пример: world$ найдет world только в конце строки.</a:t>
            </a:r>
            <a:endParaRPr sz="1600"/>
          </a:p>
          <a:p>
            <a:r>
              <a:rPr sz="1600"/>
              <a:t>示例：world$仅匹配在字符串末尾的world。</a:t>
            </a:r>
            <a:endParaRPr sz="1600"/>
          </a:p>
        </p:txBody>
      </p:sp>
      <p:pic>
        <p:nvPicPr>
          <p:cNvPr id="3" name="Picture 2"/>
          <p:cNvPicPr>
            <a:picLocks noChangeAspect="1"/>
          </p:cNvPicPr>
          <p:nvPr/>
        </p:nvPicPr>
        <p:blipFill>
          <a:blip r:embed="rId1"/>
          <a:stretch>
            <a:fillRect/>
          </a:stretch>
        </p:blipFill>
        <p:spPr>
          <a:xfrm>
            <a:off x="2066925" y="2728595"/>
            <a:ext cx="8058150" cy="14001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20370" y="358775"/>
            <a:ext cx="5080000" cy="759460"/>
          </a:xfrm>
          <a:prstGeom prst="rect">
            <a:avLst/>
          </a:prstGeom>
        </p:spPr>
        <p:txBody>
          <a:bodyPr>
            <a:spAutoFit/>
          </a:bodyPr>
          <a:p>
            <a:pPr>
              <a:spcAft>
                <a:spcPct val="60000"/>
              </a:spcAft>
            </a:pPr>
            <a:r>
              <a:rPr sz="1600" b="1"/>
              <a:t>2. Группировка и альтернативы</a:t>
            </a:r>
            <a:endParaRPr sz="1600" b="1"/>
          </a:p>
          <a:p>
            <a:pPr>
              <a:spcAft>
                <a:spcPct val="60000"/>
              </a:spcAft>
            </a:pPr>
            <a:r>
              <a:rPr sz="1600" b="1"/>
              <a:t>2. 分组和选择</a:t>
            </a:r>
            <a:endParaRPr sz="1600" b="1"/>
          </a:p>
        </p:txBody>
      </p:sp>
      <p:sp>
        <p:nvSpPr>
          <p:cNvPr id="4" name="Text Box 3"/>
          <p:cNvSpPr txBox="1"/>
          <p:nvPr/>
        </p:nvSpPr>
        <p:spPr>
          <a:xfrm>
            <a:off x="511175" y="1688465"/>
            <a:ext cx="10997565" cy="337185"/>
          </a:xfrm>
          <a:prstGeom prst="rect">
            <a:avLst/>
          </a:prstGeom>
        </p:spPr>
        <p:txBody>
          <a:bodyPr wrap="square">
            <a:spAutoFit/>
          </a:bodyPr>
          <a:p>
            <a:r>
              <a:rPr sz="1600"/>
              <a:t>Группировка и альтернативы позволяют более точно контролировать структуру регулярных выражений.</a:t>
            </a:r>
            <a:endParaRPr sz="1600"/>
          </a:p>
        </p:txBody>
      </p:sp>
      <p:sp>
        <p:nvSpPr>
          <p:cNvPr id="5" name="Text Box 4"/>
          <p:cNvSpPr txBox="1"/>
          <p:nvPr/>
        </p:nvSpPr>
        <p:spPr>
          <a:xfrm>
            <a:off x="582295" y="2259013"/>
            <a:ext cx="5080000" cy="337185"/>
          </a:xfrm>
          <a:prstGeom prst="rect">
            <a:avLst/>
          </a:prstGeom>
        </p:spPr>
        <p:txBody>
          <a:bodyPr>
            <a:spAutoFit/>
          </a:bodyPr>
          <a:p>
            <a:r>
              <a:rPr sz="1600"/>
              <a:t>分组和选择可以更精确地控制正则表达式的结构。</a:t>
            </a:r>
            <a:endParaRPr sz="16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1490" y="2027872"/>
            <a:ext cx="5080000" cy="829945"/>
          </a:xfrm>
          <a:prstGeom prst="rect">
            <a:avLst/>
          </a:prstGeom>
        </p:spPr>
        <p:txBody>
          <a:bodyPr>
            <a:spAutoFit/>
          </a:bodyPr>
          <a:p>
            <a:r>
              <a:rPr sz="1600"/>
              <a:t>Круглые скобки () — используются для создания группы. Например, (abc) будет означать именно последовательность abc.</a:t>
            </a:r>
            <a:endParaRPr sz="1600"/>
          </a:p>
        </p:txBody>
      </p:sp>
      <p:sp>
        <p:nvSpPr>
          <p:cNvPr id="3" name="Text Box 2"/>
          <p:cNvSpPr txBox="1"/>
          <p:nvPr/>
        </p:nvSpPr>
        <p:spPr>
          <a:xfrm>
            <a:off x="6273800" y="1942147"/>
            <a:ext cx="5080000" cy="583565"/>
          </a:xfrm>
          <a:prstGeom prst="rect">
            <a:avLst/>
          </a:prstGeom>
        </p:spPr>
        <p:txBody>
          <a:bodyPr>
            <a:spAutoFit/>
          </a:bodyPr>
          <a:p>
            <a:r>
              <a:rPr sz="1600"/>
              <a:t>圆括号()——用于创建组。例如，(abc)表示字符序列abc。</a:t>
            </a:r>
            <a:endParaRPr sz="1600"/>
          </a:p>
        </p:txBody>
      </p:sp>
      <p:sp>
        <p:nvSpPr>
          <p:cNvPr id="5" name="Text Box 4"/>
          <p:cNvSpPr txBox="1"/>
          <p:nvPr/>
        </p:nvSpPr>
        <p:spPr>
          <a:xfrm>
            <a:off x="491490" y="490220"/>
            <a:ext cx="5080000" cy="759460"/>
          </a:xfrm>
          <a:prstGeom prst="rect">
            <a:avLst/>
          </a:prstGeom>
        </p:spPr>
        <p:txBody>
          <a:bodyPr>
            <a:spAutoFit/>
          </a:bodyPr>
          <a:p>
            <a:pPr>
              <a:spcAft>
                <a:spcPct val="60000"/>
              </a:spcAft>
            </a:pPr>
            <a:r>
              <a:rPr sz="1600" b="1"/>
              <a:t>2. Группировка и альтернативы</a:t>
            </a:r>
            <a:endParaRPr sz="1600" b="1"/>
          </a:p>
          <a:p>
            <a:pPr>
              <a:spcAft>
                <a:spcPct val="60000"/>
              </a:spcAft>
            </a:pPr>
            <a:r>
              <a:rPr sz="1600" b="1"/>
              <a:t>2. 分组和选择</a:t>
            </a:r>
            <a:endParaRPr sz="1600" b="1"/>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pic>
        <p:nvPicPr>
          <p:cNvPr id="7" name="Picture 6"/>
          <p:cNvPicPr>
            <a:picLocks noChangeAspect="1"/>
          </p:cNvPicPr>
          <p:nvPr/>
        </p:nvPicPr>
        <p:blipFill>
          <a:blip r:embed="rId1"/>
          <a:stretch>
            <a:fillRect/>
          </a:stretch>
        </p:blipFill>
        <p:spPr>
          <a:xfrm>
            <a:off x="2076450" y="3635375"/>
            <a:ext cx="8039100" cy="19907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51815" y="631825"/>
            <a:ext cx="5080000" cy="759460"/>
          </a:xfrm>
          <a:prstGeom prst="rect">
            <a:avLst/>
          </a:prstGeom>
        </p:spPr>
        <p:txBody>
          <a:bodyPr>
            <a:spAutoFit/>
          </a:bodyPr>
          <a:p>
            <a:pPr>
              <a:spcAft>
                <a:spcPct val="60000"/>
              </a:spcAft>
            </a:pPr>
            <a:r>
              <a:rPr sz="1600" b="1"/>
              <a:t>2. Группировка и альтернативы</a:t>
            </a:r>
            <a:endParaRPr sz="1600" b="1"/>
          </a:p>
          <a:p>
            <a:pPr>
              <a:spcAft>
                <a:spcPct val="60000"/>
              </a:spcAft>
            </a:pPr>
            <a:r>
              <a:rPr sz="1600" b="1"/>
              <a:t>2. 分组和选择</a:t>
            </a:r>
            <a:endParaRPr sz="1600" b="1"/>
          </a:p>
        </p:txBody>
      </p:sp>
      <p:sp>
        <p:nvSpPr>
          <p:cNvPr id="3" name="Text Box 2"/>
          <p:cNvSpPr txBox="1"/>
          <p:nvPr/>
        </p:nvSpPr>
        <p:spPr>
          <a:xfrm>
            <a:off x="491490" y="2303145"/>
            <a:ext cx="5080000" cy="829945"/>
          </a:xfrm>
          <a:prstGeom prst="rect">
            <a:avLst/>
          </a:prstGeom>
        </p:spPr>
        <p:txBody>
          <a:bodyPr>
            <a:spAutoFit/>
          </a:bodyPr>
          <a:p>
            <a:pPr indent="0">
              <a:buFont typeface="Arial" panose="020B0704020202020204"/>
              <a:buNone/>
            </a:pPr>
            <a:r>
              <a:rPr sz="1600"/>
              <a:t>Альтернатива | — используется для указания возможных альтернатив. Например, a|b будет соответствовать либо a, либо b.</a:t>
            </a:r>
            <a:endParaRPr sz="1600"/>
          </a:p>
        </p:txBody>
      </p:sp>
      <p:sp>
        <p:nvSpPr>
          <p:cNvPr id="4" name="Text Box 3"/>
          <p:cNvSpPr txBox="1"/>
          <p:nvPr/>
        </p:nvSpPr>
        <p:spPr>
          <a:xfrm>
            <a:off x="6307455" y="2303462"/>
            <a:ext cx="5080000" cy="583565"/>
          </a:xfrm>
          <a:prstGeom prst="rect">
            <a:avLst/>
          </a:prstGeom>
        </p:spPr>
        <p:txBody>
          <a:bodyPr>
            <a:spAutoFit/>
          </a:bodyPr>
          <a:p>
            <a:r>
              <a:rPr sz="1600"/>
              <a:t>选择符|——用于指定可能的替代项。例如，a|b匹配a或b。</a:t>
            </a:r>
            <a:endParaRPr sz="16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2090420" y="3497580"/>
            <a:ext cx="8010525" cy="22479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92455" y="480060"/>
            <a:ext cx="5080000" cy="759460"/>
          </a:xfrm>
          <a:prstGeom prst="rect">
            <a:avLst/>
          </a:prstGeom>
        </p:spPr>
        <p:txBody>
          <a:bodyPr>
            <a:spAutoFit/>
          </a:bodyPr>
          <a:p>
            <a:pPr>
              <a:spcAft>
                <a:spcPct val="60000"/>
              </a:spcAft>
            </a:pPr>
            <a:r>
              <a:rPr sz="1600" b="1"/>
              <a:t>3. Жадные и ленивые квантификаторы</a:t>
            </a:r>
            <a:endParaRPr sz="1600" b="1"/>
          </a:p>
          <a:p>
            <a:pPr>
              <a:spcAft>
                <a:spcPct val="60000"/>
              </a:spcAft>
            </a:pPr>
            <a:r>
              <a:rPr sz="1600" b="1"/>
              <a:t>3. 贪婪与惰性量词</a:t>
            </a:r>
            <a:endParaRPr sz="1600" b="1"/>
          </a:p>
        </p:txBody>
      </p:sp>
      <p:sp>
        <p:nvSpPr>
          <p:cNvPr id="3" name="Text Box 2"/>
          <p:cNvSpPr txBox="1"/>
          <p:nvPr/>
        </p:nvSpPr>
        <p:spPr>
          <a:xfrm>
            <a:off x="592455" y="1675130"/>
            <a:ext cx="5080000" cy="1322070"/>
          </a:xfrm>
          <a:prstGeom prst="rect">
            <a:avLst/>
          </a:prstGeom>
        </p:spPr>
        <p:txBody>
          <a:bodyPr>
            <a:spAutoFit/>
          </a:bodyPr>
          <a:p>
            <a:r>
              <a:rPr sz="1600"/>
              <a:t>По умолчанию квантификаторы жадные, то есть они пытаются захватить максимально возможное количество символов. Добавление ? делает квантификатор ленивым, захватывающим минимально возможное количество символов.</a:t>
            </a:r>
            <a:endParaRPr sz="1600"/>
          </a:p>
        </p:txBody>
      </p:sp>
      <p:sp>
        <p:nvSpPr>
          <p:cNvPr id="4" name="Text Box 3"/>
          <p:cNvSpPr txBox="1"/>
          <p:nvPr/>
        </p:nvSpPr>
        <p:spPr>
          <a:xfrm>
            <a:off x="6377940" y="1675447"/>
            <a:ext cx="5080000" cy="829945"/>
          </a:xfrm>
          <a:prstGeom prst="rect">
            <a:avLst/>
          </a:prstGeom>
        </p:spPr>
        <p:txBody>
          <a:bodyPr>
            <a:spAutoFit/>
          </a:bodyPr>
          <a:p>
            <a:r>
              <a:rPr sz="1600"/>
              <a:t>默认情况下，量词是贪婪的，即它们会尝试匹配尽可能多的字符。添加?使量词变为惰性的，即匹配尽可能少的字符。</a:t>
            </a:r>
            <a:endParaRPr sz="16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852805" y="470535"/>
            <a:ext cx="6096000" cy="759460"/>
          </a:xfrm>
          <a:prstGeom prst="rect">
            <a:avLst/>
          </a:prstGeom>
          <a:noFill/>
        </p:spPr>
        <p:txBody>
          <a:bodyPr wrap="square" rtlCol="0" anchor="t">
            <a:spAutoFit/>
          </a:bodyPr>
          <a:p>
            <a:pPr>
              <a:spcAft>
                <a:spcPct val="60000"/>
              </a:spcAft>
            </a:pPr>
            <a:r>
              <a:rPr sz="1600" b="1">
                <a:sym typeface="+mn-ea"/>
              </a:rPr>
              <a:t>3. Жадные и ленивые квантификаторы</a:t>
            </a:r>
            <a:endParaRPr sz="1600" b="1"/>
          </a:p>
          <a:p>
            <a:pPr>
              <a:spcAft>
                <a:spcPct val="60000"/>
              </a:spcAft>
            </a:pPr>
            <a:r>
              <a:rPr sz="1600" b="1">
                <a:sym typeface="+mn-ea"/>
              </a:rPr>
              <a:t>3. 贪婪与惰性量词</a:t>
            </a:r>
            <a:endParaRPr lang="en-US" sz="1600" b="1">
              <a:sym typeface="+mn-ea"/>
            </a:endParaRPr>
          </a:p>
        </p:txBody>
      </p:sp>
      <p:sp>
        <p:nvSpPr>
          <p:cNvPr id="4" name="Text Box 3"/>
          <p:cNvSpPr txBox="1"/>
          <p:nvPr/>
        </p:nvSpPr>
        <p:spPr>
          <a:xfrm>
            <a:off x="703580" y="1996757"/>
            <a:ext cx="5080000" cy="583565"/>
          </a:xfrm>
          <a:prstGeom prst="rect">
            <a:avLst/>
          </a:prstGeom>
        </p:spPr>
        <p:txBody>
          <a:bodyPr>
            <a:spAutoFit/>
          </a:bodyPr>
          <a:p>
            <a:r>
              <a:rPr sz="1600"/>
              <a:t>Жадный квантификатор: .* будет захватывать всю строку.</a:t>
            </a:r>
            <a:endParaRPr sz="1600"/>
          </a:p>
        </p:txBody>
      </p:sp>
      <p:sp>
        <p:nvSpPr>
          <p:cNvPr id="5" name="Text Box 4"/>
          <p:cNvSpPr txBox="1"/>
          <p:nvPr/>
        </p:nvSpPr>
        <p:spPr>
          <a:xfrm>
            <a:off x="6681470" y="1996123"/>
            <a:ext cx="5080000" cy="337185"/>
          </a:xfrm>
          <a:prstGeom prst="rect">
            <a:avLst/>
          </a:prstGeom>
        </p:spPr>
        <p:txBody>
          <a:bodyPr>
            <a:spAutoFit/>
          </a:bodyPr>
          <a:p>
            <a:r>
              <a:rPr sz="1600"/>
              <a:t>贪婪量词：.*匹配整个字符串。</a:t>
            </a:r>
            <a:endParaRPr sz="16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354965" y="248285"/>
            <a:ext cx="7348855" cy="583565"/>
          </a:xfrm>
          <a:prstGeom prst="rect">
            <a:avLst/>
          </a:prstGeom>
        </p:spPr>
        <p:txBody>
          <a:bodyPr wrap="square">
            <a:spAutoFit/>
          </a:bodyPr>
          <a:p>
            <a:r>
              <a:rPr sz="1600"/>
              <a:t>Пример: в строке aabbbbcc, выражение a.*c захватит aabbbbcc.</a:t>
            </a:r>
            <a:endParaRPr sz="1600"/>
          </a:p>
          <a:p>
            <a:r>
              <a:rPr sz="1600"/>
              <a:t>示例：在字符串aabbbbcc中，a.*c匹配整个aabbbbcc。</a:t>
            </a:r>
            <a:endParaRPr sz="1600"/>
          </a:p>
        </p:txBody>
      </p:sp>
      <p:pic>
        <p:nvPicPr>
          <p:cNvPr id="6" name="Picture 5"/>
          <p:cNvPicPr>
            <a:picLocks noChangeAspect="1"/>
          </p:cNvPicPr>
          <p:nvPr/>
        </p:nvPicPr>
        <p:blipFill>
          <a:blip r:embed="rId1"/>
          <a:stretch>
            <a:fillRect/>
          </a:stretch>
        </p:blipFill>
        <p:spPr>
          <a:xfrm>
            <a:off x="2085975" y="2709545"/>
            <a:ext cx="8020050" cy="14382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14705" y="1577657"/>
            <a:ext cx="5080000" cy="829945"/>
          </a:xfrm>
          <a:prstGeom prst="rect">
            <a:avLst/>
          </a:prstGeom>
        </p:spPr>
        <p:txBody>
          <a:bodyPr>
            <a:spAutoFit/>
          </a:bodyPr>
          <a:p>
            <a:r>
              <a:rPr sz="1600"/>
              <a:t>Ленивый квантификатор: .*? будет захватывать только минимально возможное количество символов.</a:t>
            </a:r>
            <a:endParaRPr sz="1600"/>
          </a:p>
        </p:txBody>
      </p:sp>
      <p:sp>
        <p:nvSpPr>
          <p:cNvPr id="3" name="Text Box 2"/>
          <p:cNvSpPr txBox="1"/>
          <p:nvPr/>
        </p:nvSpPr>
        <p:spPr>
          <a:xfrm>
            <a:off x="6368415" y="1577023"/>
            <a:ext cx="5080000" cy="337185"/>
          </a:xfrm>
          <a:prstGeom prst="rect">
            <a:avLst/>
          </a:prstGeom>
        </p:spPr>
        <p:txBody>
          <a:bodyPr>
            <a:spAutoFit/>
          </a:bodyPr>
          <a:p>
            <a:r>
              <a:rPr sz="1600"/>
              <a:t>惰性量词：.*?只匹配最少数量的字符。</a:t>
            </a:r>
            <a:endParaRPr sz="1600"/>
          </a:p>
        </p:txBody>
      </p:sp>
      <p:sp>
        <p:nvSpPr>
          <p:cNvPr id="4" name="Text Box 3"/>
          <p:cNvSpPr txBox="1"/>
          <p:nvPr/>
        </p:nvSpPr>
        <p:spPr>
          <a:xfrm>
            <a:off x="814705" y="328295"/>
            <a:ext cx="6096000" cy="759460"/>
          </a:xfrm>
          <a:prstGeom prst="rect">
            <a:avLst/>
          </a:prstGeom>
          <a:noFill/>
        </p:spPr>
        <p:txBody>
          <a:bodyPr wrap="square" rtlCol="0" anchor="t">
            <a:spAutoFit/>
          </a:bodyPr>
          <a:p>
            <a:pPr>
              <a:spcAft>
                <a:spcPct val="60000"/>
              </a:spcAft>
            </a:pPr>
            <a:r>
              <a:rPr sz="1600" b="1">
                <a:sym typeface="+mn-ea"/>
              </a:rPr>
              <a:t>3. Жадные и ленивые квантификаторы</a:t>
            </a:r>
            <a:endParaRPr sz="1600" b="1"/>
          </a:p>
          <a:p>
            <a:pPr>
              <a:spcAft>
                <a:spcPct val="60000"/>
              </a:spcAft>
            </a:pPr>
            <a:r>
              <a:rPr sz="1600" b="1">
                <a:sym typeface="+mn-ea"/>
              </a:rPr>
              <a:t>3. 贪婪与惰性量词</a:t>
            </a:r>
            <a:endParaRPr lang="en-US" sz="1600" b="1">
              <a:sym typeface="+mn-ea"/>
            </a:endParaRPr>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07365" y="389255"/>
            <a:ext cx="9779635" cy="583565"/>
          </a:xfrm>
          <a:prstGeom prst="rect">
            <a:avLst/>
          </a:prstGeom>
        </p:spPr>
        <p:txBody>
          <a:bodyPr wrap="square">
            <a:spAutoFit/>
          </a:bodyPr>
          <a:p>
            <a:r>
              <a:rPr sz="1600"/>
              <a:t>Пример: то же выражение a.*?c в строке aabbbbcc захватит только aabbbc.</a:t>
            </a:r>
            <a:endParaRPr sz="1600"/>
          </a:p>
          <a:p>
            <a:r>
              <a:rPr sz="1600"/>
              <a:t>示例：相同的正则表达式a.*?c在字符串aabbbbcc中匹配较小的aabbbc。</a:t>
            </a:r>
            <a:endParaRPr sz="1600"/>
          </a:p>
        </p:txBody>
      </p:sp>
      <p:pic>
        <p:nvPicPr>
          <p:cNvPr id="6" name="Picture 5"/>
          <p:cNvPicPr>
            <a:picLocks noChangeAspect="1"/>
          </p:cNvPicPr>
          <p:nvPr/>
        </p:nvPicPr>
        <p:blipFill>
          <a:blip r:embed="rId1"/>
          <a:stretch>
            <a:fillRect/>
          </a:stretch>
        </p:blipFill>
        <p:spPr>
          <a:xfrm>
            <a:off x="2095500" y="2738120"/>
            <a:ext cx="8001000" cy="13811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62940" y="378460"/>
            <a:ext cx="5080000" cy="759460"/>
          </a:xfrm>
          <a:prstGeom prst="rect">
            <a:avLst/>
          </a:prstGeom>
        </p:spPr>
        <p:txBody>
          <a:bodyPr>
            <a:spAutoFit/>
          </a:bodyPr>
          <a:p>
            <a:pPr>
              <a:spcAft>
                <a:spcPct val="60000"/>
              </a:spcAft>
            </a:pPr>
            <a:r>
              <a:rPr lang="en-US" sz="1600" b="1"/>
              <a:t>4</a:t>
            </a:r>
            <a:r>
              <a:rPr sz="1600" b="1"/>
              <a:t>. Флаги регулярных выражений</a:t>
            </a:r>
            <a:endParaRPr sz="1600" b="1"/>
          </a:p>
          <a:p>
            <a:pPr>
              <a:spcAft>
                <a:spcPct val="60000"/>
              </a:spcAft>
            </a:pPr>
            <a:r>
              <a:rPr lang="en-US" sz="1600" b="1"/>
              <a:t>4</a:t>
            </a:r>
            <a:r>
              <a:rPr sz="1600" b="1"/>
              <a:t>. 正则表达式标志</a:t>
            </a:r>
            <a:endParaRPr sz="1600" b="1"/>
          </a:p>
        </p:txBody>
      </p:sp>
      <p:sp>
        <p:nvSpPr>
          <p:cNvPr id="3" name="Text Box 2"/>
          <p:cNvSpPr txBox="1"/>
          <p:nvPr/>
        </p:nvSpPr>
        <p:spPr>
          <a:xfrm>
            <a:off x="662940" y="1610042"/>
            <a:ext cx="5080000" cy="829945"/>
          </a:xfrm>
          <a:prstGeom prst="rect">
            <a:avLst/>
          </a:prstGeom>
        </p:spPr>
        <p:txBody>
          <a:bodyPr>
            <a:spAutoFit/>
          </a:bodyPr>
          <a:p>
            <a:r>
              <a:rPr sz="1600"/>
              <a:t>Флаги изменяют поведение поиска:</a:t>
            </a:r>
            <a:endParaRPr sz="1600"/>
          </a:p>
          <a:p>
            <a:r>
              <a:rPr sz="1600"/>
              <a:t>正则表达式标志用于更改匹配行为：</a:t>
            </a:r>
            <a:endParaRPr sz="1600"/>
          </a:p>
          <a:p>
            <a:endParaRPr sz="1600"/>
          </a:p>
        </p:txBody>
      </p:sp>
      <p:graphicFrame>
        <p:nvGraphicFramePr>
          <p:cNvPr id="5" name="Table 4"/>
          <p:cNvGraphicFramePr/>
          <p:nvPr/>
        </p:nvGraphicFramePr>
        <p:xfrm>
          <a:off x="1283970" y="3622040"/>
          <a:ext cx="9624695" cy="1661160"/>
        </p:xfrm>
        <a:graphic>
          <a:graphicData uri="http://schemas.openxmlformats.org/drawingml/2006/table">
            <a:tbl>
              <a:tblPr bandRow="1">
                <a:tableStyleId>{C083E6E3-FA7D-4D7B-A595-EF9225AFEA82}</a:tableStyleId>
              </a:tblPr>
              <a:tblGrid>
                <a:gridCol w="1163320"/>
                <a:gridCol w="4526280"/>
                <a:gridCol w="3935095"/>
              </a:tblGrid>
              <a:tr h="381000">
                <a:tc>
                  <a:txBody>
                    <a:bodyPr/>
                    <a:p>
                      <a:pPr algn="ctr">
                        <a:buNone/>
                      </a:pPr>
                      <a:r>
                        <a:rPr lang="en-US"/>
                        <a:t>g</a:t>
                      </a:r>
                      <a:endParaRPr lang="en-US"/>
                    </a:p>
                  </a:txBody>
                  <a:tcPr/>
                </a:tc>
                <a:tc>
                  <a:txBody>
                    <a:bodyPr/>
                    <a:p>
                      <a:pPr>
                        <a:buNone/>
                      </a:pPr>
                      <a:r>
                        <a:rPr lang="en-US"/>
                        <a:t>глобальный поиск, возвращает все совпадения.</a:t>
                      </a:r>
                      <a:endParaRPr lang="en-US"/>
                    </a:p>
                  </a:txBody>
                  <a:tcPr/>
                </a:tc>
                <a:tc>
                  <a:txBody>
                    <a:bodyPr/>
                    <a:p>
                      <a:pPr>
                        <a:buNone/>
                      </a:pPr>
                      <a:r>
                        <a:rPr lang="en-US"/>
                        <a:t>全局搜索，返回所有匹配项。</a:t>
                      </a:r>
                      <a:endParaRPr lang="en-US"/>
                    </a:p>
                  </a:txBody>
                  <a:tcPr/>
                </a:tc>
              </a:tr>
              <a:tr h="381000">
                <a:tc>
                  <a:txBody>
                    <a:bodyPr/>
                    <a:p>
                      <a:pPr algn="ctr">
                        <a:buNone/>
                      </a:pPr>
                      <a:r>
                        <a:rPr lang="en-US"/>
                        <a:t>i</a:t>
                      </a:r>
                      <a:endParaRPr lang="en-US"/>
                    </a:p>
                  </a:txBody>
                  <a:tcPr/>
                </a:tc>
                <a:tc>
                  <a:txBody>
                    <a:bodyPr/>
                    <a:p>
                      <a:pPr>
                        <a:buNone/>
                      </a:pPr>
                      <a:r>
                        <a:rPr lang="en-US"/>
                        <a:t>регистронезависимый поиск.</a:t>
                      </a:r>
                      <a:endParaRPr lang="en-US"/>
                    </a:p>
                  </a:txBody>
                  <a:tcPr/>
                </a:tc>
                <a:tc>
                  <a:txBody>
                    <a:bodyPr/>
                    <a:p>
                      <a:pPr>
                        <a:buNone/>
                      </a:pPr>
                      <a:r>
                        <a:rPr lang="en-US"/>
                        <a:t>忽略大小写搜索。</a:t>
                      </a:r>
                      <a:endParaRPr lang="en-US"/>
                    </a:p>
                  </a:txBody>
                  <a:tcPr/>
                </a:tc>
              </a:tr>
              <a:tr h="381000">
                <a:tc>
                  <a:txBody>
                    <a:bodyPr/>
                    <a:p>
                      <a:pPr algn="ctr">
                        <a:buNone/>
                      </a:pPr>
                      <a:r>
                        <a:rPr lang="en-US"/>
                        <a:t>m</a:t>
                      </a:r>
                      <a:endParaRPr lang="en-US"/>
                    </a:p>
                  </a:txBody>
                  <a:tcPr/>
                </a:tc>
                <a:tc>
                  <a:txBody>
                    <a:bodyPr/>
                    <a:p>
                      <a:pPr>
                        <a:buNone/>
                      </a:pPr>
                      <a:r>
                        <a:rPr lang="en-US"/>
                        <a:t>многострочный поиск, при котором ^ и $ работают для каждой строки.</a:t>
                      </a:r>
                      <a:endParaRPr lang="en-US"/>
                    </a:p>
                  </a:txBody>
                  <a:tcPr/>
                </a:tc>
                <a:tc>
                  <a:txBody>
                    <a:bodyPr/>
                    <a:p>
                      <a:pPr>
                        <a:buNone/>
                      </a:pPr>
                      <a:r>
                        <a:rPr lang="en-US"/>
                        <a:t>多行模式，使^和$匹配每行的开头和结尾。</a:t>
                      </a:r>
                      <a:endParaRPr lang="en-US"/>
                    </a:p>
                  </a:txBody>
                  <a:tcPr/>
                </a:tc>
              </a:tr>
            </a:tbl>
          </a:graphicData>
        </a:graphic>
      </p:graphicFrame>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395605" y="264478"/>
            <a:ext cx="5080000" cy="838835"/>
          </a:xfrm>
          <a:prstGeom prst="rect">
            <a:avLst/>
          </a:prstGeom>
        </p:spPr>
        <p:txBody>
          <a:bodyPr>
            <a:spAutoFit/>
          </a:bodyPr>
          <a:p>
            <a:pPr>
              <a:spcAft>
                <a:spcPct val="60000"/>
              </a:spcAft>
            </a:pPr>
            <a:r>
              <a:rPr sz="1900" b="1"/>
              <a:t>Флаг i — Регистронезависимый поиск</a:t>
            </a:r>
            <a:endParaRPr sz="1900" b="1"/>
          </a:p>
          <a:p>
            <a:r>
              <a:rPr sz="1600"/>
              <a:t>标志 i — 不区分大小写的搜索</a:t>
            </a:r>
            <a:endParaRPr sz="1600"/>
          </a:p>
        </p:txBody>
      </p:sp>
      <p:sp>
        <p:nvSpPr>
          <p:cNvPr id="6" name="Text Box 5"/>
          <p:cNvSpPr txBox="1"/>
          <p:nvPr/>
        </p:nvSpPr>
        <p:spPr>
          <a:xfrm>
            <a:off x="395605" y="1611630"/>
            <a:ext cx="11117580" cy="1076325"/>
          </a:xfrm>
          <a:prstGeom prst="rect">
            <a:avLst/>
          </a:prstGeom>
        </p:spPr>
        <p:txBody>
          <a:bodyPr wrap="square">
            <a:spAutoFit/>
          </a:bodyPr>
          <a:p>
            <a:r>
              <a:rPr sz="1600"/>
              <a:t>Флаг i позволяет выполнять поиск без учёта регистра букв. Он полезен, когда нужно найти совпадения независимо от заглавных и строчных букв.</a:t>
            </a:r>
            <a:endParaRPr sz="1600"/>
          </a:p>
          <a:p>
            <a:endParaRPr sz="1600"/>
          </a:p>
          <a:p>
            <a:r>
              <a:rPr sz="1600"/>
              <a:t>标志 i 允许在搜索时忽略字母的大小写。当需要匹配大小写不敏感的文本时非常有用。</a:t>
            </a:r>
            <a:endParaRPr sz="1600"/>
          </a:p>
        </p:txBody>
      </p:sp>
      <p:pic>
        <p:nvPicPr>
          <p:cNvPr id="7" name="Picture 6"/>
          <p:cNvPicPr>
            <a:picLocks noChangeAspect="1"/>
          </p:cNvPicPr>
          <p:nvPr/>
        </p:nvPicPr>
        <p:blipFill>
          <a:blip r:embed="rId1"/>
          <a:stretch>
            <a:fillRect/>
          </a:stretch>
        </p:blipFill>
        <p:spPr>
          <a:xfrm>
            <a:off x="2033905" y="3313430"/>
            <a:ext cx="7981950" cy="149542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435610" y="386398"/>
            <a:ext cx="5080000" cy="838835"/>
          </a:xfrm>
          <a:prstGeom prst="rect">
            <a:avLst/>
          </a:prstGeom>
        </p:spPr>
        <p:txBody>
          <a:bodyPr>
            <a:spAutoFit/>
          </a:bodyPr>
          <a:p>
            <a:pPr>
              <a:spcAft>
                <a:spcPct val="60000"/>
              </a:spcAft>
            </a:pPr>
            <a:r>
              <a:rPr sz="1900" b="1"/>
              <a:t>Флаг g — Глобальный поиск</a:t>
            </a:r>
            <a:endParaRPr sz="1900" b="1"/>
          </a:p>
          <a:p>
            <a:r>
              <a:rPr sz="1600"/>
              <a:t>标志 g — 全局搜索</a:t>
            </a:r>
            <a:endParaRPr sz="1600"/>
          </a:p>
        </p:txBody>
      </p:sp>
      <p:sp>
        <p:nvSpPr>
          <p:cNvPr id="3" name="Text Box 2"/>
          <p:cNvSpPr txBox="1"/>
          <p:nvPr/>
        </p:nvSpPr>
        <p:spPr>
          <a:xfrm>
            <a:off x="435610" y="1672590"/>
            <a:ext cx="11026140" cy="1076325"/>
          </a:xfrm>
          <a:prstGeom prst="rect">
            <a:avLst/>
          </a:prstGeom>
        </p:spPr>
        <p:txBody>
          <a:bodyPr wrap="square">
            <a:spAutoFit/>
          </a:bodyPr>
          <a:p>
            <a:r>
              <a:rPr sz="1600"/>
              <a:t>Флаг g позволяет искать все совпадения в строке, а не только первое. Это удобно для подсчёта всех вхождений определённого шаблона в тексте.</a:t>
            </a:r>
            <a:endParaRPr sz="1600"/>
          </a:p>
          <a:p>
            <a:endParaRPr sz="1600"/>
          </a:p>
          <a:p>
            <a:r>
              <a:rPr sz="1600"/>
              <a:t>标志 g 用于在字符串中查找所有匹配项，而不仅仅是第一个。这在统计文本中特定模式的所有出现次数时很有用。</a:t>
            </a:r>
            <a:endParaRPr sz="1600"/>
          </a:p>
        </p:txBody>
      </p:sp>
      <p:pic>
        <p:nvPicPr>
          <p:cNvPr id="5" name="Picture 4"/>
          <p:cNvPicPr>
            <a:picLocks noChangeAspect="1"/>
          </p:cNvPicPr>
          <p:nvPr/>
        </p:nvPicPr>
        <p:blipFill>
          <a:blip r:embed="rId1"/>
          <a:stretch>
            <a:fillRect/>
          </a:stretch>
        </p:blipFill>
        <p:spPr>
          <a:xfrm>
            <a:off x="2099945" y="3688080"/>
            <a:ext cx="7991475" cy="14192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2" name="Text Box 1"/>
          <p:cNvSpPr txBox="1"/>
          <p:nvPr/>
        </p:nvSpPr>
        <p:spPr>
          <a:xfrm>
            <a:off x="507365" y="517843"/>
            <a:ext cx="5080000" cy="838835"/>
          </a:xfrm>
          <a:prstGeom prst="rect">
            <a:avLst/>
          </a:prstGeom>
        </p:spPr>
        <p:txBody>
          <a:bodyPr>
            <a:spAutoFit/>
          </a:bodyPr>
          <a:p>
            <a:pPr>
              <a:spcAft>
                <a:spcPct val="60000"/>
              </a:spcAft>
            </a:pPr>
            <a:r>
              <a:rPr sz="1900" b="1"/>
              <a:t>Флаг m — Многострочный режим</a:t>
            </a:r>
            <a:endParaRPr sz="1900" b="1"/>
          </a:p>
          <a:p>
            <a:r>
              <a:rPr sz="1600"/>
              <a:t>标志 m — 多行模式</a:t>
            </a:r>
            <a:endParaRPr sz="1600"/>
          </a:p>
        </p:txBody>
      </p:sp>
      <p:sp>
        <p:nvSpPr>
          <p:cNvPr id="3" name="Text Box 2"/>
          <p:cNvSpPr txBox="1"/>
          <p:nvPr/>
        </p:nvSpPr>
        <p:spPr>
          <a:xfrm>
            <a:off x="507365" y="1791970"/>
            <a:ext cx="10846435" cy="1322070"/>
          </a:xfrm>
          <a:prstGeom prst="rect">
            <a:avLst/>
          </a:prstGeom>
        </p:spPr>
        <p:txBody>
          <a:bodyPr wrap="square">
            <a:spAutoFit/>
          </a:bodyPr>
          <a:p>
            <a:r>
              <a:rPr sz="1600"/>
              <a:t>Флаг m позволяет искать совпадения в многострочном тексте. Он влияет на символы начала ^ и конца $ строки, делая их работающими для каждой строки, а не только для всей строки.</a:t>
            </a:r>
            <a:endParaRPr sz="1600"/>
          </a:p>
          <a:p>
            <a:endParaRPr sz="1600"/>
          </a:p>
          <a:p>
            <a:r>
              <a:rPr sz="1600"/>
              <a:t>标志 m 用于在多行文本中查找匹配项。它会影响起始符号 ^ 和结束符号 $，使它们在每行的开始和结尾都有效，而不仅限于整个字符串。</a:t>
            </a:r>
            <a:endParaRPr sz="16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685800" y="815340"/>
            <a:ext cx="10668000" cy="2984500"/>
          </a:xfrm>
          <a:prstGeom prst="rect">
            <a:avLst/>
          </a:prstGeom>
        </p:spPr>
        <p:txBody>
          <a:bodyPr wrap="square">
            <a:spAutoFit/>
          </a:bodyPr>
          <a:p>
            <a:r>
              <a:rPr sz="2000"/>
              <a:t>Экранирование в регулярных выражениях используется для того, чтобы обычный символ (например, . или *), обычно имеющий специальное значение, воспринимался буквально. Чтобы экранировать символ, используют обратный слеш (\).</a:t>
            </a:r>
            <a:endParaRPr sz="2000"/>
          </a:p>
          <a:p>
            <a:endParaRPr sz="3200"/>
          </a:p>
          <a:p>
            <a:r>
              <a:rPr sz="3200"/>
              <a:t>转义 在正则表达式中用于将具有特殊含义的符号（例如 . 或 *）变为普通字符，以便其被字面识别。要实现转义，可以在符号前加反斜杠 (\)。</a:t>
            </a:r>
            <a:endParaRPr sz="32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Text Box 5"/>
          <p:cNvSpPr txBox="1"/>
          <p:nvPr/>
        </p:nvSpPr>
        <p:spPr>
          <a:xfrm>
            <a:off x="776605" y="1122045"/>
            <a:ext cx="4676140" cy="2306955"/>
          </a:xfrm>
          <a:prstGeom prst="rect">
            <a:avLst/>
          </a:prstGeom>
          <a:noFill/>
        </p:spPr>
        <p:txBody>
          <a:bodyPr wrap="square" rtlCol="0">
            <a:spAutoFit/>
          </a:bodyPr>
          <a:p>
            <a:r>
              <a:rPr lang="en-US"/>
              <a:t>Чтобы экранировать специальный символ, ставим перед ним обратный слеш (\). Например:</a:t>
            </a:r>
            <a:endParaRPr lang="en-US"/>
          </a:p>
          <a:p>
            <a:endParaRPr lang="en-US"/>
          </a:p>
          <a:p>
            <a:r>
              <a:rPr lang="en-US"/>
              <a:t>\. — находит точку в тексте.</a:t>
            </a:r>
            <a:endParaRPr lang="en-US"/>
          </a:p>
          <a:p>
            <a:r>
              <a:rPr lang="en-US"/>
              <a:t>\* — ищет символ *, а не повторение.</a:t>
            </a:r>
            <a:endParaRPr lang="en-US"/>
          </a:p>
          <a:p>
            <a:r>
              <a:rPr lang="en-US"/>
              <a:t>\$ — находит символ доллара, а не конец строки.</a:t>
            </a:r>
            <a:endParaRPr lang="en-US"/>
          </a:p>
        </p:txBody>
      </p:sp>
      <p:sp>
        <p:nvSpPr>
          <p:cNvPr id="7" name="Text Box 6"/>
          <p:cNvSpPr txBox="1"/>
          <p:nvPr/>
        </p:nvSpPr>
        <p:spPr>
          <a:xfrm>
            <a:off x="6733540" y="1200150"/>
            <a:ext cx="4064000" cy="1938020"/>
          </a:xfrm>
          <a:prstGeom prst="rect">
            <a:avLst/>
          </a:prstGeom>
          <a:noFill/>
        </p:spPr>
        <p:txBody>
          <a:bodyPr wrap="square" rtlCol="0">
            <a:spAutoFit/>
          </a:bodyPr>
          <a:p>
            <a:r>
              <a:rPr lang="en-US" sz="2000"/>
              <a:t>使用反斜杠（\）转义特殊字符。例如：</a:t>
            </a:r>
            <a:endParaRPr lang="en-US" sz="2000"/>
          </a:p>
          <a:p>
            <a:endParaRPr lang="en-US" sz="2000"/>
          </a:p>
          <a:p>
            <a:r>
              <a:rPr lang="en-US" sz="2000"/>
              <a:t>\. — 匹配文本中的 .（点）字符。</a:t>
            </a:r>
            <a:endParaRPr lang="en-US" sz="2000"/>
          </a:p>
          <a:p>
            <a:r>
              <a:rPr lang="en-US" sz="2000"/>
              <a:t>\* — 匹配 * 符号，而不是重复符。</a:t>
            </a:r>
            <a:endParaRPr lang="en-US" sz="2000"/>
          </a:p>
          <a:p>
            <a:r>
              <a:rPr lang="en-US" sz="2000"/>
              <a:t>\$ — 匹配 $ 符号，而不是行尾。</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Text Box 5"/>
          <p:cNvSpPr txBox="1"/>
          <p:nvPr/>
        </p:nvSpPr>
        <p:spPr>
          <a:xfrm>
            <a:off x="635000" y="339408"/>
            <a:ext cx="5080000" cy="337185"/>
          </a:xfrm>
          <a:prstGeom prst="rect">
            <a:avLst/>
          </a:prstGeom>
        </p:spPr>
        <p:txBody>
          <a:bodyPr>
            <a:spAutoFit/>
          </a:bodyPr>
          <a:p>
            <a:r>
              <a:rPr sz="1600"/>
              <a:t>Найти точку в тексте.</a:t>
            </a:r>
            <a:endParaRPr sz="1600"/>
          </a:p>
        </p:txBody>
      </p:sp>
      <p:sp>
        <p:nvSpPr>
          <p:cNvPr id="7" name="Text Box 6"/>
          <p:cNvSpPr txBox="1"/>
          <p:nvPr/>
        </p:nvSpPr>
        <p:spPr>
          <a:xfrm>
            <a:off x="635000" y="676910"/>
            <a:ext cx="4064000" cy="368300"/>
          </a:xfrm>
          <a:prstGeom prst="rect">
            <a:avLst/>
          </a:prstGeom>
          <a:noFill/>
        </p:spPr>
        <p:txBody>
          <a:bodyPr wrap="square" rtlCol="0">
            <a:spAutoFit/>
          </a:bodyPr>
          <a:p>
            <a:r>
              <a:rPr lang="en-US"/>
              <a:t>查找文本中的 .（点号）。</a:t>
            </a:r>
            <a:endParaRPr lang="en-US"/>
          </a:p>
        </p:txBody>
      </p:sp>
      <p:pic>
        <p:nvPicPr>
          <p:cNvPr id="8" name="Picture 7"/>
          <p:cNvPicPr>
            <a:picLocks noChangeAspect="1"/>
          </p:cNvPicPr>
          <p:nvPr/>
        </p:nvPicPr>
        <p:blipFill>
          <a:blip r:embed="rId1"/>
          <a:stretch>
            <a:fillRect/>
          </a:stretch>
        </p:blipFill>
        <p:spPr>
          <a:xfrm>
            <a:off x="1524000" y="2738120"/>
            <a:ext cx="9144000" cy="138112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13740" y="530860"/>
            <a:ext cx="5080000" cy="759460"/>
          </a:xfrm>
          <a:prstGeom prst="rect">
            <a:avLst/>
          </a:prstGeom>
        </p:spPr>
        <p:txBody>
          <a:bodyPr>
            <a:spAutoFit/>
          </a:bodyPr>
          <a:p>
            <a:pPr>
              <a:spcAft>
                <a:spcPct val="60000"/>
              </a:spcAft>
            </a:pPr>
            <a:r>
              <a:rPr lang="en-US" sz="1600" b="1"/>
              <a:t>5</a:t>
            </a:r>
            <a:r>
              <a:rPr sz="1600" b="1"/>
              <a:t>. Примеры использования</a:t>
            </a:r>
            <a:endParaRPr sz="1600" b="1"/>
          </a:p>
          <a:p>
            <a:pPr>
              <a:spcAft>
                <a:spcPct val="60000"/>
              </a:spcAft>
            </a:pPr>
            <a:r>
              <a:rPr lang="en-US" sz="1600" b="1"/>
              <a:t>5</a:t>
            </a:r>
            <a:r>
              <a:rPr sz="1600" b="1"/>
              <a:t>. 使用示例</a:t>
            </a:r>
            <a:endParaRPr sz="1600" b="1"/>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4" name="Text Box 3"/>
          <p:cNvSpPr txBox="1"/>
          <p:nvPr/>
        </p:nvSpPr>
        <p:spPr>
          <a:xfrm>
            <a:off x="714375" y="2275840"/>
            <a:ext cx="10842625" cy="1568450"/>
          </a:xfrm>
          <a:prstGeom prst="rect">
            <a:avLst/>
          </a:prstGeom>
        </p:spPr>
        <p:txBody>
          <a:bodyPr wrap="square">
            <a:spAutoFit/>
          </a:bodyPr>
          <a:p>
            <a:r>
              <a:rPr sz="1600"/>
              <a:t>Напишите регулярное выражение для поиска email-адресов в тексте. Email должен начинаться с набора буквенно-цифровых символов, может содержать точки или тире, далее должен присутствовать символ @, после него доменное имя (например, example.com).</a:t>
            </a:r>
            <a:endParaRPr sz="1600"/>
          </a:p>
          <a:p>
            <a:endParaRPr sz="1600"/>
          </a:p>
          <a:p>
            <a:r>
              <a:rPr sz="1600"/>
              <a:t>编写一个正则表达式来在文本中查找电子邮件地址。电子邮件地址应以字母数字字符开始，可以包含点或连字符，随后必须有@符号和域名（例如example.com）。</a:t>
            </a:r>
            <a:endParaRPr sz="1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08000" y="783908"/>
            <a:ext cx="5080000" cy="583565"/>
          </a:xfrm>
          <a:prstGeom prst="rect">
            <a:avLst/>
          </a:prstGeom>
        </p:spPr>
        <p:txBody>
          <a:bodyPr>
            <a:spAutoFit/>
          </a:bodyPr>
          <a:p>
            <a:r>
              <a:rPr sz="1600"/>
              <a:t>Пример текста  </a:t>
            </a:r>
            <a:endParaRPr sz="1600"/>
          </a:p>
          <a:p>
            <a:r>
              <a:rPr sz="1600"/>
              <a:t>示例文本:</a:t>
            </a:r>
            <a:endParaRPr sz="1600"/>
          </a:p>
        </p:txBody>
      </p:sp>
      <p:sp>
        <p:nvSpPr>
          <p:cNvPr id="6" name="Rectangles 5"/>
          <p:cNvSpPr/>
          <p:nvPr/>
        </p:nvSpPr>
        <p:spPr>
          <a:xfrm>
            <a:off x="508000" y="1473200"/>
            <a:ext cx="11176635" cy="12388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Мой email — test.email@example.com, а также есть старый test@example.org.</a:t>
            </a:r>
            <a:endParaRPr lang="en-US">
              <a:solidFill>
                <a:schemeClr val="tx1"/>
              </a:solidFill>
            </a:endParaRPr>
          </a:p>
          <a:p>
            <a:pPr algn="l">
              <a:lnSpc>
                <a:spcPct val="150000"/>
              </a:lnSpc>
            </a:pPr>
            <a:r>
              <a:rPr lang="en-US">
                <a:solidFill>
                  <a:schemeClr val="tx1"/>
                </a:solidFill>
              </a:rPr>
              <a:t>我的邮箱是 test.email@example.com，还有一个旧的邮箱 test@example.org。</a:t>
            </a:r>
            <a:endParaRPr lang="en-US">
              <a:solidFill>
                <a:schemeClr val="tx1"/>
              </a:solidFill>
            </a:endParaRPr>
          </a:p>
        </p:txBody>
      </p:sp>
      <p:sp>
        <p:nvSpPr>
          <p:cNvPr id="7" name="Text Box 6"/>
          <p:cNvSpPr txBox="1"/>
          <p:nvPr/>
        </p:nvSpPr>
        <p:spPr>
          <a:xfrm>
            <a:off x="508000" y="3936365"/>
            <a:ext cx="10160000" cy="1076325"/>
          </a:xfrm>
          <a:prstGeom prst="rect">
            <a:avLst/>
          </a:prstGeom>
        </p:spPr>
        <p:txBody>
          <a:bodyPr wrap="square">
            <a:spAutoFit/>
          </a:bodyPr>
          <a:p>
            <a:r>
              <a:rPr sz="1600"/>
              <a:t>Ожидаемый результат / 预期结果:</a:t>
            </a:r>
            <a:endParaRPr sz="1600"/>
          </a:p>
          <a:p>
            <a:endParaRPr sz="1600"/>
          </a:p>
          <a:p>
            <a:r>
              <a:rPr sz="1600"/>
              <a:t>Найдено два email-адреса: test.email@example.com и test@example.org</a:t>
            </a:r>
            <a:endParaRPr sz="1600"/>
          </a:p>
          <a:p>
            <a:r>
              <a:rPr sz="1600"/>
              <a:t>匹配出两个电子邮件地址：test.email@example.com 和 test@example.org</a:t>
            </a:r>
            <a:endParaRPr sz="1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57200" y="428308"/>
            <a:ext cx="5080000" cy="583565"/>
          </a:xfrm>
          <a:prstGeom prst="rect">
            <a:avLst/>
          </a:prstGeom>
        </p:spPr>
        <p:txBody>
          <a:bodyPr>
            <a:spAutoFit/>
          </a:bodyPr>
          <a:p>
            <a:r>
              <a:rPr sz="1600"/>
              <a:t>Ответ </a:t>
            </a:r>
            <a:endParaRPr sz="1600"/>
          </a:p>
          <a:p>
            <a:r>
              <a:rPr sz="1600"/>
              <a:t>答案:</a:t>
            </a:r>
            <a:endParaRPr sz="1600"/>
          </a:p>
        </p:txBody>
      </p:sp>
      <p:sp>
        <p:nvSpPr>
          <p:cNvPr id="6" name="Rectangles 5"/>
          <p:cNvSpPr/>
          <p:nvPr/>
        </p:nvSpPr>
        <p:spPr>
          <a:xfrm>
            <a:off x="7505065" y="428625"/>
            <a:ext cx="4039870" cy="504190"/>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/[\w.-]+@[a-zA-Z]+\.[a-zA-Z]{2,}/g</a:t>
            </a:r>
            <a:endParaRPr lang="en-US">
              <a:solidFill>
                <a:schemeClr val="tx1"/>
              </a:solidFill>
            </a:endParaRPr>
          </a:p>
        </p:txBody>
      </p:sp>
      <p:pic>
        <p:nvPicPr>
          <p:cNvPr id="7" name="Picture 6"/>
          <p:cNvPicPr>
            <a:picLocks noChangeAspect="1"/>
          </p:cNvPicPr>
          <p:nvPr/>
        </p:nvPicPr>
        <p:blipFill>
          <a:blip r:embed="rId1"/>
          <a:stretch>
            <a:fillRect/>
          </a:stretch>
        </p:blipFill>
        <p:spPr>
          <a:xfrm>
            <a:off x="649605" y="1828800"/>
            <a:ext cx="10704195" cy="21615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13740" y="530860"/>
            <a:ext cx="5080000" cy="759460"/>
          </a:xfrm>
          <a:prstGeom prst="rect">
            <a:avLst/>
          </a:prstGeom>
        </p:spPr>
        <p:txBody>
          <a:bodyPr>
            <a:spAutoFit/>
          </a:bodyPr>
          <a:p>
            <a:pPr>
              <a:spcAft>
                <a:spcPct val="60000"/>
              </a:spcAft>
            </a:pPr>
            <a:r>
              <a:rPr lang="en-US" sz="1600" b="1"/>
              <a:t>5</a:t>
            </a:r>
            <a:r>
              <a:rPr sz="1600" b="1"/>
              <a:t>. Примеры использования</a:t>
            </a:r>
            <a:endParaRPr sz="1600" b="1"/>
          </a:p>
          <a:p>
            <a:pPr>
              <a:spcAft>
                <a:spcPct val="60000"/>
              </a:spcAft>
            </a:pPr>
            <a:r>
              <a:rPr lang="en-US" sz="1600" b="1"/>
              <a:t>5</a:t>
            </a:r>
            <a:r>
              <a:rPr sz="1600" b="1"/>
              <a:t>. 使用示例</a:t>
            </a:r>
            <a:endParaRPr sz="1600" b="1"/>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4" name="Text Box 3"/>
          <p:cNvSpPr txBox="1"/>
          <p:nvPr/>
        </p:nvSpPr>
        <p:spPr>
          <a:xfrm>
            <a:off x="718820" y="2106930"/>
            <a:ext cx="10634980" cy="1076325"/>
          </a:xfrm>
          <a:prstGeom prst="rect">
            <a:avLst/>
          </a:prstGeom>
        </p:spPr>
        <p:txBody>
          <a:bodyPr wrap="square">
            <a:spAutoFit/>
          </a:bodyPr>
          <a:p>
            <a:r>
              <a:rPr sz="1600"/>
              <a:t>Напишите регулярное выражение, которое проверяет корректность телефонных номеров в формате +7 (123) 456-78-90 или +7-123-456-78-90.</a:t>
            </a:r>
            <a:endParaRPr sz="1600"/>
          </a:p>
          <a:p>
            <a:endParaRPr sz="1600"/>
          </a:p>
          <a:p>
            <a:r>
              <a:rPr sz="1600"/>
              <a:t>编写一个正则表达式来验证电话号码格式，例如 +7 (123) 456-78-90 或 +7-123-456-78-90。</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20700" y="614998"/>
            <a:ext cx="5080000" cy="337185"/>
          </a:xfrm>
          <a:prstGeom prst="rect">
            <a:avLst/>
          </a:prstGeom>
        </p:spPr>
        <p:txBody>
          <a:bodyPr>
            <a:spAutoFit/>
          </a:bodyPr>
          <a:p>
            <a:r>
              <a:rPr sz="1600"/>
              <a:t>Пример текста / 示例文本:</a:t>
            </a:r>
            <a:endParaRPr sz="1600"/>
          </a:p>
        </p:txBody>
      </p:sp>
      <p:sp>
        <p:nvSpPr>
          <p:cNvPr id="6" name="Rectangles 5"/>
          <p:cNvSpPr/>
          <p:nvPr/>
        </p:nvSpPr>
        <p:spPr>
          <a:xfrm>
            <a:off x="508000" y="952500"/>
            <a:ext cx="11176635" cy="12388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Верный номер: +7 (123) 456-78-90, а вот такой номер +7-1234-567890 — неверный.</a:t>
            </a:r>
            <a:endParaRPr lang="en-US">
              <a:solidFill>
                <a:schemeClr val="tx1"/>
              </a:solidFill>
            </a:endParaRPr>
          </a:p>
          <a:p>
            <a:pPr algn="l">
              <a:lnSpc>
                <a:spcPct val="150000"/>
              </a:lnSpc>
            </a:pPr>
            <a:r>
              <a:rPr lang="en-US">
                <a:solidFill>
                  <a:schemeClr val="tx1"/>
                </a:solidFill>
              </a:rPr>
              <a:t>正确号码：+7 (123) 456-78-90，错误号码：+7-1234-567890。</a:t>
            </a:r>
            <a:endParaRPr lang="en-US">
              <a:solidFill>
                <a:schemeClr val="tx1"/>
              </a:solidFill>
            </a:endParaRPr>
          </a:p>
        </p:txBody>
      </p:sp>
      <p:sp>
        <p:nvSpPr>
          <p:cNvPr id="7" name="Text Box 6"/>
          <p:cNvSpPr txBox="1"/>
          <p:nvPr/>
        </p:nvSpPr>
        <p:spPr>
          <a:xfrm>
            <a:off x="508000" y="2835275"/>
            <a:ext cx="11099165" cy="1568450"/>
          </a:xfrm>
          <a:prstGeom prst="rect">
            <a:avLst/>
          </a:prstGeom>
        </p:spPr>
        <p:txBody>
          <a:bodyPr wrap="square">
            <a:spAutoFit/>
          </a:bodyPr>
          <a:p>
            <a:r>
              <a:rPr sz="1600"/>
              <a:t>Ожидаемый результат / 预期结果:</a:t>
            </a:r>
            <a:endParaRPr sz="1600"/>
          </a:p>
          <a:p>
            <a:endParaRPr sz="1600"/>
          </a:p>
          <a:p>
            <a:r>
              <a:rPr sz="1600"/>
              <a:t>Валидация проходит только для форматов с тремя цифрами в коде города и дефисами или пробелами в правильных местах.</a:t>
            </a:r>
            <a:endParaRPr sz="1600"/>
          </a:p>
          <a:p>
            <a:endParaRPr sz="1600"/>
          </a:p>
          <a:p>
            <a:r>
              <a:rPr sz="1600"/>
              <a:t>只有符合城市代码为三位数字、连字符和空格在正确位置的格式才会通过验证。</a:t>
            </a:r>
            <a:endParaRPr sz="1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57200" y="428308"/>
            <a:ext cx="5080000" cy="583565"/>
          </a:xfrm>
          <a:prstGeom prst="rect">
            <a:avLst/>
          </a:prstGeom>
        </p:spPr>
        <p:txBody>
          <a:bodyPr>
            <a:spAutoFit/>
          </a:bodyPr>
          <a:p>
            <a:r>
              <a:rPr sz="1600"/>
              <a:t>Ответ </a:t>
            </a:r>
            <a:endParaRPr sz="1600"/>
          </a:p>
          <a:p>
            <a:r>
              <a:rPr sz="1600"/>
              <a:t>答案:</a:t>
            </a:r>
            <a:endParaRPr sz="1600"/>
          </a:p>
        </p:txBody>
      </p:sp>
      <p:sp>
        <p:nvSpPr>
          <p:cNvPr id="6" name="Rectangles 5"/>
          <p:cNvSpPr/>
          <p:nvPr/>
        </p:nvSpPr>
        <p:spPr>
          <a:xfrm>
            <a:off x="5423535" y="428625"/>
            <a:ext cx="6121400" cy="504190"/>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/\+7[-\s]?\(?\d{3}\)?[-\s]?\d{3}[-\s]?\d{2}[-\s]?\d{2}/g</a:t>
            </a:r>
            <a:endParaRPr lang="en-US">
              <a:solidFill>
                <a:schemeClr val="tx1"/>
              </a:solidFill>
            </a:endParaRPr>
          </a:p>
        </p:txBody>
      </p:sp>
      <p:pic>
        <p:nvPicPr>
          <p:cNvPr id="7" name="Picture 6"/>
          <p:cNvPicPr>
            <a:picLocks noChangeAspect="1"/>
          </p:cNvPicPr>
          <p:nvPr/>
        </p:nvPicPr>
        <p:blipFill>
          <a:blip r:embed="rId1"/>
          <a:stretch>
            <a:fillRect/>
          </a:stretch>
        </p:blipFill>
        <p:spPr>
          <a:xfrm>
            <a:off x="882650" y="1828800"/>
            <a:ext cx="10426700" cy="209042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13740" y="530860"/>
            <a:ext cx="5080000" cy="759460"/>
          </a:xfrm>
          <a:prstGeom prst="rect">
            <a:avLst/>
          </a:prstGeom>
        </p:spPr>
        <p:txBody>
          <a:bodyPr>
            <a:spAutoFit/>
          </a:bodyPr>
          <a:p>
            <a:pPr>
              <a:spcAft>
                <a:spcPct val="60000"/>
              </a:spcAft>
            </a:pPr>
            <a:r>
              <a:rPr lang="en-US" sz="1600" b="1"/>
              <a:t>5</a:t>
            </a:r>
            <a:r>
              <a:rPr sz="1600" b="1"/>
              <a:t>. Примеры использования</a:t>
            </a:r>
            <a:endParaRPr sz="1600" b="1"/>
          </a:p>
          <a:p>
            <a:pPr>
              <a:spcAft>
                <a:spcPct val="60000"/>
              </a:spcAft>
            </a:pPr>
            <a:r>
              <a:rPr lang="en-US" sz="1600" b="1"/>
              <a:t>5</a:t>
            </a:r>
            <a:r>
              <a:rPr sz="1600" b="1"/>
              <a:t>. 使用示例</a:t>
            </a:r>
            <a:endParaRPr sz="1600" b="1"/>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4" name="Text Box 3"/>
          <p:cNvSpPr txBox="1"/>
          <p:nvPr/>
        </p:nvSpPr>
        <p:spPr>
          <a:xfrm>
            <a:off x="713740" y="1802765"/>
            <a:ext cx="10819765" cy="1938020"/>
          </a:xfrm>
          <a:prstGeom prst="rect">
            <a:avLst/>
          </a:prstGeom>
        </p:spPr>
        <p:txBody>
          <a:bodyPr wrap="square">
            <a:spAutoFit/>
          </a:bodyPr>
          <a:p>
            <a:r>
              <a:rPr sz="2400"/>
              <a:t>Напишите регулярное выражение, которое находит любые целые числа в тексте, независимо от их длины.</a:t>
            </a:r>
            <a:endParaRPr sz="2400"/>
          </a:p>
          <a:p>
            <a:endParaRPr sz="2400"/>
          </a:p>
          <a:p>
            <a:endParaRPr sz="2400"/>
          </a:p>
          <a:p>
            <a:r>
              <a:rPr sz="2400"/>
              <a:t>编写一个正则表达式，用于在文本中查找任何整数，不论其长度。</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31800" y="453708"/>
            <a:ext cx="5080000" cy="337185"/>
          </a:xfrm>
          <a:prstGeom prst="rect">
            <a:avLst/>
          </a:prstGeom>
        </p:spPr>
        <p:txBody>
          <a:bodyPr>
            <a:spAutoFit/>
          </a:bodyPr>
          <a:p>
            <a:r>
              <a:rPr sz="1600"/>
              <a:t>Пример текста / 示例文本:</a:t>
            </a:r>
            <a:endParaRPr sz="1600"/>
          </a:p>
        </p:txBody>
      </p:sp>
      <p:sp>
        <p:nvSpPr>
          <p:cNvPr id="6" name="Rectangles 5"/>
          <p:cNvSpPr/>
          <p:nvPr/>
        </p:nvSpPr>
        <p:spPr>
          <a:xfrm>
            <a:off x="508000" y="952500"/>
            <a:ext cx="11176635" cy="12388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В моей квартире 3 комнаты, а на кухне лежит 200 яблок и 15 апельсинов.</a:t>
            </a:r>
            <a:endParaRPr lang="en-US">
              <a:solidFill>
                <a:schemeClr val="tx1"/>
              </a:solidFill>
            </a:endParaRPr>
          </a:p>
          <a:p>
            <a:pPr algn="l">
              <a:lnSpc>
                <a:spcPct val="150000"/>
              </a:lnSpc>
            </a:pPr>
            <a:r>
              <a:rPr lang="en-US">
                <a:solidFill>
                  <a:schemeClr val="tx1"/>
                </a:solidFill>
              </a:rPr>
              <a:t>我的公寓里有3个房间，厨房里有200个苹果和15个橙子。</a:t>
            </a:r>
            <a:endParaRPr lang="en-US">
              <a:solidFill>
                <a:schemeClr val="tx1"/>
              </a:solidFill>
            </a:endParaRPr>
          </a:p>
        </p:txBody>
      </p:sp>
      <p:sp>
        <p:nvSpPr>
          <p:cNvPr id="7" name="Text Box 6"/>
          <p:cNvSpPr txBox="1"/>
          <p:nvPr/>
        </p:nvSpPr>
        <p:spPr>
          <a:xfrm>
            <a:off x="431800" y="2937827"/>
            <a:ext cx="5080000" cy="1568450"/>
          </a:xfrm>
          <a:prstGeom prst="rect">
            <a:avLst/>
          </a:prstGeom>
        </p:spPr>
        <p:txBody>
          <a:bodyPr>
            <a:spAutoFit/>
          </a:bodyPr>
          <a:p>
            <a:r>
              <a:rPr sz="2400"/>
              <a:t>Ожидаемый результат / 预期结果:</a:t>
            </a:r>
            <a:endParaRPr sz="2400"/>
          </a:p>
          <a:p>
            <a:endParaRPr sz="2400"/>
          </a:p>
          <a:p>
            <a:r>
              <a:rPr sz="2400"/>
              <a:t>Найдены числа 3, 200 и 15.</a:t>
            </a:r>
            <a:endParaRPr sz="2400"/>
          </a:p>
          <a:p>
            <a:r>
              <a:rPr sz="2400"/>
              <a:t>匹配出数字 3、200 和 15。</a:t>
            </a:r>
            <a:endParaRPr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2105025" y="2638425"/>
            <a:ext cx="7981950" cy="1581150"/>
          </a:xfrm>
          <a:prstGeom prst="rect">
            <a:avLst/>
          </a:prstGeom>
        </p:spPr>
      </p:pic>
      <p:sp>
        <p:nvSpPr>
          <p:cNvPr id="6" name="Text Box 5"/>
          <p:cNvSpPr txBox="1"/>
          <p:nvPr/>
        </p:nvSpPr>
        <p:spPr>
          <a:xfrm>
            <a:off x="558800" y="542608"/>
            <a:ext cx="5080000" cy="337185"/>
          </a:xfrm>
          <a:prstGeom prst="rect">
            <a:avLst/>
          </a:prstGeom>
        </p:spPr>
        <p:txBody>
          <a:bodyPr>
            <a:spAutoFit/>
          </a:bodyPr>
          <a:p>
            <a:r>
              <a:rPr sz="1600"/>
              <a:t>Ответ / 答案:</a:t>
            </a:r>
            <a:endParaRPr sz="1600"/>
          </a:p>
        </p:txBody>
      </p:sp>
      <p:sp>
        <p:nvSpPr>
          <p:cNvPr id="7" name="Rectangles 6"/>
          <p:cNvSpPr/>
          <p:nvPr/>
        </p:nvSpPr>
        <p:spPr>
          <a:xfrm>
            <a:off x="9563100" y="412115"/>
            <a:ext cx="2121535" cy="5403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/\b\d+\b/g</a:t>
            </a:r>
            <a:endParaRPr lang="en-US">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13740" y="530860"/>
            <a:ext cx="5080000" cy="759460"/>
          </a:xfrm>
          <a:prstGeom prst="rect">
            <a:avLst/>
          </a:prstGeom>
        </p:spPr>
        <p:txBody>
          <a:bodyPr>
            <a:spAutoFit/>
          </a:bodyPr>
          <a:p>
            <a:pPr>
              <a:spcAft>
                <a:spcPct val="60000"/>
              </a:spcAft>
            </a:pPr>
            <a:r>
              <a:rPr lang="en-US" sz="1600" b="1"/>
              <a:t>5</a:t>
            </a:r>
            <a:r>
              <a:rPr sz="1600" b="1"/>
              <a:t>. Примеры использования</a:t>
            </a:r>
            <a:endParaRPr sz="1600" b="1"/>
          </a:p>
          <a:p>
            <a:pPr>
              <a:spcAft>
                <a:spcPct val="60000"/>
              </a:spcAft>
            </a:pPr>
            <a:r>
              <a:rPr lang="en-US" sz="1600" b="1"/>
              <a:t>5</a:t>
            </a:r>
            <a:r>
              <a:rPr sz="1600" b="1"/>
              <a:t>. 使用示例</a:t>
            </a:r>
            <a:endParaRPr sz="1600" b="1"/>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4" name="Text Box 3"/>
          <p:cNvSpPr txBox="1"/>
          <p:nvPr/>
        </p:nvSpPr>
        <p:spPr>
          <a:xfrm>
            <a:off x="713740" y="2221865"/>
            <a:ext cx="10781665" cy="1938020"/>
          </a:xfrm>
          <a:prstGeom prst="rect">
            <a:avLst/>
          </a:prstGeom>
        </p:spPr>
        <p:txBody>
          <a:bodyPr wrap="square">
            <a:spAutoFit/>
          </a:bodyPr>
          <a:p>
            <a:r>
              <a:rPr sz="2400"/>
              <a:t>Напишите регулярное выражение для поиска дат, указанных в формате дд.мм.гггг, где день и месяц состоят из двух цифр, а год — из четырёх.</a:t>
            </a:r>
            <a:endParaRPr sz="2400"/>
          </a:p>
          <a:p>
            <a:endParaRPr sz="2400"/>
          </a:p>
          <a:p>
            <a:r>
              <a:rPr sz="2400"/>
              <a:t>编写一个正则表达式，查找格式为дд.мм.гггг的日期，其中日和月由两位数字组成，年由四位数字组成。</a:t>
            </a: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46100" y="453708"/>
            <a:ext cx="5080000" cy="337185"/>
          </a:xfrm>
          <a:prstGeom prst="rect">
            <a:avLst/>
          </a:prstGeom>
        </p:spPr>
        <p:txBody>
          <a:bodyPr>
            <a:spAutoFit/>
          </a:bodyPr>
          <a:p>
            <a:r>
              <a:rPr sz="1600"/>
              <a:t>Пример текста / 示例文本:</a:t>
            </a:r>
            <a:endParaRPr sz="1600"/>
          </a:p>
        </p:txBody>
      </p:sp>
      <p:sp>
        <p:nvSpPr>
          <p:cNvPr id="6" name="Rectangles 5"/>
          <p:cNvSpPr/>
          <p:nvPr/>
        </p:nvSpPr>
        <p:spPr>
          <a:xfrm>
            <a:off x="508000" y="952500"/>
            <a:ext cx="11176635" cy="12388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Мой день рождения — 12.09.1995, а брат родился 04.11.2000.</a:t>
            </a:r>
            <a:endParaRPr lang="en-US">
              <a:solidFill>
                <a:schemeClr val="tx1"/>
              </a:solidFill>
            </a:endParaRPr>
          </a:p>
          <a:p>
            <a:pPr algn="l">
              <a:lnSpc>
                <a:spcPct val="150000"/>
              </a:lnSpc>
            </a:pPr>
            <a:r>
              <a:rPr lang="en-US">
                <a:solidFill>
                  <a:schemeClr val="tx1"/>
                </a:solidFill>
              </a:rPr>
              <a:t>我的生日是12.09.1995，我弟弟的生日是04.11.2000。</a:t>
            </a:r>
            <a:endParaRPr lang="en-US">
              <a:solidFill>
                <a:schemeClr val="tx1"/>
              </a:solidFill>
            </a:endParaRPr>
          </a:p>
        </p:txBody>
      </p:sp>
      <p:sp>
        <p:nvSpPr>
          <p:cNvPr id="7" name="Text Box 6"/>
          <p:cNvSpPr txBox="1"/>
          <p:nvPr/>
        </p:nvSpPr>
        <p:spPr>
          <a:xfrm>
            <a:off x="508000" y="3014027"/>
            <a:ext cx="5080000" cy="1322070"/>
          </a:xfrm>
          <a:prstGeom prst="rect">
            <a:avLst/>
          </a:prstGeom>
        </p:spPr>
        <p:txBody>
          <a:bodyPr>
            <a:spAutoFit/>
          </a:bodyPr>
          <a:p>
            <a:r>
              <a:rPr sz="2000"/>
              <a:t>Ожидаемый результат / 预期结果:</a:t>
            </a:r>
            <a:endParaRPr sz="2000"/>
          </a:p>
          <a:p>
            <a:endParaRPr sz="2000"/>
          </a:p>
          <a:p>
            <a:r>
              <a:rPr sz="2000"/>
              <a:t>Найдены даты 12.09.1995 и 04.11.2000.</a:t>
            </a:r>
            <a:endParaRPr sz="2000"/>
          </a:p>
          <a:p>
            <a:r>
              <a:rPr sz="2000"/>
              <a:t>匹配出日期 12.09.1995 和 04.11.2000。</a:t>
            </a:r>
            <a:endParaRPr sz="20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31800" y="453708"/>
            <a:ext cx="5080000" cy="337185"/>
          </a:xfrm>
          <a:prstGeom prst="rect">
            <a:avLst/>
          </a:prstGeom>
        </p:spPr>
        <p:txBody>
          <a:bodyPr>
            <a:spAutoFit/>
          </a:bodyPr>
          <a:p>
            <a:r>
              <a:rPr sz="1600"/>
              <a:t>Ответ / 答案:</a:t>
            </a:r>
            <a:endParaRPr sz="1600"/>
          </a:p>
        </p:txBody>
      </p:sp>
      <p:sp>
        <p:nvSpPr>
          <p:cNvPr id="6" name="Rectangles 5"/>
          <p:cNvSpPr/>
          <p:nvPr/>
        </p:nvSpPr>
        <p:spPr>
          <a:xfrm>
            <a:off x="8369300" y="454025"/>
            <a:ext cx="3315335" cy="4895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/\b\d{2}\.\d{2}\.\d{4}\b/g</a:t>
            </a:r>
            <a:endParaRPr lang="en-US">
              <a:solidFill>
                <a:schemeClr val="tx1"/>
              </a:solidFill>
            </a:endParaRPr>
          </a:p>
        </p:txBody>
      </p:sp>
      <p:pic>
        <p:nvPicPr>
          <p:cNvPr id="7" name="Picture 6"/>
          <p:cNvPicPr>
            <a:picLocks noChangeAspect="1"/>
          </p:cNvPicPr>
          <p:nvPr/>
        </p:nvPicPr>
        <p:blipFill>
          <a:blip r:embed="rId1"/>
          <a:stretch>
            <a:fillRect/>
          </a:stretch>
        </p:blipFill>
        <p:spPr>
          <a:xfrm>
            <a:off x="2128520" y="2614295"/>
            <a:ext cx="7934325" cy="16287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
        <p:nvSpPr>
          <p:cNvPr id="4" name="Text Box 3"/>
          <p:cNvSpPr txBox="1"/>
          <p:nvPr/>
        </p:nvSpPr>
        <p:spPr>
          <a:xfrm>
            <a:off x="521335" y="1815465"/>
            <a:ext cx="10629265" cy="1322070"/>
          </a:xfrm>
          <a:prstGeom prst="rect">
            <a:avLst/>
          </a:prstGeom>
        </p:spPr>
        <p:txBody>
          <a:bodyPr wrap="square">
            <a:spAutoFit/>
          </a:bodyPr>
          <a:p>
            <a:r>
              <a:rPr sz="2000"/>
              <a:t>Напишите регулярное выражение для поиска всех тегов HTML, которые заключены в угловые скобки &lt; &gt;.</a:t>
            </a:r>
            <a:endParaRPr sz="2000"/>
          </a:p>
          <a:p>
            <a:endParaRPr sz="2000"/>
          </a:p>
          <a:p>
            <a:r>
              <a:rPr sz="2000"/>
              <a:t>编写一个正则表达式，用于查找所有被尖括号&lt; &gt;包裹的HTML标签。</a:t>
            </a:r>
            <a:endParaRPr sz="2000"/>
          </a:p>
        </p:txBody>
      </p:sp>
      <p:sp>
        <p:nvSpPr>
          <p:cNvPr id="5" name="Text Box 4"/>
          <p:cNvSpPr txBox="1"/>
          <p:nvPr/>
        </p:nvSpPr>
        <p:spPr>
          <a:xfrm>
            <a:off x="521335" y="530860"/>
            <a:ext cx="5080000" cy="759460"/>
          </a:xfrm>
          <a:prstGeom prst="rect">
            <a:avLst/>
          </a:prstGeom>
        </p:spPr>
        <p:txBody>
          <a:bodyPr>
            <a:spAutoFit/>
          </a:bodyPr>
          <a:p>
            <a:pPr>
              <a:spcAft>
                <a:spcPct val="60000"/>
              </a:spcAft>
            </a:pPr>
            <a:r>
              <a:rPr lang="en-US" sz="1600" b="1"/>
              <a:t>5</a:t>
            </a:r>
            <a:r>
              <a:rPr sz="1600" b="1"/>
              <a:t>. Примеры использования</a:t>
            </a:r>
            <a:endParaRPr sz="1600" b="1"/>
          </a:p>
          <a:p>
            <a:pPr>
              <a:spcAft>
                <a:spcPct val="60000"/>
              </a:spcAft>
            </a:pPr>
            <a:r>
              <a:rPr lang="en-US" sz="1600" b="1"/>
              <a:t>5</a:t>
            </a:r>
            <a:r>
              <a:rPr sz="1600" b="1"/>
              <a:t>. 使用示例</a:t>
            </a:r>
            <a:endParaRPr sz="1600" b="1"/>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71500" y="618808"/>
            <a:ext cx="5080000" cy="337185"/>
          </a:xfrm>
          <a:prstGeom prst="rect">
            <a:avLst/>
          </a:prstGeom>
        </p:spPr>
        <p:txBody>
          <a:bodyPr>
            <a:spAutoFit/>
          </a:bodyPr>
          <a:p>
            <a:r>
              <a:rPr sz="1600"/>
              <a:t>Пример текста / 示例文本:</a:t>
            </a:r>
            <a:endParaRPr sz="1600"/>
          </a:p>
        </p:txBody>
      </p:sp>
      <p:sp>
        <p:nvSpPr>
          <p:cNvPr id="6" name="Rectangles 5"/>
          <p:cNvSpPr/>
          <p:nvPr/>
        </p:nvSpPr>
        <p:spPr>
          <a:xfrm>
            <a:off x="571500" y="952500"/>
            <a:ext cx="11113135" cy="12388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&lt;div&gt;Это блок&lt;/div&gt; &lt;p&gt;Параграф&lt;/p&gt; &lt;a href="#"&gt;Ссылка&lt;/a&gt;</a:t>
            </a:r>
            <a:endParaRPr lang="en-US">
              <a:solidFill>
                <a:schemeClr val="tx1"/>
              </a:solidFill>
            </a:endParaRPr>
          </a:p>
        </p:txBody>
      </p:sp>
      <p:sp>
        <p:nvSpPr>
          <p:cNvPr id="7" name="Text Box 6"/>
          <p:cNvSpPr txBox="1"/>
          <p:nvPr/>
        </p:nvSpPr>
        <p:spPr>
          <a:xfrm>
            <a:off x="571500" y="2882265"/>
            <a:ext cx="11113135" cy="1322070"/>
          </a:xfrm>
          <a:prstGeom prst="rect">
            <a:avLst/>
          </a:prstGeom>
        </p:spPr>
        <p:txBody>
          <a:bodyPr wrap="square">
            <a:spAutoFit/>
          </a:bodyPr>
          <a:p>
            <a:r>
              <a:rPr sz="2000"/>
              <a:t>Ожидаемый результат / 预期结果:</a:t>
            </a:r>
            <a:endParaRPr sz="2000"/>
          </a:p>
          <a:p>
            <a:endParaRPr sz="2000"/>
          </a:p>
          <a:p>
            <a:r>
              <a:rPr sz="2000"/>
              <a:t>Найдены теги &lt;div&gt;, &lt;/div&gt;, &lt;p&gt;, &lt;/p&gt;, &lt;a href="#"&gt; и &lt;/a&gt;.</a:t>
            </a:r>
            <a:endParaRPr sz="2000"/>
          </a:p>
          <a:p>
            <a:r>
              <a:rPr sz="2000"/>
              <a:t>匹配出标签 &lt;div&gt;、&lt;/div&gt;、&lt;p&gt;、&lt;/p&gt;、&lt;a href="#"&gt; 和 &lt;/a&gt;。</a:t>
            </a:r>
            <a:endParaRPr sz="2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31800" y="453708"/>
            <a:ext cx="5080000" cy="337185"/>
          </a:xfrm>
          <a:prstGeom prst="rect">
            <a:avLst/>
          </a:prstGeom>
        </p:spPr>
        <p:txBody>
          <a:bodyPr>
            <a:spAutoFit/>
          </a:bodyPr>
          <a:p>
            <a:r>
              <a:rPr sz="1600"/>
              <a:t>Ответ / 答案:</a:t>
            </a:r>
            <a:endParaRPr sz="1600"/>
          </a:p>
        </p:txBody>
      </p:sp>
      <p:sp>
        <p:nvSpPr>
          <p:cNvPr id="6" name="Rectangles 5"/>
          <p:cNvSpPr/>
          <p:nvPr/>
        </p:nvSpPr>
        <p:spPr>
          <a:xfrm>
            <a:off x="6972300" y="301625"/>
            <a:ext cx="4508500" cy="489585"/>
          </a:xfrm>
          <a:prstGeom prst="rect">
            <a:avLst/>
          </a:prstGeom>
          <a:solidFill>
            <a:schemeClr val="bg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l">
              <a:lnSpc>
                <a:spcPct val="150000"/>
              </a:lnSpc>
            </a:pPr>
            <a:r>
              <a:rPr lang="en-US">
                <a:solidFill>
                  <a:schemeClr val="tx1"/>
                </a:solidFill>
              </a:rPr>
              <a:t>/&lt;\/?\w+(\s+\w+=(["']).*?\2)*\s*\/?&gt;/g</a:t>
            </a:r>
            <a:endParaRPr lang="en-US">
              <a:solidFill>
                <a:schemeClr val="tx1"/>
              </a:solidFill>
            </a:endParaRPr>
          </a:p>
        </p:txBody>
      </p:sp>
      <p:pic>
        <p:nvPicPr>
          <p:cNvPr id="2" name="Picture 1"/>
          <p:cNvPicPr>
            <a:picLocks noChangeAspect="1"/>
          </p:cNvPicPr>
          <p:nvPr/>
        </p:nvPicPr>
        <p:blipFill>
          <a:blip r:embed="rId1"/>
          <a:stretch>
            <a:fillRect/>
          </a:stretch>
        </p:blipFill>
        <p:spPr>
          <a:xfrm>
            <a:off x="1537970" y="2705100"/>
            <a:ext cx="9115425" cy="14478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21335" y="419735"/>
            <a:ext cx="5080000" cy="759460"/>
          </a:xfrm>
          <a:prstGeom prst="rect">
            <a:avLst/>
          </a:prstGeom>
        </p:spPr>
        <p:txBody>
          <a:bodyPr>
            <a:spAutoFit/>
          </a:bodyPr>
          <a:p>
            <a:pPr>
              <a:spcAft>
                <a:spcPct val="60000"/>
              </a:spcAft>
            </a:pPr>
            <a:r>
              <a:rPr lang="en-US" sz="1600" b="1"/>
              <a:t>6</a:t>
            </a:r>
            <a:r>
              <a:rPr sz="1600" b="1"/>
              <a:t>. Практика с JavaScript</a:t>
            </a:r>
            <a:endParaRPr sz="1600" b="1"/>
          </a:p>
          <a:p>
            <a:pPr>
              <a:spcAft>
                <a:spcPct val="60000"/>
              </a:spcAft>
            </a:pPr>
            <a:r>
              <a:rPr lang="en-US" sz="1600" b="1"/>
              <a:t>6</a:t>
            </a:r>
            <a:r>
              <a:rPr sz="1600" b="1"/>
              <a:t>. JavaScript中的实践</a:t>
            </a:r>
            <a:endParaRPr sz="1600" b="1"/>
          </a:p>
        </p:txBody>
      </p:sp>
      <p:sp>
        <p:nvSpPr>
          <p:cNvPr id="8" name="Text Box 7"/>
          <p:cNvSpPr txBox="1"/>
          <p:nvPr/>
        </p:nvSpPr>
        <p:spPr>
          <a:xfrm>
            <a:off x="965200" y="4051935"/>
            <a:ext cx="3632835" cy="759460"/>
          </a:xfrm>
          <a:prstGeom prst="rect">
            <a:avLst/>
          </a:prstGeom>
          <a:solidFill>
            <a:schemeClr val="accent1">
              <a:lumMod val="20000"/>
              <a:lumOff val="80000"/>
            </a:schemeClr>
          </a:solidFill>
        </p:spPr>
        <p:txBody>
          <a:bodyPr wrap="square">
            <a:spAutoFit/>
          </a:bodyPr>
          <a:p>
            <a:pPr algn="ctr">
              <a:spcAft>
                <a:spcPct val="60000"/>
              </a:spcAft>
            </a:pPr>
            <a:r>
              <a:rPr sz="1600" b="1"/>
              <a:t>Способ 1: Литеральная нотация</a:t>
            </a:r>
            <a:endParaRPr sz="1600" b="1"/>
          </a:p>
          <a:p>
            <a:pPr algn="ctr">
              <a:spcAft>
                <a:spcPct val="60000"/>
              </a:spcAft>
            </a:pPr>
            <a:r>
              <a:rPr sz="1600" b="1"/>
              <a:t>方法 1：字面量语法</a:t>
            </a:r>
            <a:endParaRPr sz="1600" b="1"/>
          </a:p>
        </p:txBody>
      </p:sp>
      <p:sp>
        <p:nvSpPr>
          <p:cNvPr id="7" name="Text Box 6"/>
          <p:cNvSpPr txBox="1"/>
          <p:nvPr/>
        </p:nvSpPr>
        <p:spPr>
          <a:xfrm>
            <a:off x="7112000" y="4039235"/>
            <a:ext cx="3455035" cy="759460"/>
          </a:xfrm>
          <a:prstGeom prst="rect">
            <a:avLst/>
          </a:prstGeom>
          <a:solidFill>
            <a:schemeClr val="accent1">
              <a:lumMod val="20000"/>
              <a:lumOff val="80000"/>
            </a:schemeClr>
          </a:solidFill>
        </p:spPr>
        <p:txBody>
          <a:bodyPr wrap="square">
            <a:spAutoFit/>
          </a:bodyPr>
          <a:p>
            <a:pPr algn="ctr">
              <a:spcAft>
                <a:spcPct val="60000"/>
              </a:spcAft>
            </a:pPr>
            <a:r>
              <a:rPr sz="1600" b="1"/>
              <a:t>Способ 2: Конструктор RegExp</a:t>
            </a:r>
            <a:endParaRPr sz="1600" b="1"/>
          </a:p>
          <a:p>
            <a:pPr algn="ctr">
              <a:spcAft>
                <a:spcPct val="60000"/>
              </a:spcAft>
            </a:pPr>
            <a:r>
              <a:rPr sz="1600" b="1"/>
              <a:t>方法 2：RegExp 构造函数</a:t>
            </a:r>
            <a:endParaRPr sz="1600" b="1"/>
          </a:p>
        </p:txBody>
      </p:sp>
      <p:sp>
        <p:nvSpPr>
          <p:cNvPr id="6" name="Text Box 5"/>
          <p:cNvSpPr txBox="1"/>
          <p:nvPr/>
        </p:nvSpPr>
        <p:spPr>
          <a:xfrm>
            <a:off x="3124200" y="2261235"/>
            <a:ext cx="5080000" cy="759460"/>
          </a:xfrm>
          <a:prstGeom prst="rect">
            <a:avLst/>
          </a:prstGeom>
          <a:solidFill>
            <a:schemeClr val="accent1">
              <a:lumMod val="40000"/>
              <a:lumOff val="60000"/>
            </a:schemeClr>
          </a:solidFill>
        </p:spPr>
        <p:txBody>
          <a:bodyPr>
            <a:spAutoFit/>
          </a:bodyPr>
          <a:p>
            <a:pPr algn="ctr">
              <a:spcAft>
                <a:spcPct val="60000"/>
              </a:spcAft>
            </a:pPr>
            <a:r>
              <a:rPr sz="1600" b="1"/>
              <a:t>Создание регулярных выражений</a:t>
            </a:r>
            <a:endParaRPr sz="1600" b="1"/>
          </a:p>
          <a:p>
            <a:pPr algn="ctr">
              <a:spcAft>
                <a:spcPct val="60000"/>
              </a:spcAft>
            </a:pPr>
            <a:r>
              <a:rPr sz="1600" b="1"/>
              <a:t>正则表达式的创建</a:t>
            </a:r>
            <a:endParaRPr sz="1600" b="1"/>
          </a:p>
        </p:txBody>
      </p:sp>
      <p:sp>
        <p:nvSpPr>
          <p:cNvPr id="9" name="Down Arrow 8"/>
          <p:cNvSpPr/>
          <p:nvPr/>
        </p:nvSpPr>
        <p:spPr>
          <a:xfrm rot="1620000">
            <a:off x="2774315" y="3017520"/>
            <a:ext cx="177800" cy="800100"/>
          </a:xfrm>
          <a:prstGeom prst="downArrow">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Down Arrow 9"/>
          <p:cNvSpPr/>
          <p:nvPr/>
        </p:nvSpPr>
        <p:spPr>
          <a:xfrm rot="19860000">
            <a:off x="8387080" y="3021330"/>
            <a:ext cx="177800" cy="800100"/>
          </a:xfrm>
          <a:prstGeom prst="downArrow">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Text Box 5"/>
          <p:cNvSpPr txBox="1"/>
          <p:nvPr/>
        </p:nvSpPr>
        <p:spPr>
          <a:xfrm>
            <a:off x="521335" y="1681480"/>
            <a:ext cx="10718800" cy="583565"/>
          </a:xfrm>
          <a:prstGeom prst="rect">
            <a:avLst/>
          </a:prstGeom>
        </p:spPr>
        <p:txBody>
          <a:bodyPr wrap="square">
            <a:spAutoFit/>
          </a:bodyPr>
          <a:p>
            <a:r>
              <a:rPr sz="1600"/>
              <a:t>Используется два слеша // для обозначения регулярного выражения.</a:t>
            </a:r>
            <a:endParaRPr sz="1600"/>
          </a:p>
          <a:p>
            <a:r>
              <a:rPr sz="1600"/>
              <a:t>使用两个斜杠 // 来表示正则表达式。</a:t>
            </a:r>
            <a:endParaRPr sz="1600"/>
          </a:p>
        </p:txBody>
      </p:sp>
      <p:sp>
        <p:nvSpPr>
          <p:cNvPr id="8" name="Text Box 7"/>
          <p:cNvSpPr txBox="1"/>
          <p:nvPr/>
        </p:nvSpPr>
        <p:spPr>
          <a:xfrm>
            <a:off x="521335" y="419735"/>
            <a:ext cx="5080000" cy="759460"/>
          </a:xfrm>
          <a:prstGeom prst="rect">
            <a:avLst/>
          </a:prstGeom>
        </p:spPr>
        <p:txBody>
          <a:bodyPr>
            <a:spAutoFit/>
          </a:bodyPr>
          <a:p>
            <a:pPr>
              <a:spcAft>
                <a:spcPct val="60000"/>
              </a:spcAft>
            </a:pPr>
            <a:r>
              <a:rPr sz="1600" b="1"/>
              <a:t>Способ 1: Литеральная нотация</a:t>
            </a:r>
            <a:endParaRPr sz="1600" b="1"/>
          </a:p>
          <a:p>
            <a:pPr>
              <a:spcAft>
                <a:spcPct val="60000"/>
              </a:spcAft>
            </a:pPr>
            <a:r>
              <a:rPr sz="1600" b="1"/>
              <a:t>方法 1：字面量语法</a:t>
            </a:r>
            <a:endParaRPr sz="1600" b="1"/>
          </a:p>
        </p:txBody>
      </p:sp>
      <p:sp>
        <p:nvSpPr>
          <p:cNvPr id="9" name="Text Box 8"/>
          <p:cNvSpPr txBox="1"/>
          <p:nvPr/>
        </p:nvSpPr>
        <p:spPr>
          <a:xfrm>
            <a:off x="3556000" y="3129598"/>
            <a:ext cx="5080000" cy="829945"/>
          </a:xfrm>
          <a:prstGeom prst="rect">
            <a:avLst/>
          </a:prstGeom>
        </p:spPr>
        <p:txBody>
          <a:bodyPr>
            <a:spAutoFit/>
          </a:bodyPr>
          <a:p>
            <a:pPr marL="0" indent="0" algn="l" defTabSz="266700">
              <a:spcAft>
                <a:spcPct val="0"/>
              </a:spcAft>
            </a:pPr>
            <a:r>
              <a:rPr sz="2400" b="1">
                <a:solidFill>
                  <a:srgbClr val="000080"/>
                </a:solidFill>
                <a:latin typeface="monospace"/>
                <a:ea typeface="monospace"/>
              </a:rPr>
              <a:t>const </a:t>
            </a:r>
            <a:r>
              <a:rPr sz="2400">
                <a:solidFill>
                  <a:srgbClr val="808080"/>
                </a:solidFill>
                <a:latin typeface="monospace"/>
                <a:ea typeface="monospace"/>
              </a:rPr>
              <a:t>regex </a:t>
            </a:r>
            <a:r>
              <a:rPr sz="2400">
                <a:solidFill>
                  <a:srgbClr val="000000"/>
                </a:solidFill>
                <a:latin typeface="monospace"/>
                <a:ea typeface="monospace"/>
              </a:rPr>
              <a:t>= </a:t>
            </a:r>
            <a:r>
              <a:rPr sz="2400">
                <a:solidFill>
                  <a:srgbClr val="0000FF"/>
                </a:solidFill>
                <a:latin typeface="monospace"/>
                <a:ea typeface="monospace"/>
              </a:rPr>
              <a:t>/hello/</a:t>
            </a:r>
            <a:r>
              <a:rPr sz="2400">
                <a:solidFill>
                  <a:srgbClr val="000000"/>
                </a:solidFill>
                <a:latin typeface="monospace"/>
                <a:ea typeface="monospace"/>
              </a:rPr>
              <a:t>;</a:t>
            </a:r>
            <a:endParaRPr sz="2400">
              <a:solidFill>
                <a:srgbClr val="000000"/>
              </a:solidFill>
              <a:latin typeface="monospace"/>
              <a:ea typeface="monospace"/>
            </a:endParaRPr>
          </a:p>
          <a:p>
            <a:pPr marL="0" indent="0" defTabSz="266700">
              <a:spcAft>
                <a:spcPct val="0"/>
              </a:spcAft>
            </a:pPr>
            <a:r>
              <a:rPr sz="2400">
                <a:latin typeface="Calibri" panose="020F0502020204030204"/>
                <a:ea typeface="SimSun"/>
              </a:rPr>
              <a:t> </a:t>
            </a:r>
            <a:endParaRPr sz="2400">
              <a:latin typeface="Calibri" panose="020F0502020204030204"/>
              <a:ea typeface="SimSu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96900" y="1689100"/>
            <a:ext cx="7581900" cy="645160"/>
          </a:xfrm>
          <a:prstGeom prst="rect">
            <a:avLst/>
          </a:prstGeom>
          <a:noFill/>
        </p:spPr>
        <p:txBody>
          <a:bodyPr wrap="square" rtlCol="0">
            <a:spAutoFit/>
          </a:bodyPr>
          <a:p>
            <a:pPr algn="l"/>
            <a:r>
              <a:rPr lang="en-US"/>
              <a:t>Используется, когда шаблон или флаги передаются как строки.</a:t>
            </a:r>
            <a:endParaRPr lang="en-US"/>
          </a:p>
          <a:p>
            <a:pPr algn="l"/>
            <a:r>
              <a:rPr lang="en-US"/>
              <a:t>当模式或标志作为字符串传递时使用。</a:t>
            </a:r>
            <a:endParaRPr lang="en-US"/>
          </a:p>
        </p:txBody>
      </p:sp>
      <p:sp>
        <p:nvSpPr>
          <p:cNvPr id="7" name="Text Box 6"/>
          <p:cNvSpPr txBox="1"/>
          <p:nvPr/>
        </p:nvSpPr>
        <p:spPr>
          <a:xfrm>
            <a:off x="596900" y="433070"/>
            <a:ext cx="5080000" cy="759460"/>
          </a:xfrm>
          <a:prstGeom prst="rect">
            <a:avLst/>
          </a:prstGeom>
        </p:spPr>
        <p:txBody>
          <a:bodyPr>
            <a:spAutoFit/>
          </a:bodyPr>
          <a:p>
            <a:pPr algn="l">
              <a:spcAft>
                <a:spcPct val="60000"/>
              </a:spcAft>
            </a:pPr>
            <a:r>
              <a:rPr sz="1600" b="1"/>
              <a:t>Способ 2: Конструктор RegExp</a:t>
            </a:r>
            <a:endParaRPr sz="1600" b="1"/>
          </a:p>
          <a:p>
            <a:pPr algn="l">
              <a:spcAft>
                <a:spcPct val="60000"/>
              </a:spcAft>
            </a:pPr>
            <a:r>
              <a:rPr sz="1600" b="1"/>
              <a:t>方法 2：RegExp 构造函数</a:t>
            </a:r>
            <a:endParaRPr sz="1600" b="1"/>
          </a:p>
        </p:txBody>
      </p:sp>
      <p:sp>
        <p:nvSpPr>
          <p:cNvPr id="8" name="Text Box 7"/>
          <p:cNvSpPr txBox="1"/>
          <p:nvPr/>
        </p:nvSpPr>
        <p:spPr>
          <a:xfrm>
            <a:off x="2979420" y="3211830"/>
            <a:ext cx="6232525" cy="829945"/>
          </a:xfrm>
          <a:prstGeom prst="rect">
            <a:avLst/>
          </a:prstGeom>
        </p:spPr>
        <p:txBody>
          <a:bodyPr wrap="square">
            <a:spAutoFit/>
          </a:bodyPr>
          <a:p>
            <a:pPr marL="0" indent="0" algn="l" defTabSz="266700">
              <a:spcAft>
                <a:spcPct val="0"/>
              </a:spcAft>
            </a:pPr>
            <a:r>
              <a:rPr sz="2400" b="1">
                <a:solidFill>
                  <a:srgbClr val="000080"/>
                </a:solidFill>
                <a:latin typeface="monospace"/>
                <a:ea typeface="monospace"/>
              </a:rPr>
              <a:t>const </a:t>
            </a:r>
            <a:r>
              <a:rPr sz="2400">
                <a:solidFill>
                  <a:srgbClr val="808080"/>
                </a:solidFill>
                <a:latin typeface="monospace"/>
                <a:ea typeface="monospace"/>
              </a:rPr>
              <a:t>regex </a:t>
            </a:r>
            <a:r>
              <a:rPr sz="2400">
                <a:solidFill>
                  <a:srgbClr val="000000"/>
                </a:solidFill>
                <a:latin typeface="monospace"/>
                <a:ea typeface="monospace"/>
              </a:rPr>
              <a:t>= </a:t>
            </a:r>
            <a:r>
              <a:rPr sz="2400" b="1">
                <a:solidFill>
                  <a:srgbClr val="000080"/>
                </a:solidFill>
                <a:latin typeface="monospace"/>
                <a:ea typeface="monospace"/>
              </a:rPr>
              <a:t>new </a:t>
            </a:r>
            <a:r>
              <a:rPr sz="2400" b="1" i="1">
                <a:solidFill>
                  <a:srgbClr val="660E7A"/>
                </a:solidFill>
                <a:latin typeface="monospace"/>
                <a:ea typeface="monospace"/>
              </a:rPr>
              <a:t>RegExp</a:t>
            </a:r>
            <a:r>
              <a:rPr sz="2400">
                <a:solidFill>
                  <a:srgbClr val="000000"/>
                </a:solidFill>
                <a:latin typeface="monospace"/>
                <a:ea typeface="monospace"/>
              </a:rPr>
              <a:t>(</a:t>
            </a:r>
            <a:r>
              <a:rPr sz="2400" b="1">
                <a:solidFill>
                  <a:srgbClr val="008000"/>
                </a:solidFill>
                <a:latin typeface="monospace"/>
                <a:ea typeface="monospace"/>
              </a:rPr>
              <a:t>"hello"</a:t>
            </a:r>
            <a:r>
              <a:rPr sz="2400">
                <a:solidFill>
                  <a:srgbClr val="000000"/>
                </a:solidFill>
                <a:latin typeface="monospace"/>
                <a:ea typeface="monospace"/>
              </a:rPr>
              <a:t>);</a:t>
            </a:r>
            <a:endParaRPr sz="2400">
              <a:solidFill>
                <a:srgbClr val="000000"/>
              </a:solidFill>
              <a:latin typeface="monospace"/>
              <a:ea typeface="monospace"/>
            </a:endParaRPr>
          </a:p>
          <a:p>
            <a:pPr marL="0" indent="0" defTabSz="266700">
              <a:spcAft>
                <a:spcPct val="0"/>
              </a:spcAft>
            </a:pPr>
            <a:r>
              <a:rPr sz="2400">
                <a:latin typeface="Calibri" panose="020F0502020204030204"/>
                <a:ea typeface="SimSun"/>
              </a:rPr>
              <a:t> </a:t>
            </a:r>
            <a:endParaRPr sz="2400">
              <a:latin typeface="Calibri" panose="020F0502020204030204"/>
              <a:ea typeface="SimSu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57200" y="356870"/>
            <a:ext cx="5080000" cy="759460"/>
          </a:xfrm>
          <a:prstGeom prst="rect">
            <a:avLst/>
          </a:prstGeom>
        </p:spPr>
        <p:txBody>
          <a:bodyPr>
            <a:spAutoFit/>
          </a:bodyPr>
          <a:p>
            <a:pPr>
              <a:spcAft>
                <a:spcPct val="60000"/>
              </a:spcAft>
            </a:pPr>
            <a:r>
              <a:rPr sz="1600" b="1"/>
              <a:t>Методы работы с регулярными выражениями</a:t>
            </a:r>
            <a:endParaRPr sz="1600" b="1"/>
          </a:p>
          <a:p>
            <a:pPr>
              <a:spcAft>
                <a:spcPct val="60000"/>
              </a:spcAft>
            </a:pPr>
            <a:r>
              <a:rPr sz="1600" b="1"/>
              <a:t>正则表达式操作方法</a:t>
            </a:r>
            <a:endParaRPr sz="1600" b="1"/>
          </a:p>
        </p:txBody>
      </p:sp>
      <p:sp>
        <p:nvSpPr>
          <p:cNvPr id="6" name="Text Box 5"/>
          <p:cNvSpPr txBox="1"/>
          <p:nvPr/>
        </p:nvSpPr>
        <p:spPr>
          <a:xfrm>
            <a:off x="457200" y="1565592"/>
            <a:ext cx="5080000" cy="1085215"/>
          </a:xfrm>
          <a:prstGeom prst="rect">
            <a:avLst/>
          </a:prstGeom>
        </p:spPr>
        <p:txBody>
          <a:bodyPr>
            <a:spAutoFit/>
          </a:bodyPr>
          <a:p>
            <a:pPr>
              <a:spcAft>
                <a:spcPct val="60000"/>
              </a:spcAft>
            </a:pPr>
            <a:r>
              <a:rPr sz="1900" b="1"/>
              <a:t>test()</a:t>
            </a:r>
            <a:endParaRPr sz="1900" b="1"/>
          </a:p>
          <a:p>
            <a:r>
              <a:rPr sz="1600"/>
              <a:t>Проверяет, соответствует ли строка регулярному выражению. Возвращает true или false.</a:t>
            </a:r>
            <a:endParaRPr sz="1600"/>
          </a:p>
        </p:txBody>
      </p:sp>
      <p:sp>
        <p:nvSpPr>
          <p:cNvPr id="7" name="Text Box 6"/>
          <p:cNvSpPr txBox="1"/>
          <p:nvPr/>
        </p:nvSpPr>
        <p:spPr>
          <a:xfrm>
            <a:off x="5943600" y="1688148"/>
            <a:ext cx="5080000" cy="838835"/>
          </a:xfrm>
          <a:prstGeom prst="rect">
            <a:avLst/>
          </a:prstGeom>
        </p:spPr>
        <p:txBody>
          <a:bodyPr>
            <a:spAutoFit/>
          </a:bodyPr>
          <a:p>
            <a:pPr>
              <a:spcAft>
                <a:spcPct val="60000"/>
              </a:spcAft>
            </a:pPr>
            <a:r>
              <a:rPr sz="1900" b="1"/>
              <a:t>test()</a:t>
            </a:r>
            <a:endParaRPr sz="1900" b="1"/>
          </a:p>
          <a:p>
            <a:r>
              <a:rPr sz="1600"/>
              <a:t>检查字符串是否符合正则表达式。返回 true 或 false。</a:t>
            </a:r>
            <a:endParaRPr sz="1600"/>
          </a:p>
        </p:txBody>
      </p:sp>
      <p:sp>
        <p:nvSpPr>
          <p:cNvPr id="8" name="Text Box 7"/>
          <p:cNvSpPr txBox="1"/>
          <p:nvPr/>
        </p:nvSpPr>
        <p:spPr>
          <a:xfrm>
            <a:off x="2794000" y="3832860"/>
            <a:ext cx="7404100" cy="860425"/>
          </a:xfrm>
          <a:prstGeom prst="rect">
            <a:avLst/>
          </a:prstGeom>
        </p:spPr>
        <p:txBody>
          <a:bodyPr wrap="square">
            <a:spAutoFit/>
          </a:bodyPr>
          <a:p>
            <a:pPr marL="0" indent="0" algn="l" defTabSz="266700">
              <a:spcAft>
                <a:spcPct val="0"/>
              </a:spcAft>
            </a:pPr>
            <a:r>
              <a:rPr sz="1700" b="1">
                <a:solidFill>
                  <a:srgbClr val="000080"/>
                </a:solidFill>
                <a:latin typeface="monospace"/>
                <a:ea typeface="monospace"/>
              </a:rPr>
              <a:t>const </a:t>
            </a:r>
            <a:r>
              <a:rPr sz="1700">
                <a:solidFill>
                  <a:srgbClr val="458383"/>
                </a:solidFill>
                <a:latin typeface="monospace"/>
                <a:ea typeface="monospace"/>
              </a:rPr>
              <a:t>regex </a:t>
            </a:r>
            <a:r>
              <a:rPr sz="1700">
                <a:solidFill>
                  <a:srgbClr val="000000"/>
                </a:solidFill>
                <a:latin typeface="monospace"/>
                <a:ea typeface="monospace"/>
              </a:rPr>
              <a:t>= </a:t>
            </a:r>
            <a:r>
              <a:rPr sz="1700">
                <a:solidFill>
                  <a:srgbClr val="0000FF"/>
                </a:solidFill>
                <a:latin typeface="monospace"/>
                <a:ea typeface="monospace"/>
              </a:rPr>
              <a:t>/hello/i</a:t>
            </a: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ct val="0"/>
              </a:spcAft>
            </a:pPr>
            <a:r>
              <a:rPr sz="1700" b="1" i="1">
                <a:solidFill>
                  <a:srgbClr val="660E7A"/>
                </a:solidFill>
                <a:latin typeface="monospace"/>
                <a:ea typeface="monospace"/>
              </a:rPr>
              <a:t>console</a:t>
            </a:r>
            <a:r>
              <a:rPr sz="1700">
                <a:solidFill>
                  <a:srgbClr val="000000"/>
                </a:solidFill>
                <a:latin typeface="monospace"/>
                <a:ea typeface="monospace"/>
              </a:rPr>
              <a:t>.</a:t>
            </a:r>
            <a:r>
              <a:rPr sz="1700">
                <a:solidFill>
                  <a:srgbClr val="914C07"/>
                </a:solidFill>
                <a:latin typeface="monospace"/>
                <a:ea typeface="monospace"/>
              </a:rPr>
              <a:t>log</a:t>
            </a:r>
            <a:r>
              <a:rPr sz="1700">
                <a:solidFill>
                  <a:srgbClr val="000000"/>
                </a:solidFill>
                <a:latin typeface="monospace"/>
                <a:ea typeface="monospace"/>
              </a:rPr>
              <a:t>(</a:t>
            </a:r>
            <a:r>
              <a:rPr sz="1700">
                <a:solidFill>
                  <a:srgbClr val="458383"/>
                </a:solidFill>
                <a:latin typeface="monospace"/>
                <a:ea typeface="monospace"/>
              </a:rPr>
              <a:t>regex</a:t>
            </a:r>
            <a:r>
              <a:rPr sz="1700">
                <a:solidFill>
                  <a:srgbClr val="000000"/>
                </a:solidFill>
                <a:latin typeface="monospace"/>
                <a:ea typeface="monospace"/>
              </a:rPr>
              <a:t>.</a:t>
            </a:r>
            <a:r>
              <a:rPr sz="1700">
                <a:solidFill>
                  <a:srgbClr val="914C07"/>
                </a:solidFill>
                <a:latin typeface="monospace"/>
                <a:ea typeface="monospace"/>
              </a:rPr>
              <a:t>test</a:t>
            </a:r>
            <a:r>
              <a:rPr sz="1700">
                <a:solidFill>
                  <a:srgbClr val="000000"/>
                </a:solidFill>
                <a:latin typeface="monospace"/>
                <a:ea typeface="monospace"/>
              </a:rPr>
              <a:t>(</a:t>
            </a:r>
            <a:r>
              <a:rPr sz="1700" b="1">
                <a:solidFill>
                  <a:srgbClr val="008000"/>
                </a:solidFill>
                <a:latin typeface="monospace"/>
                <a:ea typeface="monospace"/>
              </a:rPr>
              <a:t>"Hello, world!"</a:t>
            </a:r>
            <a:r>
              <a:rPr sz="1700">
                <a:solidFill>
                  <a:srgbClr val="000000"/>
                </a:solidFill>
                <a:latin typeface="monospace"/>
                <a:ea typeface="monospace"/>
              </a:rPr>
              <a:t>)); </a:t>
            </a:r>
            <a:r>
              <a:rPr sz="1700" i="1">
                <a:solidFill>
                  <a:srgbClr val="808080"/>
                </a:solidFill>
                <a:latin typeface="monospace"/>
                <a:ea typeface="monospace"/>
              </a:rPr>
              <a:t>// true</a:t>
            </a:r>
            <a:endParaRPr sz="1700" i="1">
              <a:solidFill>
                <a:srgbClr val="808080"/>
              </a:solidFill>
              <a:latin typeface="monospace"/>
              <a:ea typeface="monospace"/>
            </a:endParaRPr>
          </a:p>
          <a:p>
            <a:pPr marL="0" indent="0" defTabSz="266700">
              <a:spcAft>
                <a:spcPct val="0"/>
              </a:spcAft>
            </a:pPr>
            <a:r>
              <a:rPr sz="1600">
                <a:latin typeface="Calibri" panose="020F0502020204030204"/>
                <a:ea typeface="SimSun"/>
              </a:rPr>
              <a:t> </a:t>
            </a:r>
            <a:endParaRPr sz="1600">
              <a:latin typeface="Calibri" panose="020F0502020204030204"/>
              <a:ea typeface="SimSu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57200" y="356870"/>
            <a:ext cx="5080000" cy="759460"/>
          </a:xfrm>
          <a:prstGeom prst="rect">
            <a:avLst/>
          </a:prstGeom>
        </p:spPr>
        <p:txBody>
          <a:bodyPr>
            <a:spAutoFit/>
          </a:bodyPr>
          <a:p>
            <a:pPr>
              <a:spcAft>
                <a:spcPct val="60000"/>
              </a:spcAft>
            </a:pPr>
            <a:r>
              <a:rPr sz="1600" b="1"/>
              <a:t>Методы работы с регулярными выражениями</a:t>
            </a:r>
            <a:endParaRPr sz="1600" b="1"/>
          </a:p>
          <a:p>
            <a:pPr>
              <a:spcAft>
                <a:spcPct val="60000"/>
              </a:spcAft>
            </a:pPr>
            <a:r>
              <a:rPr sz="1600" b="1"/>
              <a:t>正则表达式操作方法</a:t>
            </a:r>
            <a:endParaRPr sz="1600" b="1"/>
          </a:p>
        </p:txBody>
      </p:sp>
      <p:sp>
        <p:nvSpPr>
          <p:cNvPr id="2" name="Text Box 1"/>
          <p:cNvSpPr txBox="1"/>
          <p:nvPr/>
        </p:nvSpPr>
        <p:spPr>
          <a:xfrm>
            <a:off x="457200" y="1801177"/>
            <a:ext cx="5080000" cy="1085215"/>
          </a:xfrm>
          <a:prstGeom prst="rect">
            <a:avLst/>
          </a:prstGeom>
        </p:spPr>
        <p:txBody>
          <a:bodyPr>
            <a:spAutoFit/>
          </a:bodyPr>
          <a:p>
            <a:pPr>
              <a:spcAft>
                <a:spcPct val="60000"/>
              </a:spcAft>
            </a:pPr>
            <a:r>
              <a:rPr sz="1900" b="1"/>
              <a:t>match()</a:t>
            </a:r>
            <a:endParaRPr sz="1900" b="1"/>
          </a:p>
          <a:p>
            <a:r>
              <a:rPr sz="1600"/>
              <a:t>Ищет совпадения и возвращает массив найденных результатов.</a:t>
            </a:r>
            <a:endParaRPr sz="1600"/>
          </a:p>
        </p:txBody>
      </p:sp>
      <p:sp>
        <p:nvSpPr>
          <p:cNvPr id="3" name="Text Box 2"/>
          <p:cNvSpPr txBox="1"/>
          <p:nvPr/>
        </p:nvSpPr>
        <p:spPr>
          <a:xfrm>
            <a:off x="6273800" y="1923733"/>
            <a:ext cx="5080000" cy="838835"/>
          </a:xfrm>
          <a:prstGeom prst="rect">
            <a:avLst/>
          </a:prstGeom>
        </p:spPr>
        <p:txBody>
          <a:bodyPr>
            <a:spAutoFit/>
          </a:bodyPr>
          <a:p>
            <a:pPr>
              <a:spcAft>
                <a:spcPct val="60000"/>
              </a:spcAft>
            </a:pPr>
            <a:r>
              <a:rPr sz="1900" b="1"/>
              <a:t>match()</a:t>
            </a:r>
            <a:endParaRPr sz="1900" b="1"/>
          </a:p>
          <a:p>
            <a:r>
              <a:rPr sz="1600"/>
              <a:t>查找匹配项并返回一个包含结果的数组。</a:t>
            </a:r>
            <a:endParaRPr sz="1600"/>
          </a:p>
        </p:txBody>
      </p:sp>
      <p:sp>
        <p:nvSpPr>
          <p:cNvPr id="6" name="Text Box 5"/>
          <p:cNvSpPr txBox="1"/>
          <p:nvPr/>
        </p:nvSpPr>
        <p:spPr>
          <a:xfrm>
            <a:off x="1816100" y="4027170"/>
            <a:ext cx="8559800" cy="860425"/>
          </a:xfrm>
          <a:prstGeom prst="rect">
            <a:avLst/>
          </a:prstGeom>
        </p:spPr>
        <p:txBody>
          <a:bodyPr wrap="square">
            <a:spAutoFit/>
          </a:bodyPr>
          <a:p>
            <a:pPr marL="0" indent="0" algn="l" defTabSz="266700">
              <a:spcAft>
                <a:spcPct val="0"/>
              </a:spcAft>
            </a:pPr>
            <a:r>
              <a:rPr sz="1700" b="1">
                <a:solidFill>
                  <a:srgbClr val="000080"/>
                </a:solidFill>
                <a:latin typeface="monospace"/>
                <a:ea typeface="monospace"/>
              </a:rPr>
              <a:t>const </a:t>
            </a:r>
            <a:r>
              <a:rPr sz="1700">
                <a:solidFill>
                  <a:srgbClr val="458383"/>
                </a:solidFill>
                <a:latin typeface="monospace"/>
                <a:ea typeface="monospace"/>
              </a:rPr>
              <a:t>regex </a:t>
            </a:r>
            <a:r>
              <a:rPr sz="1700">
                <a:solidFill>
                  <a:srgbClr val="000000"/>
                </a:solidFill>
                <a:latin typeface="monospace"/>
                <a:ea typeface="monospace"/>
              </a:rPr>
              <a:t>= </a:t>
            </a:r>
            <a:r>
              <a:rPr sz="1700">
                <a:solidFill>
                  <a:srgbClr val="0000FF"/>
                </a:solidFill>
                <a:latin typeface="monospace"/>
                <a:ea typeface="monospace"/>
              </a:rPr>
              <a:t>/\d+/g</a:t>
            </a: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ct val="0"/>
              </a:spcAft>
            </a:pPr>
            <a:r>
              <a:rPr sz="1700" b="1" i="1">
                <a:solidFill>
                  <a:srgbClr val="660E7A"/>
                </a:solidFill>
                <a:latin typeface="monospace"/>
                <a:ea typeface="monospace"/>
              </a:rPr>
              <a:t>console</a:t>
            </a:r>
            <a:r>
              <a:rPr sz="1700">
                <a:solidFill>
                  <a:srgbClr val="000000"/>
                </a:solidFill>
                <a:latin typeface="monospace"/>
                <a:ea typeface="monospace"/>
              </a:rPr>
              <a:t>.</a:t>
            </a:r>
            <a:r>
              <a:rPr sz="1700">
                <a:solidFill>
                  <a:srgbClr val="914C07"/>
                </a:solidFill>
                <a:latin typeface="monospace"/>
                <a:ea typeface="monospace"/>
              </a:rPr>
              <a:t>log</a:t>
            </a:r>
            <a:r>
              <a:rPr sz="1700">
                <a:solidFill>
                  <a:srgbClr val="000000"/>
                </a:solidFill>
                <a:latin typeface="monospace"/>
                <a:ea typeface="monospace"/>
              </a:rPr>
              <a:t>(</a:t>
            </a:r>
            <a:r>
              <a:rPr sz="1700" b="1">
                <a:solidFill>
                  <a:srgbClr val="008000"/>
                </a:solidFill>
                <a:latin typeface="monospace"/>
                <a:ea typeface="monospace"/>
              </a:rPr>
              <a:t>"123 и 456"</a:t>
            </a:r>
            <a:r>
              <a:rPr sz="1700">
                <a:solidFill>
                  <a:srgbClr val="000000"/>
                </a:solidFill>
                <a:latin typeface="monospace"/>
                <a:ea typeface="monospace"/>
              </a:rPr>
              <a:t>.</a:t>
            </a:r>
            <a:r>
              <a:rPr sz="1700">
                <a:solidFill>
                  <a:srgbClr val="914C07"/>
                </a:solidFill>
                <a:latin typeface="monospace"/>
                <a:ea typeface="monospace"/>
              </a:rPr>
              <a:t>match</a:t>
            </a:r>
            <a:r>
              <a:rPr sz="1700">
                <a:solidFill>
                  <a:srgbClr val="000000"/>
                </a:solidFill>
                <a:latin typeface="monospace"/>
                <a:ea typeface="monospace"/>
              </a:rPr>
              <a:t>(</a:t>
            </a:r>
            <a:r>
              <a:rPr sz="1700">
                <a:solidFill>
                  <a:srgbClr val="458383"/>
                </a:solidFill>
                <a:latin typeface="monospace"/>
                <a:ea typeface="monospace"/>
              </a:rPr>
              <a:t>regex</a:t>
            </a:r>
            <a:r>
              <a:rPr sz="1700">
                <a:solidFill>
                  <a:srgbClr val="000000"/>
                </a:solidFill>
                <a:latin typeface="monospace"/>
                <a:ea typeface="monospace"/>
              </a:rPr>
              <a:t>)); </a:t>
            </a:r>
            <a:r>
              <a:rPr sz="1700" i="1">
                <a:solidFill>
                  <a:srgbClr val="808080"/>
                </a:solidFill>
                <a:latin typeface="monospace"/>
                <a:ea typeface="monospace"/>
              </a:rPr>
              <a:t>// ['123', '456']</a:t>
            </a:r>
            <a:endParaRPr sz="1700" i="1">
              <a:solidFill>
                <a:srgbClr val="808080"/>
              </a:solidFill>
              <a:latin typeface="monospace"/>
              <a:ea typeface="monospace"/>
            </a:endParaRPr>
          </a:p>
          <a:p>
            <a:pPr marL="0" indent="0" defTabSz="266700">
              <a:spcAft>
                <a:spcPct val="0"/>
              </a:spcAft>
            </a:pPr>
            <a:r>
              <a:rPr sz="1600">
                <a:latin typeface="Calibri" panose="020F0502020204030204"/>
                <a:ea typeface="SimSun"/>
              </a:rPr>
              <a:t> </a:t>
            </a:r>
            <a:endParaRPr sz="1600">
              <a:latin typeface="Calibri" panose="020F0502020204030204"/>
              <a:ea typeface="SimSu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57200" y="356870"/>
            <a:ext cx="5080000" cy="759460"/>
          </a:xfrm>
          <a:prstGeom prst="rect">
            <a:avLst/>
          </a:prstGeom>
        </p:spPr>
        <p:txBody>
          <a:bodyPr>
            <a:spAutoFit/>
          </a:bodyPr>
          <a:p>
            <a:pPr>
              <a:spcAft>
                <a:spcPct val="60000"/>
              </a:spcAft>
            </a:pPr>
            <a:r>
              <a:rPr sz="1600" b="1"/>
              <a:t>Методы работы с регулярными выражениями</a:t>
            </a:r>
            <a:endParaRPr sz="1600" b="1"/>
          </a:p>
          <a:p>
            <a:pPr>
              <a:spcAft>
                <a:spcPct val="60000"/>
              </a:spcAft>
            </a:pPr>
            <a:r>
              <a:rPr sz="1600" b="1"/>
              <a:t>正则表达式操作方法</a:t>
            </a:r>
            <a:endParaRPr sz="1600" b="1"/>
          </a:p>
        </p:txBody>
      </p:sp>
      <p:sp>
        <p:nvSpPr>
          <p:cNvPr id="6" name="Text Box 5"/>
          <p:cNvSpPr txBox="1"/>
          <p:nvPr/>
        </p:nvSpPr>
        <p:spPr>
          <a:xfrm>
            <a:off x="457200" y="1942783"/>
            <a:ext cx="5080000" cy="838835"/>
          </a:xfrm>
          <a:prstGeom prst="rect">
            <a:avLst/>
          </a:prstGeom>
        </p:spPr>
        <p:txBody>
          <a:bodyPr>
            <a:spAutoFit/>
          </a:bodyPr>
          <a:p>
            <a:pPr>
              <a:spcAft>
                <a:spcPct val="60000"/>
              </a:spcAft>
            </a:pPr>
            <a:r>
              <a:rPr sz="1900" b="1"/>
              <a:t>replace()</a:t>
            </a:r>
            <a:endParaRPr sz="1900" b="1"/>
          </a:p>
          <a:p>
            <a:r>
              <a:rPr sz="1600"/>
              <a:t>Заменяет совпадения в строке.</a:t>
            </a:r>
            <a:endParaRPr sz="1600"/>
          </a:p>
        </p:txBody>
      </p:sp>
      <p:sp>
        <p:nvSpPr>
          <p:cNvPr id="7" name="Text Box 6"/>
          <p:cNvSpPr txBox="1"/>
          <p:nvPr/>
        </p:nvSpPr>
        <p:spPr>
          <a:xfrm>
            <a:off x="5664200" y="1942783"/>
            <a:ext cx="5080000" cy="838835"/>
          </a:xfrm>
          <a:prstGeom prst="rect">
            <a:avLst/>
          </a:prstGeom>
        </p:spPr>
        <p:txBody>
          <a:bodyPr>
            <a:spAutoFit/>
          </a:bodyPr>
          <a:p>
            <a:pPr>
              <a:spcAft>
                <a:spcPct val="60000"/>
              </a:spcAft>
            </a:pPr>
            <a:r>
              <a:rPr sz="1900" b="1"/>
              <a:t>replace()</a:t>
            </a:r>
            <a:endParaRPr sz="1900" b="1"/>
          </a:p>
          <a:p>
            <a:r>
              <a:rPr sz="1600"/>
              <a:t>替换字符串中的匹配项。</a:t>
            </a:r>
            <a:endParaRPr sz="1600"/>
          </a:p>
        </p:txBody>
      </p:sp>
      <p:sp>
        <p:nvSpPr>
          <p:cNvPr id="8" name="Text Box 7"/>
          <p:cNvSpPr txBox="1"/>
          <p:nvPr/>
        </p:nvSpPr>
        <p:spPr>
          <a:xfrm>
            <a:off x="2019300" y="3989705"/>
            <a:ext cx="7771765" cy="860425"/>
          </a:xfrm>
          <a:prstGeom prst="rect">
            <a:avLst/>
          </a:prstGeom>
        </p:spPr>
        <p:txBody>
          <a:bodyPr wrap="square">
            <a:spAutoFit/>
          </a:bodyPr>
          <a:p>
            <a:pPr marL="0" indent="0" algn="l" defTabSz="266700">
              <a:spcAft>
                <a:spcPct val="0"/>
              </a:spcAft>
            </a:pPr>
            <a:r>
              <a:rPr sz="1700" b="1">
                <a:solidFill>
                  <a:srgbClr val="000080"/>
                </a:solidFill>
                <a:latin typeface="monospace"/>
                <a:ea typeface="monospace"/>
              </a:rPr>
              <a:t>const </a:t>
            </a:r>
            <a:r>
              <a:rPr sz="1700">
                <a:solidFill>
                  <a:srgbClr val="458383"/>
                </a:solidFill>
                <a:latin typeface="monospace"/>
                <a:ea typeface="monospace"/>
              </a:rPr>
              <a:t>regex </a:t>
            </a:r>
            <a:r>
              <a:rPr sz="1700">
                <a:solidFill>
                  <a:srgbClr val="000000"/>
                </a:solidFill>
                <a:latin typeface="monospace"/>
                <a:ea typeface="monospace"/>
              </a:rPr>
              <a:t>= </a:t>
            </a:r>
            <a:r>
              <a:rPr sz="1700">
                <a:solidFill>
                  <a:srgbClr val="0000FF"/>
                </a:solidFill>
                <a:latin typeface="monospace"/>
                <a:ea typeface="monospace"/>
              </a:rPr>
              <a:t>/cat/g</a:t>
            </a:r>
            <a:r>
              <a:rPr sz="1700">
                <a:solidFill>
                  <a:srgbClr val="000000"/>
                </a:solidFill>
                <a:latin typeface="monospace"/>
                <a:ea typeface="monospace"/>
              </a:rPr>
              <a:t>;</a:t>
            </a:r>
            <a:endParaRPr sz="1700">
              <a:solidFill>
                <a:srgbClr val="000000"/>
              </a:solidFill>
              <a:latin typeface="monospace"/>
              <a:ea typeface="monospace"/>
            </a:endParaRPr>
          </a:p>
          <a:p>
            <a:pPr marL="0" indent="0" algn="l" defTabSz="266700">
              <a:spcAft>
                <a:spcPct val="0"/>
              </a:spcAft>
            </a:pPr>
            <a:r>
              <a:rPr sz="1700" b="1" i="1">
                <a:solidFill>
                  <a:srgbClr val="660E7A"/>
                </a:solidFill>
                <a:latin typeface="monospace"/>
                <a:ea typeface="monospace"/>
              </a:rPr>
              <a:t>console</a:t>
            </a:r>
            <a:r>
              <a:rPr sz="1700">
                <a:solidFill>
                  <a:srgbClr val="000000"/>
                </a:solidFill>
                <a:latin typeface="monospace"/>
                <a:ea typeface="monospace"/>
              </a:rPr>
              <a:t>.</a:t>
            </a:r>
            <a:r>
              <a:rPr sz="1700">
                <a:solidFill>
                  <a:srgbClr val="914C07"/>
                </a:solidFill>
                <a:latin typeface="monospace"/>
                <a:ea typeface="monospace"/>
              </a:rPr>
              <a:t>log</a:t>
            </a:r>
            <a:r>
              <a:rPr sz="1700">
                <a:solidFill>
                  <a:srgbClr val="000000"/>
                </a:solidFill>
                <a:latin typeface="monospace"/>
                <a:ea typeface="monospace"/>
              </a:rPr>
              <a:t>(</a:t>
            </a:r>
            <a:r>
              <a:rPr sz="1700" b="1">
                <a:solidFill>
                  <a:srgbClr val="008000"/>
                </a:solidFill>
                <a:latin typeface="monospace"/>
                <a:ea typeface="monospace"/>
              </a:rPr>
              <a:t>"I have a cat."</a:t>
            </a:r>
            <a:r>
              <a:rPr sz="1700">
                <a:solidFill>
                  <a:srgbClr val="000000"/>
                </a:solidFill>
                <a:latin typeface="monospace"/>
                <a:ea typeface="monospace"/>
              </a:rPr>
              <a:t>.</a:t>
            </a:r>
            <a:r>
              <a:rPr sz="1700">
                <a:solidFill>
                  <a:srgbClr val="914C07"/>
                </a:solidFill>
                <a:latin typeface="monospace"/>
                <a:ea typeface="monospace"/>
              </a:rPr>
              <a:t>replace</a:t>
            </a:r>
            <a:r>
              <a:rPr sz="1700">
                <a:solidFill>
                  <a:srgbClr val="000000"/>
                </a:solidFill>
                <a:latin typeface="monospace"/>
                <a:ea typeface="monospace"/>
              </a:rPr>
              <a:t>(</a:t>
            </a:r>
            <a:r>
              <a:rPr sz="1700">
                <a:solidFill>
                  <a:srgbClr val="458383"/>
                </a:solidFill>
                <a:latin typeface="monospace"/>
                <a:ea typeface="monospace"/>
              </a:rPr>
              <a:t>regex</a:t>
            </a:r>
            <a:r>
              <a:rPr sz="1700">
                <a:solidFill>
                  <a:srgbClr val="000000"/>
                </a:solidFill>
                <a:latin typeface="monospace"/>
                <a:ea typeface="monospace"/>
              </a:rPr>
              <a:t>, </a:t>
            </a:r>
            <a:r>
              <a:rPr sz="1700" b="1">
                <a:solidFill>
                  <a:srgbClr val="008000"/>
                </a:solidFill>
                <a:latin typeface="monospace"/>
                <a:ea typeface="monospace"/>
              </a:rPr>
              <a:t>"dog"</a:t>
            </a:r>
            <a:r>
              <a:rPr sz="1700">
                <a:solidFill>
                  <a:srgbClr val="000000"/>
                </a:solidFill>
                <a:latin typeface="monospace"/>
                <a:ea typeface="monospace"/>
              </a:rPr>
              <a:t>)); </a:t>
            </a:r>
            <a:r>
              <a:rPr sz="1700" i="1">
                <a:solidFill>
                  <a:srgbClr val="808080"/>
                </a:solidFill>
                <a:latin typeface="monospace"/>
                <a:ea typeface="monospace"/>
              </a:rPr>
              <a:t>// I have a dog.</a:t>
            </a:r>
            <a:endParaRPr sz="1700" i="1">
              <a:solidFill>
                <a:srgbClr val="808080"/>
              </a:solidFill>
              <a:latin typeface="monospace"/>
              <a:ea typeface="monospace"/>
            </a:endParaRPr>
          </a:p>
          <a:p>
            <a:pPr marL="0" indent="0" defTabSz="266700">
              <a:spcAft>
                <a:spcPct val="0"/>
              </a:spcAft>
            </a:pPr>
            <a:r>
              <a:rPr sz="1600">
                <a:latin typeface="Calibri" panose="020F0502020204030204"/>
                <a:ea typeface="SimSun"/>
              </a:rPr>
              <a:t> </a:t>
            </a:r>
            <a:endParaRPr sz="1600">
              <a:latin typeface="Calibri" panose="020F0502020204030204"/>
              <a:ea typeface="SimSu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34060" y="439420"/>
            <a:ext cx="5080000" cy="759460"/>
          </a:xfrm>
          <a:prstGeom prst="rect">
            <a:avLst/>
          </a:prstGeom>
        </p:spPr>
        <p:txBody>
          <a:bodyPr>
            <a:spAutoFit/>
          </a:bodyPr>
          <a:p>
            <a:pPr>
              <a:spcAft>
                <a:spcPct val="60000"/>
              </a:spcAft>
            </a:pPr>
            <a:r>
              <a:rPr sz="1600" b="1"/>
              <a:t>Заключение</a:t>
            </a:r>
            <a:endParaRPr sz="1600" b="1"/>
          </a:p>
          <a:p>
            <a:pPr>
              <a:spcAft>
                <a:spcPct val="60000"/>
              </a:spcAft>
            </a:pPr>
            <a:r>
              <a:rPr sz="1600" b="1"/>
              <a:t>总结</a:t>
            </a:r>
            <a:endParaRPr sz="1600" b="1"/>
          </a:p>
        </p:txBody>
      </p:sp>
      <p:sp>
        <p:nvSpPr>
          <p:cNvPr id="5" name="Text Box 4"/>
          <p:cNvSpPr txBox="1"/>
          <p:nvPr/>
        </p:nvSpPr>
        <p:spPr>
          <a:xfrm>
            <a:off x="734060" y="1797050"/>
            <a:ext cx="5080000" cy="1753235"/>
          </a:xfrm>
          <a:prstGeom prst="rect">
            <a:avLst/>
          </a:prstGeom>
        </p:spPr>
        <p:txBody>
          <a:bodyPr>
            <a:spAutoFit/>
          </a:bodyPr>
          <a:p>
            <a:r>
              <a:t>Регулярные выражения — это мощный инструмент, который позволяет выполнять сложные операции по обработке строк. Понимание их структуры и возможностей значительно упростит задачи по работе с текстом.</a:t>
            </a:r>
          </a:p>
        </p:txBody>
      </p:sp>
      <p:sp>
        <p:nvSpPr>
          <p:cNvPr id="6" name="Text Box 5"/>
          <p:cNvSpPr txBox="1"/>
          <p:nvPr/>
        </p:nvSpPr>
        <p:spPr>
          <a:xfrm>
            <a:off x="6273800" y="1684972"/>
            <a:ext cx="5080000" cy="1814830"/>
          </a:xfrm>
          <a:prstGeom prst="rect">
            <a:avLst/>
          </a:prstGeom>
        </p:spPr>
        <p:txBody>
          <a:bodyPr>
            <a:spAutoFit/>
          </a:bodyPr>
          <a:p>
            <a:r>
              <a:rPr sz="2800"/>
              <a:t>正则表达式是一种强大的工具，它可以用来完成复杂的字符串处理任务。理解其结构和功能将极大地简化处理文本的工作。</a:t>
            </a:r>
            <a:endParaRPr sz="2800"/>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13788</Words>
  <Application>WPS Writer</Application>
  <PresentationFormat>Widescreen</PresentationFormat>
  <Paragraphs>683</Paragraphs>
  <Slides>70</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70</vt:i4>
      </vt:variant>
    </vt:vector>
  </HeadingPairs>
  <TitlesOfParts>
    <vt:vector size="90" baseType="lpstr">
      <vt:lpstr>Arial</vt:lpstr>
      <vt:lpstr>SimSun</vt:lpstr>
      <vt:lpstr>Wingdings</vt:lpstr>
      <vt:lpstr>Calibri</vt:lpstr>
      <vt:lpstr>Arial</vt:lpstr>
      <vt:lpstr>Helvetica Neue</vt:lpstr>
      <vt:lpstr>Times New Roman</vt:lpstr>
      <vt:lpstr>Times New Roman Regular</vt:lpstr>
      <vt:lpstr>Arial Bold</vt:lpstr>
      <vt:lpstr>SimSun</vt:lpstr>
      <vt:lpstr>宋体-简</vt:lpstr>
      <vt:lpstr>Microsoft YaHei</vt:lpstr>
      <vt:lpstr>汉仪旗黑</vt:lpstr>
      <vt:lpstr>Arial Unicode MS</vt:lpstr>
      <vt:lpstr>Calibri Light</vt:lpstr>
      <vt:lpstr>monospace</vt:lpstr>
      <vt:lpstr>Thonburi</vt:lpstr>
      <vt:lpstr>SimSun</vt:lpstr>
      <vt:lpstr>Menlo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valeriakhlyzoa</dc:creator>
  <cp:lastModifiedBy>valeriakhlyzoa</cp:lastModifiedBy>
  <cp:revision>95</cp:revision>
  <dcterms:created xsi:type="dcterms:W3CDTF">2025-12-06T23:27:35Z</dcterms:created>
  <dcterms:modified xsi:type="dcterms:W3CDTF">2025-12-06T23:27:35Z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4F960A6EBC51D01A6AB32D671816078D_41</vt:lpwstr>
  </property>
  <property fmtid="{D5CDD505-2E9C-101B-9397-08002B2CF9AE}" pid="3" name="KSOProductBuildVer">
    <vt:lpwstr>1033-12.1.23152.23152</vt:lpwstr>
  </property>
</Properties>
</file>