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handoutMasterIdLst>
    <p:handoutMasterId r:id="rId7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96" r:id="rId9"/>
    <p:sldId id="262" r:id="rId10"/>
    <p:sldId id="295" r:id="rId11"/>
    <p:sldId id="263" r:id="rId12"/>
    <p:sldId id="264" r:id="rId13"/>
    <p:sldId id="265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59" r:id="rId22"/>
    <p:sldId id="266" r:id="rId24"/>
    <p:sldId id="267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312" r:id="rId38"/>
    <p:sldId id="281" r:id="rId39"/>
    <p:sldId id="313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60" r:id="rId61"/>
    <p:sldId id="361" r:id="rId62"/>
    <p:sldId id="362" r:id="rId63"/>
    <p:sldId id="363" r:id="rId64"/>
    <p:sldId id="364" r:id="rId65"/>
    <p:sldId id="365" r:id="rId66"/>
    <p:sldId id="366" r:id="rId67"/>
    <p:sldId id="367" r:id="rId68"/>
    <p:sldId id="305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7;p1"/>
          <p:cNvSpPr txBox="1"/>
          <p:nvPr/>
        </p:nvSpPr>
        <p:spPr>
          <a:xfrm>
            <a:off x="1493604" y="1649644"/>
            <a:ext cx="9204792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«Разработка веб-интерфейсного скрипта»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前端脚本开发”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Структуры данных: объекты и массивы</a:t>
            </a:r>
            <a:endParaRPr sz="3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数据结构：对象和数组</a:t>
            </a:r>
            <a:endParaRPr lang="en-US" sz="360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Google Shape;88;p1"/>
          <p:cNvSpPr txBox="1"/>
          <p:nvPr/>
        </p:nvSpPr>
        <p:spPr>
          <a:xfrm>
            <a:off x="7550150" y="5497830"/>
            <a:ext cx="4492625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</a:t>
            </a:r>
            <a:r>
              <a:rPr lang="ru-RU" alt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информационных систем и программной инженерии </a:t>
            </a:r>
            <a:endParaRPr lang="ru-RU" altLang="en-US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38785" y="201930"/>
            <a:ext cx="54381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>
                <a:latin typeface="Arial Regular" panose="020B0704020202020204" charset="0"/>
                <a:cs typeface="Arial Regular" panose="020B0704020202020204" charset="0"/>
              </a:rPr>
              <a:t>ЦЕЛЬ РАБОТЫ   工作目标</a:t>
            </a:r>
            <a:endParaRPr lang="en-US" sz="280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568960" y="1616710"/>
            <a:ext cx="1105344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just"/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Изучить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работу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с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объектами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и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массивами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в JavaScript;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学习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JavaScript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中的对象和数组操作；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just"/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just"/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Познакомиться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с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технологиями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обработки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объектов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и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массивов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в JavaScript;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了解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JavaScript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中对象和数组处理的技术；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just"/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just"/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Закр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е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пить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изученый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материал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путем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самостоятельного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выполнения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заданий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通过独立完成任务来巩固所学的内容。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just"/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40690" y="671195"/>
            <a:ext cx="11311255" cy="31085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12700" algn="just"/>
            <a:r>
              <a:rPr lang="ru-RU" altLang="en-US" sz="2800" b="0" dirty="0">
                <a:latin typeface="Times New Roman" panose="02020603050405020304" charset="0"/>
              </a:rPr>
              <a:t>	</a:t>
            </a:r>
            <a:r>
              <a:rPr lang="en-US" sz="2400" b="0" dirty="0">
                <a:latin typeface="Times New Roman" panose="02020603050405020304" charset="0"/>
              </a:rPr>
              <a:t>В JavaScript </a:t>
            </a:r>
            <a:r>
              <a:rPr lang="en-US" sz="2400" b="0" dirty="0" err="1">
                <a:latin typeface="Times New Roman" panose="02020603050405020304" charset="0"/>
              </a:rPr>
              <a:t>объект</a:t>
            </a:r>
            <a:r>
              <a:rPr lang="en-US" sz="2400" b="0" dirty="0">
                <a:latin typeface="Times New Roman" panose="02020603050405020304" charset="0"/>
              </a:rPr>
              <a:t> — </a:t>
            </a:r>
            <a:r>
              <a:rPr lang="en-US" sz="2400" b="0" dirty="0" err="1">
                <a:latin typeface="Times New Roman" panose="02020603050405020304" charset="0"/>
              </a:rPr>
              <a:t>это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самостоятельная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единица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имеющая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свойства</a:t>
            </a:r>
            <a:r>
              <a:rPr lang="en-US" sz="2400" b="0" dirty="0">
                <a:latin typeface="Times New Roman" panose="02020603050405020304" charset="0"/>
              </a:rPr>
              <a:t> и </a:t>
            </a:r>
            <a:r>
              <a:rPr lang="en-US" sz="2400" b="0" dirty="0" err="1">
                <a:latin typeface="Times New Roman" panose="02020603050405020304" charset="0"/>
              </a:rPr>
              <a:t>определённый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тип</a:t>
            </a:r>
            <a:r>
              <a:rPr lang="en-US" sz="2400" b="0" dirty="0">
                <a:latin typeface="Times New Roman" panose="02020603050405020304" charset="0"/>
              </a:rPr>
              <a:t>. </a:t>
            </a:r>
            <a:r>
              <a:rPr lang="en-US" sz="2400" b="0" dirty="0" err="1">
                <a:latin typeface="Times New Roman" panose="02020603050405020304" charset="0"/>
              </a:rPr>
              <a:t>Сравним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например</a:t>
            </a:r>
            <a:r>
              <a:rPr lang="en-US" sz="2400" b="0" dirty="0">
                <a:latin typeface="Times New Roman" panose="02020603050405020304" charset="0"/>
              </a:rPr>
              <a:t>, с </a:t>
            </a:r>
            <a:r>
              <a:rPr lang="en-US" sz="2400" b="0" dirty="0" err="1">
                <a:latin typeface="Times New Roman" panose="02020603050405020304" charset="0"/>
              </a:rPr>
              <a:t>чашкой</a:t>
            </a:r>
            <a:r>
              <a:rPr lang="en-US" sz="2400" b="0" dirty="0">
                <a:latin typeface="Times New Roman" panose="02020603050405020304" charset="0"/>
              </a:rPr>
              <a:t>. У </a:t>
            </a:r>
            <a:r>
              <a:rPr lang="en-US" sz="2400" b="0" dirty="0" err="1">
                <a:latin typeface="Times New Roman" panose="02020603050405020304" charset="0"/>
              </a:rPr>
              <a:t>чашки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есть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цвет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форма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вес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материал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из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которого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она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сделана</a:t>
            </a:r>
            <a:r>
              <a:rPr lang="en-US" sz="2400" b="0" dirty="0">
                <a:latin typeface="Times New Roman" panose="02020603050405020304" charset="0"/>
              </a:rPr>
              <a:t>, и </a:t>
            </a:r>
            <a:r>
              <a:rPr lang="en-US" sz="2400" b="0" dirty="0" err="1">
                <a:latin typeface="Times New Roman" panose="02020603050405020304" charset="0"/>
              </a:rPr>
              <a:t>т.д</a:t>
            </a:r>
            <a:r>
              <a:rPr lang="en-US" sz="2400" b="0" dirty="0">
                <a:latin typeface="Times New Roman" panose="02020603050405020304" charset="0"/>
              </a:rPr>
              <a:t>. </a:t>
            </a:r>
            <a:r>
              <a:rPr lang="en-US" sz="2400" b="0" dirty="0" err="1">
                <a:latin typeface="Times New Roman" panose="02020603050405020304" charset="0"/>
              </a:rPr>
              <a:t>Точно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так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же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объекты</a:t>
            </a:r>
            <a:r>
              <a:rPr lang="en-US" sz="2400" b="0" dirty="0">
                <a:latin typeface="Times New Roman" panose="02020603050405020304" charset="0"/>
              </a:rPr>
              <a:t> JavaScript </a:t>
            </a:r>
            <a:r>
              <a:rPr lang="en-US" sz="2400" b="0" dirty="0" err="1">
                <a:latin typeface="Times New Roman" panose="02020603050405020304" charset="0"/>
              </a:rPr>
              <a:t>имеют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свойства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которые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определяют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их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характеристики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marL="0" indent="12700" algn="just"/>
            <a:endParaRPr lang="en-US" sz="2400" dirty="0">
              <a:latin typeface="Times New Roman" panose="02020603050405020304" charset="0"/>
            </a:endParaRPr>
          </a:p>
          <a:p>
            <a:pPr marL="0" indent="12700" algn="just"/>
            <a:r>
              <a:rPr lang="zh-CN" altLang="en-US" sz="2400" dirty="0"/>
              <a:t>在</a:t>
            </a:r>
            <a:r>
              <a:rPr lang="en-US" altLang="zh-CN" sz="2400" dirty="0"/>
              <a:t>JavaScript</a:t>
            </a:r>
            <a:r>
              <a:rPr lang="zh-CN" altLang="en-US" sz="2400" dirty="0"/>
              <a:t>中，对象是一种独立的单元，具有属性和特定的类型。我们可以将其与杯子进行比较。杯子有颜色、形状、重量、制造材料等特征。同样，</a:t>
            </a:r>
            <a:r>
              <a:rPr lang="en-US" altLang="zh-CN" sz="2400" dirty="0"/>
              <a:t>JavaScript</a:t>
            </a:r>
            <a:r>
              <a:rPr lang="zh-CN" altLang="en-US" sz="2400" dirty="0"/>
              <a:t>对象具有属性，这些属性定义了它们的特征。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890905" y="355600"/>
            <a:ext cx="10462895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ru-RU" alt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Получить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доступ</a:t>
            </a:r>
            <a:r>
              <a:rPr lang="en-US" sz="2400" b="0" dirty="0">
                <a:latin typeface="Times New Roman" panose="02020603050405020304" charset="0"/>
              </a:rPr>
              <a:t> к </a:t>
            </a:r>
            <a:r>
              <a:rPr lang="en-US" sz="2400" b="0" dirty="0" err="1">
                <a:latin typeface="Times New Roman" panose="02020603050405020304" charset="0"/>
              </a:rPr>
              <a:t>свойству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объекта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можно</a:t>
            </a:r>
            <a:r>
              <a:rPr lang="en-US" sz="2400" b="0" dirty="0">
                <a:latin typeface="Times New Roman" panose="02020603050405020304" charset="0"/>
              </a:rPr>
              <a:t> с </a:t>
            </a:r>
            <a:r>
              <a:rPr lang="en-US" sz="2400" b="0" dirty="0" err="1">
                <a:latin typeface="Times New Roman" panose="02020603050405020304" charset="0"/>
              </a:rPr>
              <a:t>помощью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точечной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записи</a:t>
            </a:r>
            <a:r>
              <a:rPr lang="en-US" sz="2400" b="0" dirty="0">
                <a:latin typeface="Times New Roman" panose="02020603050405020304" charset="0"/>
              </a:rPr>
              <a:t>: </a:t>
            </a:r>
            <a:r>
              <a:rPr lang="en-US" sz="2400" b="0" i="1" dirty="0" err="1">
                <a:latin typeface="Times New Roman" panose="02020603050405020304" charset="0"/>
              </a:rPr>
              <a:t>person.name</a:t>
            </a:r>
            <a:r>
              <a:rPr lang="en-US" sz="2400" b="0" i="1" dirty="0">
                <a:latin typeface="Times New Roman" panose="02020603050405020304" charset="0"/>
              </a:rPr>
              <a:t>;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Где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person</a:t>
            </a:r>
            <a:r>
              <a:rPr lang="en-US" sz="2400" b="0" dirty="0">
                <a:latin typeface="Times New Roman" panose="02020603050405020304" charset="0"/>
              </a:rPr>
              <a:t> – </a:t>
            </a:r>
            <a:r>
              <a:rPr lang="en-US" sz="2400" b="0" dirty="0" err="1">
                <a:latin typeface="Times New Roman" panose="02020603050405020304" charset="0"/>
              </a:rPr>
              <a:t>название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переменной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объекта</a:t>
            </a:r>
            <a:r>
              <a:rPr lang="en-US" sz="2400" b="0" dirty="0">
                <a:latin typeface="Times New Roman" panose="02020603050405020304" charset="0"/>
              </a:rPr>
              <a:t>, а </a:t>
            </a:r>
            <a:r>
              <a:rPr lang="en-US" sz="2400" b="0" i="1" dirty="0">
                <a:latin typeface="Times New Roman" panose="02020603050405020304" charset="0"/>
              </a:rPr>
              <a:t>name</a:t>
            </a:r>
            <a:r>
              <a:rPr lang="en-US" sz="2400" b="0" dirty="0">
                <a:latin typeface="Times New Roman" panose="02020603050405020304" charset="0"/>
              </a:rPr>
              <a:t> – </a:t>
            </a:r>
            <a:r>
              <a:rPr lang="en-US" sz="2400" b="0" dirty="0" err="1">
                <a:latin typeface="Times New Roman" panose="02020603050405020304" charset="0"/>
              </a:rPr>
              <a:t>свойство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определенное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объекте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endParaRPr lang="en-US" sz="2400" dirty="0">
              <a:latin typeface="Times New Roman" panose="02020603050405020304" charset="0"/>
            </a:endParaRPr>
          </a:p>
          <a:p>
            <a:pPr indent="0" algn="just"/>
            <a:r>
              <a:rPr lang="zh-CN" altLang="en-US" sz="2400" dirty="0"/>
              <a:t>通过点表示法可以访问对象的属性：</a:t>
            </a:r>
            <a:r>
              <a:rPr lang="en-US" altLang="zh-CN" sz="2400" dirty="0" err="1"/>
              <a:t>person.name</a:t>
            </a:r>
            <a:r>
              <a:rPr lang="zh-CN" altLang="en-US" sz="2400" dirty="0"/>
              <a:t>；其中，</a:t>
            </a:r>
            <a:r>
              <a:rPr lang="en-US" altLang="zh-CN" sz="2400" dirty="0"/>
              <a:t>person</a:t>
            </a:r>
            <a:r>
              <a:rPr lang="zh-CN" altLang="en-US" sz="2400" dirty="0"/>
              <a:t>是对象的变量名称，</a:t>
            </a:r>
            <a:r>
              <a:rPr lang="en-US" altLang="zh-CN" sz="2400" dirty="0"/>
              <a:t>name</a:t>
            </a:r>
            <a:r>
              <a:rPr lang="zh-CN" altLang="en-US" sz="2400" dirty="0"/>
              <a:t>是在对象中定义的属性。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890905" y="3318510"/>
            <a:ext cx="5092700" cy="31692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{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name: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'Ann'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age: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25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gender: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'female'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photo: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'https://photo.jpg'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nationality: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'Russian'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isStudent: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true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}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>
              <a:solidFill>
                <a:srgbClr val="795E26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.name);</a:t>
            </a:r>
            <a:endParaRPr lang="en-US" sz="20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1508" y="4231323"/>
            <a:ext cx="4371975" cy="1343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556895" y="241935"/>
            <a:ext cx="1109345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ru-RU" alt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Свойства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объектов</a:t>
            </a:r>
            <a:r>
              <a:rPr lang="en-US" sz="2400" b="0" dirty="0">
                <a:latin typeface="Times New Roman" panose="02020603050405020304" charset="0"/>
              </a:rPr>
              <a:t> JavaScript </a:t>
            </a:r>
            <a:r>
              <a:rPr lang="en-US" sz="2400" b="0" dirty="0" err="1">
                <a:latin typeface="Times New Roman" panose="02020603050405020304" charset="0"/>
              </a:rPr>
              <a:t>также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могут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быть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доступны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заданы</a:t>
            </a:r>
            <a:r>
              <a:rPr lang="en-US" sz="2400" b="0" dirty="0">
                <a:latin typeface="Times New Roman" panose="02020603050405020304" charset="0"/>
              </a:rPr>
              <a:t> с </a:t>
            </a:r>
            <a:r>
              <a:rPr lang="en-US" sz="2400" b="0" dirty="0" err="1">
                <a:latin typeface="Times New Roman" panose="02020603050405020304" charset="0"/>
              </a:rPr>
              <a:t>использованием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скобочной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записи</a:t>
            </a:r>
            <a:r>
              <a:rPr lang="en-US" sz="2400" b="0" dirty="0">
                <a:latin typeface="Times New Roman" panose="02020603050405020304" charset="0"/>
              </a:rPr>
              <a:t>. 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endParaRPr lang="en-US" sz="2400" dirty="0">
              <a:latin typeface="Times New Roman" panose="02020603050405020304" charset="0"/>
            </a:endParaRPr>
          </a:p>
          <a:p>
            <a:pPr indent="0" algn="just"/>
            <a:r>
              <a:rPr lang="en-US" altLang="zh-CN" sz="2400" dirty="0"/>
              <a:t>JavaScript</a:t>
            </a:r>
            <a:r>
              <a:rPr lang="zh-CN" altLang="en-US" sz="2400" dirty="0"/>
              <a:t>对象的属性也可以通过使用方括号表示法进行访问或设置。</a:t>
            </a:r>
            <a:endParaRPr lang="en-US" sz="2400" dirty="0"/>
          </a:p>
        </p:txBody>
      </p:sp>
      <p:sp>
        <p:nvSpPr>
          <p:cNvPr id="4" name="Text Box 3"/>
          <p:cNvSpPr txBox="1"/>
          <p:nvPr/>
        </p:nvSpPr>
        <p:spPr>
          <a:xfrm>
            <a:off x="556895" y="3104833"/>
            <a:ext cx="5080000" cy="3169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0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{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name: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'Ann'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age: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25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gender: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'female'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photo: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'https://photo.jpg'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nationality: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'Russian'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isStudent: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true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}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>
              <a:solidFill>
                <a:srgbClr val="795E26"/>
              </a:solidFill>
              <a:latin typeface="Menlo" panose="020B0609030804020204" charset="0"/>
            </a:endParaRPr>
          </a:p>
          <a:p>
            <a:pPr marL="0" indent="0"/>
            <a:r>
              <a:rPr lang="en-US" sz="2000" b="0">
                <a:solidFill>
                  <a:srgbClr val="795E26"/>
                </a:solidFill>
                <a:latin typeface="Menlo" panose="020B0609030804020204" charset="0"/>
              </a:rPr>
              <a:t>alert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Menlo" panose="020B0609030804020204" charset="0"/>
              </a:rPr>
              <a:t>person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</a:rPr>
              <a:t>[</a:t>
            </a:r>
            <a:r>
              <a:rPr lang="en-US" sz="2000" b="0">
                <a:solidFill>
                  <a:srgbClr val="A31515"/>
                </a:solidFill>
                <a:latin typeface="Menlo" panose="020B0609030804020204" charset="0"/>
              </a:rPr>
              <a:t>'name'</a:t>
            </a:r>
            <a:r>
              <a:rPr lang="en-US" sz="2000" b="0">
                <a:solidFill>
                  <a:srgbClr val="3B3B3B"/>
                </a:solidFill>
                <a:latin typeface="Menlo" panose="020B0609030804020204" charset="0"/>
              </a:rPr>
              <a:t>]);</a:t>
            </a:r>
            <a:endParaRPr lang="en-US" sz="20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1508" y="3781108"/>
            <a:ext cx="4371975" cy="1343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442595" y="314325"/>
            <a:ext cx="11270615" cy="193899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Значения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объекта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могут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принемать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все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типы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данных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которые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реализованы</a:t>
            </a:r>
            <a:r>
              <a:rPr lang="en-US" sz="2400" b="0" dirty="0">
                <a:latin typeface="Times New Roman" panose="02020603050405020304" charset="0"/>
              </a:rPr>
              <a:t> в JavaScript. </a:t>
            </a:r>
            <a:r>
              <a:rPr lang="en-US" sz="2400" b="0" dirty="0" err="1">
                <a:latin typeface="Times New Roman" panose="02020603050405020304" charset="0"/>
              </a:rPr>
              <a:t>Это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значит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что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внутри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объекта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может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быть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расположен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другой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объект</a:t>
            </a:r>
            <a:r>
              <a:rPr lang="en-US" sz="2400" b="0" dirty="0">
                <a:latin typeface="Times New Roman" panose="02020603050405020304" charset="0"/>
              </a:rPr>
              <a:t>. 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latin typeface="Times New Roman" panose="02020603050405020304" charset="0"/>
            </a:endParaRPr>
          </a:p>
          <a:p>
            <a:pPr indent="449580" algn="just"/>
            <a:r>
              <a:rPr lang="zh-CN" altLang="en-US" sz="2400" dirty="0"/>
              <a:t>对象的值可以是 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中实现的所有数据类型。这意味着对象内部可以包含另一个对象。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3530600" y="2905760"/>
            <a:ext cx="5080000" cy="3538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16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1600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 = {</a:t>
            </a:r>
            <a:endParaRPr lang="en-US" sz="16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1600" b="0">
                <a:solidFill>
                  <a:srgbClr val="001080"/>
                </a:solidFill>
                <a:latin typeface="Consolas" charset="0"/>
              </a:rPr>
              <a:t>name: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1600" b="0">
                <a:solidFill>
                  <a:srgbClr val="A31515"/>
                </a:solidFill>
                <a:latin typeface="Consolas" charset="0"/>
              </a:rPr>
              <a:t>'Ann'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16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1600" b="0">
                <a:solidFill>
                  <a:srgbClr val="001080"/>
                </a:solidFill>
                <a:latin typeface="Consolas" charset="0"/>
              </a:rPr>
              <a:t>age: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1600" b="0">
                <a:solidFill>
                  <a:srgbClr val="098658"/>
                </a:solidFill>
                <a:latin typeface="Consolas" charset="0"/>
              </a:rPr>
              <a:t>25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16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1600" b="0">
                <a:solidFill>
                  <a:srgbClr val="001080"/>
                </a:solidFill>
                <a:latin typeface="Consolas" charset="0"/>
              </a:rPr>
              <a:t>gender: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1600" b="0">
                <a:solidFill>
                  <a:srgbClr val="A31515"/>
                </a:solidFill>
                <a:latin typeface="Consolas" charset="0"/>
              </a:rPr>
              <a:t>'female'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16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1600" b="0">
                <a:solidFill>
                  <a:srgbClr val="001080"/>
                </a:solidFill>
                <a:latin typeface="Consolas" charset="0"/>
              </a:rPr>
              <a:t>photo: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1600" b="0">
                <a:solidFill>
                  <a:srgbClr val="A31515"/>
                </a:solidFill>
                <a:latin typeface="Consolas" charset="0"/>
              </a:rPr>
              <a:t>'https://photo.jpg'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16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1600" b="0">
                <a:solidFill>
                  <a:srgbClr val="001080"/>
                </a:solidFill>
                <a:latin typeface="Consolas" charset="0"/>
              </a:rPr>
              <a:t>nationality: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1600" b="0">
                <a:solidFill>
                  <a:srgbClr val="A31515"/>
                </a:solidFill>
                <a:latin typeface="Consolas" charset="0"/>
              </a:rPr>
              <a:t>'Russian'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16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1600" b="0">
                <a:solidFill>
                  <a:srgbClr val="001080"/>
                </a:solidFill>
                <a:latin typeface="Consolas" charset="0"/>
              </a:rPr>
              <a:t>isStudent: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1600" b="0">
                <a:solidFill>
                  <a:srgbClr val="0000FF"/>
                </a:solidFill>
                <a:latin typeface="Consolas" charset="0"/>
              </a:rPr>
              <a:t>true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16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1600" b="0">
                <a:solidFill>
                  <a:srgbClr val="001080"/>
                </a:solidFill>
                <a:latin typeface="Consolas" charset="0"/>
              </a:rPr>
              <a:t>student: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 {</a:t>
            </a:r>
            <a:endParaRPr lang="en-US" sz="16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000000"/>
                </a:solidFill>
                <a:latin typeface="Consolas" charset="0"/>
              </a:rPr>
              <a:t>    </a:t>
            </a:r>
            <a:r>
              <a:rPr lang="en-US" sz="1600" b="0">
                <a:solidFill>
                  <a:srgbClr val="001080"/>
                </a:solidFill>
                <a:latin typeface="Consolas" charset="0"/>
              </a:rPr>
              <a:t>group: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1600" b="0">
                <a:solidFill>
                  <a:srgbClr val="A31515"/>
                </a:solidFill>
                <a:latin typeface="Consolas" charset="0"/>
              </a:rPr>
              <a:t>'PRI-117'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16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000000"/>
                </a:solidFill>
                <a:latin typeface="Consolas" charset="0"/>
              </a:rPr>
              <a:t>    </a:t>
            </a:r>
            <a:r>
              <a:rPr lang="en-US" sz="1600" b="0">
                <a:solidFill>
                  <a:srgbClr val="001080"/>
                </a:solidFill>
                <a:latin typeface="Consolas" charset="0"/>
              </a:rPr>
              <a:t>year: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1600" b="0">
                <a:solidFill>
                  <a:srgbClr val="A31515"/>
                </a:solidFill>
                <a:latin typeface="Consolas" charset="0"/>
              </a:rPr>
              <a:t>'2017'</a:t>
            </a:r>
            <a:endParaRPr lang="en-US" sz="16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000000"/>
                </a:solidFill>
                <a:latin typeface="Consolas" charset="0"/>
              </a:rPr>
              <a:t>  }</a:t>
            </a:r>
            <a:endParaRPr lang="en-US" sz="16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000000"/>
                </a:solidFill>
                <a:latin typeface="Consolas" charset="0"/>
              </a:rPr>
              <a:t>}</a:t>
            </a:r>
            <a:endParaRPr lang="en-US" sz="1600" b="0">
              <a:solidFill>
                <a:srgbClr val="795E26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1600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1600" b="0">
                <a:solidFill>
                  <a:srgbClr val="001080"/>
                </a:solidFill>
                <a:latin typeface="Consolas" charset="0"/>
              </a:rPr>
              <a:t>student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1600" b="0">
                <a:solidFill>
                  <a:srgbClr val="001080"/>
                </a:solidFill>
                <a:latin typeface="Consolas" charset="0"/>
              </a:rPr>
              <a:t>group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1600" b="0">
              <a:solidFill>
                <a:srgbClr val="795E26"/>
              </a:solidFill>
              <a:latin typeface="Consolas" charset="0"/>
            </a:endParaRPr>
          </a:p>
          <a:p>
            <a:pPr marL="0" indent="0"/>
            <a:r>
              <a:rPr lang="en-US" sz="16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1600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[</a:t>
            </a:r>
            <a:r>
              <a:rPr lang="en-US" sz="1600" b="0">
                <a:solidFill>
                  <a:srgbClr val="A31515"/>
                </a:solidFill>
                <a:latin typeface="Consolas" charset="0"/>
              </a:rPr>
              <a:t>"student"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][</a:t>
            </a:r>
            <a:r>
              <a:rPr lang="en-US" sz="1600" b="0">
                <a:solidFill>
                  <a:srgbClr val="A31515"/>
                </a:solidFill>
                <a:latin typeface="Consolas" charset="0"/>
              </a:rPr>
              <a:t>"group"</a:t>
            </a:r>
            <a:r>
              <a:rPr lang="en-US" sz="1600" b="0">
                <a:solidFill>
                  <a:srgbClr val="000000"/>
                </a:solidFill>
                <a:latin typeface="Consolas" charset="0"/>
              </a:rPr>
              <a:t>]);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90245" y="436245"/>
            <a:ext cx="10962005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Так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же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значениями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объекта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могут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быть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функции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Например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функции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обработки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данных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объекта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Создадим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самую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простую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функцию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в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объекте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и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вызовем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её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zh-CN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同样，对象的值可以是函数，例如对象数据处理函数。让我们在对象中创建一个最简单的函数并调用它。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690245" y="3218180"/>
            <a:ext cx="9284970" cy="3138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b="1">
                <a:solidFill>
                  <a:srgbClr val="0000FF"/>
                </a:solidFill>
                <a:latin typeface="Courier New" panose="02070609020205020404" charset="0"/>
              </a:rPr>
              <a:t>const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person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000000"/>
                </a:solidFill>
                <a:latin typeface="Courier New" panose="02070609020205020404" charset="0"/>
              </a:rPr>
              <a:t>=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{</a:t>
            </a:r>
            <a:endParaRPr lang="en-US" b="1">
              <a:solidFill>
                <a:srgbClr val="3B3B3B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  </a:t>
            </a:r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name: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urier New" panose="02070609020205020404" charset="0"/>
              </a:rPr>
              <a:t>'Ann'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,</a:t>
            </a:r>
            <a:endParaRPr lang="en-US" b="1">
              <a:solidFill>
                <a:srgbClr val="3B3B3B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  </a:t>
            </a:r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age: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098658"/>
                </a:solidFill>
                <a:latin typeface="Courier New" panose="02070609020205020404" charset="0"/>
              </a:rPr>
              <a:t>25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,</a:t>
            </a:r>
            <a:endParaRPr lang="en-US" b="1">
              <a:solidFill>
                <a:srgbClr val="3B3B3B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  </a:t>
            </a:r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gender: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urier New" panose="02070609020205020404" charset="0"/>
              </a:rPr>
              <a:t>'female'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,</a:t>
            </a:r>
            <a:endParaRPr lang="en-US" b="1">
              <a:solidFill>
                <a:srgbClr val="3B3B3B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  </a:t>
            </a:r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photo: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urier New" panose="02070609020205020404" charset="0"/>
              </a:rPr>
              <a:t>'https://photo.jpg'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,</a:t>
            </a:r>
            <a:endParaRPr lang="en-US" b="1">
              <a:solidFill>
                <a:srgbClr val="3B3B3B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  </a:t>
            </a:r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nationality: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urier New" panose="02070609020205020404" charset="0"/>
              </a:rPr>
              <a:t>'Russian'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,</a:t>
            </a:r>
            <a:endParaRPr lang="en-US" b="1">
              <a:solidFill>
                <a:srgbClr val="3B3B3B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  </a:t>
            </a:r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isStudent: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urier New" panose="02070609020205020404" charset="0"/>
              </a:rPr>
              <a:t>true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,</a:t>
            </a:r>
            <a:endParaRPr lang="en-US" b="1">
              <a:solidFill>
                <a:srgbClr val="3B3B3B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  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sayHello</a:t>
            </a:r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urier New" panose="02070609020205020404" charset="0"/>
              </a:rPr>
              <a:t>function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() {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alert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A31515"/>
                </a:solidFill>
                <a:latin typeface="Courier New" panose="02070609020205020404" charset="0"/>
              </a:rPr>
              <a:t>`Hello, i am </a:t>
            </a:r>
            <a:r>
              <a:rPr lang="en-US" b="1">
                <a:solidFill>
                  <a:srgbClr val="0000FF"/>
                </a:solidFill>
                <a:latin typeface="Courier New" panose="02070609020205020404" charset="0"/>
              </a:rPr>
              <a:t>${this</a:t>
            </a:r>
            <a:r>
              <a:rPr lang="en-US" b="1">
                <a:solidFill>
                  <a:srgbClr val="000000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name</a:t>
            </a:r>
            <a:r>
              <a:rPr lang="en-US" b="1">
                <a:solidFill>
                  <a:srgbClr val="0000FF"/>
                </a:solidFill>
                <a:latin typeface="Courier New" panose="02070609020205020404" charset="0"/>
              </a:rPr>
              <a:t>}</a:t>
            </a:r>
            <a:r>
              <a:rPr lang="en-US" b="1">
                <a:solidFill>
                  <a:srgbClr val="A31515"/>
                </a:solidFill>
                <a:latin typeface="Courier New" panose="02070609020205020404" charset="0"/>
              </a:rPr>
              <a:t>`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)}</a:t>
            </a:r>
            <a:endParaRPr lang="en-US" b="1">
              <a:solidFill>
                <a:srgbClr val="3B3B3B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}</a:t>
            </a:r>
            <a:endParaRPr lang="en-US" b="1">
              <a:latin typeface="SimSun" charset="0"/>
            </a:endParaRPr>
          </a:p>
          <a:p>
            <a:pPr marL="0" indent="0" algn="l"/>
            <a:r>
              <a:rPr lang="en-US" b="1">
                <a:latin typeface="SimSun" charset="0"/>
              </a:rPr>
              <a:t> </a:t>
            </a:r>
            <a:endParaRPr lang="en-US" b="1">
              <a:solidFill>
                <a:srgbClr val="0070C1"/>
              </a:solidFill>
              <a:latin typeface="Courier New" panose="02070609020205020404" charset="0"/>
              <a:cs typeface="SimSun" charset="0"/>
            </a:endParaRPr>
          </a:p>
          <a:p>
            <a:pPr marL="0" indent="0" algn="l"/>
            <a:r>
              <a:rPr lang="en-US" b="1">
                <a:solidFill>
                  <a:srgbClr val="0070C1"/>
                </a:solidFill>
                <a:latin typeface="Courier New" panose="02070609020205020404" charset="0"/>
                <a:cs typeface="SimSun" charset="0"/>
              </a:rPr>
              <a:t>person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  <a:cs typeface="SimSun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  <a:cs typeface="SimSun" charset="0"/>
              </a:rPr>
              <a:t>sayHello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  <a:cs typeface="SimSun" charset="0"/>
              </a:rPr>
              <a:t>();</a:t>
            </a:r>
            <a:endParaRPr lang="en-US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85495" y="376555"/>
            <a:ext cx="1086231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ru-RU" alt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Чтобы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перебрать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все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значения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объекта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можно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испо</a:t>
            </a:r>
            <a:r>
              <a:rPr lang="ru-RU" altLang="en-US" sz="2400" b="0" dirty="0">
                <a:latin typeface="Times New Roman" panose="02020603050405020304" charset="0"/>
              </a:rPr>
              <a:t>с</a:t>
            </a:r>
            <a:r>
              <a:rPr lang="en-US" sz="2400" b="0" dirty="0" err="1">
                <a:latin typeface="Times New Roman" panose="02020603050405020304" charset="0"/>
              </a:rPr>
              <a:t>льзовать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циклы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специальный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 err="1">
                <a:latin typeface="Times New Roman" panose="02020603050405020304" charset="0"/>
              </a:rPr>
              <a:t>Object.values</a:t>
            </a:r>
            <a:r>
              <a:rPr lang="en-US" sz="2400" b="0" i="1" dirty="0">
                <a:latin typeface="Times New Roman" panose="02020603050405020304" charset="0"/>
              </a:rPr>
              <a:t>(&lt;object&gt;)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endParaRPr lang="en-US" sz="2400" dirty="0">
              <a:latin typeface="Times New Roman" panose="02020603050405020304" charset="0"/>
            </a:endParaRPr>
          </a:p>
          <a:p>
            <a:pPr indent="0" algn="just"/>
            <a:r>
              <a:rPr lang="zh-CN" altLang="en-US" sz="2400" dirty="0"/>
              <a:t>要遍历对象的所有值，可以使用循环或特定的</a:t>
            </a:r>
            <a:r>
              <a:rPr lang="en-US" sz="2400" dirty="0" err="1"/>
              <a:t>Object.values</a:t>
            </a:r>
            <a:r>
              <a:rPr lang="en-US" sz="2400" dirty="0"/>
              <a:t>(&lt;object&gt;)</a:t>
            </a:r>
            <a:r>
              <a:rPr lang="zh-CN" altLang="en-US" sz="2400" dirty="0"/>
              <a:t>方法。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785495" y="2360930"/>
            <a:ext cx="5080000" cy="42462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= {</a:t>
            </a:r>
            <a:endParaRPr lang="en-US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name: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b="0">
                <a:solidFill>
                  <a:srgbClr val="A31515"/>
                </a:solidFill>
                <a:latin typeface="Consolas" charset="0"/>
              </a:rPr>
              <a:t>'Ann'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age: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b="0">
                <a:solidFill>
                  <a:srgbClr val="098658"/>
                </a:solidFill>
                <a:latin typeface="Consolas" charset="0"/>
              </a:rPr>
              <a:t>25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gender: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b="0">
                <a:solidFill>
                  <a:srgbClr val="A31515"/>
                </a:solidFill>
                <a:latin typeface="Consolas" charset="0"/>
              </a:rPr>
              <a:t>'female'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photo: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b="0">
                <a:solidFill>
                  <a:srgbClr val="A31515"/>
                </a:solidFill>
                <a:latin typeface="Consolas" charset="0"/>
              </a:rPr>
              <a:t>'https://photo.jpg'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nationality: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b="0">
                <a:solidFill>
                  <a:srgbClr val="A31515"/>
                </a:solidFill>
                <a:latin typeface="Consolas" charset="0"/>
              </a:rPr>
              <a:t>'Russian'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isStudent: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b="0">
                <a:solidFill>
                  <a:srgbClr val="0000FF"/>
                </a:solidFill>
                <a:latin typeface="Consolas" charset="0"/>
              </a:rPr>
              <a:t>true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000000"/>
                </a:solidFill>
                <a:latin typeface="Consolas" charset="0"/>
              </a:rPr>
              <a:t>}</a:t>
            </a:r>
            <a:endParaRPr lang="en-US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000000"/>
                </a:solidFill>
                <a:latin typeface="Consolas" charset="0"/>
              </a:rPr>
              <a:t>  </a:t>
            </a:r>
            <a:endParaRPr lang="en-US" b="0">
              <a:solidFill>
                <a:srgbClr val="0000FF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result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b="0">
                <a:solidFill>
                  <a:srgbClr val="A31515"/>
                </a:solidFill>
                <a:latin typeface="Consolas" charset="0"/>
              </a:rPr>
              <a:t>""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;</a:t>
            </a:r>
            <a:endParaRPr lang="en-US" b="0">
              <a:solidFill>
                <a:srgbClr val="AF00DB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AF00DB"/>
                </a:solidFill>
                <a:latin typeface="Consolas" charset="0"/>
              </a:rPr>
              <a:t>for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(</a:t>
            </a:r>
            <a:r>
              <a:rPr lang="en-US" b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b="0">
                <a:solidFill>
                  <a:srgbClr val="0000FF"/>
                </a:solidFill>
                <a:latin typeface="Consolas" charset="0"/>
              </a:rPr>
              <a:t>in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) {</a:t>
            </a:r>
            <a:endParaRPr lang="en-US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result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result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b="0">
                <a:solidFill>
                  <a:srgbClr val="A31515"/>
                </a:solidFill>
                <a:latin typeface="Consolas" charset="0"/>
              </a:rPr>
              <a:t>'</a:t>
            </a:r>
            <a:r>
              <a:rPr lang="en-US" b="0">
                <a:solidFill>
                  <a:srgbClr val="EE0000"/>
                </a:solidFill>
                <a:latin typeface="Consolas" charset="0"/>
              </a:rPr>
              <a:t>\n</a:t>
            </a:r>
            <a:r>
              <a:rPr lang="en-US" b="0">
                <a:solidFill>
                  <a:srgbClr val="A31515"/>
                </a:solidFill>
                <a:latin typeface="Consolas" charset="0"/>
              </a:rPr>
              <a:t>'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[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]; </a:t>
            </a:r>
            <a:endParaRPr lang="en-US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000000"/>
                </a:solidFill>
                <a:latin typeface="Consolas" charset="0"/>
              </a:rPr>
              <a:t>}</a:t>
            </a:r>
            <a:endParaRPr lang="en-US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endParaRPr lang="en-US" b="0">
              <a:solidFill>
                <a:srgbClr val="795E26"/>
              </a:solidFill>
              <a:latin typeface="Consolas" charset="0"/>
            </a:endParaRPr>
          </a:p>
          <a:p>
            <a:pPr marL="0" indent="0"/>
            <a:r>
              <a:rPr lang="en-US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b="0">
                <a:solidFill>
                  <a:srgbClr val="001080"/>
                </a:solidFill>
                <a:latin typeface="Consolas" charset="0"/>
              </a:rPr>
              <a:t>result</a:t>
            </a:r>
            <a:r>
              <a:rPr lang="en-US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3181985" y="4247515"/>
            <a:ext cx="4103370" cy="93726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7423785" y="3550920"/>
            <a:ext cx="4104005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ru-RU" sz="2400" b="0" dirty="0">
                <a:latin typeface="Times New Roman" panose="02020603050405020304" charset="0"/>
              </a:rPr>
              <a:t>Использование цикла</a:t>
            </a:r>
            <a:endParaRPr lang="en-US" sz="2400" b="0" dirty="0">
              <a:latin typeface="Times New Roman" panose="02020603050405020304" charset="0"/>
            </a:endParaRPr>
          </a:p>
          <a:p>
            <a:pPr indent="0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使用循环</a:t>
            </a:r>
            <a:endParaRPr lang="ru-RU" sz="2400" dirty="0"/>
          </a:p>
        </p:txBody>
      </p:sp>
      <p:sp>
        <p:nvSpPr>
          <p:cNvPr id="6" name="Text Box 5"/>
          <p:cNvSpPr txBox="1"/>
          <p:nvPr/>
        </p:nvSpPr>
        <p:spPr>
          <a:xfrm>
            <a:off x="788670" y="481647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53110" y="254000"/>
            <a:ext cx="1072642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ru-RU" alt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Чтобы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перебрать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все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значения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объекта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можно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испо</a:t>
            </a:r>
            <a:r>
              <a:rPr lang="ru-RU" altLang="en-US" sz="2400" b="0" dirty="0">
                <a:latin typeface="Times New Roman" panose="02020603050405020304" charset="0"/>
              </a:rPr>
              <a:t>с</a:t>
            </a:r>
            <a:r>
              <a:rPr lang="en-US" sz="2400" b="0" dirty="0" err="1">
                <a:latin typeface="Times New Roman" panose="02020603050405020304" charset="0"/>
              </a:rPr>
              <a:t>льзовать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циклы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специальный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 err="1">
                <a:latin typeface="Times New Roman" panose="02020603050405020304" charset="0"/>
              </a:rPr>
              <a:t>Object.values</a:t>
            </a:r>
            <a:r>
              <a:rPr lang="en-US" sz="2400" b="0" i="1" dirty="0">
                <a:latin typeface="Times New Roman" panose="02020603050405020304" charset="0"/>
              </a:rPr>
              <a:t>(&lt;object&gt;)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endParaRPr lang="en-US" sz="2400" dirty="0">
              <a:latin typeface="Times New Roman" panose="02020603050405020304" charset="0"/>
            </a:endParaRPr>
          </a:p>
          <a:p>
            <a:pPr indent="0" algn="just"/>
            <a:r>
              <a:rPr lang="zh-CN" altLang="en-US" sz="2400" dirty="0"/>
              <a:t>要遍历对象的所有值，可以使用循环或特定的</a:t>
            </a:r>
            <a:r>
              <a:rPr lang="en-US" altLang="zh-CN" sz="2400" dirty="0" err="1"/>
              <a:t>Object.values</a:t>
            </a:r>
            <a:r>
              <a:rPr lang="en-US" altLang="zh-CN" sz="2400" dirty="0"/>
              <a:t>(&lt;object&gt;)</a:t>
            </a:r>
            <a:r>
              <a:rPr lang="zh-CN" altLang="en-US" sz="2400" dirty="0"/>
              <a:t>方法</a:t>
            </a:r>
            <a:endParaRPr lang="en-US" sz="2400" dirty="0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4229735" y="3564890"/>
            <a:ext cx="3199130" cy="203771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7428865" y="2315210"/>
            <a:ext cx="4413885" cy="193899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ru-RU" sz="2400" b="0" dirty="0">
                <a:latin typeface="Times New Roman" panose="02020603050405020304" charset="0"/>
              </a:rPr>
              <a:t>Использование </a:t>
            </a:r>
            <a:r>
              <a:rPr lang="en-US" sz="2400" dirty="0" err="1">
                <a:latin typeface="Times New Roman" panose="02020603050405020304" charset="0"/>
                <a:sym typeface="+mn-ea"/>
              </a:rPr>
              <a:t>метод</a:t>
            </a:r>
            <a:r>
              <a:rPr lang="ru-RU" altLang="en-US" sz="2400" dirty="0">
                <a:latin typeface="Times New Roman" panose="02020603050405020304" charset="0"/>
                <a:sym typeface="+mn-ea"/>
              </a:rPr>
              <a:t>а</a:t>
            </a:r>
            <a:r>
              <a:rPr lang="en-US" sz="2400" dirty="0">
                <a:latin typeface="Times New Roman" panose="02020603050405020304" charset="0"/>
                <a:sym typeface="+mn-ea"/>
              </a:rPr>
              <a:t> </a:t>
            </a:r>
            <a:r>
              <a:rPr lang="en-US" sz="2400" i="1" dirty="0" err="1">
                <a:latin typeface="Times New Roman" panose="02020603050405020304" charset="0"/>
                <a:sym typeface="+mn-ea"/>
              </a:rPr>
              <a:t>Object.values</a:t>
            </a:r>
            <a:r>
              <a:rPr lang="en-US" sz="2400" i="1" dirty="0">
                <a:latin typeface="Times New Roman" panose="02020603050405020304" charset="0"/>
                <a:sym typeface="+mn-ea"/>
              </a:rPr>
              <a:t>(&lt;object&gt;)</a:t>
            </a:r>
            <a:r>
              <a:rPr lang="en-US" sz="2400" dirty="0">
                <a:latin typeface="Times New Roman" panose="02020603050405020304" charset="0"/>
                <a:sym typeface="+mn-ea"/>
              </a:rPr>
              <a:t>.</a:t>
            </a:r>
            <a:endParaRPr lang="en-US" sz="2400" dirty="0">
              <a:latin typeface="Times New Roman" panose="02020603050405020304" charset="0"/>
              <a:sym typeface="+mn-ea"/>
            </a:endParaRPr>
          </a:p>
          <a:p>
            <a:pPr indent="0" algn="just"/>
            <a:endParaRPr lang="en-US" sz="2400" dirty="0">
              <a:latin typeface="Times New Roman" panose="02020603050405020304" charset="0"/>
              <a:sym typeface="+mn-ea"/>
            </a:endParaRPr>
          </a:p>
          <a:p>
            <a:pPr indent="0" algn="just"/>
            <a:r>
              <a:rPr lang="zh-CN" altLang="en-US" sz="2400" dirty="0">
                <a:latin typeface="Times New Roman" panose="02020603050405020304" charset="0"/>
                <a:sym typeface="+mn-ea"/>
              </a:rPr>
              <a:t>使用</a:t>
            </a:r>
            <a:r>
              <a:rPr lang="en-US" altLang="zh-CN" sz="2400" i="1" dirty="0" err="1">
                <a:latin typeface="Times New Roman" panose="02020603050405020304" charset="0"/>
                <a:sym typeface="+mn-ea"/>
              </a:rPr>
              <a:t>Object.values</a:t>
            </a:r>
            <a:r>
              <a:rPr lang="en-US" altLang="zh-CN" sz="2400" i="1" dirty="0">
                <a:latin typeface="Times New Roman" panose="02020603050405020304" charset="0"/>
                <a:sym typeface="+mn-ea"/>
              </a:rPr>
              <a:t>(&lt;object&gt;)</a:t>
            </a:r>
            <a:r>
              <a:rPr lang="zh-CN" altLang="en-US" sz="2400" dirty="0">
                <a:latin typeface="Times New Roman" panose="02020603050405020304" charset="0"/>
                <a:sym typeface="+mn-ea"/>
              </a:rPr>
              <a:t>方法</a:t>
            </a:r>
            <a:endParaRPr lang="ru-RU" sz="2400" dirty="0"/>
          </a:p>
        </p:txBody>
      </p:sp>
      <p:sp>
        <p:nvSpPr>
          <p:cNvPr id="6" name="Text Box 5"/>
          <p:cNvSpPr txBox="1"/>
          <p:nvPr/>
        </p:nvSpPr>
        <p:spPr>
          <a:xfrm>
            <a:off x="753110" y="2769235"/>
            <a:ext cx="5080000" cy="3169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0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{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name: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'Ann'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age: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25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gender: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'female'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photo: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'https://photo.jpg'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nationality: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'Russian'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isStudent: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}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endParaRPr lang="en-US" sz="2000" b="0">
              <a:solidFill>
                <a:srgbClr val="795E26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267F99"/>
                </a:solidFill>
                <a:latin typeface="Consolas" charset="0"/>
              </a:rPr>
              <a:t>Object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values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));</a:t>
            </a:r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87070" y="392430"/>
            <a:ext cx="1080770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/>
            <a:r>
              <a:rPr lang="en-US" sz="2400" b="0" dirty="0">
                <a:latin typeface="Times New Roman" panose="02020603050405020304" charset="0"/>
              </a:rPr>
              <a:t>А </a:t>
            </a:r>
            <a:r>
              <a:rPr lang="en-US" sz="2400" b="0" dirty="0" err="1">
                <a:latin typeface="Times New Roman" panose="02020603050405020304" charset="0"/>
              </a:rPr>
              <a:t>используя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 err="1">
                <a:latin typeface="Times New Roman" panose="02020603050405020304" charset="0"/>
              </a:rPr>
              <a:t>Object.keys</a:t>
            </a:r>
            <a:r>
              <a:rPr lang="en-US" sz="2400" b="0" i="1" dirty="0">
                <a:latin typeface="Times New Roman" panose="02020603050405020304" charset="0"/>
              </a:rPr>
              <a:t>(&lt;object&gt;)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можно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получить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все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имена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свойств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объекта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57200" algn="just"/>
            <a:endParaRPr lang="en-US" sz="2400" dirty="0">
              <a:latin typeface="Times New Roman" panose="02020603050405020304" charset="0"/>
            </a:endParaRPr>
          </a:p>
          <a:p>
            <a:pPr indent="457200" algn="just"/>
            <a:r>
              <a:rPr lang="zh-CN" altLang="en-US" sz="2400" dirty="0"/>
              <a:t>使用</a:t>
            </a:r>
            <a:r>
              <a:rPr lang="en-US" altLang="zh-CN" sz="2400" dirty="0" err="1"/>
              <a:t>Object.keys</a:t>
            </a:r>
            <a:r>
              <a:rPr lang="en-US" altLang="zh-CN" sz="2400" dirty="0"/>
              <a:t>(&lt;</a:t>
            </a:r>
            <a:r>
              <a:rPr lang="zh-CN" altLang="en-US" sz="2400" dirty="0"/>
              <a:t>对象</a:t>
            </a:r>
            <a:r>
              <a:rPr lang="en-US" altLang="zh-CN" sz="2400" dirty="0"/>
              <a:t>&gt;)</a:t>
            </a:r>
            <a:r>
              <a:rPr lang="zh-CN" altLang="en-US" sz="2400" dirty="0"/>
              <a:t>方法可以获取对象的所有属性名称。</a:t>
            </a:r>
            <a:endParaRPr lang="en-US" sz="2400" dirty="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175" y="2540635"/>
            <a:ext cx="5762625" cy="1778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87070" y="3168650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8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8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800" b="0">
                <a:solidFill>
                  <a:srgbClr val="267F99"/>
                </a:solidFill>
                <a:latin typeface="Consolas" charset="0"/>
              </a:rPr>
              <a:t>Object</a:t>
            </a:r>
            <a:r>
              <a:rPr lang="en-US" sz="28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800" b="0">
                <a:solidFill>
                  <a:srgbClr val="795E26"/>
                </a:solidFill>
                <a:latin typeface="Consolas" charset="0"/>
              </a:rPr>
              <a:t>keys</a:t>
            </a:r>
            <a:r>
              <a:rPr lang="en-US" sz="28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800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sz="2800" b="0">
                <a:solidFill>
                  <a:srgbClr val="000000"/>
                </a:solidFill>
                <a:latin typeface="Consolas" charset="0"/>
              </a:rPr>
              <a:t>));</a:t>
            </a:r>
            <a:endParaRPr lang="en-US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25805" y="283845"/>
            <a:ext cx="10998835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	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Вспомним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что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можем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добавить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удалить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или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изменить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свойства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объекта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следующим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образом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 </a:t>
            </a:r>
            <a:endParaRPr lang="en-US" sz="2400" b="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endParaRPr lang="en-US" sz="240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r>
              <a:rPr lang="zh-CN" altLang="en-US" sz="2400" dirty="0"/>
              <a:t>让我们回顾一下，我们可以通过以下方式向对象添加、删除或修改属性。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528320" y="3634740"/>
            <a:ext cx="11196955" cy="2553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Consolas" charset="0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name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 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0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age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 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0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student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>
              <a:solidFill>
                <a:srgbClr val="0000FF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FF"/>
                </a:solidFill>
                <a:latin typeface="Consolas" charset="0"/>
              </a:rPr>
              <a:t>delete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charset="0"/>
                <a:sym typeface="+mn-ea"/>
              </a:rPr>
              <a:t>isStudent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;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>
              <a:solidFill>
                <a:srgbClr val="0070C1"/>
              </a:solidFill>
              <a:latin typeface="Consolas" charset="0"/>
            </a:endParaRPr>
          </a:p>
          <a:p>
            <a:pPr marL="0" indent="0"/>
            <a:r>
              <a:rPr lang="en-US" sz="20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name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"Ekaterina"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;</a:t>
            </a:r>
            <a:endParaRPr lang="en-US" sz="2000" b="0">
              <a:solidFill>
                <a:srgbClr val="0070C1"/>
              </a:solidFill>
              <a:latin typeface="Consolas" charset="0"/>
            </a:endParaRPr>
          </a:p>
          <a:p>
            <a:pPr marL="0" indent="0"/>
            <a:r>
              <a:rPr lang="en-US" sz="20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SecondName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"Mary"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;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>
              <a:solidFill>
                <a:srgbClr val="795E26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name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 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0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SecondName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 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0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age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 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0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student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57860" y="854710"/>
            <a:ext cx="1087628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Чтобы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проверить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есть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ли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определенное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свойство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в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объекте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используется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оператор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i="1" dirty="0">
                <a:solidFill>
                  <a:srgbClr val="000000"/>
                </a:solidFill>
                <a:latin typeface="Times New Roman" panose="02020603050405020304" charset="0"/>
              </a:rPr>
              <a:t>in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 </a:t>
            </a:r>
            <a:endParaRPr lang="en-US" sz="2400" b="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 algn="just"/>
            <a:r>
              <a:rPr lang="zh-CN" altLang="en-US" sz="2400" dirty="0"/>
              <a:t>要检查对象是否具有特定属性，使用</a:t>
            </a:r>
            <a:r>
              <a:rPr lang="en-US" altLang="zh-CN" sz="2400" dirty="0"/>
              <a:t>`in`</a:t>
            </a:r>
            <a:r>
              <a:rPr lang="zh-CN" altLang="en-US" sz="2400" dirty="0"/>
              <a:t>运算符。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6494780" y="4291965"/>
            <a:ext cx="54114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A31515"/>
                </a:solidFill>
                <a:latin typeface="Consolas" charset="0"/>
              </a:rPr>
              <a:t>'name'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in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r>
              <a:rPr lang="ru-RU" altLang="en-US" sz="2400" b="0">
                <a:solidFill>
                  <a:srgbClr val="000000"/>
                </a:solidFill>
                <a:latin typeface="Consolas" charset="0"/>
              </a:rPr>
              <a:t> // true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 alert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A31515"/>
                </a:solidFill>
                <a:latin typeface="Consolas" charset="0"/>
              </a:rPr>
              <a:t>'secondName'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in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r>
              <a:rPr lang="ru-RU" altLang="en-US" sz="2400" b="0">
                <a:solidFill>
                  <a:srgbClr val="000000"/>
                </a:solidFill>
                <a:latin typeface="Consolas" charset="0"/>
              </a:rPr>
              <a:t> //false</a:t>
            </a:r>
            <a:endParaRPr lang="ru-RU" altLang="en-US" sz="2400" b="0">
              <a:solidFill>
                <a:srgbClr val="000000"/>
              </a:solidFill>
              <a:latin typeface="Consola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847215" y="3310255"/>
            <a:ext cx="410083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/>
            <a:r>
              <a:rPr lang="en-US" sz="2400">
                <a:solidFill>
                  <a:srgbClr val="0000FF"/>
                </a:solidFill>
                <a:latin typeface="Consolas" charset="0"/>
                <a:sym typeface="+mn-ea"/>
              </a:rPr>
              <a:t>const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</a:t>
            </a:r>
            <a:r>
              <a:rPr lang="en-US" sz="2400">
                <a:solidFill>
                  <a:srgbClr val="0070C1"/>
                </a:solidFill>
                <a:latin typeface="Consolas" charset="0"/>
                <a:sym typeface="+mn-ea"/>
              </a:rPr>
              <a:t>person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= {</a:t>
            </a:r>
            <a:endParaRPr lang="en-US" sz="2400">
              <a:solidFill>
                <a:srgbClr val="000000"/>
              </a:solidFill>
              <a:latin typeface="Consolas" charset="0"/>
              <a:sym typeface="+mn-ea"/>
            </a:endParaRPr>
          </a:p>
          <a:p>
            <a:pPr marL="0" indent="0"/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 </a:t>
            </a:r>
            <a:r>
              <a:rPr lang="en-US" sz="2400">
                <a:solidFill>
                  <a:srgbClr val="001080"/>
                </a:solidFill>
                <a:latin typeface="Consolas" charset="0"/>
                <a:sym typeface="+mn-ea"/>
              </a:rPr>
              <a:t>name: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</a:t>
            </a:r>
            <a:r>
              <a:rPr lang="en-US" sz="2400">
                <a:solidFill>
                  <a:srgbClr val="A31515"/>
                </a:solidFill>
                <a:latin typeface="Consolas" charset="0"/>
                <a:sym typeface="+mn-ea"/>
              </a:rPr>
              <a:t>'Ann'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,</a:t>
            </a:r>
            <a:endParaRPr lang="en-US" sz="2400">
              <a:solidFill>
                <a:srgbClr val="000000"/>
              </a:solidFill>
              <a:latin typeface="Consolas" charset="0"/>
              <a:sym typeface="+mn-ea"/>
            </a:endParaRPr>
          </a:p>
          <a:p>
            <a:pPr marL="0" indent="0"/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 </a:t>
            </a:r>
            <a:r>
              <a:rPr lang="en-US" sz="2400">
                <a:solidFill>
                  <a:srgbClr val="001080"/>
                </a:solidFill>
                <a:latin typeface="Consolas" charset="0"/>
                <a:sym typeface="+mn-ea"/>
              </a:rPr>
              <a:t>age: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</a:t>
            </a:r>
            <a:r>
              <a:rPr lang="en-US" sz="2400">
                <a:solidFill>
                  <a:srgbClr val="098658"/>
                </a:solidFill>
                <a:latin typeface="Consolas" charset="0"/>
                <a:sym typeface="+mn-ea"/>
              </a:rPr>
              <a:t>25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,</a:t>
            </a:r>
            <a:endParaRPr lang="en-US" sz="2400">
              <a:solidFill>
                <a:srgbClr val="000000"/>
              </a:solidFill>
              <a:latin typeface="Consolas" charset="0"/>
              <a:sym typeface="+mn-ea"/>
            </a:endParaRPr>
          </a:p>
          <a:p>
            <a:pPr marL="0" indent="0"/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 </a:t>
            </a:r>
            <a:r>
              <a:rPr lang="en-US" sz="2400">
                <a:solidFill>
                  <a:srgbClr val="001080"/>
                </a:solidFill>
                <a:latin typeface="Consolas" charset="0"/>
                <a:sym typeface="+mn-ea"/>
              </a:rPr>
              <a:t>gender: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</a:t>
            </a:r>
            <a:r>
              <a:rPr lang="en-US" sz="2400">
                <a:solidFill>
                  <a:srgbClr val="A31515"/>
                </a:solidFill>
                <a:latin typeface="Consolas" charset="0"/>
                <a:sym typeface="+mn-ea"/>
              </a:rPr>
              <a:t>'female'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,</a:t>
            </a:r>
            <a:endParaRPr lang="en-US" sz="2400">
              <a:solidFill>
                <a:srgbClr val="000000"/>
              </a:solidFill>
              <a:latin typeface="Consolas" charset="0"/>
              <a:sym typeface="+mn-ea"/>
            </a:endParaRPr>
          </a:p>
          <a:p>
            <a:pPr marL="0" indent="0"/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 </a:t>
            </a:r>
            <a:r>
              <a:rPr lang="en-US" sz="2400">
                <a:solidFill>
                  <a:srgbClr val="001080"/>
                </a:solidFill>
                <a:latin typeface="Consolas" charset="0"/>
                <a:sym typeface="+mn-ea"/>
              </a:rPr>
              <a:t>photo: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</a:t>
            </a:r>
            <a:r>
              <a:rPr lang="en-US" sz="2400">
                <a:solidFill>
                  <a:srgbClr val="A31515"/>
                </a:solidFill>
                <a:latin typeface="Consolas" charset="0"/>
                <a:sym typeface="+mn-ea"/>
              </a:rPr>
              <a:t>'https://photo.jpg'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,</a:t>
            </a:r>
            <a:endParaRPr lang="en-US" sz="2400">
              <a:solidFill>
                <a:srgbClr val="000000"/>
              </a:solidFill>
              <a:latin typeface="Consolas" charset="0"/>
              <a:sym typeface="+mn-ea"/>
            </a:endParaRPr>
          </a:p>
          <a:p>
            <a:pPr marL="0" indent="0"/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 </a:t>
            </a:r>
            <a:r>
              <a:rPr lang="en-US" sz="2400">
                <a:solidFill>
                  <a:srgbClr val="001080"/>
                </a:solidFill>
                <a:latin typeface="Consolas" charset="0"/>
                <a:sym typeface="+mn-ea"/>
              </a:rPr>
              <a:t>nationality: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</a:t>
            </a:r>
            <a:r>
              <a:rPr lang="en-US" sz="2400">
                <a:solidFill>
                  <a:srgbClr val="A31515"/>
                </a:solidFill>
                <a:latin typeface="Consolas" charset="0"/>
                <a:sym typeface="+mn-ea"/>
              </a:rPr>
              <a:t>'Russian'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,</a:t>
            </a:r>
            <a:endParaRPr lang="en-US" sz="2400">
              <a:solidFill>
                <a:srgbClr val="000000"/>
              </a:solidFill>
              <a:latin typeface="Consolas" charset="0"/>
              <a:sym typeface="+mn-ea"/>
            </a:endParaRPr>
          </a:p>
          <a:p>
            <a:pPr marL="0" indent="0"/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 </a:t>
            </a:r>
            <a:r>
              <a:rPr lang="en-US" sz="2400">
                <a:solidFill>
                  <a:srgbClr val="001080"/>
                </a:solidFill>
                <a:latin typeface="Consolas" charset="0"/>
                <a:sym typeface="+mn-ea"/>
              </a:rPr>
              <a:t>isStudent: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 </a:t>
            </a:r>
            <a:r>
              <a:rPr lang="en-US" sz="2400">
                <a:solidFill>
                  <a:srgbClr val="0000FF"/>
                </a:solidFill>
                <a:latin typeface="Consolas" charset="0"/>
                <a:sym typeface="+mn-ea"/>
              </a:rPr>
              <a:t>true</a:t>
            </a:r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,</a:t>
            </a:r>
            <a:endParaRPr lang="en-US" sz="2400">
              <a:solidFill>
                <a:srgbClr val="000000"/>
              </a:solidFill>
              <a:latin typeface="Consolas" charset="0"/>
              <a:sym typeface="+mn-ea"/>
            </a:endParaRPr>
          </a:p>
          <a:p>
            <a:pPr marL="0" indent="0"/>
            <a:r>
              <a:rPr lang="en-US" sz="2400">
                <a:solidFill>
                  <a:srgbClr val="000000"/>
                </a:solidFill>
                <a:latin typeface="Consolas" charset="0"/>
                <a:sym typeface="+mn-ea"/>
              </a:rPr>
              <a:t>}</a:t>
            </a:r>
            <a:endParaRPr lang="en-US" sz="2400"/>
          </a:p>
        </p:txBody>
      </p:sp>
      <p:sp>
        <p:nvSpPr>
          <p:cNvPr id="5" name="Rectangles 4"/>
          <p:cNvSpPr/>
          <p:nvPr/>
        </p:nvSpPr>
        <p:spPr>
          <a:xfrm>
            <a:off x="6530975" y="4312920"/>
            <a:ext cx="3469640" cy="408305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74370" y="454660"/>
            <a:ext cx="7455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Что такое Object.prototype? / 什么是 Object.prototype？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49300" y="1539875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Object.prototype — это прототип, от которого наследуются все объекты в JavaScript. Все объекты, создаваемые через {}, new Object() или с использованием конструкторов (например, new Date()), имеют в своей цепочке прототипов Object.prototype.</a:t>
            </a:r>
            <a:endParaRPr lang="en-US"/>
          </a:p>
          <a:p>
            <a:endParaRPr lang="en-US"/>
          </a:p>
          <a:p>
            <a:r>
              <a:rPr lang="en-US"/>
              <a:t>Это фундаментальная часть прототипного наследования в JavaScript.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715760" y="1539875"/>
            <a:ext cx="406400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Object.prototype 是 JavaScript 中所有对象的原型。</a:t>
            </a:r>
            <a:endParaRPr lang="en-US" sz="2000"/>
          </a:p>
          <a:p>
            <a:r>
              <a:rPr lang="en-US" sz="2000"/>
              <a:t>通过 {}、new Object() 或任何构造函数（如 new Date()）创建的对象，都会继承自 Object.prototype。</a:t>
            </a:r>
            <a:endParaRPr lang="en-US" sz="2000"/>
          </a:p>
          <a:p>
            <a:endParaRPr lang="en-US" sz="2000"/>
          </a:p>
          <a:p>
            <a:r>
              <a:rPr lang="en-US" sz="2000"/>
              <a:t>它是 JavaScript 原型继承机制的基础。</a:t>
            </a:r>
            <a:endParaRPr 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737235" y="5067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Object.prototype.constructor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737235" y="1329055"/>
            <a:ext cx="49593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Указывает на функцию-конструктор объекта. </a:t>
            </a:r>
            <a:endParaRPr lang="en-US"/>
          </a:p>
          <a:p>
            <a:endParaRPr lang="en-US"/>
          </a:p>
          <a:p>
            <a:r>
              <a:rPr lang="en-US"/>
              <a:t>Например: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280160" y="3439160"/>
            <a:ext cx="9302115" cy="1383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24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const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24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obj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24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{};</a:t>
            </a:r>
            <a:endParaRPr sz="24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endParaRPr sz="24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4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4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obj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constructor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24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===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24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Object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24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true</a:t>
            </a:r>
            <a:endParaRPr sz="24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24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defTabSz="266700">
              <a:spcAft>
                <a:spcPct val="0"/>
              </a:spcAft>
            </a:pPr>
            <a:r>
              <a:rPr sz="2400">
                <a:latin typeface="Calibri" panose="020F0502020204030204"/>
                <a:ea typeface="SimSun"/>
              </a:rPr>
              <a:t> </a:t>
            </a:r>
            <a:endParaRPr sz="2400">
              <a:latin typeface="Calibri" panose="020F0502020204030204"/>
              <a:ea typeface="SimSun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518275" y="13290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指向对象的构造函数。</a:t>
            </a:r>
            <a:endParaRPr lang="en-US"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737235" y="7385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Object.prototype.hasOwnProperty()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737235" y="1558290"/>
            <a:ext cx="48209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Проверяет, есть ли у объекта собственное свойство (не унаследованное).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037080" y="3429000"/>
            <a:ext cx="8033385" cy="12604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const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obj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{ 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name: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'Alice'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};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obj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hasOwnProperty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'name'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17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true</a:t>
            </a:r>
            <a:endParaRPr sz="17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obj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hasOwnProperty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'toString'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17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false</a:t>
            </a:r>
            <a:endParaRPr sz="17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defTabSz="266700">
              <a:spcAft>
                <a:spcPct val="0"/>
              </a:spcAft>
            </a:pPr>
            <a:r>
              <a:rPr sz="1600">
                <a:latin typeface="Calibri" panose="020F0502020204030204"/>
                <a:ea typeface="SimSun"/>
              </a:rPr>
              <a:t> </a:t>
            </a:r>
            <a:endParaRPr sz="1600">
              <a:latin typeface="Calibri" panose="020F0502020204030204"/>
              <a:ea typeface="SimSun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4190" y="155829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检查对象是否拥有某个自身属性（非继承）。</a:t>
            </a:r>
            <a:endParaRPr 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68960" y="6140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Object.prototype.toString()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68960" y="1350645"/>
            <a:ext cx="49168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Возвращает строковое представление объекта.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235710" y="3277235"/>
            <a:ext cx="9265920" cy="7835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4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({}.</a:t>
            </a:r>
            <a:r>
              <a:rPr sz="24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toString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()); </a:t>
            </a:r>
            <a:r>
              <a:rPr sz="24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[object Object]</a:t>
            </a:r>
            <a:endParaRPr sz="24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24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4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([</a:t>
            </a:r>
            <a:r>
              <a:rPr sz="24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24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2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].</a:t>
            </a:r>
            <a:r>
              <a:rPr sz="24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toString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()); </a:t>
            </a:r>
            <a:r>
              <a:rPr sz="24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1,2</a:t>
            </a:r>
            <a:endParaRPr sz="24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569710" y="13506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返回对象的字符串表示形式。</a:t>
            </a:r>
            <a:endParaRPr 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10870" y="591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Object.prototype.isPrototypeOf()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10870" y="1497965"/>
            <a:ext cx="5226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Проверяет, является ли объект прототипом другого объекта.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489075" y="3086735"/>
            <a:ext cx="9214485" cy="17221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Person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name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 {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this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name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name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const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person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new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Person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'Bob'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Person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prototype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isPrototypeOf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person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17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true</a:t>
            </a:r>
            <a:endParaRPr sz="17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defTabSz="266700">
              <a:spcAft>
                <a:spcPct val="0"/>
              </a:spcAft>
            </a:pPr>
            <a:r>
              <a:rPr sz="1600">
                <a:latin typeface="Calibri" panose="020F0502020204030204"/>
                <a:ea typeface="SimSun"/>
              </a:rPr>
              <a:t> </a:t>
            </a:r>
            <a:endParaRPr sz="1600">
              <a:latin typeface="Calibri" panose="020F0502020204030204"/>
              <a:ea typeface="SimSun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593205" y="1497965"/>
            <a:ext cx="50761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检查一个对象是否为另一个对象的原型。</a:t>
            </a:r>
            <a:endParaRPr 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68960" y="492760"/>
            <a:ext cx="5364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Наследование через Object.prototype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52145" y="134112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Объект может наследовать методы и свойства от Object.prototype. Если вы добавите метод в Object.prototype, он будет доступен всем объектам: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221105" y="3429000"/>
            <a:ext cx="9368790" cy="1476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1600" b="0">
                <a:solidFill>
                  <a:srgbClr val="267F99"/>
                </a:solidFill>
                <a:latin typeface="Menlo" panose="020B0609030804020204"/>
                <a:ea typeface="Menlo" panose="020B0609030804020204"/>
              </a:rPr>
              <a:t>Object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prototype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greet</a:t>
            </a:r>
            <a:r>
              <a:rPr lang="ru-RU"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lang="ru-RU"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indent="457200"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'Hello from Object.prototype!'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};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const</a:t>
            </a:r>
            <a:r>
              <a:rPr lang="ru-RU"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obj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 {};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obj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greet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Hello from Object.prototype!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386195" y="492760"/>
            <a:ext cx="513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通过 Object.prototype 继承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386195" y="1341120"/>
            <a:ext cx="51301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对象可以继承 Object.prototype 的方法和属性。如果向 Object.prototype 添加方法，所有对象都可以使用该方法：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68960" y="738505"/>
            <a:ext cx="5353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Наследование через Object.prototype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68960" y="1520825"/>
            <a:ext cx="54927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FF0000"/>
                </a:solidFill>
              </a:rPr>
              <a:t>Важно!</a:t>
            </a:r>
            <a:r>
              <a:rPr lang="en-US"/>
              <a:t> Не рекомендуется изменять Object.prototype в реальных проектах, так как это может привести к проблемам совместимости.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061075" y="1520825"/>
            <a:ext cx="5000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rgbClr val="FF0000"/>
                </a:solidFill>
              </a:rPr>
              <a:t>注意！</a:t>
            </a:r>
            <a:r>
              <a:rPr lang="en-US" sz="2400"/>
              <a:t> 在实际项目中，不建议修改 Object.prototype，因为这可能导致兼容性问题。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6061075" y="738505"/>
            <a:ext cx="50006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ym typeface="+mn-ea"/>
              </a:rPr>
              <a:t>通过 Object.prototype 继承</a:t>
            </a:r>
            <a:endParaRPr lang="en-US" sz="2400"/>
          </a:p>
          <a:p>
            <a:endParaRPr 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59435" y="3549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Пример: Цепочка прототипов</a:t>
            </a:r>
            <a:endParaRPr lang="en-US"/>
          </a:p>
          <a:p>
            <a:r>
              <a:rPr lang="en-US"/>
              <a:t>示例: 原型链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59435" y="1496695"/>
            <a:ext cx="10521315" cy="17379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const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obj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{ 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key: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'value'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};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obj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key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7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value</a:t>
            </a:r>
            <a:endParaRPr sz="17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obj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hasOwnProperty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'key'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)); </a:t>
            </a:r>
            <a:r>
              <a:rPr sz="17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true</a:t>
            </a:r>
            <a:endParaRPr sz="17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obj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toString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()); </a:t>
            </a:r>
            <a:r>
              <a:rPr sz="17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[object Object]</a:t>
            </a:r>
            <a:endParaRPr sz="17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1600">
                <a:latin typeface="Calibri" panose="020F0502020204030204"/>
                <a:ea typeface="SimSun"/>
              </a:rPr>
              <a:t> </a:t>
            </a:r>
            <a:endParaRPr sz="1600">
              <a:latin typeface="Calibri" panose="020F0502020204030204"/>
              <a:ea typeface="SimSun"/>
            </a:endParaRPr>
          </a:p>
          <a:p>
            <a:pPr marL="0" indent="0" defTabSz="266700">
              <a:spcAft>
                <a:spcPct val="0"/>
              </a:spcAft>
            </a:pPr>
            <a:r>
              <a:rPr sz="1600">
                <a:latin typeface="Calibri" panose="020F0502020204030204"/>
                <a:ea typeface="SimSun"/>
              </a:rPr>
              <a:t> </a:t>
            </a:r>
            <a:endParaRPr sz="1600">
              <a:latin typeface="Calibri" panose="020F0502020204030204"/>
              <a:ea typeface="SimSun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55650" y="375920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Когда мы вызываем obj.toString(), JavaScript ищет метод toString:</a:t>
            </a:r>
            <a:endParaRPr lang="en-US"/>
          </a:p>
          <a:p>
            <a:endParaRPr lang="en-US"/>
          </a:p>
          <a:p>
            <a:r>
              <a:rPr lang="en-US">
                <a:sym typeface="+mn-ea"/>
              </a:rPr>
              <a:t>- Сначала в объекте obj.</a:t>
            </a:r>
            <a:endParaRPr lang="en-US"/>
          </a:p>
          <a:p>
            <a:r>
              <a:rPr lang="en-US">
                <a:sym typeface="+mn-ea"/>
              </a:rPr>
              <a:t>- Затем в Object.prototype, если его нет в самом объекте.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901815" y="375920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当调用 obj.toString() 时，JavaScript 会依次查找：</a:t>
            </a:r>
            <a:endParaRPr lang="en-US"/>
          </a:p>
          <a:p>
            <a:endParaRPr lang="en-US"/>
          </a:p>
          <a:p>
            <a:r>
              <a:rPr lang="en-US"/>
              <a:t>首先在 obj 自身查找。</a:t>
            </a:r>
            <a:endParaRPr lang="en-US"/>
          </a:p>
          <a:p>
            <a:r>
              <a:rPr lang="en-US"/>
              <a:t>如果不存在，再查找 Object.prototype。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71195" y="488950"/>
            <a:ext cx="10916920" cy="26776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	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Объектами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также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представлены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и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даты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в JavaScript.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Давайте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рассмотрим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как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представлены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даты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в JavaScript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подробнее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endParaRPr lang="en-US" sz="240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r>
              <a:rPr lang="en-US" altLang="zh-CN" sz="2400" dirty="0"/>
              <a:t>JavaScript</a:t>
            </a:r>
            <a:r>
              <a:rPr lang="zh-CN" altLang="en-US" sz="2400" dirty="0"/>
              <a:t>中还将数组和日期表示为对象。让我们更详细地看一下</a:t>
            </a:r>
            <a:r>
              <a:rPr lang="en-US" altLang="zh-CN" sz="2400" dirty="0"/>
              <a:t>JavaScript</a:t>
            </a:r>
            <a:r>
              <a:rPr lang="zh-CN" altLang="en-US" sz="2400" dirty="0"/>
              <a:t>中如何表示日期。</a:t>
            </a:r>
            <a:endParaRPr lang="zh-CN" altLang="en-US" sz="2400" dirty="0"/>
          </a:p>
          <a:p>
            <a:pPr indent="0" algn="just"/>
            <a:endParaRPr lang="zh-CN" altLang="en-US" sz="2400" dirty="0"/>
          </a:p>
          <a:p>
            <a:pPr indent="0" algn="just"/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1433195" y="4146232"/>
            <a:ext cx="508000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date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new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267F99"/>
                </a:solidFill>
                <a:latin typeface="Consolas" charset="0"/>
              </a:rPr>
              <a:t>Date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();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date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typeof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date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775" y="4145915"/>
            <a:ext cx="5153025" cy="13036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39140" y="557530"/>
            <a:ext cx="10699750" cy="26776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Конструктор</a:t>
            </a:r>
            <a:r>
              <a:rPr lang="en-US" sz="2400" b="0" dirty="0">
                <a:latin typeface="Times New Roman" panose="02020603050405020304" charset="0"/>
              </a:rPr>
              <a:t> Date() </a:t>
            </a:r>
            <a:r>
              <a:rPr lang="en-US" sz="2400" b="0" dirty="0" err="1">
                <a:latin typeface="Times New Roman" panose="02020603050405020304" charset="0"/>
              </a:rPr>
              <a:t>создает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объекты</a:t>
            </a:r>
            <a:r>
              <a:rPr lang="en-US" sz="2400" b="0" dirty="0">
                <a:latin typeface="Times New Roman" panose="02020603050405020304" charset="0"/>
              </a:rPr>
              <a:t> Date. </a:t>
            </a:r>
            <a:r>
              <a:rPr lang="en-US" sz="2400" b="0" dirty="0" err="1">
                <a:latin typeface="Times New Roman" panose="02020603050405020304" charset="0"/>
              </a:rPr>
              <a:t>При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вызове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как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функция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она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возвращает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строку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представляющую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текущее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время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r>
              <a:rPr lang="en-US" altLang="zh-CN" sz="2400" dirty="0"/>
              <a:t>`Date()` </a:t>
            </a:r>
            <a:r>
              <a:rPr lang="zh-CN" altLang="en-US" sz="2400" dirty="0"/>
              <a:t>构造函数用于创建 </a:t>
            </a:r>
            <a:r>
              <a:rPr lang="en-US" altLang="zh-CN" sz="2400" dirty="0"/>
              <a:t>`Date` </a:t>
            </a:r>
            <a:r>
              <a:rPr lang="zh-CN" altLang="en-US" sz="2400" dirty="0"/>
              <a:t>对象。当作为函数调用时，它返回表示当前时间的字符串。</a:t>
            </a:r>
            <a:endParaRPr lang="zh-CN" altLang="en-US" sz="2400" dirty="0"/>
          </a:p>
          <a:p>
            <a:pPr indent="449580" algn="just"/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Существует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пять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основных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форм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конструктора</a:t>
            </a:r>
            <a:r>
              <a:rPr lang="en-US" sz="2400" b="0" dirty="0">
                <a:latin typeface="Times New Roman" panose="02020603050405020304" charset="0"/>
              </a:rPr>
              <a:t> Date()</a:t>
            </a:r>
            <a:endParaRPr lang="zh-CN" altLang="en-US" sz="2400" dirty="0"/>
          </a:p>
          <a:p>
            <a:r>
              <a:rPr lang="en-US" altLang="zh-CN" sz="2400" dirty="0"/>
              <a:t>`Date()` </a:t>
            </a:r>
            <a:r>
              <a:rPr lang="zh-CN" altLang="en-US" sz="2400" dirty="0"/>
              <a:t>构造函数有五种主要的形式。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739140" y="3950335"/>
            <a:ext cx="9801225" cy="22453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just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new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Consolas" charset="0"/>
              </a:rPr>
              <a:t>Date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());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 algn="just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new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Consolas" charset="0"/>
              </a:rPr>
              <a:t>Date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1699120065585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));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 algn="just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new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Consolas" charset="0"/>
              </a:rPr>
              <a:t>Date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'11/21/1999'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));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 algn="just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new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Consolas" charset="0"/>
              </a:rPr>
              <a:t>Date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"December 17, 1995 03:24:00"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));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 algn="just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new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Consolas" charset="0"/>
              </a:rPr>
              <a:t>Date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"1995-12-17T03:24:00"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));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 algn="just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new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Consolas" charset="0"/>
              </a:rPr>
              <a:t>Date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new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Consolas" charset="0"/>
              </a:rPr>
              <a:t>Date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Consolas" charset="0"/>
              </a:rPr>
              <a:t>'11/21/1999'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)));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 algn="just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new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Consolas" charset="0"/>
              </a:rPr>
              <a:t>Date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1999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10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11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));</a:t>
            </a:r>
            <a:endParaRPr lang="en-US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93725" y="563245"/>
            <a:ext cx="11043920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Далее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рассмотрим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методы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получения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значения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например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как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получить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отдельно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день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/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месяц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/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год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и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другие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значения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接下来，让我们来看看获取日期值的方法，例如如何分别获取日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/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月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/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年等数值。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1111250" y="3070860"/>
            <a:ext cx="9542780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000" b="0">
                <a:solidFill>
                  <a:srgbClr val="0000FF"/>
                </a:solidFill>
                <a:latin typeface="sans-serif" charset="0"/>
              </a:rPr>
              <a:t>const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 </a:t>
            </a:r>
            <a:r>
              <a:rPr lang="en-US" sz="2000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 = </a:t>
            </a:r>
            <a:r>
              <a:rPr lang="en-US" sz="2000" b="0">
                <a:solidFill>
                  <a:srgbClr val="0000FF"/>
                </a:solidFill>
                <a:latin typeface="sans-serif" charset="0"/>
              </a:rPr>
              <a:t>new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 </a:t>
            </a:r>
            <a:r>
              <a:rPr lang="en-US" sz="2000" b="0">
                <a:solidFill>
                  <a:srgbClr val="267F99"/>
                </a:solidFill>
                <a:latin typeface="sans-serif" charset="0"/>
              </a:rPr>
              <a:t>Date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sz="2000" b="0">
                <a:solidFill>
                  <a:srgbClr val="A31515"/>
                </a:solidFill>
                <a:latin typeface="sans-serif" charset="0"/>
              </a:rPr>
              <a:t>'November 25, 2023 21:15:30:23'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);</a:t>
            </a:r>
            <a:endParaRPr lang="en-US" sz="2000" b="0">
              <a:solidFill>
                <a:srgbClr val="000000"/>
              </a:solidFill>
              <a:latin typeface="Times New Roman" panose="02020603050405020304" charset="0"/>
            </a:endParaRPr>
          </a:p>
          <a:p>
            <a:pPr marL="0" indent="0" algn="l"/>
            <a:r>
              <a:rPr lang="en-US" sz="2000" b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endParaRPr lang="en-US" sz="2000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getDate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sz="2000" b="0">
                <a:solidFill>
                  <a:srgbClr val="008000"/>
                </a:solidFill>
                <a:latin typeface="sans-serif" charset="0"/>
              </a:rPr>
              <a:t>// 25</a:t>
            </a:r>
            <a:endParaRPr lang="en-US" sz="2000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getDay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sz="2000" b="0">
                <a:solidFill>
                  <a:srgbClr val="008000"/>
                </a:solidFill>
                <a:latin typeface="sans-serif" charset="0"/>
              </a:rPr>
              <a:t>// 6 === Friday</a:t>
            </a:r>
            <a:endParaRPr lang="en-US" sz="2000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getMonth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sz="2000" b="0">
                <a:solidFill>
                  <a:srgbClr val="008000"/>
                </a:solidFill>
                <a:latin typeface="sans-serif" charset="0"/>
              </a:rPr>
              <a:t>// 10 === November</a:t>
            </a:r>
            <a:endParaRPr lang="en-US" sz="2000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getFullYear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sz="2000" b="0">
                <a:solidFill>
                  <a:srgbClr val="008000"/>
                </a:solidFill>
                <a:latin typeface="sans-serif" charset="0"/>
              </a:rPr>
              <a:t>// 2023</a:t>
            </a:r>
            <a:endParaRPr lang="en-US" sz="2000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getHours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sz="2000" b="0">
                <a:solidFill>
                  <a:srgbClr val="008000"/>
                </a:solidFill>
                <a:latin typeface="sans-serif" charset="0"/>
              </a:rPr>
              <a:t>// 21</a:t>
            </a:r>
            <a:endParaRPr lang="en-US" sz="2000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getMinutes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sz="2000" b="0">
                <a:solidFill>
                  <a:srgbClr val="008000"/>
                </a:solidFill>
                <a:latin typeface="sans-serif" charset="0"/>
              </a:rPr>
              <a:t>// 15</a:t>
            </a:r>
            <a:endParaRPr lang="en-US" sz="2000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getSeconds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sz="2000" b="0">
                <a:solidFill>
                  <a:srgbClr val="008000"/>
                </a:solidFill>
                <a:latin typeface="sans-serif" charset="0"/>
              </a:rPr>
              <a:t>// 30</a:t>
            </a:r>
            <a:endParaRPr lang="en-US" sz="2000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getMilliseconds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sz="2000" b="0">
                <a:solidFill>
                  <a:srgbClr val="008000"/>
                </a:solidFill>
                <a:latin typeface="sans-serif" charset="0"/>
              </a:rPr>
              <a:t>// 23</a:t>
            </a:r>
            <a:endParaRPr lang="en-US" sz="2000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sz="2000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sz="2000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sans-serif" charset="0"/>
              </a:rPr>
              <a:t>getTime</a:t>
            </a:r>
            <a:r>
              <a:rPr lang="en-US" sz="2000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sz="2000" b="0">
                <a:solidFill>
                  <a:srgbClr val="008000"/>
                </a:solidFill>
                <a:latin typeface="sans-serif" charset="0"/>
              </a:rPr>
              <a:t>// 1700936130023</a:t>
            </a:r>
            <a:endParaRPr 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771525" y="483870"/>
            <a:ext cx="10824845" cy="41549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Чтобы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лучше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запомнить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давайте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напишем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скрипт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Пользователь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с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помощью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модального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окна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задает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дату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своего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рождения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после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этого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странице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появляется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текст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: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为了更好地记住，让我们编写一个脚本。用户通过模态窗口设置他们的生日日期，之后页面上会出现一段文字：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 algn="just">
              <a:buFont typeface="Arial" panose="020B0704020202020204" pitchFamily="34" charset="0"/>
              <a:buChar char="•"/>
            </a:pP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Я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родился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x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числа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/ I was born on the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xth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;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 algn="just">
              <a:buFont typeface="Arial" panose="020B0704020202020204" pitchFamily="34" charset="0"/>
              <a:buChar char="•"/>
            </a:pP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我出生在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x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号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 algn="just">
              <a:buFont typeface="Arial" panose="020B0704020202020204" pitchFamily="34" charset="0"/>
              <a:buChar char="•"/>
            </a:pP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Я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родился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в x(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месяц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) / I was born in x(month);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 algn="just">
              <a:buFont typeface="Arial" panose="020B0704020202020204" pitchFamily="34" charset="0"/>
              <a:buChar char="•"/>
            </a:pPr>
            <a:r>
              <a:rPr lang="zh-CN" altLang="zh-CN" sz="2400" dirty="0">
                <a:effectLst/>
                <a:ea typeface="Microsoft YaHei" charset="-122"/>
              </a:rPr>
              <a:t>我出生于x（月）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 algn="just">
              <a:buFont typeface="Arial" panose="020B0704020202020204" pitchFamily="34" charset="0"/>
              <a:buChar char="•"/>
            </a:pP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и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так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далее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285750" y="1076325"/>
            <a:ext cx="11621135" cy="40925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just"/>
            <a:r>
              <a:rPr lang="en-US" sz="2000" b="1">
                <a:solidFill>
                  <a:srgbClr val="0000FF"/>
                </a:solidFill>
                <a:latin typeface="Courier New" panose="02070609020205020404" charset="0"/>
              </a:rPr>
              <a:t>const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0070C1"/>
                </a:solidFill>
                <a:latin typeface="Courier New" panose="02070609020205020404" charset="0"/>
              </a:rPr>
              <a:t>userBD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</a:rPr>
              <a:t>=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795E26"/>
                </a:solidFill>
                <a:latin typeface="Courier New" panose="02070609020205020404" charset="0"/>
              </a:rPr>
              <a:t>prompt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'Date of Birth'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);</a:t>
            </a:r>
            <a:endParaRPr lang="en-US" sz="2000" b="0">
              <a:latin typeface="SimSun" charset="0"/>
            </a:endParaRPr>
          </a:p>
          <a:p>
            <a:pPr marL="0" indent="0" algn="just"/>
            <a:r>
              <a:rPr lang="en-US" sz="2000" b="0">
                <a:latin typeface="SimSun" charset="0"/>
              </a:rPr>
              <a:t> </a:t>
            </a:r>
            <a:endParaRPr lang="en-US" sz="2000" b="1">
              <a:solidFill>
                <a:srgbClr val="0000FF"/>
              </a:solidFill>
              <a:latin typeface="Courier New" panose="02070609020205020404" charset="0"/>
            </a:endParaRPr>
          </a:p>
          <a:p>
            <a:pPr marL="0" indent="0" algn="just"/>
            <a:r>
              <a:rPr lang="en-US" sz="2000" b="1">
                <a:solidFill>
                  <a:srgbClr val="0000FF"/>
                </a:solidFill>
                <a:latin typeface="Courier New" panose="02070609020205020404" charset="0"/>
              </a:rPr>
              <a:t>const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0070C1"/>
                </a:solidFill>
                <a:latin typeface="Courier New" panose="02070609020205020404" charset="0"/>
              </a:rPr>
              <a:t>birthday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</a:rPr>
              <a:t>=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0000FF"/>
                </a:solidFill>
                <a:latin typeface="Courier New" panose="02070609020205020404" charset="0"/>
              </a:rPr>
              <a:t>new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267F99"/>
                </a:solidFill>
                <a:latin typeface="Courier New" panose="02070609020205020404" charset="0"/>
              </a:rPr>
              <a:t>Date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sz="2000" b="1">
                <a:solidFill>
                  <a:srgbClr val="0070C1"/>
                </a:solidFill>
                <a:latin typeface="Courier New" panose="02070609020205020404" charset="0"/>
              </a:rPr>
              <a:t>userBD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);</a:t>
            </a:r>
            <a:endParaRPr lang="en-US" sz="2000" b="0">
              <a:latin typeface="SimSun" charset="0"/>
            </a:endParaRPr>
          </a:p>
          <a:p>
            <a:pPr marL="0" indent="0" algn="just"/>
            <a:r>
              <a:rPr lang="en-US" sz="2000" b="0">
                <a:latin typeface="SimSun" charset="0"/>
              </a:rPr>
              <a:t> </a:t>
            </a:r>
            <a:endParaRPr lang="en-US" sz="2000" b="1">
              <a:solidFill>
                <a:srgbClr val="0000FF"/>
              </a:solidFill>
              <a:latin typeface="Courier New" panose="02070609020205020404" charset="0"/>
            </a:endParaRPr>
          </a:p>
          <a:p>
            <a:pPr marL="0" indent="0" algn="just"/>
            <a:r>
              <a:rPr lang="en-US" sz="2000" b="1">
                <a:solidFill>
                  <a:srgbClr val="0000FF"/>
                </a:solidFill>
                <a:latin typeface="Courier New" panose="02070609020205020404" charset="0"/>
              </a:rPr>
              <a:t>const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0070C1"/>
                </a:solidFill>
                <a:latin typeface="Courier New" panose="02070609020205020404" charset="0"/>
              </a:rPr>
              <a:t>Days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</a:rPr>
              <a:t>=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{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0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'Monday'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1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'Tuesday'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2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'Wednsday'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3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'Thursday'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4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'Friday'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5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'Saturday'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6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'Sunday'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};</a:t>
            </a:r>
            <a:endParaRPr lang="en-US" sz="2000" b="1">
              <a:solidFill>
                <a:srgbClr val="0000FF"/>
              </a:solidFill>
              <a:latin typeface="Courier New" panose="02070609020205020404" charset="0"/>
            </a:endParaRPr>
          </a:p>
          <a:p>
            <a:pPr marL="0" indent="0" algn="just"/>
            <a:r>
              <a:rPr lang="en-US" sz="2000" b="1">
                <a:solidFill>
                  <a:srgbClr val="0000FF"/>
                </a:solidFill>
                <a:latin typeface="Courier New" panose="02070609020205020404" charset="0"/>
              </a:rPr>
              <a:t>const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0070C1"/>
                </a:solidFill>
                <a:latin typeface="Courier New" panose="02070609020205020404" charset="0"/>
              </a:rPr>
              <a:t>Month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</a:rPr>
              <a:t>=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{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0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'Jenuary'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1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'Febuary'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2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'March'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3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'April'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4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'May'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5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'June'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6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'July'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7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'August'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8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'September'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9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'October'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10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'November'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, </a:t>
            </a:r>
            <a:r>
              <a:rPr lang="en-US" sz="2000" b="1">
                <a:solidFill>
                  <a:srgbClr val="098658"/>
                </a:solidFill>
                <a:latin typeface="Courier New" panose="02070609020205020404" charset="0"/>
              </a:rPr>
              <a:t>11</a:t>
            </a:r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: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'December'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};</a:t>
            </a:r>
            <a:endParaRPr lang="en-US" sz="2000" b="0">
              <a:latin typeface="SimSun" charset="0"/>
            </a:endParaRPr>
          </a:p>
          <a:p>
            <a:pPr marL="0" indent="0" algn="just"/>
            <a:r>
              <a:rPr lang="en-US" sz="2000" b="0">
                <a:latin typeface="SimSun" charset="0"/>
              </a:rPr>
              <a:t> </a:t>
            </a:r>
            <a:endParaRPr lang="en-US" sz="2000" b="1">
              <a:solidFill>
                <a:srgbClr val="001080"/>
              </a:solidFill>
              <a:latin typeface="Courier New" panose="02070609020205020404" charset="0"/>
            </a:endParaRPr>
          </a:p>
          <a:p>
            <a:pPr marL="0" indent="0" algn="just"/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document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sz="2000" b="1">
                <a:solidFill>
                  <a:srgbClr val="795E26"/>
                </a:solidFill>
                <a:latin typeface="Courier New" panose="02070609020205020404" charset="0"/>
              </a:rPr>
              <a:t>write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`&lt;p&gt;I was born on the </a:t>
            </a:r>
            <a:r>
              <a:rPr lang="en-US" sz="2000" b="1">
                <a:solidFill>
                  <a:srgbClr val="0000FF"/>
                </a:solidFill>
                <a:latin typeface="Courier New" panose="02070609020205020404" charset="0"/>
              </a:rPr>
              <a:t>${</a:t>
            </a:r>
            <a:r>
              <a:rPr lang="en-US" sz="2000" b="1">
                <a:solidFill>
                  <a:srgbClr val="0070C1"/>
                </a:solidFill>
                <a:latin typeface="Courier New" panose="02070609020205020404" charset="0"/>
              </a:rPr>
              <a:t>birthday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</a:rPr>
              <a:t>.</a:t>
            </a:r>
            <a:r>
              <a:rPr lang="en-US" sz="2000" b="1">
                <a:solidFill>
                  <a:srgbClr val="795E26"/>
                </a:solidFill>
                <a:latin typeface="Courier New" panose="02070609020205020404" charset="0"/>
              </a:rPr>
              <a:t>getDate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</a:rPr>
              <a:t>()</a:t>
            </a:r>
            <a:r>
              <a:rPr lang="en-US" sz="2000" b="1">
                <a:solidFill>
                  <a:srgbClr val="0000FF"/>
                </a:solidFill>
                <a:latin typeface="Courier New" panose="02070609020205020404" charset="0"/>
              </a:rPr>
              <a:t>}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th&lt;/p&gt;`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);</a:t>
            </a:r>
            <a:endParaRPr lang="en-US" sz="2000" b="1">
              <a:solidFill>
                <a:srgbClr val="001080"/>
              </a:solidFill>
              <a:latin typeface="Courier New" panose="02070609020205020404" charset="0"/>
            </a:endParaRPr>
          </a:p>
          <a:p>
            <a:pPr marL="0" indent="0" algn="just"/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</a:rPr>
              <a:t>document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sz="2000" b="1">
                <a:solidFill>
                  <a:srgbClr val="795E26"/>
                </a:solidFill>
                <a:latin typeface="Courier New" panose="02070609020205020404" charset="0"/>
              </a:rPr>
              <a:t>write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`&lt;p&gt;I was born in </a:t>
            </a:r>
            <a:r>
              <a:rPr lang="en-US" sz="2000" b="1">
                <a:solidFill>
                  <a:srgbClr val="0000FF"/>
                </a:solidFill>
                <a:latin typeface="Courier New" panose="02070609020205020404" charset="0"/>
              </a:rPr>
              <a:t>${</a:t>
            </a:r>
            <a:r>
              <a:rPr lang="en-US" sz="2000" b="1">
                <a:solidFill>
                  <a:srgbClr val="0070C1"/>
                </a:solidFill>
                <a:latin typeface="Courier New" panose="02070609020205020404" charset="0"/>
              </a:rPr>
              <a:t>Days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</a:rPr>
              <a:t>[</a:t>
            </a:r>
            <a:r>
              <a:rPr lang="en-US" sz="2000" b="1">
                <a:solidFill>
                  <a:srgbClr val="0070C1"/>
                </a:solidFill>
                <a:latin typeface="Courier New" panose="02070609020205020404" charset="0"/>
              </a:rPr>
              <a:t>birthday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</a:rPr>
              <a:t>.</a:t>
            </a:r>
            <a:r>
              <a:rPr lang="en-US" sz="2000" b="1">
                <a:solidFill>
                  <a:srgbClr val="795E26"/>
                </a:solidFill>
                <a:latin typeface="Courier New" panose="02070609020205020404" charset="0"/>
              </a:rPr>
              <a:t>getDay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</a:rPr>
              <a:t>()]</a:t>
            </a:r>
            <a:r>
              <a:rPr lang="en-US" sz="2000" b="1">
                <a:solidFill>
                  <a:srgbClr val="0000FF"/>
                </a:solidFill>
                <a:latin typeface="Courier New" panose="02070609020205020404" charset="0"/>
              </a:rPr>
              <a:t>}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</a:rPr>
              <a:t>&lt;/p&gt;`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</a:rPr>
              <a:t>);</a:t>
            </a:r>
            <a:endParaRPr lang="en-US" sz="2000" b="1">
              <a:solidFill>
                <a:srgbClr val="001080"/>
              </a:solidFill>
              <a:latin typeface="Courier New" panose="02070609020205020404" charset="0"/>
              <a:cs typeface="SimSun" charset="0"/>
            </a:endParaRPr>
          </a:p>
          <a:p>
            <a:pPr marL="0" indent="0" algn="just"/>
            <a:r>
              <a:rPr lang="en-US" sz="2000" b="1">
                <a:solidFill>
                  <a:srgbClr val="001080"/>
                </a:solidFill>
                <a:latin typeface="Courier New" panose="02070609020205020404" charset="0"/>
                <a:cs typeface="SimSun" charset="0"/>
              </a:rPr>
              <a:t>document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  <a:cs typeface="SimSun" charset="0"/>
              </a:rPr>
              <a:t>.</a:t>
            </a:r>
            <a:r>
              <a:rPr lang="en-US" sz="2000" b="1">
                <a:solidFill>
                  <a:srgbClr val="795E26"/>
                </a:solidFill>
                <a:latin typeface="Courier New" panose="02070609020205020404" charset="0"/>
                <a:cs typeface="SimSun" charset="0"/>
              </a:rPr>
              <a:t>write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  <a:cs typeface="SimSun" charset="0"/>
              </a:rPr>
              <a:t>(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  <a:cs typeface="SimSun" charset="0"/>
              </a:rPr>
              <a:t>`&lt;p&gt;I was born on the </a:t>
            </a:r>
            <a:r>
              <a:rPr lang="en-US" sz="2000" b="1">
                <a:solidFill>
                  <a:srgbClr val="0000FF"/>
                </a:solidFill>
                <a:latin typeface="Courier New" panose="02070609020205020404" charset="0"/>
                <a:cs typeface="SimSun" charset="0"/>
              </a:rPr>
              <a:t>${</a:t>
            </a:r>
            <a:r>
              <a:rPr lang="en-US" sz="2000" b="1">
                <a:solidFill>
                  <a:srgbClr val="0070C1"/>
                </a:solidFill>
                <a:latin typeface="Courier New" panose="02070609020205020404" charset="0"/>
                <a:cs typeface="SimSun" charset="0"/>
              </a:rPr>
              <a:t>Month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  <a:cs typeface="SimSun" charset="0"/>
              </a:rPr>
              <a:t>[</a:t>
            </a:r>
            <a:r>
              <a:rPr lang="en-US" sz="2000" b="1">
                <a:solidFill>
                  <a:srgbClr val="0070C1"/>
                </a:solidFill>
                <a:latin typeface="Courier New" panose="02070609020205020404" charset="0"/>
                <a:cs typeface="SimSun" charset="0"/>
              </a:rPr>
              <a:t>birthday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  <a:cs typeface="SimSun" charset="0"/>
              </a:rPr>
              <a:t>.</a:t>
            </a:r>
            <a:r>
              <a:rPr lang="en-US" sz="2000" b="1">
                <a:solidFill>
                  <a:srgbClr val="795E26"/>
                </a:solidFill>
                <a:latin typeface="Courier New" panose="02070609020205020404" charset="0"/>
                <a:cs typeface="SimSun" charset="0"/>
              </a:rPr>
              <a:t>getMonth</a:t>
            </a:r>
            <a:r>
              <a:rPr lang="en-US" sz="2000" b="1">
                <a:solidFill>
                  <a:srgbClr val="000000"/>
                </a:solidFill>
                <a:latin typeface="Courier New" panose="02070609020205020404" charset="0"/>
                <a:cs typeface="SimSun" charset="0"/>
              </a:rPr>
              <a:t>()]</a:t>
            </a:r>
            <a:r>
              <a:rPr lang="en-US" sz="2000" b="1">
                <a:solidFill>
                  <a:srgbClr val="0000FF"/>
                </a:solidFill>
                <a:latin typeface="Courier New" panose="02070609020205020404" charset="0"/>
                <a:cs typeface="SimSun" charset="0"/>
              </a:rPr>
              <a:t>}</a:t>
            </a:r>
            <a:r>
              <a:rPr lang="en-US" sz="2000" b="1">
                <a:solidFill>
                  <a:srgbClr val="A31515"/>
                </a:solidFill>
                <a:latin typeface="Courier New" panose="02070609020205020404" charset="0"/>
                <a:cs typeface="SimSun" charset="0"/>
              </a:rPr>
              <a:t>&lt;/p&gt;`</a:t>
            </a:r>
            <a:r>
              <a:rPr lang="en-US" sz="2000" b="1">
                <a:solidFill>
                  <a:srgbClr val="3B3B3B"/>
                </a:solidFill>
                <a:latin typeface="Courier New" panose="02070609020205020404" charset="0"/>
                <a:cs typeface="SimSun" charset="0"/>
              </a:rPr>
              <a:t>);</a:t>
            </a:r>
            <a:endParaRPr lang="en-US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74040" y="506730"/>
            <a:ext cx="1104392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Для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красивого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вывода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страницу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в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определенном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формате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также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предусмотрены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специальные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методы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! 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zh-CN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为了在页面上以特定格式美观地显示日期，还提供了专门的方法！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Рассмотрим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их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让我们来看看它们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782955" y="3015615"/>
            <a:ext cx="10943590" cy="3138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b="0">
                <a:solidFill>
                  <a:srgbClr val="0000FF"/>
                </a:solidFill>
                <a:latin typeface="sans-serif" charset="0"/>
              </a:rPr>
              <a:t>const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 </a:t>
            </a:r>
            <a:r>
              <a:rPr lang="en-US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 = </a:t>
            </a:r>
            <a:r>
              <a:rPr lang="en-US" b="0">
                <a:solidFill>
                  <a:srgbClr val="0000FF"/>
                </a:solidFill>
                <a:latin typeface="sans-serif" charset="0"/>
              </a:rPr>
              <a:t>new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 </a:t>
            </a:r>
            <a:r>
              <a:rPr lang="en-US" b="0">
                <a:solidFill>
                  <a:srgbClr val="267F99"/>
                </a:solidFill>
                <a:latin typeface="sans-serif" charset="0"/>
              </a:rPr>
              <a:t>Date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b="0">
                <a:solidFill>
                  <a:srgbClr val="A31515"/>
                </a:solidFill>
                <a:latin typeface="sans-serif" charset="0"/>
              </a:rPr>
              <a:t>'November 25, 2023 21:15:30:23'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);</a:t>
            </a:r>
            <a:endParaRPr lang="en-US" b="0">
              <a:latin typeface="SimSun" charset="0"/>
            </a:endParaRPr>
          </a:p>
          <a:p>
            <a:pPr marL="0" indent="0" algn="l"/>
            <a:r>
              <a:rPr lang="en-US" b="0">
                <a:latin typeface="SimSun" charset="0"/>
              </a:rPr>
              <a:t> </a:t>
            </a:r>
            <a:endParaRPr lang="en-US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toDateString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b="0">
                <a:solidFill>
                  <a:srgbClr val="008000"/>
                </a:solidFill>
                <a:latin typeface="sans-serif" charset="0"/>
              </a:rPr>
              <a:t>// Sat Nov 25 2023</a:t>
            </a:r>
            <a:endParaRPr lang="en-US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toISOString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b="0">
                <a:solidFill>
                  <a:srgbClr val="008000"/>
                </a:solidFill>
                <a:latin typeface="sans-serif" charset="0"/>
              </a:rPr>
              <a:t>// 2023-11-25T18:15:30.023Z</a:t>
            </a:r>
            <a:endParaRPr lang="en-US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toJSON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b="0">
                <a:solidFill>
                  <a:srgbClr val="008000"/>
                </a:solidFill>
                <a:latin typeface="sans-serif" charset="0"/>
              </a:rPr>
              <a:t>// 2023-11-25T18:15:30.023Z</a:t>
            </a:r>
            <a:endParaRPr lang="en-US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toLocaleDateString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b="0">
                <a:solidFill>
                  <a:srgbClr val="008000"/>
                </a:solidFill>
                <a:latin typeface="sans-serif" charset="0"/>
              </a:rPr>
              <a:t>// 11/25/2023</a:t>
            </a:r>
            <a:endParaRPr lang="en-US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toLocaleString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b="0">
                <a:solidFill>
                  <a:srgbClr val="008000"/>
                </a:solidFill>
                <a:latin typeface="sans-serif" charset="0"/>
              </a:rPr>
              <a:t>// 11/25/2023, 9:15:30 PM</a:t>
            </a:r>
            <a:endParaRPr lang="en-US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toLocaleTimeString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b="0">
                <a:solidFill>
                  <a:srgbClr val="008000"/>
                </a:solidFill>
                <a:latin typeface="sans-serif" charset="0"/>
              </a:rPr>
              <a:t>// 9:15:30 PM</a:t>
            </a:r>
            <a:endParaRPr lang="en-US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toString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b="0">
                <a:solidFill>
                  <a:srgbClr val="008000"/>
                </a:solidFill>
                <a:latin typeface="sans-serif" charset="0"/>
              </a:rPr>
              <a:t>// Sat Nov 25 2023 21:15:30 GMT+0300 (Moscow Standard Time)</a:t>
            </a:r>
            <a:endParaRPr lang="en-US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b="0">
                <a:solidFill>
                  <a:srgbClr val="0070C1"/>
                </a:solidFill>
                <a:latin typeface="sans-serif" charset="0"/>
              </a:rPr>
              <a:t>birthday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</a:rPr>
              <a:t>toTimeString</a:t>
            </a:r>
            <a:r>
              <a:rPr lang="en-US" b="0">
                <a:solidFill>
                  <a:srgbClr val="000000"/>
                </a:solidFill>
                <a:latin typeface="sans-serif" charset="0"/>
              </a:rPr>
              <a:t>()); </a:t>
            </a:r>
            <a:r>
              <a:rPr lang="en-US" b="0">
                <a:solidFill>
                  <a:srgbClr val="008000"/>
                </a:solidFill>
                <a:latin typeface="sans-serif" charset="0"/>
              </a:rPr>
              <a:t>// 21:15:30 GMT+0300 (Moscow Standard Time)</a:t>
            </a:r>
            <a:endParaRPr lang="en-US" b="0">
              <a:solidFill>
                <a:srgbClr val="001080"/>
              </a:solidFill>
              <a:latin typeface="sans-serif" charset="0"/>
              <a:cs typeface="SimSun" charset="0"/>
            </a:endParaRPr>
          </a:p>
          <a:p>
            <a:pPr marL="0" indent="0" algn="l"/>
            <a:r>
              <a:rPr lang="en-US" b="0">
                <a:solidFill>
                  <a:srgbClr val="001080"/>
                </a:solidFill>
                <a:latin typeface="sans-serif" charset="0"/>
                <a:cs typeface="SimSun" charset="0"/>
              </a:rPr>
              <a:t>console</a:t>
            </a:r>
            <a:r>
              <a:rPr lang="en-US" b="0">
                <a:solidFill>
                  <a:srgbClr val="000000"/>
                </a:solidFill>
                <a:latin typeface="sans-serif" charset="0"/>
                <a:cs typeface="SimSun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  <a:cs typeface="SimSun" charset="0"/>
              </a:rPr>
              <a:t>log</a:t>
            </a:r>
            <a:r>
              <a:rPr lang="en-US" b="0">
                <a:solidFill>
                  <a:srgbClr val="000000"/>
                </a:solidFill>
                <a:latin typeface="sans-serif" charset="0"/>
                <a:cs typeface="SimSun" charset="0"/>
              </a:rPr>
              <a:t>(</a:t>
            </a:r>
            <a:r>
              <a:rPr lang="en-US" b="0">
                <a:solidFill>
                  <a:srgbClr val="0070C1"/>
                </a:solidFill>
                <a:latin typeface="sans-serif" charset="0"/>
                <a:cs typeface="SimSun" charset="0"/>
              </a:rPr>
              <a:t>birthday</a:t>
            </a:r>
            <a:r>
              <a:rPr lang="en-US" b="0">
                <a:solidFill>
                  <a:srgbClr val="000000"/>
                </a:solidFill>
                <a:latin typeface="sans-serif" charset="0"/>
                <a:cs typeface="SimSun" charset="0"/>
              </a:rPr>
              <a:t>.</a:t>
            </a:r>
            <a:r>
              <a:rPr lang="en-US" b="0">
                <a:solidFill>
                  <a:srgbClr val="795E26"/>
                </a:solidFill>
                <a:latin typeface="sans-serif" charset="0"/>
                <a:cs typeface="SimSun" charset="0"/>
              </a:rPr>
              <a:t>toUTCString</a:t>
            </a:r>
            <a:r>
              <a:rPr lang="en-US" b="0">
                <a:solidFill>
                  <a:srgbClr val="000000"/>
                </a:solidFill>
                <a:latin typeface="sans-serif" charset="0"/>
                <a:cs typeface="SimSun" charset="0"/>
              </a:rPr>
              <a:t>()); </a:t>
            </a:r>
            <a:r>
              <a:rPr lang="en-US" b="0">
                <a:solidFill>
                  <a:srgbClr val="008000"/>
                </a:solidFill>
                <a:latin typeface="sans-serif" charset="0"/>
                <a:cs typeface="SimSun" charset="0"/>
              </a:rPr>
              <a:t>// Sat, 25 Nov 2023 18:15:30 GMT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25780" y="400050"/>
            <a:ext cx="10730865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Последние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методы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которые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рассмотрим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для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работы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с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датами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-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это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методы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связанные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с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изменениями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zh-CN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我们将讨论与日期相关的最新修改方法。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1892935" y="2198370"/>
            <a:ext cx="924433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b="1">
                <a:solidFill>
                  <a:srgbClr val="0000FF"/>
                </a:solidFill>
                <a:latin typeface="Courier New" panose="02070609020205020404" charset="0"/>
              </a:rPr>
              <a:t>const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000000"/>
                </a:solidFill>
                <a:latin typeface="Courier New" panose="02070609020205020404" charset="0"/>
              </a:rPr>
              <a:t>=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urier New" panose="02070609020205020404" charset="0"/>
              </a:rPr>
              <a:t>new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();</a:t>
            </a:r>
            <a:endParaRPr lang="en-US" b="1">
              <a:solidFill>
                <a:srgbClr val="001080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console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log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); </a:t>
            </a:r>
            <a:r>
              <a:rPr lang="en-US" b="1">
                <a:solidFill>
                  <a:srgbClr val="008000"/>
                </a:solidFill>
                <a:latin typeface="Courier New" panose="02070609020205020404" charset="0"/>
              </a:rPr>
              <a:t>// Tue Nov 07 2023 09:55:50 GMT+0300</a:t>
            </a:r>
            <a:endParaRPr lang="en-US" b="1">
              <a:solidFill>
                <a:srgbClr val="0070C1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setFullYear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098658"/>
                </a:solidFill>
                <a:latin typeface="Courier New" panose="02070609020205020404" charset="0"/>
              </a:rPr>
              <a:t>1999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);</a:t>
            </a:r>
            <a:endParaRPr lang="en-US" b="1">
              <a:solidFill>
                <a:srgbClr val="001080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console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log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); </a:t>
            </a:r>
            <a:r>
              <a:rPr lang="en-US" b="1">
                <a:solidFill>
                  <a:srgbClr val="008000"/>
                </a:solidFill>
                <a:latin typeface="Courier New" panose="02070609020205020404" charset="0"/>
              </a:rPr>
              <a:t>// Sun Nov 07 1999 09:55:50 GMT+0300</a:t>
            </a:r>
            <a:endParaRPr lang="en-US" b="0">
              <a:latin typeface="SimSun" charset="0"/>
            </a:endParaRPr>
          </a:p>
          <a:p>
            <a:pPr marL="0" indent="0" algn="l"/>
            <a:r>
              <a:rPr lang="en-US" b="0">
                <a:latin typeface="SimSun" charset="0"/>
              </a:rPr>
              <a:t> </a:t>
            </a:r>
            <a:endParaRPr lang="en-US" b="1">
              <a:solidFill>
                <a:srgbClr val="0070C1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setDate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098658"/>
                </a:solidFill>
                <a:latin typeface="Courier New" panose="02070609020205020404" charset="0"/>
              </a:rPr>
              <a:t>12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);</a:t>
            </a:r>
            <a:endParaRPr lang="en-US" b="1">
              <a:solidFill>
                <a:srgbClr val="001080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console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log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); </a:t>
            </a:r>
            <a:r>
              <a:rPr lang="en-US" b="1">
                <a:solidFill>
                  <a:srgbClr val="008000"/>
                </a:solidFill>
                <a:latin typeface="Courier New" panose="02070609020205020404" charset="0"/>
              </a:rPr>
              <a:t>// Sun Nov 12 1999 09:55:50 GMT+0300</a:t>
            </a:r>
            <a:endParaRPr lang="en-US" b="0">
              <a:latin typeface="SimSun" charset="0"/>
            </a:endParaRPr>
          </a:p>
          <a:p>
            <a:pPr marL="0" indent="0" algn="l"/>
            <a:r>
              <a:rPr lang="en-US" b="0">
                <a:latin typeface="SimSun" charset="0"/>
              </a:rPr>
              <a:t> </a:t>
            </a:r>
            <a:endParaRPr lang="en-US" b="1">
              <a:solidFill>
                <a:srgbClr val="0070C1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setMonth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098658"/>
                </a:solidFill>
                <a:latin typeface="Courier New" panose="02070609020205020404" charset="0"/>
              </a:rPr>
              <a:t>1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);</a:t>
            </a:r>
            <a:endParaRPr lang="en-US" b="1">
              <a:solidFill>
                <a:srgbClr val="001080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001080"/>
                </a:solidFill>
                <a:latin typeface="Courier New" panose="02070609020205020404" charset="0"/>
              </a:rPr>
              <a:t>console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log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); </a:t>
            </a:r>
            <a:r>
              <a:rPr lang="en-US" b="1">
                <a:solidFill>
                  <a:srgbClr val="008000"/>
                </a:solidFill>
                <a:latin typeface="Courier New" panose="02070609020205020404" charset="0"/>
              </a:rPr>
              <a:t>// Fri Feb 12 1999 09:57:19 GMT+0300</a:t>
            </a:r>
            <a:endParaRPr lang="en-US" b="0">
              <a:latin typeface="SimSun" charset="0"/>
            </a:endParaRPr>
          </a:p>
          <a:p>
            <a:pPr marL="0" indent="0" algn="l"/>
            <a:r>
              <a:rPr lang="en-US" b="0">
                <a:latin typeface="SimSun" charset="0"/>
              </a:rPr>
              <a:t> </a:t>
            </a:r>
            <a:endParaRPr lang="en-US" b="1">
              <a:solidFill>
                <a:srgbClr val="0070C1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setHours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098658"/>
                </a:solidFill>
                <a:latin typeface="Courier New" panose="02070609020205020404" charset="0"/>
              </a:rPr>
              <a:t>12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);</a:t>
            </a:r>
            <a:endParaRPr lang="en-US" b="1">
              <a:solidFill>
                <a:srgbClr val="0070C1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setMinutes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098658"/>
                </a:solidFill>
                <a:latin typeface="Courier New" panose="02070609020205020404" charset="0"/>
              </a:rPr>
              <a:t>12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);</a:t>
            </a:r>
            <a:endParaRPr lang="en-US" b="1">
              <a:solidFill>
                <a:srgbClr val="0070C1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setSeconds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098658"/>
                </a:solidFill>
                <a:latin typeface="Courier New" panose="02070609020205020404" charset="0"/>
              </a:rPr>
              <a:t>12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);</a:t>
            </a:r>
            <a:endParaRPr lang="en-US" b="1">
              <a:solidFill>
                <a:srgbClr val="0070C1"/>
              </a:solidFill>
              <a:latin typeface="Courier New" panose="02070609020205020404" charset="0"/>
            </a:endParaRPr>
          </a:p>
          <a:p>
            <a:pPr marL="0" indent="0" algn="l"/>
            <a:r>
              <a:rPr lang="en-US" b="1">
                <a:solidFill>
                  <a:srgbClr val="0070C1"/>
                </a:solidFill>
                <a:latin typeface="Courier New" panose="02070609020205020404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</a:rPr>
              <a:t>setMilliseconds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(</a:t>
            </a:r>
            <a:r>
              <a:rPr lang="en-US" b="1">
                <a:solidFill>
                  <a:srgbClr val="098658"/>
                </a:solidFill>
                <a:latin typeface="Courier New" panose="02070609020205020404" charset="0"/>
              </a:rPr>
              <a:t>12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</a:rPr>
              <a:t>);</a:t>
            </a:r>
            <a:endParaRPr lang="en-US" b="1">
              <a:solidFill>
                <a:srgbClr val="001080"/>
              </a:solidFill>
              <a:latin typeface="Courier New" panose="02070609020205020404" charset="0"/>
              <a:cs typeface="SimSun" charset="0"/>
            </a:endParaRPr>
          </a:p>
          <a:p>
            <a:pPr marL="0" indent="0" algn="l"/>
            <a:r>
              <a:rPr lang="en-US" b="1">
                <a:solidFill>
                  <a:srgbClr val="001080"/>
                </a:solidFill>
                <a:latin typeface="Courier New" panose="02070609020205020404" charset="0"/>
                <a:cs typeface="SimSun" charset="0"/>
              </a:rPr>
              <a:t>console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  <a:cs typeface="SimSun" charset="0"/>
              </a:rPr>
              <a:t>.</a:t>
            </a:r>
            <a:r>
              <a:rPr lang="en-US" b="1">
                <a:solidFill>
                  <a:srgbClr val="795E26"/>
                </a:solidFill>
                <a:latin typeface="Courier New" panose="02070609020205020404" charset="0"/>
                <a:cs typeface="SimSun" charset="0"/>
              </a:rPr>
              <a:t>log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  <a:cs typeface="SimSun" charset="0"/>
              </a:rPr>
              <a:t>(</a:t>
            </a:r>
            <a:r>
              <a:rPr lang="en-US" b="1">
                <a:solidFill>
                  <a:srgbClr val="0070C1"/>
                </a:solidFill>
                <a:latin typeface="Courier New" panose="02070609020205020404" charset="0"/>
                <a:cs typeface="SimSun" charset="0"/>
              </a:rPr>
              <a:t>date</a:t>
            </a:r>
            <a:r>
              <a:rPr lang="en-US" b="1">
                <a:solidFill>
                  <a:srgbClr val="3B3B3B"/>
                </a:solidFill>
                <a:latin typeface="Courier New" panose="02070609020205020404" charset="0"/>
                <a:cs typeface="SimSun" charset="0"/>
              </a:rPr>
              <a:t>); </a:t>
            </a:r>
            <a:r>
              <a:rPr lang="en-US" b="1">
                <a:solidFill>
                  <a:srgbClr val="008000"/>
                </a:solidFill>
                <a:latin typeface="Courier New" panose="02070609020205020404" charset="0"/>
                <a:cs typeface="SimSun" charset="0"/>
              </a:rPr>
              <a:t>// Fri Feb 12 1999 12:12:12 GMT+0300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94360" y="1167765"/>
            <a:ext cx="11262360" cy="4524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Перейдем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к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рассмотрению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объектов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Объекты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позволяют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хранить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данные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строковыми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ключами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Это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замечательно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让我们讨论一下对象。对象允许使用字符串键存储数据，这非常方便。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довольно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часто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понимаем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что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нам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необходима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упорядоченная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коллекция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данных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в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которой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присутствуют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1-й, 2-й, 3-й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элементы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и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т.д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然而，我们经常意识到我们需要有序的数据集，其中包含第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1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、第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2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、第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3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个元素等等。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Например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она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понадобится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нам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для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хранения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списка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чего-либо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: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пользователей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товаров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элементов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HTML и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т.д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例如，我们可能需要它来存储某种列表：用户、商品、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HTML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元素等等。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71805" y="1022985"/>
            <a:ext cx="11249025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Для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хранения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упорядоченных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коллекций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существует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особая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структура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данных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которая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называется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массив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Array. 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用于存储有序集合的特殊数据结构被称为数组（</a:t>
            </a:r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Array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）。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	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Массив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(Array) —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это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структура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данных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которая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содержит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упорядоченный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набор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элементов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и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предоставляет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произвольный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доступ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к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своим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</a:rPr>
              <a:t>элементам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数组是一种数据结构，包含有序的元素集，并提供对其元素的随机访问。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1299845" y="4029710"/>
            <a:ext cx="990981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400" b="0">
                <a:solidFill>
                  <a:srgbClr val="0000FF"/>
                </a:solidFill>
                <a:latin typeface="sans-serif" charset="0"/>
              </a:rPr>
              <a:t>let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sans-serif" charset="0"/>
              </a:rPr>
              <a:t>numbers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sans-serif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sans-serif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sans-serif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sans-serif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sans-serif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];</a:t>
            </a:r>
            <a:endParaRPr lang="en-US" sz="2400" b="0">
              <a:solidFill>
                <a:srgbClr val="0000FF"/>
              </a:solidFill>
              <a:latin typeface="sans-serif" charset="0"/>
            </a:endParaRPr>
          </a:p>
          <a:p>
            <a:pPr marL="0" indent="0" algn="l"/>
            <a:r>
              <a:rPr lang="en-US" sz="2400" b="0">
                <a:solidFill>
                  <a:srgbClr val="0000FF"/>
                </a:solidFill>
                <a:latin typeface="sans-serif" charset="0"/>
              </a:rPr>
              <a:t>let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sans-serif" charset="0"/>
              </a:rPr>
              <a:t>mixed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sans-serif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, </a:t>
            </a:r>
            <a:r>
              <a:rPr lang="en-US" sz="2400" b="0">
                <a:solidFill>
                  <a:srgbClr val="A31515"/>
                </a:solidFill>
                <a:latin typeface="sans-serif" charset="0"/>
              </a:rPr>
              <a:t>'text'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, {</a:t>
            </a:r>
            <a:r>
              <a:rPr lang="en-US" sz="2400" b="0">
                <a:solidFill>
                  <a:srgbClr val="001080"/>
                </a:solidFill>
                <a:latin typeface="sans-serif" charset="0"/>
              </a:rPr>
              <a:t>name: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 </a:t>
            </a:r>
            <a:r>
              <a:rPr lang="en-US" sz="2400" b="0">
                <a:solidFill>
                  <a:srgbClr val="A31515"/>
                </a:solidFill>
                <a:latin typeface="sans-serif" charset="0"/>
              </a:rPr>
              <a:t>"Anna"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, </a:t>
            </a:r>
            <a:r>
              <a:rPr lang="en-US" sz="2400" b="0">
                <a:solidFill>
                  <a:srgbClr val="001080"/>
                </a:solidFill>
                <a:latin typeface="sans-serif" charset="0"/>
              </a:rPr>
              <a:t>age: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 </a:t>
            </a:r>
            <a:r>
              <a:rPr lang="en-US" sz="2400" b="0">
                <a:solidFill>
                  <a:srgbClr val="098658"/>
                </a:solidFill>
                <a:latin typeface="sans-serif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}, </a:t>
            </a:r>
            <a:r>
              <a:rPr lang="en-US" sz="2400" b="0">
                <a:solidFill>
                  <a:srgbClr val="0000FF"/>
                </a:solidFill>
                <a:latin typeface="sans-serif" charset="0"/>
              </a:rPr>
              <a:t>null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];</a:t>
            </a:r>
            <a:endParaRPr lang="en-US" sz="2400" b="0">
              <a:latin typeface="SimSun" charset="0"/>
            </a:endParaRPr>
          </a:p>
          <a:p>
            <a:pPr marL="0" indent="0" algn="l"/>
            <a:r>
              <a:rPr lang="en-US" sz="2400" b="0">
                <a:latin typeface="SimSun" charset="0"/>
              </a:rPr>
              <a:t> </a:t>
            </a:r>
            <a:endParaRPr lang="en-US" sz="2400" b="0">
              <a:solidFill>
                <a:srgbClr val="001080"/>
              </a:solidFill>
              <a:latin typeface="sans-serif" charset="0"/>
            </a:endParaRPr>
          </a:p>
          <a:p>
            <a:pPr marL="0" indent="0" algn="l"/>
            <a:r>
              <a:rPr lang="en-US" sz="2400" b="0">
                <a:solidFill>
                  <a:srgbClr val="001080"/>
                </a:solidFill>
                <a:latin typeface="sans-serif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sans-serif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sans-serif" charset="0"/>
              </a:rPr>
              <a:t>numbers</a:t>
            </a:r>
            <a:r>
              <a:rPr lang="en-US" sz="2400" b="0">
                <a:solidFill>
                  <a:srgbClr val="000000"/>
                </a:solidFill>
                <a:latin typeface="sans-serif" charset="0"/>
              </a:rPr>
              <a:t>);</a:t>
            </a:r>
            <a:endParaRPr lang="en-US" sz="2400" b="0">
              <a:solidFill>
                <a:srgbClr val="001080"/>
              </a:solidFill>
              <a:latin typeface="sans-serif" charset="0"/>
              <a:cs typeface="SimSun" charset="0"/>
            </a:endParaRPr>
          </a:p>
          <a:p>
            <a:pPr marL="0" indent="0" algn="l"/>
            <a:r>
              <a:rPr lang="en-US" sz="2400" b="0">
                <a:solidFill>
                  <a:srgbClr val="001080"/>
                </a:solidFill>
                <a:latin typeface="sans-serif" charset="0"/>
                <a:cs typeface="SimSun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sans-serif" charset="0"/>
                <a:cs typeface="SimSun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sans-serif" charset="0"/>
                <a:cs typeface="SimSun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sans-serif" charset="0"/>
                <a:cs typeface="SimSun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sans-serif" charset="0"/>
                <a:cs typeface="SimSun" charset="0"/>
              </a:rPr>
              <a:t>mixed</a:t>
            </a:r>
            <a:r>
              <a:rPr lang="en-US" sz="2400" b="0">
                <a:solidFill>
                  <a:srgbClr val="000000"/>
                </a:solidFill>
                <a:latin typeface="sans-serif" charset="0"/>
                <a:cs typeface="SimSun" charset="0"/>
              </a:rPr>
              <a:t>);</a:t>
            </a:r>
            <a:endParaRPr lang="en-US" sz="2400"/>
          </a:p>
        </p:txBody>
      </p:sp>
      <p:sp>
        <p:nvSpPr>
          <p:cNvPr id="4" name="Text Box 3"/>
          <p:cNvSpPr txBox="1"/>
          <p:nvPr/>
        </p:nvSpPr>
        <p:spPr>
          <a:xfrm>
            <a:off x="456565" y="427990"/>
            <a:ext cx="11238865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	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Элементы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массива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могут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быть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представлены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одним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типом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данных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–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например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сроками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или числами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,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или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разными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типами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данных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Приведем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пример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объявления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sz="2400" dirty="0" err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массива</a:t>
            </a:r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just"/>
            <a:endParaRPr lang="en-US" sz="2400" dirty="0">
              <a:latin typeface="Times New Roman Regular" panose="02020603050405020304" charset="0"/>
              <a:sym typeface="+mn-ea"/>
            </a:endParaRPr>
          </a:p>
          <a:p>
            <a:pPr algn="just"/>
            <a:r>
              <a:rPr lang="zh-CN" altLang="en-US" sz="2400" dirty="0"/>
              <a:t>数组的元素可以由一种数据类型表示，例如字符串或数字，也可以由不同的数据类型表示。让我们举一个数组声明的例子。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371475" y="222250"/>
            <a:ext cx="11448415" cy="34163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just"/>
            <a:r>
              <a:rPr 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Помимо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объявленных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элементов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каждом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присутствует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ключевое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слово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length</a:t>
            </a:r>
            <a:r>
              <a:rPr lang="en-US" sz="2400" b="0" dirty="0">
                <a:latin typeface="Times New Roman" panose="02020603050405020304" charset="0"/>
              </a:rPr>
              <a:t> – </a:t>
            </a:r>
            <a:r>
              <a:rPr lang="en-US" sz="2400" b="0" dirty="0" err="1">
                <a:latin typeface="Times New Roman" panose="02020603050405020304" charset="0"/>
              </a:rPr>
              <a:t>это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свойство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которое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отображает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наибольший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цифровой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индекс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массиве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плюс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один</a:t>
            </a:r>
            <a:r>
              <a:rPr lang="en-US" sz="2400" b="0" dirty="0">
                <a:latin typeface="Times New Roman" panose="02020603050405020304" charset="0"/>
              </a:rPr>
              <a:t> (</a:t>
            </a:r>
            <a:r>
              <a:rPr lang="en-US" sz="2400" b="0" dirty="0" err="1">
                <a:latin typeface="Times New Roman" panose="02020603050405020304" charset="0"/>
              </a:rPr>
              <a:t>так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можем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отследить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количество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элементов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массиве</a:t>
            </a:r>
            <a:r>
              <a:rPr lang="en-US" sz="2400" b="0" dirty="0">
                <a:latin typeface="Times New Roman" panose="02020603050405020304" charset="0"/>
              </a:rPr>
              <a:t>). </a:t>
            </a:r>
            <a:r>
              <a:rPr lang="en-US" sz="2400" b="0" dirty="0" err="1">
                <a:latin typeface="Times New Roman" panose="02020603050405020304" charset="0"/>
              </a:rPr>
              <a:t>Добавьте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самостоятельно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массивы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новые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элементы</a:t>
            </a:r>
            <a:r>
              <a:rPr lang="en-US" sz="2400" b="0" dirty="0">
                <a:latin typeface="Times New Roman" panose="02020603050405020304" charset="0"/>
              </a:rPr>
              <a:t> и </a:t>
            </a:r>
            <a:r>
              <a:rPr lang="en-US" sz="2400" b="0" dirty="0" err="1">
                <a:latin typeface="Times New Roman" panose="02020603050405020304" charset="0"/>
              </a:rPr>
              <a:t>проверьте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что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значение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свойства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length </a:t>
            </a:r>
            <a:r>
              <a:rPr lang="en-US" sz="2400" b="0" dirty="0" err="1">
                <a:latin typeface="Times New Roman" panose="02020603050405020304" charset="0"/>
              </a:rPr>
              <a:t>изменилось</a:t>
            </a:r>
            <a:r>
              <a:rPr lang="en-US" sz="2400" b="0" dirty="0">
                <a:latin typeface="Times New Roman" panose="02020603050405020304" charset="0"/>
              </a:rPr>
              <a:t>. </a:t>
            </a:r>
            <a:endParaRPr lang="en-US" sz="2400" b="0" dirty="0">
              <a:latin typeface="Times New Roman" panose="02020603050405020304" charset="0"/>
            </a:endParaRPr>
          </a:p>
          <a:p>
            <a:pPr marL="0" indent="0" algn="just"/>
            <a:endParaRPr lang="en-US" sz="2400" dirty="0">
              <a:latin typeface="Times New Roman" panose="02020603050405020304" charset="0"/>
            </a:endParaRPr>
          </a:p>
          <a:p>
            <a:pPr marL="0" indent="0" algn="just"/>
            <a:r>
              <a:rPr lang="zh-CN" altLang="en-US" sz="2400" dirty="0"/>
              <a:t>除了每个数组中声明的元素外，还存在一个关键字 </a:t>
            </a:r>
            <a:r>
              <a:rPr lang="en-US" altLang="zh-CN" sz="2400" dirty="0"/>
              <a:t>length - </a:t>
            </a:r>
            <a:r>
              <a:rPr lang="zh-CN" altLang="en-US" sz="2400" dirty="0"/>
              <a:t>这是一个显示数组中最大数字索引加一的属性（这样我们可以跟踪数组中的元素数量）。自行向数组添加新元素并验证 </a:t>
            </a:r>
            <a:r>
              <a:rPr lang="en-US" altLang="zh-CN" sz="2400" dirty="0"/>
              <a:t>length </a:t>
            </a:r>
            <a:r>
              <a:rPr lang="zh-CN" altLang="en-US" sz="2400" dirty="0"/>
              <a:t>属性的值是否发生变化。</a:t>
            </a:r>
            <a:endParaRPr lang="en-US" sz="2400" dirty="0"/>
          </a:p>
        </p:txBody>
      </p:sp>
      <p:pic>
        <p:nvPicPr>
          <p:cNvPr id="22" name="image42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136390" y="4020185"/>
            <a:ext cx="3918585" cy="25787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861060" y="448310"/>
            <a:ext cx="10835640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Мы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можем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вызвать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это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свойство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отдельно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чтобы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определить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количество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элементов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массиве</a:t>
            </a:r>
            <a:r>
              <a:rPr lang="en-US" sz="2400" b="0" dirty="0">
                <a:latin typeface="Times New Roman" panose="02020603050405020304" charset="0"/>
              </a:rPr>
              <a:t>. </a:t>
            </a:r>
            <a:r>
              <a:rPr lang="en-US" sz="2400" b="0" dirty="0" err="1">
                <a:latin typeface="Times New Roman" panose="02020603050405020304" charset="0"/>
              </a:rPr>
              <a:t>Запустим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скрипт</a:t>
            </a:r>
            <a:r>
              <a:rPr lang="en-US" sz="2400" b="0" dirty="0">
                <a:latin typeface="Times New Roman" panose="02020603050405020304" charset="0"/>
              </a:rPr>
              <a:t> и </a:t>
            </a:r>
            <a:r>
              <a:rPr lang="en-US" sz="2400" b="0" dirty="0" err="1">
                <a:latin typeface="Times New Roman" panose="02020603050405020304" charset="0"/>
              </a:rPr>
              <a:t>проверим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результаты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консоли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браузера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endParaRPr lang="en-US" sz="2400" dirty="0">
              <a:latin typeface="Times New Roman" panose="02020603050405020304" charset="0"/>
            </a:endParaRPr>
          </a:p>
          <a:p>
            <a:pPr indent="0" algn="just"/>
            <a:r>
              <a:rPr lang="zh-CN" altLang="en-US" sz="2400" dirty="0"/>
              <a:t>我们可以单独调用这个属性来确定数组中的元素数量。运行脚本并在浏览器控制台中检查结果。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2521585" y="3665220"/>
            <a:ext cx="751522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00FF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mixed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A31515"/>
                </a:solidFill>
                <a:latin typeface="Consolas" charset="0"/>
              </a:rPr>
              <a:t>'text'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{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name: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A31515"/>
                </a:solidFill>
                <a:latin typeface="Consolas" charset="0"/>
              </a:rPr>
              <a:t>"Anna"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age: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},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null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length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mixed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length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440055" y="564515"/>
            <a:ext cx="11311255" cy="27991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</a:pPr>
            <a:r>
              <a:rPr 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Обратиться</a:t>
            </a:r>
            <a:r>
              <a:rPr lang="en-US" sz="2400" b="0" dirty="0">
                <a:latin typeface="Times New Roman" panose="02020603050405020304" charset="0"/>
              </a:rPr>
              <a:t> к </a:t>
            </a:r>
            <a:r>
              <a:rPr lang="en-US" sz="2400" b="0" dirty="0" err="1">
                <a:latin typeface="Times New Roman" panose="02020603050405020304" charset="0"/>
              </a:rPr>
              <a:t>элементу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можно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через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его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индекс</a:t>
            </a:r>
            <a:r>
              <a:rPr lang="en-US" sz="2400" b="0" dirty="0">
                <a:latin typeface="Times New Roman" panose="02020603050405020304" charset="0"/>
              </a:rPr>
              <a:t>. У </a:t>
            </a:r>
            <a:r>
              <a:rPr lang="en-US" sz="2400" b="0" dirty="0" err="1">
                <a:latin typeface="Times New Roman" panose="02020603050405020304" charset="0"/>
              </a:rPr>
              <a:t>первого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индекс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равен</a:t>
            </a:r>
            <a:r>
              <a:rPr lang="en-US" sz="2400" b="0" dirty="0">
                <a:latin typeface="Times New Roman" panose="02020603050405020304" charset="0"/>
              </a:rPr>
              <a:t> 0, у </a:t>
            </a:r>
            <a:r>
              <a:rPr lang="en-US" sz="2400" b="0" dirty="0" err="1">
                <a:latin typeface="Times New Roman" panose="02020603050405020304" charset="0"/>
              </a:rPr>
              <a:t>последнего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length - 1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>
              <a:lnSpc>
                <a:spcPct val="150000"/>
              </a:lnSpc>
            </a:pPr>
            <a:endParaRPr lang="en-US" sz="2400" dirty="0">
              <a:latin typeface="Times New Roman" panose="02020603050405020304" charset="0"/>
            </a:endParaRPr>
          </a:p>
          <a:p>
            <a:pPr indent="0" algn="just">
              <a:lnSpc>
                <a:spcPct val="150000"/>
              </a:lnSpc>
            </a:pPr>
            <a:r>
              <a:rPr lang="zh-CN" altLang="en-US" sz="2400" dirty="0"/>
              <a:t>通过其索引可以访问数组的元素。数组的第一个元素的索引为</a:t>
            </a:r>
            <a:r>
              <a:rPr lang="en-US" altLang="zh-CN" sz="2400" dirty="0"/>
              <a:t>0</a:t>
            </a:r>
            <a:r>
              <a:rPr lang="zh-CN" altLang="en-US" sz="2400" dirty="0"/>
              <a:t>，最后一个元素的索引为</a:t>
            </a:r>
            <a:r>
              <a:rPr lang="en-US" altLang="zh-CN" sz="2400" dirty="0"/>
              <a:t>length - 1</a:t>
            </a:r>
            <a:r>
              <a:rPr lang="zh-CN" altLang="en-US" sz="2400" dirty="0"/>
              <a:t>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2983865" y="4651375"/>
            <a:ext cx="622363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0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]);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[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length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-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]);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]);</a:t>
            </a:r>
            <a:endParaRPr lang="en-US"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494030" y="288290"/>
            <a:ext cx="1110805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Далее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рассмотрим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методы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добавления</a:t>
            </a:r>
            <a:r>
              <a:rPr lang="en-US" sz="2400" b="0" dirty="0">
                <a:latin typeface="Times New Roman" panose="02020603050405020304" charset="0"/>
              </a:rPr>
              <a:t> и </a:t>
            </a:r>
            <a:r>
              <a:rPr lang="en-US" sz="2400" b="0" dirty="0" err="1">
                <a:latin typeface="Times New Roman" panose="02020603050405020304" charset="0"/>
              </a:rPr>
              <a:t>удаления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элементов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:</a:t>
            </a:r>
            <a:endParaRPr lang="en-US" sz="2400" b="0" dirty="0">
              <a:latin typeface="Times New Roman" panose="02020603050405020304" charset="0"/>
            </a:endParaRPr>
          </a:p>
          <a:p>
            <a:pPr indent="0"/>
            <a:r>
              <a:rPr lang="en-US" altLang="zh-CN" sz="2400" b="0" dirty="0">
                <a:latin typeface="Times New Roman" panose="02020603050405020304" charset="0"/>
              </a:rPr>
              <a:t>	</a:t>
            </a:r>
            <a:r>
              <a:rPr lang="zh-CN" altLang="en-US" sz="2400" b="0" dirty="0">
                <a:latin typeface="Times New Roman" panose="02020603050405020304" charset="0"/>
              </a:rPr>
              <a:t>接下来我们将讨论数组添加和删除元素的方法：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endParaRPr lang="en-US" sz="2400" b="0" dirty="0">
              <a:latin typeface="Noto Sans Symbols" charset="0"/>
            </a:endParaRPr>
          </a:p>
          <a:p>
            <a:pPr algn="just"/>
            <a:r>
              <a:rPr lang="en-US" sz="2400" b="0" dirty="0">
                <a:latin typeface="Noto Sans Symbols" charset="0"/>
              </a:rPr>
              <a:t>● </a:t>
            </a:r>
            <a:r>
              <a:rPr lang="en-US" sz="2400" b="0" i="1" dirty="0">
                <a:latin typeface="Times New Roman" panose="02020603050405020304" charset="0"/>
              </a:rPr>
              <a:t>push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добавляет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конец</a:t>
            </a:r>
            <a:r>
              <a:rPr lang="zh-CN" altLang="en-US" sz="2400" b="0" dirty="0">
                <a:latin typeface="Times New Roman" panose="02020603050405020304" charset="0"/>
              </a:rPr>
              <a:t>（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在末尾添加元素</a:t>
            </a:r>
            <a:r>
              <a:rPr lang="zh-CN" altLang="en-US" sz="2400" b="0" dirty="0">
                <a:latin typeface="Times New Roman" panose="02020603050405020304" charset="0"/>
              </a:rPr>
              <a:t>）</a:t>
            </a:r>
            <a:r>
              <a:rPr lang="en-US" sz="2400" b="0" dirty="0">
                <a:latin typeface="Times New Roman" panose="02020603050405020304" charset="0"/>
              </a:rPr>
              <a:t>;</a:t>
            </a:r>
            <a:endParaRPr lang="en-US" sz="2400" b="0" dirty="0">
              <a:latin typeface="Times New Roman" panose="02020603050405020304" charset="0"/>
            </a:endParaRPr>
          </a:p>
          <a:p>
            <a:pPr algn="just"/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400" b="0" dirty="0">
                <a:solidFill>
                  <a:srgbClr val="000000"/>
                </a:solidFill>
                <a:latin typeface="Noto Sans Symbols" charset="0"/>
              </a:rPr>
              <a:t>● </a:t>
            </a:r>
            <a:r>
              <a:rPr lang="en-US" sz="2400" b="0" i="1" dirty="0">
                <a:solidFill>
                  <a:srgbClr val="000000"/>
                </a:solidFill>
                <a:latin typeface="Times New Roman" panose="02020603050405020304" charset="0"/>
              </a:rPr>
              <a:t>pop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удаляет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последний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элемент</a:t>
            </a:r>
            <a:r>
              <a:rPr lang="zh-CN" alt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（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删除最后一个元素</a:t>
            </a:r>
            <a:r>
              <a:rPr lang="zh-CN" alt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）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;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3462655" y="3429000"/>
            <a:ext cx="5284470" cy="22453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push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123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[1, 2, 3, 4, 5, 123]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pop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();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[1, 2, 3, 4, 5]</a:t>
            </a:r>
            <a:endParaRPr lang="en-US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494030" y="288290"/>
            <a:ext cx="11108055" cy="378565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Далее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рассмотрим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методы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добавления</a:t>
            </a:r>
            <a:r>
              <a:rPr lang="en-US" sz="2400" b="0" dirty="0">
                <a:latin typeface="Times New Roman" panose="02020603050405020304" charset="0"/>
              </a:rPr>
              <a:t> и </a:t>
            </a:r>
            <a:r>
              <a:rPr lang="en-US" sz="2400" b="0" dirty="0" err="1">
                <a:latin typeface="Times New Roman" panose="02020603050405020304" charset="0"/>
              </a:rPr>
              <a:t>удаления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элементов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:</a:t>
            </a:r>
            <a:endParaRPr lang="en-US" sz="2400" b="0" dirty="0">
              <a:latin typeface="Times New Roman" panose="02020603050405020304" charset="0"/>
            </a:endParaRPr>
          </a:p>
          <a:p>
            <a:pPr indent="0"/>
            <a:r>
              <a:rPr lang="en-US" altLang="zh-CN" sz="2400" b="0" i="0" dirty="0">
                <a:solidFill>
                  <a:srgbClr val="374151"/>
                </a:solidFill>
                <a:effectLst/>
                <a:latin typeface="Söhne"/>
              </a:rPr>
              <a:t>	</a:t>
            </a:r>
            <a:r>
              <a:rPr lang="zh-CN" altLang="en-US" sz="2400" b="0" i="0" dirty="0">
                <a:solidFill>
                  <a:srgbClr val="374151"/>
                </a:solidFill>
                <a:effectLst/>
                <a:latin typeface="Söhne"/>
              </a:rPr>
              <a:t>接下来我们将讨论数组中的元素添加和删除方法：</a:t>
            </a:r>
            <a:endParaRPr lang="en-US" sz="2400" b="0" dirty="0">
              <a:latin typeface="Noto Sans Symbols" charset="0"/>
            </a:endParaRPr>
          </a:p>
          <a:p>
            <a:pPr indent="0"/>
            <a:endParaRPr lang="en-US" sz="2400" b="0" dirty="0">
              <a:latin typeface="Noto Sans Symbols" charset="0"/>
            </a:endParaRPr>
          </a:p>
          <a:p>
            <a:pPr indent="0" algn="just"/>
            <a:r>
              <a:rPr lang="en-US" sz="2400" b="0" dirty="0">
                <a:latin typeface="Noto Sans Symbols" charset="0"/>
              </a:rPr>
              <a:t>● </a:t>
            </a:r>
            <a:r>
              <a:rPr lang="en-US" sz="2400" b="0" i="1" dirty="0">
                <a:latin typeface="Times New Roman" panose="02020603050405020304" charset="0"/>
              </a:rPr>
              <a:t>shift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удаляет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начале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сдвигая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очередь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так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что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второй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становится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первым</a:t>
            </a:r>
            <a:r>
              <a:rPr lang="en-US" sz="2400" b="0" dirty="0">
                <a:latin typeface="Times New Roman" panose="02020603050405020304" charset="0"/>
              </a:rPr>
              <a:t>;</a:t>
            </a:r>
            <a:endParaRPr lang="en-US" sz="2400" b="0" dirty="0">
              <a:latin typeface="Times New Roman" panose="02020603050405020304" charset="0"/>
            </a:endParaRPr>
          </a:p>
          <a:p>
            <a:pPr algn="just"/>
            <a:r>
              <a:rPr lang="en-US" altLang="zh-CN" sz="2400" dirty="0"/>
              <a:t>`shift` </a:t>
            </a:r>
            <a:r>
              <a:rPr lang="zh-CN" altLang="en-US" sz="2400" dirty="0"/>
              <a:t>方法删除数组的第一个元素，并将其余元素向前移动，使第二个元素成为第一个元素；</a:t>
            </a:r>
            <a:endParaRPr lang="zh-CN" altLang="en-US" sz="2400" dirty="0"/>
          </a:p>
          <a:p>
            <a:pPr indent="0" algn="just"/>
            <a:endParaRPr lang="en-US" sz="2400" b="0" dirty="0">
              <a:latin typeface="Noto Sans Symbols" charset="0"/>
            </a:endParaRPr>
          </a:p>
          <a:p>
            <a:pPr indent="0" algn="just"/>
            <a:r>
              <a:rPr lang="en-US" sz="2400" b="0" dirty="0">
                <a:latin typeface="Noto Sans Symbols" charset="0"/>
              </a:rPr>
              <a:t>● </a:t>
            </a:r>
            <a:r>
              <a:rPr lang="en-US" sz="2400" b="0" i="1" dirty="0">
                <a:latin typeface="Times New Roman" panose="02020603050405020304" charset="0"/>
              </a:rPr>
              <a:t>unshift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добавляет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начало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r>
              <a:rPr lang="en-US" altLang="zh-CN" sz="2400" dirty="0"/>
              <a:t> `unshift` </a:t>
            </a:r>
            <a:r>
              <a:rPr lang="zh-CN" altLang="en-US" sz="2400" dirty="0"/>
              <a:t>方法在数组的开头添加一个元素。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3399155" y="4197985"/>
            <a:ext cx="5393690" cy="22453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unshift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321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[321, 1, 2, 3, 4, 5]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shift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();</a:t>
            </a:r>
            <a:endParaRPr lang="en-US" sz="20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000" b="0">
                <a:solidFill>
                  <a:srgbClr val="008000"/>
                </a:solidFill>
                <a:latin typeface="Consolas" charset="0"/>
              </a:rPr>
              <a:t>// [1, 2, 3, 4, 5]</a:t>
            </a:r>
            <a:endParaRPr lang="en-US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453390" y="300990"/>
            <a:ext cx="11285220" cy="30469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0215" algn="just"/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Давайте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применим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всё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изученное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на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практике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попробуем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доработать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программу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из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прошлой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темы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в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которой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пользователь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вводит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цвета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в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диалоговое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окно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введенное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значение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stop –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завершит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работу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скрипта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Все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веденные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цвета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должны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сохраняться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в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окончанию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скрипта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нужно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вывести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в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консоль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браузера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50215" algn="just"/>
            <a:r>
              <a:rPr lang="zh-CN" altLang="en-US" sz="2400" dirty="0"/>
              <a:t>让我们将前一主题中学到的一切应用到实践中，试着改进之前的程序。在那个程序中，用户通过对话框输入颜色，输入</a:t>
            </a:r>
            <a:r>
              <a:rPr lang="en-US" altLang="zh-CN" sz="2400" dirty="0"/>
              <a:t>"stop"</a:t>
            </a:r>
            <a:r>
              <a:rPr lang="zh-CN" altLang="en-US" sz="2400" dirty="0"/>
              <a:t>将结束脚本的运行。所有输入的颜色应该保存在一个数组中。在脚本结束时，将数组输出到浏览器控制台。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3556000" y="3758565"/>
            <a:ext cx="525653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color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 dirty="0">
                <a:solidFill>
                  <a:srgbClr val="A31515"/>
                </a:solidFill>
                <a:latin typeface="Consolas" charset="0"/>
              </a:rPr>
              <a:t>''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;</a:t>
            </a:r>
            <a:endParaRPr lang="en-US" sz="2000" b="0" dirty="0">
              <a:solidFill>
                <a:srgbClr val="0000FF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>
                <a:solidFill>
                  <a:srgbClr val="0070C1"/>
                </a:solidFill>
                <a:latin typeface="Consolas" charset="0"/>
              </a:rPr>
              <a:t>colors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= [];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 dirty="0">
              <a:solidFill>
                <a:srgbClr val="AF00DB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AF00DB"/>
                </a:solidFill>
                <a:latin typeface="Consolas" charset="0"/>
              </a:rPr>
              <a:t>while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(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color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!== </a:t>
            </a:r>
            <a:r>
              <a:rPr lang="en-US" sz="2000" b="0" dirty="0">
                <a:solidFill>
                  <a:srgbClr val="A31515"/>
                </a:solidFill>
                <a:latin typeface="Consolas" charset="0"/>
              </a:rPr>
              <a:t>'stop'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 {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color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 dirty="0">
                <a:solidFill>
                  <a:srgbClr val="795E26"/>
                </a:solidFill>
                <a:latin typeface="Consolas" charset="0"/>
              </a:rPr>
              <a:t>prompt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latin typeface="Consolas" charset="0"/>
              </a:rPr>
              <a:t>'Please enter any color'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 dirty="0" err="1">
                <a:solidFill>
                  <a:srgbClr val="0070C1"/>
                </a:solidFill>
                <a:latin typeface="Consolas" charset="0"/>
              </a:rPr>
              <a:t>colors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push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color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}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 dirty="0">
                <a:solidFill>
                  <a:srgbClr val="0070C1"/>
                </a:solidFill>
                <a:latin typeface="Consolas" charset="0"/>
              </a:rPr>
              <a:t>colors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453390" y="300990"/>
            <a:ext cx="11285220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0215" algn="just"/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Введенная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пользователем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строка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stop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так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же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попала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в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список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введённых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цветов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–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что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является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не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правильным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поведением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Самостоятельно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придумайте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как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исключить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строку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завершения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скрипта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из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списка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цветов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введённых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пользователем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50215" algn="just"/>
            <a:endParaRPr lang="en-US" sz="240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50215" algn="just"/>
            <a:r>
              <a:rPr lang="zh-CN" alt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用户输入的字符串 </a:t>
            </a:r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charset="0"/>
              </a:rPr>
              <a:t>"stop" </a:t>
            </a:r>
            <a:r>
              <a:rPr lang="zh-CN" alt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也被包含在输入的颜色列表中，这是不正确的行为。请自行想象如何从用户输入的颜色列表中排除脚本终止字符串。</a:t>
            </a:r>
            <a:endParaRPr lang="en-US" sz="2400" b="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920" y="4385945"/>
            <a:ext cx="8138160" cy="795020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6734810" y="4530725"/>
            <a:ext cx="1238250" cy="61277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7727950" y="3319780"/>
            <a:ext cx="612775" cy="93916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7685249" y="2821940"/>
            <a:ext cx="34998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Нужно удалить</a:t>
            </a:r>
            <a:r>
              <a:rPr lang="en-US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需要删除</a:t>
            </a:r>
            <a:endParaRPr lang="ru-RU" alt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74065" y="530225"/>
            <a:ext cx="10644505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ru-RU" alt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	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Следующий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вопрос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который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разберем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–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это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вопрос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перебора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элементов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Одним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из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самых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старых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способов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перебора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элементов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является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цикл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i="1" dirty="0">
                <a:solidFill>
                  <a:srgbClr val="000000"/>
                </a:solidFill>
                <a:latin typeface="Times New Roman" panose="02020603050405020304" charset="0"/>
              </a:rPr>
              <a:t>for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цифровым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индексам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endParaRPr lang="en-US" sz="240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r>
              <a:rPr lang="zh-CN" altLang="en-US" sz="2400" dirty="0"/>
              <a:t>我们将讨论的下一个问题是数组元素的遍历。对数组元素进行遍历的一种最古老的方法是使用</a:t>
            </a:r>
            <a:r>
              <a:rPr lang="en-US" altLang="zh-CN" sz="2400" dirty="0"/>
              <a:t>for</a:t>
            </a:r>
            <a:r>
              <a:rPr lang="zh-CN" altLang="en-US" sz="2400" dirty="0"/>
              <a:t>循环，通过数字索引进行遍历。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3378835" y="4149090"/>
            <a:ext cx="5080000" cy="1630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000" b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>
              <a:solidFill>
                <a:srgbClr val="AF00DB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AF00DB"/>
                </a:solidFill>
                <a:latin typeface="Consolas" charset="0"/>
              </a:rPr>
              <a:t>for 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000" b="0">
                <a:solidFill>
                  <a:srgbClr val="098658"/>
                </a:solidFill>
                <a:latin typeface="Consolas" charset="0"/>
              </a:rPr>
              <a:t>0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;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length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; 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++) {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[</a:t>
            </a:r>
            <a:r>
              <a:rPr lang="en-US" sz="2000" b="0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sz="2000" b="0">
                <a:solidFill>
                  <a:srgbClr val="000000"/>
                </a:solidFill>
                <a:latin typeface="Consolas" charset="0"/>
              </a:rPr>
              <a:t>])</a:t>
            </a:r>
            <a:endParaRPr lang="en-US" sz="20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>
                <a:solidFill>
                  <a:srgbClr val="000000"/>
                </a:solidFill>
                <a:latin typeface="Consolas" charset="0"/>
              </a:rPr>
              <a:t>}</a:t>
            </a:r>
            <a:endParaRPr lang="en-US"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03250" y="448310"/>
            <a:ext cx="10750550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ru-RU" alt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	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Или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другие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два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более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простые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способы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Цикл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i="1" dirty="0" err="1">
                <a:solidFill>
                  <a:srgbClr val="000000"/>
                </a:solidFill>
                <a:latin typeface="Times New Roman" panose="02020603050405020304" charset="0"/>
              </a:rPr>
              <a:t>for..of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не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предоставляет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доступа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к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номеру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текущего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элемента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только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к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его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значению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но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в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большинстве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случаев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этого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достаточно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endParaRPr lang="en-US" sz="240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r>
              <a:rPr lang="en-US" altLang="zh-CN" sz="2400" dirty="0"/>
              <a:t>"</a:t>
            </a:r>
            <a:r>
              <a:rPr lang="zh-CN" altLang="en-US" sz="2400" dirty="0"/>
              <a:t>或者使用其他两种更简单的方法。</a:t>
            </a:r>
            <a:r>
              <a:rPr lang="en-US" altLang="zh-CN" sz="2400" dirty="0"/>
              <a:t>for...of</a:t>
            </a:r>
            <a:r>
              <a:rPr lang="zh-CN" altLang="en-US" sz="2400" dirty="0"/>
              <a:t>循环不提供对当前元素的编号的访问，只提供对其值的访问，但在大多数情况下这已经足够了。</a:t>
            </a:r>
            <a:r>
              <a:rPr lang="en-US" altLang="zh-CN" sz="2400" dirty="0"/>
              <a:t>"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3556000" y="3850005"/>
            <a:ext cx="5080000" cy="1938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 dirty="0">
              <a:solidFill>
                <a:srgbClr val="AF00DB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AF00DB"/>
                </a:solidFill>
                <a:latin typeface="Consolas" charset="0"/>
              </a:rPr>
              <a:t>for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value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of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 {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400" b="0" dirty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value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}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39140" y="351155"/>
            <a:ext cx="10713085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Технически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так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как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является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объектом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можно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использовать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и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вариант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i="1" dirty="0" err="1">
                <a:solidFill>
                  <a:srgbClr val="000000"/>
                </a:solidFill>
                <a:latin typeface="Times New Roman" panose="02020603050405020304" charset="0"/>
              </a:rPr>
              <a:t>for..in</a:t>
            </a:r>
            <a:r>
              <a:rPr lang="en-US" sz="2400" b="0" i="1" dirty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 i="1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 algn="just"/>
            <a:endParaRPr lang="en-US" sz="2400" i="1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 algn="just"/>
            <a:r>
              <a:rPr lang="zh-CN" altLang="en-US" sz="2400" dirty="0"/>
              <a:t>从技术上讲，由于数组是对象，因此可以使用</a:t>
            </a:r>
            <a:r>
              <a:rPr lang="en-US" altLang="zh-CN" sz="2400" dirty="0" err="1"/>
              <a:t>for..in</a:t>
            </a:r>
            <a:r>
              <a:rPr lang="zh-CN" altLang="en-US" sz="2400" dirty="0"/>
              <a:t>语法。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3059430" y="3169920"/>
            <a:ext cx="607250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 dirty="0">
              <a:solidFill>
                <a:srgbClr val="AF00DB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AF00DB"/>
                </a:solidFill>
                <a:latin typeface="Consolas" charset="0"/>
              </a:rPr>
              <a:t>for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key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in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 {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400" b="0" dirty="0">
                <a:solidFill>
                  <a:srgbClr val="795E26"/>
                </a:solidFill>
                <a:latin typeface="Consolas" charset="0"/>
              </a:rPr>
              <a:t>alert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`index_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${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key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}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: 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${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[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key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]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}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`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}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16585" y="313690"/>
            <a:ext cx="10930255" cy="26776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	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Помимо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простых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массивов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можно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создать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многомерные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(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матрицы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). 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Это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достигается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за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счет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того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факта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что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элементы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могут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быть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представлены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разными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типами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данных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в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том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числе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они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могут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могут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содержать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элементы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которые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тоже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являются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массивами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endParaRPr lang="en-US" sz="240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0" algn="just"/>
            <a:r>
              <a:rPr lang="zh-CN" altLang="en-US" sz="2400" dirty="0"/>
              <a:t>除了简单的数组外，还可以创建多维数组（矩阵）。这是因为数组的元素可以由不同的数据类型表示，包括可能包含其他数组作为元素。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3530600" y="3428683"/>
            <a:ext cx="50800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matrix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],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6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],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7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8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9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matrix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]);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80415" y="419735"/>
            <a:ext cx="10572750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en-US" sz="2400" b="0" dirty="0" err="1">
                <a:latin typeface="Times New Roman" panose="02020603050405020304" charset="0"/>
              </a:rPr>
              <a:t>Давайте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представим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таблицу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умножения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виде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многомерного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r>
              <a:rPr lang="zh-CN" altLang="en-US" sz="2400" dirty="0"/>
              <a:t>让我们将乘法表表示为多维数组。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2882265" y="2031365"/>
            <a:ext cx="5977255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 err="1">
                <a:solidFill>
                  <a:srgbClr val="0070C1"/>
                </a:solidFill>
                <a:latin typeface="Consolas" charset="0"/>
              </a:rPr>
              <a:t>multiplication_table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= [];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 dirty="0">
              <a:solidFill>
                <a:srgbClr val="AF00DB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AF00DB"/>
                </a:solidFill>
                <a:latin typeface="Consolas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(</a:t>
            </a:r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latin typeface="Consolas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; </a:t>
            </a:r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&lt;= </a:t>
            </a:r>
            <a:r>
              <a:rPr lang="en-US" sz="2000" b="0" dirty="0">
                <a:solidFill>
                  <a:srgbClr val="098658"/>
                </a:solidFill>
                <a:latin typeface="Consolas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; </a:t>
            </a:r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++) {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multiplication_row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= [];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 dirty="0">
                <a:solidFill>
                  <a:srgbClr val="AF00DB"/>
                </a:solidFill>
                <a:latin typeface="Consolas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(</a:t>
            </a:r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let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j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latin typeface="Consolas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; 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j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&lt;= </a:t>
            </a:r>
            <a:r>
              <a:rPr lang="en-US" sz="2000" b="0" dirty="0">
                <a:solidFill>
                  <a:srgbClr val="098658"/>
                </a:solidFill>
                <a:latin typeface="Consolas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; </a:t>
            </a:r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j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++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 {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   </a:t>
            </a:r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>
                <a:solidFill>
                  <a:srgbClr val="0070C1"/>
                </a:solidFill>
                <a:latin typeface="Consolas" charset="0"/>
              </a:rPr>
              <a:t>result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*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j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;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   </a:t>
            </a:r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multiplication_row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push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 dirty="0">
                <a:solidFill>
                  <a:srgbClr val="0070C1"/>
                </a:solidFill>
                <a:latin typeface="Consolas" charset="0"/>
              </a:rPr>
              <a:t>result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 }  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 dirty="0" err="1">
                <a:solidFill>
                  <a:srgbClr val="0070C1"/>
                </a:solidFill>
                <a:latin typeface="Consolas" charset="0"/>
              </a:rPr>
              <a:t>multiplication_table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push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multiplication_row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}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 dirty="0" err="1">
                <a:solidFill>
                  <a:srgbClr val="0070C1"/>
                </a:solidFill>
                <a:latin typeface="Consolas" charset="0"/>
              </a:rPr>
              <a:t>multiplication_table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68350" y="1727835"/>
            <a:ext cx="10654665" cy="224676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just"/>
            <a:r>
              <a:rPr lang="ru-RU" altLang="en-US" sz="2800" b="0" dirty="0">
                <a:latin typeface="Times New Roman" panose="02020603050405020304" charset="0"/>
              </a:rPr>
              <a:t>	</a:t>
            </a:r>
            <a:r>
              <a:rPr lang="en-US" sz="2800" b="0" dirty="0">
                <a:latin typeface="Times New Roman" panose="02020603050405020304" charset="0"/>
              </a:rPr>
              <a:t>JavaScript </a:t>
            </a:r>
            <a:r>
              <a:rPr lang="en-US" sz="2800" b="0" dirty="0" err="1">
                <a:latin typeface="Times New Roman" panose="02020603050405020304" charset="0"/>
              </a:rPr>
              <a:t>предоставляет</a:t>
            </a:r>
            <a:r>
              <a:rPr lang="en-US" sz="2800" b="0" dirty="0">
                <a:latin typeface="Times New Roman" panose="02020603050405020304" charset="0"/>
              </a:rPr>
              <a:t> </a:t>
            </a:r>
            <a:r>
              <a:rPr lang="en-US" sz="2800" b="0" dirty="0" err="1">
                <a:latin typeface="Times New Roman" panose="02020603050405020304" charset="0"/>
              </a:rPr>
              <a:t>множество</a:t>
            </a:r>
            <a:r>
              <a:rPr lang="en-US" sz="2800" b="0" dirty="0">
                <a:latin typeface="Times New Roman" panose="02020603050405020304" charset="0"/>
              </a:rPr>
              <a:t> </a:t>
            </a:r>
            <a:r>
              <a:rPr lang="en-US" sz="2800" b="0" dirty="0" err="1">
                <a:latin typeface="Times New Roman" panose="02020603050405020304" charset="0"/>
              </a:rPr>
              <a:t>других</a:t>
            </a:r>
            <a:r>
              <a:rPr lang="en-US" sz="2800" b="0" dirty="0">
                <a:latin typeface="Times New Roman" panose="02020603050405020304" charset="0"/>
              </a:rPr>
              <a:t> </a:t>
            </a:r>
            <a:r>
              <a:rPr lang="en-US" sz="2800" b="0" dirty="0" err="1">
                <a:latin typeface="Times New Roman" panose="02020603050405020304" charset="0"/>
              </a:rPr>
              <a:t>методов</a:t>
            </a:r>
            <a:r>
              <a:rPr lang="en-US" sz="2800" b="0" dirty="0">
                <a:latin typeface="Times New Roman" panose="02020603050405020304" charset="0"/>
              </a:rPr>
              <a:t> </a:t>
            </a:r>
            <a:r>
              <a:rPr lang="en-US" sz="2800" b="0" dirty="0" err="1">
                <a:latin typeface="Times New Roman" panose="02020603050405020304" charset="0"/>
              </a:rPr>
              <a:t>работы</a:t>
            </a:r>
            <a:r>
              <a:rPr lang="en-US" sz="2800" b="0" dirty="0">
                <a:latin typeface="Times New Roman" panose="02020603050405020304" charset="0"/>
              </a:rPr>
              <a:t> с </a:t>
            </a:r>
            <a:r>
              <a:rPr lang="en-US" sz="2800" b="0" dirty="0" err="1">
                <a:latin typeface="Times New Roman" panose="02020603050405020304" charset="0"/>
              </a:rPr>
              <a:t>массивами</a:t>
            </a:r>
            <a:r>
              <a:rPr lang="en-US" sz="2800" b="0" dirty="0">
                <a:latin typeface="Times New Roman" panose="02020603050405020304" charset="0"/>
              </a:rPr>
              <a:t>. </a:t>
            </a:r>
            <a:r>
              <a:rPr lang="en-US" sz="2800" b="0" dirty="0" err="1">
                <a:latin typeface="Times New Roman" panose="02020603050405020304" charset="0"/>
              </a:rPr>
              <a:t>Разберем</a:t>
            </a:r>
            <a:r>
              <a:rPr lang="en-US" sz="2800" b="0" dirty="0">
                <a:latin typeface="Times New Roman" panose="02020603050405020304" charset="0"/>
              </a:rPr>
              <a:t> </a:t>
            </a:r>
            <a:r>
              <a:rPr lang="en-US" sz="2800" b="0" dirty="0" err="1">
                <a:latin typeface="Times New Roman" panose="02020603050405020304" charset="0"/>
              </a:rPr>
              <a:t>самые</a:t>
            </a:r>
            <a:r>
              <a:rPr lang="en-US" sz="2800" b="0" dirty="0">
                <a:latin typeface="Times New Roman" panose="02020603050405020304" charset="0"/>
              </a:rPr>
              <a:t> </a:t>
            </a:r>
            <a:r>
              <a:rPr lang="en-US" sz="2800" b="0" dirty="0" err="1">
                <a:latin typeface="Times New Roman" panose="02020603050405020304" charset="0"/>
              </a:rPr>
              <a:t>полезные</a:t>
            </a:r>
            <a:r>
              <a:rPr lang="en-US" sz="2800" b="0" dirty="0">
                <a:latin typeface="Times New Roman" panose="02020603050405020304" charset="0"/>
              </a:rPr>
              <a:t> и </a:t>
            </a:r>
            <a:r>
              <a:rPr lang="en-US" sz="2800" b="0" dirty="0" err="1">
                <a:latin typeface="Times New Roman" panose="02020603050405020304" charset="0"/>
              </a:rPr>
              <a:t>часто</a:t>
            </a:r>
            <a:r>
              <a:rPr lang="en-US" sz="2800" b="0" dirty="0">
                <a:latin typeface="Times New Roman" panose="02020603050405020304" charset="0"/>
              </a:rPr>
              <a:t> </a:t>
            </a:r>
            <a:r>
              <a:rPr lang="en-US" sz="2800" b="0" dirty="0" err="1">
                <a:latin typeface="Times New Roman" panose="02020603050405020304" charset="0"/>
              </a:rPr>
              <a:t>используемые</a:t>
            </a:r>
            <a:r>
              <a:rPr lang="en-US" sz="2800" b="0" dirty="0">
                <a:latin typeface="Times New Roman" panose="02020603050405020304" charset="0"/>
              </a:rPr>
              <a:t> </a:t>
            </a:r>
            <a:r>
              <a:rPr lang="en-US" sz="2800" b="0" dirty="0" err="1">
                <a:latin typeface="Times New Roman" panose="02020603050405020304" charset="0"/>
              </a:rPr>
              <a:t>методы</a:t>
            </a:r>
            <a:r>
              <a:rPr lang="en-US" sz="2800" b="0" dirty="0">
                <a:latin typeface="Times New Roman" panose="02020603050405020304" charset="0"/>
              </a:rPr>
              <a:t>.</a:t>
            </a:r>
            <a:endParaRPr lang="en-US" sz="2800" b="0" dirty="0">
              <a:latin typeface="Times New Roman" panose="02020603050405020304" charset="0"/>
            </a:endParaRPr>
          </a:p>
          <a:p>
            <a:pPr marL="0" indent="0" algn="just"/>
            <a:endParaRPr lang="en-US" sz="2800" dirty="0">
              <a:latin typeface="Times New Roman" panose="02020603050405020304" charset="0"/>
            </a:endParaRPr>
          </a:p>
          <a:p>
            <a:pPr marL="0" indent="0" algn="just"/>
            <a:r>
              <a:rPr lang="en-US" altLang="zh-CN" sz="2800" b="0" dirty="0">
                <a:latin typeface="Times New Roman" panose="02020603050405020304" charset="0"/>
              </a:rPr>
              <a:t>JavaScript</a:t>
            </a:r>
            <a:r>
              <a:rPr lang="zh-CN" altLang="en-US" sz="2800" b="0" dirty="0">
                <a:latin typeface="Times New Roman" panose="02020603050405020304" charset="0"/>
              </a:rPr>
              <a:t>提供了许多用于处理数组的其他方法。让我们来了解一些最有用且经常使用的方法。</a:t>
            </a:r>
            <a:endParaRPr lang="en-US" sz="2800" b="0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904240" y="394970"/>
            <a:ext cx="1044956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Например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 err="1">
                <a:latin typeface="Times New Roman" panose="02020603050405020304" charset="0"/>
              </a:rPr>
              <a:t>concat</a:t>
            </a:r>
            <a:r>
              <a:rPr lang="en-US" sz="2400" b="0" i="1" dirty="0">
                <a:latin typeface="Times New Roman" panose="02020603050405020304" charset="0"/>
              </a:rPr>
              <a:t>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возвращает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новый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состоящий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из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на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котором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он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был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вызван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соединённого</a:t>
            </a:r>
            <a:r>
              <a:rPr lang="en-US" sz="2400" b="0" dirty="0">
                <a:latin typeface="Times New Roman" panose="02020603050405020304" charset="0"/>
              </a:rPr>
              <a:t> с </a:t>
            </a:r>
            <a:r>
              <a:rPr lang="en-US" sz="2400" b="0" dirty="0" err="1">
                <a:latin typeface="Times New Roman" panose="02020603050405020304" charset="0"/>
              </a:rPr>
              <a:t>другими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массивами</a:t>
            </a:r>
            <a:r>
              <a:rPr lang="en-US" sz="2400" b="0" dirty="0">
                <a:latin typeface="Times New Roman" panose="02020603050405020304" charset="0"/>
              </a:rPr>
              <a:t> и/</a:t>
            </a:r>
            <a:r>
              <a:rPr lang="en-US" sz="2400" b="0" dirty="0" err="1">
                <a:latin typeface="Times New Roman" panose="02020603050405020304" charset="0"/>
              </a:rPr>
              <a:t>или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значениями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переданными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качестве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аргументов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r>
              <a:rPr lang="zh-CN" altLang="en-US" sz="2400" dirty="0"/>
              <a:t>例如，</a:t>
            </a:r>
            <a:r>
              <a:rPr lang="en-US" altLang="zh-CN" sz="2400" dirty="0" err="1"/>
              <a:t>concat</a:t>
            </a:r>
            <a:r>
              <a:rPr lang="en-US" altLang="zh-CN" sz="2400" dirty="0"/>
              <a:t>() </a:t>
            </a:r>
            <a:r>
              <a:rPr lang="zh-CN" altLang="en-US" sz="2400" dirty="0"/>
              <a:t>方法返回一个新数组，该数组由调用该方法的数组与其他数组和</a:t>
            </a:r>
            <a:r>
              <a:rPr lang="en-US" altLang="zh-CN" sz="2400" dirty="0"/>
              <a:t>/</a:t>
            </a:r>
            <a:r>
              <a:rPr lang="zh-CN" altLang="en-US" sz="2400" dirty="0"/>
              <a:t>或作为参数传递的值连接而成。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1345565" y="3625850"/>
            <a:ext cx="956691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just"/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 err="1">
                <a:solidFill>
                  <a:srgbClr val="0070C1"/>
                </a:solidFill>
                <a:latin typeface="Consolas" charset="0"/>
              </a:rPr>
              <a:t>array1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'a'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'b'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'c'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 dirty="0">
              <a:solidFill>
                <a:srgbClr val="0000FF"/>
              </a:solidFill>
              <a:latin typeface="Consolas" charset="0"/>
            </a:endParaRPr>
          </a:p>
          <a:p>
            <a:pPr marL="0" indent="0" algn="just"/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 err="1">
                <a:solidFill>
                  <a:srgbClr val="0070C1"/>
                </a:solidFill>
                <a:latin typeface="Consolas" charset="0"/>
              </a:rPr>
              <a:t>array2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'd'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'e'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'f'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pPr marL="0" indent="0" algn="just"/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 dirty="0">
              <a:solidFill>
                <a:srgbClr val="001080"/>
              </a:solidFill>
              <a:latin typeface="Consolas" charset="0"/>
            </a:endParaRPr>
          </a:p>
          <a:p>
            <a:pPr marL="0" indent="0" algn="just"/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70C1"/>
                </a:solidFill>
                <a:latin typeface="Consolas" charset="0"/>
              </a:rPr>
              <a:t>array1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concat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70C1"/>
                </a:solidFill>
                <a:latin typeface="Consolas" charset="0"/>
              </a:rPr>
              <a:t>array2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// ["a", "b", "c", "d", "e", "f"]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945515" y="582930"/>
            <a:ext cx="1040765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every()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проверяет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удовлетворяют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все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условию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заданному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передаваемой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функции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latin typeface="Times New Roman" panose="02020603050405020304" charset="0"/>
            </a:endParaRPr>
          </a:p>
          <a:p>
            <a:pPr indent="449580" algn="just"/>
            <a:r>
              <a:rPr lang="en-US" altLang="zh-CN" sz="2400" dirty="0"/>
              <a:t>`every()` </a:t>
            </a:r>
            <a:r>
              <a:rPr lang="zh-CN" altLang="en-US" sz="2400" dirty="0"/>
              <a:t>方法用于检查数组的所有元素是否都满足传递给函数的条件。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1192530" y="3248660"/>
            <a:ext cx="1030160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result1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8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130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every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element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element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&gt;=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10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 b="0">
              <a:solidFill>
                <a:srgbClr val="0000FF"/>
              </a:solidFill>
              <a:latin typeface="Consolas" charset="0"/>
            </a:endParaRPr>
          </a:p>
          <a:p>
            <a:pPr marL="0" indent="0" algn="l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result2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54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18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130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every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element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element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&gt;=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10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 algn="l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 algn="l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result1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false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 algn="l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result2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true</a:t>
            </a:r>
            <a:endParaRPr lang="en-US" sz="2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1065530" y="283845"/>
            <a:ext cx="10287635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some()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проверяет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удовлетворяет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какой-либо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условию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заданному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передаваемой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функции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latin typeface="Times New Roman" panose="02020603050405020304" charset="0"/>
            </a:endParaRPr>
          </a:p>
          <a:p>
            <a:pPr indent="449580" algn="just"/>
            <a:r>
              <a:rPr lang="en-US" altLang="zh-CN" sz="2400" dirty="0"/>
              <a:t>`some()` </a:t>
            </a:r>
            <a:r>
              <a:rPr lang="zh-CN" altLang="en-US" sz="2400" dirty="0"/>
              <a:t>方法检查数组中是否有任何元素满足传递给函数的条件。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1135380" y="3040380"/>
            <a:ext cx="971804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result1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8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130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some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element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element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&gt;=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10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 b="0">
              <a:solidFill>
                <a:srgbClr val="0000FF"/>
              </a:solidFill>
              <a:latin typeface="Consolas" charset="0"/>
            </a:endParaRPr>
          </a:p>
          <a:p>
            <a:pPr marL="0" indent="0" algn="l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result2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some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element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element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&gt;=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10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 algn="l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 algn="l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result1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true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 algn="l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result2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false</a:t>
            </a:r>
            <a:endParaRPr lang="en-US"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14045" y="664845"/>
            <a:ext cx="1086612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from()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создаёт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новый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экземпляр</a:t>
            </a:r>
            <a:r>
              <a:rPr lang="en-US" sz="2400" b="0" dirty="0">
                <a:latin typeface="Times New Roman" panose="02020603050405020304" charset="0"/>
              </a:rPr>
              <a:t> Array </a:t>
            </a:r>
            <a:r>
              <a:rPr lang="en-US" sz="2400" b="0" dirty="0" err="1">
                <a:latin typeface="Times New Roman" panose="02020603050405020304" charset="0"/>
              </a:rPr>
              <a:t>из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массивоподобного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итерируемого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объекта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latin typeface="Times New Roman" panose="02020603050405020304" charset="0"/>
            </a:endParaRPr>
          </a:p>
          <a:p>
            <a:pPr indent="449580" algn="just"/>
            <a:r>
              <a:rPr lang="zh-CN" altLang="en-US" sz="2400" dirty="0"/>
              <a:t>方法 </a:t>
            </a:r>
            <a:r>
              <a:rPr lang="en-US" altLang="zh-CN" sz="2400" dirty="0"/>
              <a:t>`from()` </a:t>
            </a:r>
            <a:r>
              <a:rPr lang="zh-CN" altLang="en-US" sz="2400" dirty="0"/>
              <a:t>从类似数组或可迭代对象创建一个新的数组实例。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1471295" y="3810000"/>
            <a:ext cx="940689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267F99"/>
                </a:solidFill>
                <a:latin typeface="Consolas" charset="0"/>
              </a:rPr>
              <a:t>Array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from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({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length: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}, (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 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// [0, 1, 2, 3, 4]</a:t>
            </a:r>
            <a:endParaRPr lang="en-US" sz="24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267F99"/>
                </a:solidFill>
                <a:latin typeface="Consolas" charset="0"/>
              </a:rPr>
              <a:t>Array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from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([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], (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x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 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x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x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// [2, 4, 6]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53745" y="528320"/>
            <a:ext cx="1068451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includes()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определяет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содержит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определённый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возвращая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зависимости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этого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true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false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r>
              <a:rPr lang="en-US" sz="2400" dirty="0">
                <a:latin typeface="Times New Roman" panose="02020603050405020304" charset="0"/>
              </a:rPr>
              <a:t>includes()</a:t>
            </a:r>
            <a:r>
              <a:rPr lang="zh-CN" altLang="en-US" sz="2400" dirty="0">
                <a:latin typeface="Times New Roman" panose="02020603050405020304" charset="0"/>
              </a:rPr>
              <a:t>方法用于确定数组是否包含特定元素，根据包含与否返回</a:t>
            </a:r>
            <a:r>
              <a:rPr lang="en-US" sz="2400" dirty="0">
                <a:latin typeface="Times New Roman" panose="02020603050405020304" charset="0"/>
              </a:rPr>
              <a:t>true</a:t>
            </a:r>
            <a:r>
              <a:rPr lang="zh-CN" altLang="en-US" sz="2400" dirty="0">
                <a:latin typeface="Times New Roman" panose="02020603050405020304" charset="0"/>
              </a:rPr>
              <a:t>或</a:t>
            </a:r>
            <a:r>
              <a:rPr lang="en-US" sz="2400" dirty="0">
                <a:latin typeface="Times New Roman" panose="02020603050405020304" charset="0"/>
              </a:rPr>
              <a:t>false</a:t>
            </a:r>
            <a:r>
              <a:rPr lang="en-US" sz="1050" b="0" dirty="0">
                <a:solidFill>
                  <a:srgbClr val="0000FF"/>
                </a:solidFill>
                <a:latin typeface="Consolas" charset="0"/>
              </a:rPr>
              <a:t> </a:t>
            </a:r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3243580" y="3121660"/>
            <a:ext cx="570547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includes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true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includes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false</a:t>
            </a:r>
            <a:endParaRPr lang="en-US" sz="2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848360" y="406400"/>
            <a:ext cx="10600055" cy="193899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 err="1">
                <a:latin typeface="Times New Roman" panose="02020603050405020304" charset="0"/>
              </a:rPr>
              <a:t>indexOf</a:t>
            </a:r>
            <a:r>
              <a:rPr lang="en-US" sz="2400" b="0" i="1" dirty="0">
                <a:latin typeface="Times New Roman" panose="02020603050405020304" charset="0"/>
              </a:rPr>
              <a:t>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возвращает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первый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индекс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по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которому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данный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может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быть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найден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массиве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или</a:t>
            </a:r>
            <a:r>
              <a:rPr lang="en-US" sz="2400" b="0" dirty="0">
                <a:latin typeface="Times New Roman" panose="02020603050405020304" charset="0"/>
              </a:rPr>
              <a:t> -1, </a:t>
            </a:r>
            <a:r>
              <a:rPr lang="en-US" sz="2400" b="0" dirty="0" err="1">
                <a:latin typeface="Times New Roman" panose="02020603050405020304" charset="0"/>
              </a:rPr>
              <a:t>если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такого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индекса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нет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latin typeface="Times New Roman" panose="02020603050405020304" charset="0"/>
            </a:endParaRPr>
          </a:p>
          <a:p>
            <a:pPr indent="449580" algn="just"/>
            <a:r>
              <a:rPr lang="en-US" altLang="zh-CN" sz="2400" dirty="0"/>
              <a:t>`</a:t>
            </a:r>
            <a:r>
              <a:rPr lang="en-US" altLang="zh-CN" sz="2400" dirty="0" err="1"/>
              <a:t>indexOf</a:t>
            </a:r>
            <a:r>
              <a:rPr lang="en-US" altLang="zh-CN" sz="2400" dirty="0"/>
              <a:t>()` </a:t>
            </a:r>
            <a:r>
              <a:rPr lang="zh-CN" altLang="en-US" sz="2400" dirty="0"/>
              <a:t>方法返回一个元素在数组中第一次出现的索引，如果数组中不包含该元素，则返回 </a:t>
            </a:r>
            <a:r>
              <a:rPr lang="en-US" altLang="zh-CN" sz="2400" dirty="0"/>
              <a:t>-1</a:t>
            </a:r>
            <a:r>
              <a:rPr lang="zh-CN" altLang="en-US" sz="2400" dirty="0"/>
              <a:t>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3302635" y="3566795"/>
            <a:ext cx="540639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indexOf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1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indexOf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-1</a:t>
            </a:r>
            <a:endParaRPr lang="en-US" sz="2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876935" y="487045"/>
            <a:ext cx="1047623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Метод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i="1" dirty="0">
                <a:solidFill>
                  <a:srgbClr val="000000"/>
                </a:solidFill>
                <a:latin typeface="Times New Roman" panose="02020603050405020304" charset="0"/>
              </a:rPr>
              <a:t>join()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объединяет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все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элементы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(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или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массивоподобного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объекта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) в </a:t>
            </a:r>
            <a:r>
              <a:rPr lang="en-US" sz="2400" b="0" dirty="0" err="1">
                <a:solidFill>
                  <a:srgbClr val="000000"/>
                </a:solidFill>
                <a:latin typeface="Times New Roman" panose="02020603050405020304" charset="0"/>
              </a:rPr>
              <a:t>строку</a:t>
            </a:r>
            <a:r>
              <a:rPr lang="en-US" sz="2400" b="0" dirty="0">
                <a:solidFill>
                  <a:srgbClr val="000000"/>
                </a:solidFill>
                <a:latin typeface="Times New Roman" panose="02020603050405020304" charset="0"/>
              </a:rPr>
              <a:t>.</a:t>
            </a:r>
            <a:endParaRPr lang="en-US" sz="2400" b="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indent="449580" algn="just"/>
            <a:r>
              <a:rPr lang="en-US" altLang="zh-CN" sz="2400" dirty="0"/>
              <a:t>`join()` </a:t>
            </a:r>
            <a:r>
              <a:rPr lang="zh-CN" altLang="en-US" sz="2400" dirty="0"/>
              <a:t>方法将数组（或类似数组的对象）中的所有元素连接成一个字符串。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2860675" y="3673475"/>
            <a:ext cx="650875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join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()); 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// </a:t>
            </a:r>
            <a:r>
              <a:rPr lang="ru-RU" altLang="en-US" sz="2400" b="0" dirty="0">
                <a:solidFill>
                  <a:srgbClr val="008000"/>
                </a:solidFill>
                <a:latin typeface="Consolas" charset="0"/>
              </a:rPr>
              <a:t>“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1,2,3</a:t>
            </a:r>
            <a:r>
              <a:rPr lang="ru-RU" altLang="en-US" sz="2400" b="0" dirty="0">
                <a:solidFill>
                  <a:srgbClr val="008000"/>
                </a:solidFill>
                <a:latin typeface="Consolas" charset="0"/>
              </a:rPr>
              <a:t>”</a:t>
            </a:r>
            <a:endParaRPr lang="en-US" sz="24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join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'.'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// 1.2.3</a:t>
            </a:r>
            <a:endParaRPr lang="en-US" sz="24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join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'/'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// 1/2/3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720725" y="596265"/>
            <a:ext cx="10750550" cy="193899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map()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создаёт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новый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</a:t>
            </a:r>
            <a:r>
              <a:rPr lang="en-US" sz="2400" b="0" dirty="0">
                <a:latin typeface="Times New Roman" panose="02020603050405020304" charset="0"/>
              </a:rPr>
              <a:t> с </a:t>
            </a:r>
            <a:r>
              <a:rPr lang="en-US" sz="2400" b="0" dirty="0" err="1">
                <a:latin typeface="Times New Roman" panose="02020603050405020304" charset="0"/>
              </a:rPr>
              <a:t>результатом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вызова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указанной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функции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для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каждого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latin typeface="Times New Roman" panose="02020603050405020304" charset="0"/>
            </a:endParaRPr>
          </a:p>
          <a:p>
            <a:pPr indent="449580" algn="just"/>
            <a:r>
              <a:rPr lang="en-US" altLang="zh-CN" sz="2400" dirty="0"/>
              <a:t>`map()` </a:t>
            </a:r>
            <a:r>
              <a:rPr lang="zh-CN" altLang="en-US" sz="2400" dirty="0"/>
              <a:t>方法使用指定的函数对数组的每个元素进行调用，创建一个新的数组来存储结果。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2474595" y="4053840"/>
            <a:ext cx="724217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00FF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doubles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map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num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num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*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doubles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[2, 4, 6]</a:t>
            </a:r>
            <a:endParaRPr lang="en-US" sz="2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957580" y="352425"/>
            <a:ext cx="10396855" cy="26776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reduce()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позволяет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превратить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любое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другое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значение</a:t>
            </a:r>
            <a:r>
              <a:rPr lang="en-US" sz="2400" b="0" dirty="0">
                <a:latin typeface="Times New Roman" panose="02020603050405020304" charset="0"/>
              </a:rPr>
              <a:t> с </a:t>
            </a:r>
            <a:r>
              <a:rPr lang="en-US" sz="2400" b="0" dirty="0" err="1">
                <a:latin typeface="Times New Roman" panose="02020603050405020304" charset="0"/>
              </a:rPr>
              <a:t>помощью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переданной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функции-колбэка</a:t>
            </a:r>
            <a:r>
              <a:rPr lang="en-US" sz="2400" b="0" dirty="0">
                <a:latin typeface="Times New Roman" panose="02020603050405020304" charset="0"/>
              </a:rPr>
              <a:t> и </a:t>
            </a:r>
            <a:r>
              <a:rPr lang="en-US" sz="2400" b="0" dirty="0" err="1">
                <a:latin typeface="Times New Roman" panose="02020603050405020304" charset="0"/>
              </a:rPr>
              <a:t>начального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значения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latin typeface="Times New Roman" panose="02020603050405020304" charset="0"/>
            </a:endParaRPr>
          </a:p>
          <a:p>
            <a:pPr indent="449580" algn="just"/>
            <a:r>
              <a:rPr lang="en-US" altLang="zh-CN" sz="2400" dirty="0"/>
              <a:t>`reduce()` </a:t>
            </a:r>
            <a:r>
              <a:rPr lang="zh-CN" altLang="en-US" sz="2400" dirty="0"/>
              <a:t>方法通过使用传递的回调函数和初始值，可以将数组转换为任何其他值。</a:t>
            </a:r>
            <a:endParaRPr lang="zh-CN" altLang="en-US" sz="2400" dirty="0"/>
          </a:p>
          <a:p>
            <a:pPr indent="449580" algn="just"/>
            <a:endParaRPr lang="zh-CN" altLang="en-US" sz="2400" dirty="0"/>
          </a:p>
          <a:p>
            <a:pPr indent="449580" algn="just"/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644525" y="3158490"/>
            <a:ext cx="1090358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00FF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initialValue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0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;</a:t>
            </a:r>
            <a:endParaRPr lang="en-US" sz="2400" b="0">
              <a:solidFill>
                <a:srgbClr val="0000FF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sum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reduce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accumulator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currentValue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accumulator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+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currentValue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initialValue</a:t>
            </a:r>
            <a:endParaRPr lang="en-US" sz="2400" b="0">
              <a:solidFill>
                <a:srgbClr val="0070C1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sum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10</a:t>
            </a:r>
            <a:endParaRPr lang="en-US" sz="2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831215" y="690880"/>
            <a:ext cx="10530205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slice()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возвращает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новый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содержащий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копию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части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исходного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latin typeface="Times New Roman" panose="02020603050405020304" charset="0"/>
            </a:endParaRPr>
          </a:p>
          <a:p>
            <a:pPr indent="449580" algn="just"/>
            <a:r>
              <a:rPr lang="en-US" altLang="zh-CN" sz="2400" dirty="0"/>
              <a:t>`slice()` </a:t>
            </a:r>
            <a:r>
              <a:rPr lang="zh-CN" altLang="en-US" sz="2400" dirty="0"/>
              <a:t>方法返回一个新数组，其中包含原始数组的一部分的副本。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3256280" y="3878580"/>
            <a:ext cx="5679440" cy="2099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slice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[2, 3, 4]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slice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[2, 3]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slice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(-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[3, 4]</a:t>
            </a:r>
            <a:endParaRPr lang="en-US" sz="105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105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970280" y="461010"/>
            <a:ext cx="1038352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sort()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на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месте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сортирует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элементы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 и </a:t>
            </a:r>
            <a:r>
              <a:rPr lang="en-US" sz="2400" b="0" dirty="0" err="1">
                <a:latin typeface="Times New Roman" panose="02020603050405020304" charset="0"/>
              </a:rPr>
              <a:t>возвращает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отсортированный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</a:t>
            </a:r>
            <a:r>
              <a:rPr lang="en-US" sz="2400" b="0" dirty="0">
                <a:latin typeface="Times New Roman" panose="02020603050405020304" charset="0"/>
              </a:rPr>
              <a:t>. 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endParaRPr lang="en-US" sz="2400" dirty="0">
              <a:latin typeface="Times New Roman" panose="02020603050405020304" charset="0"/>
            </a:endParaRPr>
          </a:p>
          <a:p>
            <a:pPr indent="0" algn="just"/>
            <a:r>
              <a:rPr lang="en-US" altLang="zh-CN" sz="2400" dirty="0"/>
              <a:t>`sort()` </a:t>
            </a:r>
            <a:r>
              <a:rPr lang="zh-CN" altLang="en-US" sz="2400" dirty="0"/>
              <a:t>方法就地对数组元素进行排序，并返回排序后的数组。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1786890" y="3442970"/>
            <a:ext cx="861822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sort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((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a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b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 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a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-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b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//  [1, 2, 3, 4, 5]</a:t>
            </a:r>
            <a:endParaRPr lang="en-US" sz="24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sort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((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a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b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 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b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-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a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)); 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//  [5, 4, 3, 2, 1]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1080"/>
                </a:solidFill>
                <a:latin typeface="Consolas" charset="0"/>
              </a:rPr>
              <a:t>numbers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sort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()); 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//  [1, 2, 3, 4, 5]</a:t>
            </a:r>
            <a:endParaRPr lang="en-US" sz="2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847725" y="487680"/>
            <a:ext cx="10506075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splice()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изменяет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содержимое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массива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удаляя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существующие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элементы</a:t>
            </a:r>
            <a:r>
              <a:rPr lang="en-US" sz="2400" b="0" dirty="0">
                <a:latin typeface="Times New Roman" panose="02020603050405020304" charset="0"/>
              </a:rPr>
              <a:t> и/</a:t>
            </a:r>
            <a:r>
              <a:rPr lang="en-US" sz="2400" b="0" dirty="0" err="1">
                <a:latin typeface="Times New Roman" panose="02020603050405020304" charset="0"/>
              </a:rPr>
              <a:t>или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добавляя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новые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latin typeface="Times New Roman" panose="02020603050405020304" charset="0"/>
            </a:endParaRPr>
          </a:p>
          <a:p>
            <a:pPr indent="449580" algn="just"/>
            <a:r>
              <a:rPr lang="en-US" altLang="zh-CN" sz="2400" dirty="0"/>
              <a:t>`splice()` </a:t>
            </a:r>
            <a:r>
              <a:rPr lang="zh-CN" altLang="en-US" sz="2400" dirty="0"/>
              <a:t>方法修改数组的内容，删除现有元素和</a:t>
            </a:r>
            <a:r>
              <a:rPr lang="en-US" altLang="zh-CN" sz="2400" dirty="0"/>
              <a:t>/</a:t>
            </a:r>
            <a:r>
              <a:rPr lang="zh-CN" altLang="en-US" sz="2400" dirty="0"/>
              <a:t>或添加新元素。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2560955" y="2987675"/>
            <a:ext cx="708025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70C1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splice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0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123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[1, 2, 123, 3, 4, 5]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70C1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splice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);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[1, 2, 3, 4, 5]</a:t>
            </a:r>
            <a:endParaRPr lang="en-US" sz="2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902970" y="405765"/>
            <a:ext cx="10450830" cy="193899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lang="en-US" sz="2400" b="0" dirty="0">
                <a:latin typeface="Times New Roman" panose="02020603050405020304" charset="0"/>
              </a:rPr>
              <a:t>	</a:t>
            </a:r>
            <a:r>
              <a:rPr lang="en-US" sz="2400" b="0" dirty="0" err="1">
                <a:latin typeface="Times New Roman" panose="02020603050405020304" charset="0"/>
              </a:rPr>
              <a:t>Метод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i="1" dirty="0">
                <a:latin typeface="Times New Roman" panose="02020603050405020304" charset="0"/>
              </a:rPr>
              <a:t>filter()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создаёт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новый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всеми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элементами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прошедшими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проверку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задаваемую</a:t>
            </a:r>
            <a:r>
              <a:rPr lang="en-US" sz="2400" b="0" dirty="0">
                <a:latin typeface="Times New Roman" panose="02020603050405020304" charset="0"/>
              </a:rPr>
              <a:t> в </a:t>
            </a:r>
            <a:r>
              <a:rPr lang="en-US" sz="2400" b="0" dirty="0" err="1">
                <a:latin typeface="Times New Roman" panose="02020603050405020304" charset="0"/>
              </a:rPr>
              <a:t>передаваемой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функции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0" algn="just"/>
            <a:endParaRPr lang="en-US" sz="2400" dirty="0">
              <a:latin typeface="Times New Roman" panose="02020603050405020304" charset="0"/>
            </a:endParaRPr>
          </a:p>
          <a:p>
            <a:pPr indent="0" algn="just"/>
            <a:r>
              <a:rPr lang="en-US" altLang="zh-CN" sz="2400" dirty="0"/>
              <a:t>`filter()` </a:t>
            </a:r>
            <a:r>
              <a:rPr lang="zh-CN" altLang="en-US" sz="2400" dirty="0"/>
              <a:t>方法根据传递的函数的条件筛选出所有符合条件的元素，然后创建一个新的数组。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2433320" y="3602990"/>
            <a:ext cx="7325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filter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&gt;=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))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[3, 4, 5]</a:t>
            </a:r>
            <a:endParaRPr lang="en-US" sz="2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19125" y="232410"/>
            <a:ext cx="10985500" cy="34163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Метод</a:t>
            </a:r>
            <a:r>
              <a:rPr lang="en-US" sz="2400" b="0" dirty="0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i="1" dirty="0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find()</a:t>
            </a:r>
            <a:r>
              <a:rPr lang="en-US" sz="2400" b="0" dirty="0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возвращает</a:t>
            </a:r>
            <a:r>
              <a:rPr lang="en-US" sz="2400" b="0" dirty="0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значение</a:t>
            </a:r>
            <a:r>
              <a:rPr lang="en-US" sz="2400" b="0" dirty="0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первого</a:t>
            </a:r>
            <a:r>
              <a:rPr lang="en-US" sz="2400" b="0" dirty="0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найденного</a:t>
            </a:r>
            <a:r>
              <a:rPr lang="en-US" sz="2400" b="0" dirty="0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 в </a:t>
            </a:r>
            <a:r>
              <a:rPr lang="en-US" sz="2400" b="0" dirty="0" err="1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массиве</a:t>
            </a:r>
            <a:r>
              <a:rPr lang="en-US" sz="2400" b="0" dirty="0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элемента</a:t>
            </a:r>
            <a:r>
              <a:rPr lang="en-US" sz="2400" b="0" dirty="0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которое</a:t>
            </a:r>
            <a:r>
              <a:rPr lang="en-US" sz="2400" b="0" dirty="0">
                <a:solidFill>
                  <a:srgbClr val="1B1B1B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удовлетворяет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условию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переданному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в </a:t>
            </a:r>
            <a:r>
              <a:rPr lang="en-US" sz="2400" b="0" i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callback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функции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. В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противном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случае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возвращается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i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undefined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.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Если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нам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нужно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получить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последний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найденный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элемент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то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мы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используем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i="1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findLast</a:t>
            </a:r>
            <a:r>
              <a:rPr lang="en-US" sz="2400" b="0" i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()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метод</a:t>
            </a:r>
            <a:r>
              <a:rPr lang="en-US" sz="2400" b="0" i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.</a:t>
            </a:r>
            <a:endParaRPr lang="en-US" sz="2400" b="0" i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charset="0"/>
            </a:endParaRPr>
          </a:p>
          <a:p>
            <a:pPr indent="449580" algn="just"/>
            <a:endParaRPr lang="en-US" sz="2400" i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charset="0"/>
            </a:endParaRPr>
          </a:p>
          <a:p>
            <a:pPr indent="449580" algn="just"/>
            <a:r>
              <a:rPr lang="en-US" altLang="zh-CN" sz="2400" dirty="0"/>
              <a:t>find() </a:t>
            </a:r>
            <a:r>
              <a:rPr lang="zh-CN" altLang="en-US" sz="2400" dirty="0"/>
              <a:t>方法返回数组中第一个满足回调函数条件的元素的值。否则，返回 </a:t>
            </a:r>
            <a:r>
              <a:rPr lang="en-US" altLang="zh-CN" sz="2400" dirty="0"/>
              <a:t>undefined</a:t>
            </a:r>
            <a:r>
              <a:rPr lang="zh-CN" altLang="en-US" sz="2400" dirty="0"/>
              <a:t>。如果我们需要获取最后一个满足条件的元素，我们可以使用 </a:t>
            </a:r>
            <a:r>
              <a:rPr lang="en-US" altLang="zh-CN" sz="2400" dirty="0" err="1"/>
              <a:t>findLast</a:t>
            </a:r>
            <a:r>
              <a:rPr lang="en-US" altLang="zh-CN" sz="2400" dirty="0"/>
              <a:t>() </a:t>
            </a:r>
            <a:r>
              <a:rPr lang="zh-CN" altLang="en-US" sz="2400" dirty="0"/>
              <a:t>方法。</a:t>
            </a:r>
            <a:endParaRPr lang="zh-CN" altLang="en-US" sz="2400" dirty="0"/>
          </a:p>
          <a:p>
            <a:pPr indent="449580" algn="just"/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2871470" y="3925570"/>
            <a:ext cx="648144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find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&gt;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))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4</a:t>
            </a:r>
            <a:endParaRPr lang="en-US" sz="2400" b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>
                <a:solidFill>
                  <a:srgbClr val="795E26"/>
                </a:solidFill>
                <a:latin typeface="Consolas" charset="0"/>
              </a:rPr>
              <a:t>findLast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 &gt; </a:t>
            </a:r>
            <a:r>
              <a:rPr lang="en-US" sz="2400" b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>
                <a:solidFill>
                  <a:srgbClr val="000000"/>
                </a:solidFill>
                <a:latin typeface="Consolas" charset="0"/>
              </a:rPr>
              <a:t>)) </a:t>
            </a:r>
            <a:r>
              <a:rPr lang="en-US" sz="2400" b="0">
                <a:solidFill>
                  <a:srgbClr val="008000"/>
                </a:solidFill>
                <a:latin typeface="Consolas" charset="0"/>
              </a:rPr>
              <a:t>// 5</a:t>
            </a:r>
            <a:endParaRPr lang="en-US" sz="2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00782" y="289916"/>
            <a:ext cx="1139043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	Метод </a:t>
            </a:r>
            <a:r>
              <a:rPr lang="ru-RU" sz="2400" i="1" dirty="0" err="1">
                <a:latin typeface="Times New Roman" panose="02020603050405020304" charset="0"/>
                <a:cs typeface="Times New Roman" panose="02020603050405020304" charset="0"/>
              </a:rPr>
              <a:t>forEach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() выполняет указанную функцию один раз для каждого элемента в массиве.</a:t>
            </a:r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foreach（）方法为数组中的每个元素执行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一次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指定的函数。</a:t>
            </a:r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2869565" y="3171190"/>
            <a:ext cx="682371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b="0">
                <a:solidFill>
                  <a:srgbClr val="0000FF"/>
                </a:solidFill>
                <a:latin typeface="Menlo" panose="020B0609030804020204" charset="0"/>
                <a:cs typeface="SimSun" pitchFamily="2" charset="-122"/>
              </a:rPr>
              <a:t>const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b="0">
                <a:solidFill>
                  <a:srgbClr val="0070C1"/>
                </a:solidFill>
                <a:latin typeface="Menlo" panose="020B0609030804020204" charset="0"/>
                <a:cs typeface="SimSun" pitchFamily="2" charset="-122"/>
              </a:rPr>
              <a:t>array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b="0">
                <a:solidFill>
                  <a:srgbClr val="000000"/>
                </a:solidFill>
                <a:latin typeface="Menlo" panose="020B0609030804020204" charset="0"/>
                <a:cs typeface="SimSun" pitchFamily="2" charset="-122"/>
              </a:rPr>
              <a:t>=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[</a:t>
            </a:r>
            <a:r>
              <a:rPr lang="en-US" b="0">
                <a:solidFill>
                  <a:srgbClr val="098658"/>
                </a:solidFill>
                <a:latin typeface="Menlo" panose="020B0609030804020204" charset="0"/>
                <a:cs typeface="SimSun" pitchFamily="2" charset="-122"/>
              </a:rPr>
              <a:t>1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,</a:t>
            </a:r>
            <a:r>
              <a:rPr lang="en-US" b="0">
                <a:solidFill>
                  <a:srgbClr val="098658"/>
                </a:solidFill>
                <a:latin typeface="Menlo" panose="020B0609030804020204" charset="0"/>
                <a:cs typeface="SimSun" pitchFamily="2" charset="-122"/>
              </a:rPr>
              <a:t>2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,</a:t>
            </a:r>
            <a:r>
              <a:rPr lang="en-US" b="0">
                <a:solidFill>
                  <a:srgbClr val="098658"/>
                </a:solidFill>
                <a:latin typeface="Menlo" panose="020B0609030804020204" charset="0"/>
                <a:cs typeface="SimSun" pitchFamily="2" charset="-122"/>
              </a:rPr>
              <a:t>3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,</a:t>
            </a:r>
            <a:r>
              <a:rPr lang="en-US" b="0">
                <a:solidFill>
                  <a:srgbClr val="098658"/>
                </a:solidFill>
                <a:latin typeface="Menlo" panose="020B0609030804020204" charset="0"/>
                <a:cs typeface="SimSun" pitchFamily="2" charset="-122"/>
              </a:rPr>
              <a:t>4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,</a:t>
            </a:r>
            <a:r>
              <a:rPr lang="en-US" b="0">
                <a:solidFill>
                  <a:srgbClr val="098658"/>
                </a:solidFill>
                <a:latin typeface="Menlo" panose="020B0609030804020204" charset="0"/>
                <a:cs typeface="SimSun" pitchFamily="2" charset="-122"/>
              </a:rPr>
              <a:t>5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,</a:t>
            </a:r>
            <a:r>
              <a:rPr lang="en-US" b="0">
                <a:solidFill>
                  <a:srgbClr val="098658"/>
                </a:solidFill>
                <a:latin typeface="Menlo" panose="020B0609030804020204" charset="0"/>
                <a:cs typeface="SimSun" pitchFamily="2" charset="-122"/>
              </a:rPr>
              <a:t>6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,</a:t>
            </a:r>
            <a:r>
              <a:rPr lang="en-US" b="0">
                <a:solidFill>
                  <a:srgbClr val="098658"/>
                </a:solidFill>
                <a:latin typeface="Menlo" panose="020B0609030804020204" charset="0"/>
                <a:cs typeface="SimSun" pitchFamily="2" charset="-122"/>
              </a:rPr>
              <a:t>7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];</a:t>
            </a:r>
            <a:r>
              <a:rPr lang="en-US" b="0">
                <a:solidFill>
                  <a:srgbClr val="0000FF"/>
                </a:solidFill>
                <a:latin typeface="Menlo" panose="020B0609030804020204" charset="0"/>
                <a:cs typeface="SimSun" pitchFamily="2" charset="-122"/>
              </a:rPr>
              <a:t>let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sum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b="0">
                <a:solidFill>
                  <a:srgbClr val="000000"/>
                </a:solidFill>
                <a:latin typeface="Menlo" panose="020B0609030804020204" charset="0"/>
                <a:cs typeface="SimSun" pitchFamily="2" charset="-122"/>
              </a:rPr>
              <a:t>=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b="0">
                <a:solidFill>
                  <a:srgbClr val="098658"/>
                </a:solidFill>
                <a:latin typeface="Menlo" panose="020B0609030804020204" charset="0"/>
                <a:cs typeface="SimSun" pitchFamily="2" charset="-122"/>
              </a:rPr>
              <a:t>0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;</a:t>
            </a:r>
            <a:r>
              <a:rPr lang="en-US" b="0">
                <a:solidFill>
                  <a:srgbClr val="0070C1"/>
                </a:solidFill>
                <a:latin typeface="Menlo" panose="020B0609030804020204" charset="0"/>
                <a:cs typeface="SimSun" pitchFamily="2" charset="-122"/>
              </a:rPr>
              <a:t>array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.</a:t>
            </a:r>
            <a:r>
              <a:rPr lang="en-US" b="0">
                <a:solidFill>
                  <a:srgbClr val="795E26"/>
                </a:solidFill>
                <a:latin typeface="Menlo" panose="020B0609030804020204" charset="0"/>
                <a:cs typeface="SimSun" pitchFamily="2" charset="-122"/>
              </a:rPr>
              <a:t>forEach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((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element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) </a:t>
            </a:r>
            <a:r>
              <a:rPr lang="en-US" b="0">
                <a:solidFill>
                  <a:srgbClr val="0000FF"/>
                </a:solidFill>
                <a:latin typeface="Menlo" panose="020B0609030804020204" charset="0"/>
                <a:cs typeface="SimSun" pitchFamily="2" charset="-122"/>
              </a:rPr>
              <a:t>=&gt;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sum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b="0">
                <a:solidFill>
                  <a:srgbClr val="000000"/>
                </a:solidFill>
                <a:latin typeface="Menlo" panose="020B0609030804020204" charset="0"/>
                <a:cs typeface="SimSun" pitchFamily="2" charset="-122"/>
              </a:rPr>
              <a:t>+=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 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element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);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console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.</a:t>
            </a:r>
            <a:r>
              <a:rPr lang="en-US" b="0">
                <a:solidFill>
                  <a:srgbClr val="795E26"/>
                </a:solidFill>
                <a:latin typeface="Menlo" panose="020B0609030804020204" charset="0"/>
                <a:cs typeface="SimSun" pitchFamily="2" charset="-122"/>
              </a:rPr>
              <a:t>log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(</a:t>
            </a:r>
            <a:r>
              <a:rPr lang="en-US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sum</a:t>
            </a:r>
            <a:r>
              <a:rPr lang="en-US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);</a:t>
            </a:r>
            <a:endParaRPr lang="en-US" b="0">
              <a:solidFill>
                <a:srgbClr val="3B3B3B"/>
              </a:solidFill>
              <a:latin typeface="Menlo" panose="020B0609030804020204" charset="0"/>
              <a:cs typeface="SimSun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2273" y="382012"/>
            <a:ext cx="11249758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Метод </a:t>
            </a:r>
            <a:r>
              <a:rPr lang="ru-RU" sz="2400" i="1" dirty="0" err="1">
                <a:latin typeface="Times New Roman" panose="02020603050405020304" charset="0"/>
                <a:cs typeface="Times New Roman" panose="02020603050405020304" charset="0"/>
              </a:rPr>
              <a:t>copyWithin</a:t>
            </a:r>
            <a:r>
              <a:rPr lang="ru-RU" sz="2400" i="1" dirty="0">
                <a:latin typeface="Times New Roman" panose="02020603050405020304" charset="0"/>
                <a:cs typeface="Times New Roman" panose="02020603050405020304" charset="0"/>
              </a:rPr>
              <a:t>()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 копирует последовательность элементов массива внутри него в позицию, начинающуюся по индексу. Копия берётся по индексам, задаваемым вторым и третьим аргументами. </a:t>
            </a:r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copywithin（）方法将数组中的数组元素序列复制到以索引开头的位置。从第二个和第三个参数指定的索引中获取副本。</a:t>
            </a:r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01399" y="3966709"/>
            <a:ext cx="765150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[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1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5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].</a:t>
            </a:r>
            <a:r>
              <a:rPr lang="en-US" sz="2800" b="0" dirty="0" err="1">
                <a:solidFill>
                  <a:srgbClr val="795E26"/>
                </a:solidFill>
                <a:effectLst/>
                <a:latin typeface="Consolas" charset="0"/>
              </a:rPr>
              <a:t>copyWithin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0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);</a:t>
            </a:r>
            <a:endParaRPr lang="en-US" sz="28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r>
              <a:rPr lang="en-US" sz="2800" b="0" dirty="0">
                <a:solidFill>
                  <a:srgbClr val="008000"/>
                </a:solidFill>
                <a:effectLst/>
                <a:latin typeface="Consolas" charset="0"/>
              </a:rPr>
              <a:t>// [4, 5, 3, 4, 5]</a:t>
            </a:r>
            <a:endParaRPr lang="en-US" sz="28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b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</a:b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[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1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5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].</a:t>
            </a:r>
            <a:r>
              <a:rPr lang="en-US" sz="2800" b="0" dirty="0" err="1">
                <a:solidFill>
                  <a:srgbClr val="795E26"/>
                </a:solidFill>
                <a:effectLst/>
                <a:latin typeface="Consolas" charset="0"/>
              </a:rPr>
              <a:t>copyWithin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0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charset="0"/>
              </a:rPr>
              <a:t>);</a:t>
            </a:r>
            <a:endParaRPr lang="en-US" sz="28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r>
              <a:rPr lang="en-US" sz="2800" b="0" dirty="0">
                <a:solidFill>
                  <a:srgbClr val="008000"/>
                </a:solidFill>
                <a:effectLst/>
                <a:latin typeface="Consolas" charset="0"/>
              </a:rPr>
              <a:t>// [4, 2, 3, 4, 5]</a:t>
            </a:r>
            <a:endParaRPr lang="en-US" sz="2800" b="0" dirty="0">
              <a:solidFill>
                <a:srgbClr val="000000"/>
              </a:solidFill>
              <a:effectLst/>
              <a:latin typeface="Consolas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25366" y="450558"/>
            <a:ext cx="10628434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	Метод </a:t>
            </a:r>
            <a:r>
              <a:rPr lang="ru-RU" sz="2400" i="1" dirty="0" err="1">
                <a:latin typeface="Times New Roman" panose="02020603050405020304" charset="0"/>
                <a:cs typeface="Times New Roman" panose="02020603050405020304" charset="0"/>
              </a:rPr>
              <a:t>fill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() заполняет все элементы массива от начального до конечного индексов одним значением.</a:t>
            </a:r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fill（）方法用一个值填充数组的所有元素，从开始索引到结束索引。</a:t>
            </a:r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83473" y="3491924"/>
            <a:ext cx="739872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console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.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([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].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charset="0"/>
              </a:rPr>
              <a:t>fill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6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));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r>
              <a:rPr lang="en-US" sz="2400" b="0" dirty="0">
                <a:solidFill>
                  <a:srgbClr val="008000"/>
                </a:solidFill>
                <a:effectLst/>
                <a:latin typeface="Consolas" charset="0"/>
              </a:rPr>
              <a:t>// [6, 6, 6, 6]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b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</a:br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console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.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([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].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charset="0"/>
              </a:rPr>
              <a:t>fill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5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));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r>
              <a:rPr lang="en-US" sz="2400" b="0" dirty="0">
                <a:solidFill>
                  <a:srgbClr val="008000"/>
                </a:solidFill>
                <a:effectLst/>
                <a:latin typeface="Consolas" charset="0"/>
              </a:rPr>
              <a:t>// [1, 5, 5, 5]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b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</a:br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console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.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([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].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charset="0"/>
              </a:rPr>
              <a:t>fill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0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));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r>
              <a:rPr lang="en-US" sz="2400" b="0" dirty="0">
                <a:solidFill>
                  <a:srgbClr val="008000"/>
                </a:solidFill>
                <a:effectLst/>
                <a:latin typeface="Consolas" charset="0"/>
              </a:rPr>
              <a:t>// [1, 2, 0, 0]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2145" y="363220"/>
            <a:ext cx="1100391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ru-RU" altLang="en-US" sz="2400">
                <a:latin typeface="Times New Roman Regular" panose="02020603050405020304" charset="0"/>
                <a:cs typeface="Times New Roman Regular" panose="02020603050405020304" charset="0"/>
              </a:rPr>
              <a:t>	Обратный м</a:t>
            </a:r>
            <a:r>
              <a:rPr lang="en-US" sz="2400">
                <a:latin typeface="Times New Roman Regular" panose="02020603050405020304" charset="0"/>
                <a:cs typeface="Times New Roman Regular" panose="02020603050405020304" charset="0"/>
              </a:rPr>
              <a:t>етод </a:t>
            </a:r>
            <a:r>
              <a:rPr lang="en-US" sz="2400" i="1">
                <a:latin typeface="Times New Roman Italic" panose="02020603050405020304" charset="0"/>
                <a:cs typeface="Times New Roman Italic" panose="02020603050405020304" charset="0"/>
              </a:rPr>
              <a:t>split()</a:t>
            </a:r>
            <a:r>
              <a:rPr lang="en-US" sz="2400">
                <a:latin typeface="Times New Roman Regular" panose="02020603050405020304" charset="0"/>
                <a:cs typeface="Times New Roman Regular" panose="02020603050405020304" charset="0"/>
              </a:rPr>
              <a:t> разбивает объект String на массив строк путём разделения строки указанной подстрокой.</a:t>
            </a:r>
            <a:endParaRPr lang="en-US" sz="24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 sz="24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en-US" sz="2400">
                <a:latin typeface="Times New Roman Regular" panose="02020603050405020304" charset="0"/>
                <a:cs typeface="Times New Roman Regular" panose="02020603050405020304" charset="0"/>
              </a:rPr>
              <a:t>相反的split（）方法将string对象分解为字符串数组，方法是用指定的子字符串分隔字符串。</a:t>
            </a:r>
            <a:endParaRPr lang="en-US" sz="24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2784475" y="4532630"/>
            <a:ext cx="662305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sz="1600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console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.</a:t>
            </a:r>
            <a:r>
              <a:rPr lang="en-US" sz="1600" b="0">
                <a:solidFill>
                  <a:srgbClr val="795E26"/>
                </a:solidFill>
                <a:latin typeface="Menlo" panose="020B0609030804020204" charset="0"/>
                <a:cs typeface="SimSun" pitchFamily="2" charset="-122"/>
              </a:rPr>
              <a:t>log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(</a:t>
            </a:r>
            <a:r>
              <a:rPr lang="en-US" sz="1600" b="0">
                <a:solidFill>
                  <a:srgbClr val="A31515"/>
                </a:solidFill>
                <a:latin typeface="Menlo" panose="020B0609030804020204" charset="0"/>
                <a:cs typeface="SimSun" pitchFamily="2" charset="-122"/>
              </a:rPr>
              <a:t>'1,2,3'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.</a:t>
            </a:r>
            <a:r>
              <a:rPr lang="en-US" sz="1600" b="0">
                <a:solidFill>
                  <a:srgbClr val="795E26"/>
                </a:solidFill>
                <a:latin typeface="Menlo" panose="020B0609030804020204" charset="0"/>
                <a:cs typeface="SimSun" pitchFamily="2" charset="-122"/>
              </a:rPr>
              <a:t>split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(</a:t>
            </a:r>
            <a:r>
              <a:rPr lang="en-US" sz="1600" b="0">
                <a:solidFill>
                  <a:srgbClr val="A31515"/>
                </a:solidFill>
                <a:latin typeface="Menlo" panose="020B0609030804020204" charset="0"/>
                <a:cs typeface="SimSun" pitchFamily="2" charset="-122"/>
              </a:rPr>
              <a:t>','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)); </a:t>
            </a:r>
            <a:r>
              <a:rPr lang="en-US" sz="1600" b="0">
                <a:solidFill>
                  <a:srgbClr val="008000"/>
                </a:solidFill>
                <a:latin typeface="Menlo" panose="020B0609030804020204" charset="0"/>
                <a:cs typeface="SimSun" pitchFamily="2" charset="-122"/>
              </a:rPr>
              <a:t>// ['1', '2', '3']</a:t>
            </a:r>
            <a:r>
              <a:rPr lang="en-US" sz="1600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console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.</a:t>
            </a:r>
            <a:r>
              <a:rPr lang="en-US" sz="1600" b="0">
                <a:solidFill>
                  <a:srgbClr val="795E26"/>
                </a:solidFill>
                <a:latin typeface="Menlo" panose="020B0609030804020204" charset="0"/>
                <a:cs typeface="SimSun" pitchFamily="2" charset="-122"/>
              </a:rPr>
              <a:t>log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(</a:t>
            </a:r>
            <a:r>
              <a:rPr lang="en-US" sz="1600" b="0">
                <a:solidFill>
                  <a:srgbClr val="A31515"/>
                </a:solidFill>
                <a:latin typeface="Menlo" panose="020B0609030804020204" charset="0"/>
                <a:cs typeface="SimSun" pitchFamily="2" charset="-122"/>
              </a:rPr>
              <a:t>'1.2.3'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.</a:t>
            </a:r>
            <a:r>
              <a:rPr lang="en-US" sz="1600" b="0">
                <a:solidFill>
                  <a:srgbClr val="795E26"/>
                </a:solidFill>
                <a:latin typeface="Menlo" panose="020B0609030804020204" charset="0"/>
                <a:cs typeface="SimSun" pitchFamily="2" charset="-122"/>
              </a:rPr>
              <a:t>split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(</a:t>
            </a:r>
            <a:r>
              <a:rPr lang="en-US" sz="1600" b="0">
                <a:solidFill>
                  <a:srgbClr val="A31515"/>
                </a:solidFill>
                <a:latin typeface="Menlo" panose="020B0609030804020204" charset="0"/>
                <a:cs typeface="SimSun" pitchFamily="2" charset="-122"/>
              </a:rPr>
              <a:t>'.'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)); </a:t>
            </a:r>
            <a:r>
              <a:rPr lang="en-US" sz="1600" b="0">
                <a:solidFill>
                  <a:srgbClr val="008000"/>
                </a:solidFill>
                <a:latin typeface="Menlo" panose="020B0609030804020204" charset="0"/>
                <a:cs typeface="SimSun" pitchFamily="2" charset="-122"/>
              </a:rPr>
              <a:t>// ['1', '2', '3']</a:t>
            </a:r>
            <a:r>
              <a:rPr lang="en-US" sz="1600" b="0">
                <a:solidFill>
                  <a:srgbClr val="001080"/>
                </a:solidFill>
                <a:latin typeface="Menlo" panose="020B0609030804020204" charset="0"/>
                <a:cs typeface="SimSun" pitchFamily="2" charset="-122"/>
              </a:rPr>
              <a:t>console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.</a:t>
            </a:r>
            <a:r>
              <a:rPr lang="en-US" sz="1600" b="0">
                <a:solidFill>
                  <a:srgbClr val="795E26"/>
                </a:solidFill>
                <a:latin typeface="Menlo" panose="020B0609030804020204" charset="0"/>
                <a:cs typeface="SimSun" pitchFamily="2" charset="-122"/>
              </a:rPr>
              <a:t>log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(</a:t>
            </a:r>
            <a:r>
              <a:rPr lang="en-US" sz="1600" b="0">
                <a:solidFill>
                  <a:srgbClr val="A31515"/>
                </a:solidFill>
                <a:latin typeface="Menlo" panose="020B0609030804020204" charset="0"/>
                <a:cs typeface="SimSun" pitchFamily="2" charset="-122"/>
              </a:rPr>
              <a:t>'1/2/3'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.</a:t>
            </a:r>
            <a:r>
              <a:rPr lang="en-US" sz="1600" b="0">
                <a:solidFill>
                  <a:srgbClr val="795E26"/>
                </a:solidFill>
                <a:latin typeface="Menlo" panose="020B0609030804020204" charset="0"/>
                <a:cs typeface="SimSun" pitchFamily="2" charset="-122"/>
              </a:rPr>
              <a:t>split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(</a:t>
            </a:r>
            <a:r>
              <a:rPr lang="en-US" sz="1600" b="0">
                <a:solidFill>
                  <a:srgbClr val="A31515"/>
                </a:solidFill>
                <a:latin typeface="Menlo" panose="020B0609030804020204" charset="0"/>
                <a:cs typeface="SimSun" pitchFamily="2" charset="-122"/>
              </a:rPr>
              <a:t>'/'</a:t>
            </a:r>
            <a:r>
              <a:rPr lang="en-US" sz="1600" b="0">
                <a:solidFill>
                  <a:srgbClr val="3B3B3B"/>
                </a:solidFill>
                <a:latin typeface="Menlo" panose="020B0609030804020204" charset="0"/>
                <a:cs typeface="SimSun" pitchFamily="2" charset="-122"/>
              </a:rPr>
              <a:t>)); </a:t>
            </a:r>
            <a:r>
              <a:rPr lang="en-US" sz="1600" b="0">
                <a:solidFill>
                  <a:srgbClr val="008000"/>
                </a:solidFill>
                <a:latin typeface="Menlo" panose="020B0609030804020204" charset="0"/>
                <a:cs typeface="SimSun" pitchFamily="2" charset="-122"/>
              </a:rPr>
              <a:t>// ['1', '2', '3']</a:t>
            </a:r>
            <a:endParaRPr lang="en-US" sz="1600" b="0">
              <a:solidFill>
                <a:srgbClr val="008000"/>
              </a:solidFill>
              <a:latin typeface="Menlo" panose="020B0609030804020204" charset="0"/>
              <a:cs typeface="SimSun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619125" y="232410"/>
            <a:ext cx="1098550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Если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нам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нужно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получить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последний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найденный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элемент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то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мы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используем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 </a:t>
            </a:r>
            <a:r>
              <a:rPr lang="en-US" sz="2400" b="0" i="1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findLast</a:t>
            </a:r>
            <a:r>
              <a:rPr lang="en-US" sz="2400" b="0" i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()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метод</a:t>
            </a:r>
            <a:r>
              <a:rPr lang="en-US" sz="2400" b="0" i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</a:rPr>
              <a:t>.</a:t>
            </a:r>
            <a:endParaRPr lang="en-US" sz="2400" b="0" i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charset="0"/>
            </a:endParaRPr>
          </a:p>
          <a:p>
            <a:pPr indent="449580" algn="just"/>
            <a:endParaRPr lang="en-US" sz="2400" i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charset="0"/>
            </a:endParaRPr>
          </a:p>
          <a:p>
            <a:pPr indent="449580" algn="just"/>
            <a:r>
              <a:rPr lang="zh-CN" altLang="en-US" sz="2400" dirty="0"/>
              <a:t>如果我们需要获取最后一个满足条件的元素，我们可以使用 </a:t>
            </a:r>
            <a:r>
              <a:rPr lang="en-US" altLang="zh-CN" sz="2400" dirty="0" err="1"/>
              <a:t>findLast</a:t>
            </a:r>
            <a:r>
              <a:rPr lang="en-US" altLang="zh-CN" sz="2400" dirty="0"/>
              <a:t>() </a:t>
            </a:r>
            <a:r>
              <a:rPr lang="zh-CN" altLang="en-US" sz="2400" dirty="0"/>
              <a:t>方法。</a:t>
            </a:r>
            <a:endParaRPr lang="zh-CN" altLang="en-US" sz="2400" dirty="0"/>
          </a:p>
          <a:p>
            <a:pPr indent="449580" algn="just"/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2237495" y="3219450"/>
            <a:ext cx="7748563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4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5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];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4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find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&gt;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)) 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// 4</a:t>
            </a:r>
            <a:endParaRPr lang="en-US" sz="24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4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latin typeface="Consolas" charset="0"/>
              </a:rPr>
              <a:t>findLast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&gt; </a:t>
            </a:r>
            <a:r>
              <a:rPr lang="en-US" sz="2400" b="0" dirty="0">
                <a:solidFill>
                  <a:srgbClr val="098658"/>
                </a:solidFill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)) </a:t>
            </a:r>
            <a:r>
              <a:rPr lang="en-US" sz="2400" b="0" dirty="0">
                <a:solidFill>
                  <a:srgbClr val="008000"/>
                </a:solidFill>
                <a:latin typeface="Consolas" charset="0"/>
              </a:rPr>
              <a:t>// 5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85421" y="364811"/>
            <a:ext cx="11021157" cy="2953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	Метод </a:t>
            </a:r>
            <a:r>
              <a:rPr lang="ru-RU" sz="2400" i="1" dirty="0" err="1">
                <a:latin typeface="Times New Roman" panose="02020603050405020304" charset="0"/>
                <a:cs typeface="Times New Roman" panose="02020603050405020304" charset="0"/>
              </a:rPr>
              <a:t>findIndex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() возвращает индекс в массиве, если элемент удовлетворяет условию проверяющей функции. В противном случае возвращается -1.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Если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нам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нужно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получить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индекс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последн</a:t>
            </a:r>
            <a:r>
              <a:rPr lang="ru-RU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его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найденного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элемент</a:t>
            </a:r>
            <a:r>
              <a:rPr lang="ru-RU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а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то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мы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используем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 b="0" i="1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findLast</a:t>
            </a:r>
            <a:r>
              <a:rPr lang="ru-RU" altLang="en-US" sz="2400" b="0" i="1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Index</a:t>
            </a:r>
            <a:r>
              <a:rPr lang="en-US" sz="2400" b="0" i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()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метод</a:t>
            </a:r>
            <a:r>
              <a:rPr lang="en-US" sz="2400" b="0" i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sz="2400" b="0" i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sz="2400" b="0" i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sz="2400" b="0" i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如果元素满足验证函数的条件，findindex（）方法将返回数组中的索引。否则，返回-1。如果我们需要检索最近找到的元素的索引，则使用findlast</a:t>
            </a:r>
            <a:r>
              <a:rPr lang="ru-RU" altLang="en-US" sz="2400" b="0" i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Index</a:t>
            </a:r>
            <a:r>
              <a:rPr lang="en-US" sz="2400" b="0" i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（）方法。</a:t>
            </a:r>
            <a:endParaRPr lang="en-US" sz="2400" b="0" i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594611" y="3674487"/>
            <a:ext cx="9002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0000FF"/>
                </a:solidFill>
                <a:effectLst/>
                <a:latin typeface="Consolas" charset="0"/>
              </a:rPr>
              <a:t>const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sz="2400" b="0" dirty="0">
                <a:solidFill>
                  <a:srgbClr val="0070C1"/>
                </a:solidFill>
                <a:effectLst/>
                <a:latin typeface="Consolas" charset="0"/>
              </a:rPr>
              <a:t>array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= [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5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];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 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console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.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70C1"/>
                </a:solidFill>
                <a:effectLst/>
                <a:latin typeface="Consolas" charset="0"/>
              </a:rPr>
              <a:t>array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charset="0"/>
              </a:rPr>
              <a:t>findIndex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charset="0"/>
              </a:rPr>
              <a:t>=&gt;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&gt;=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)) </a:t>
            </a:r>
            <a:r>
              <a:rPr lang="en-US" sz="2400" b="0" dirty="0">
                <a:solidFill>
                  <a:srgbClr val="008000"/>
                </a:solidFill>
                <a:effectLst/>
                <a:latin typeface="Consolas" charset="0"/>
              </a:rPr>
              <a:t>// 2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console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.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70C1"/>
                </a:solidFill>
                <a:effectLst/>
                <a:latin typeface="Consolas" charset="0"/>
              </a:rPr>
              <a:t>array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charset="0"/>
              </a:rPr>
              <a:t>findIndex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charset="0"/>
              </a:rPr>
              <a:t>=&gt;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===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0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)) </a:t>
            </a:r>
            <a:r>
              <a:rPr lang="en-US" sz="2400" b="0" dirty="0">
                <a:solidFill>
                  <a:srgbClr val="008000"/>
                </a:solidFill>
                <a:effectLst/>
                <a:latin typeface="Consolas" charset="0"/>
              </a:rPr>
              <a:t>// -1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b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</a:br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console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.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70C1"/>
                </a:solidFill>
                <a:effectLst/>
                <a:latin typeface="Consolas" charset="0"/>
              </a:rPr>
              <a:t>array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charset="0"/>
              </a:rPr>
              <a:t>findLastIndex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charset="0"/>
              </a:rPr>
              <a:t>=&gt;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&gt;=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)) </a:t>
            </a:r>
            <a:r>
              <a:rPr lang="en-US" sz="2400" b="0" dirty="0">
                <a:solidFill>
                  <a:srgbClr val="008000"/>
                </a:solidFill>
                <a:effectLst/>
                <a:latin typeface="Consolas" charset="0"/>
              </a:rPr>
              <a:t>// 4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console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.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400" b="0" dirty="0" err="1">
                <a:solidFill>
                  <a:srgbClr val="0070C1"/>
                </a:solidFill>
                <a:effectLst/>
                <a:latin typeface="Consolas" charset="0"/>
              </a:rPr>
              <a:t>array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charset="0"/>
              </a:rPr>
              <a:t>findLastIndex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charset="0"/>
              </a:rPr>
              <a:t>=&gt;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charset="0"/>
              </a:rPr>
              <a:t>v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 ===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charset="0"/>
              </a:rPr>
              <a:t>0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charset="0"/>
              </a:rPr>
              <a:t>)) </a:t>
            </a:r>
            <a:r>
              <a:rPr lang="en-US" sz="2400" b="0" dirty="0">
                <a:solidFill>
                  <a:srgbClr val="008000"/>
                </a:solidFill>
                <a:effectLst/>
                <a:latin typeface="Consolas" charset="0"/>
              </a:rPr>
              <a:t>// -1</a:t>
            </a:r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endParaRPr lang="en-US" sz="2400" b="0" dirty="0">
              <a:solidFill>
                <a:srgbClr val="000000"/>
              </a:solidFill>
              <a:effectLst/>
              <a:latin typeface="Consolas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31934" y="259304"/>
            <a:ext cx="11232173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Метод </a:t>
            </a:r>
            <a:r>
              <a:rPr lang="ru-RU" sz="2400" i="1" dirty="0" err="1">
                <a:latin typeface="Times New Roman" panose="02020603050405020304" charset="0"/>
                <a:cs typeface="Times New Roman" panose="02020603050405020304" charset="0"/>
              </a:rPr>
              <a:t>flat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() возвращает новый массив, в котором все элементы вложенных </a:t>
            </a:r>
            <a:r>
              <a:rPr lang="ru-RU" sz="2400" dirty="0" err="1">
                <a:latin typeface="Times New Roman" panose="02020603050405020304" charset="0"/>
                <a:cs typeface="Times New Roman" panose="02020603050405020304" charset="0"/>
              </a:rPr>
              <a:t>подмассивов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 были рекурсивно "подняты" на верх.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Вы так же можете указать на какой уровень вложенности нужно поднять массив, по умолчанию - 1. Чтобы поднять все уровни вложенности используется ключевое слово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charset="0"/>
              </a:rPr>
              <a:t>Infinity</a:t>
            </a:r>
            <a:r>
              <a:rPr lang="ru-RU" sz="2400" b="0" dirty="0">
                <a:solidFill>
                  <a:srgbClr val="0000FF"/>
                </a:solidFill>
                <a:effectLst/>
                <a:latin typeface="Consolas" charset="0"/>
              </a:rPr>
              <a:t>.</a:t>
            </a:r>
            <a:endParaRPr lang="ru-RU" sz="2400" b="0" dirty="0">
              <a:solidFill>
                <a:srgbClr val="0000FF"/>
              </a:solidFill>
              <a:effectLst/>
              <a:latin typeface="Consolas" charset="0"/>
            </a:endParaRPr>
          </a:p>
          <a:p>
            <a:pPr algn="just"/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flat（）方法返回一个新的数组，其中子数组的所有元素都递归地“提升”到顶部。您还可以指定要提升数组的嵌套级别，默认为1。为了提高嵌套的所有级别，使用了Infinity关键字。</a:t>
            </a:r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05965" y="4326255"/>
            <a:ext cx="8179435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]].</a:t>
            </a:r>
            <a:r>
              <a:rPr lang="en-US" b="0" dirty="0">
                <a:solidFill>
                  <a:srgbClr val="795E26"/>
                </a:solidFill>
                <a:effectLst/>
                <a:latin typeface="Consolas" charset="0"/>
              </a:rPr>
              <a:t>flat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();</a:t>
            </a:r>
            <a:r>
              <a:rPr lang="ru-RU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charset="0"/>
              </a:rPr>
              <a:t>// [1, 2, 3, 4]</a:t>
            </a:r>
            <a:endParaRPr lang="en-US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]]].</a:t>
            </a:r>
            <a:r>
              <a:rPr lang="en-US" b="0" dirty="0">
                <a:solidFill>
                  <a:srgbClr val="795E26"/>
                </a:solidFill>
                <a:effectLst/>
                <a:latin typeface="Consolas" charset="0"/>
              </a:rPr>
              <a:t>flat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();</a:t>
            </a:r>
            <a:r>
              <a:rPr lang="ru-RU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charset="0"/>
              </a:rPr>
              <a:t>// [1, 2, 3, 4, [5, 6]]</a:t>
            </a:r>
            <a:endParaRPr lang="en-US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]]].</a:t>
            </a:r>
            <a:r>
              <a:rPr lang="en-US" b="0" dirty="0">
                <a:solidFill>
                  <a:srgbClr val="795E26"/>
                </a:solidFill>
                <a:effectLst/>
                <a:latin typeface="Consolas" charset="0"/>
              </a:rPr>
              <a:t>flat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);</a:t>
            </a:r>
            <a:r>
              <a:rPr lang="ru-RU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charset="0"/>
              </a:rPr>
              <a:t>// [1, 2, 3, 4, 5, 6]</a:t>
            </a:r>
            <a:endParaRPr lang="en-US" b="0" dirty="0">
              <a:solidFill>
                <a:srgbClr val="000000"/>
              </a:solidFill>
              <a:effectLst/>
              <a:latin typeface="Consolas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[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]]]]].</a:t>
            </a:r>
            <a:r>
              <a:rPr lang="en-US" b="0" dirty="0">
                <a:solidFill>
                  <a:srgbClr val="795E26"/>
                </a:solidFill>
                <a:effectLst/>
                <a:latin typeface="Consolas" charset="0"/>
              </a:rPr>
              <a:t>flat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charset="0"/>
              </a:rPr>
              <a:t>Infinity</a:t>
            </a:r>
            <a:r>
              <a:rPr lang="en-US" b="0" dirty="0">
                <a:solidFill>
                  <a:srgbClr val="000000"/>
                </a:solidFill>
                <a:effectLst/>
                <a:latin typeface="Consolas" charset="0"/>
              </a:rPr>
              <a:t>);</a:t>
            </a:r>
            <a:r>
              <a:rPr lang="ru-RU" b="0" dirty="0">
                <a:solidFill>
                  <a:srgbClr val="000000"/>
                </a:solidFill>
                <a:effectLst/>
                <a:latin typeface="Consolas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charset="0"/>
              </a:rPr>
              <a:t>// [1, 2, 3, 4, 5, 6, 7, 8, 9, 10]</a:t>
            </a:r>
            <a:endParaRPr lang="en-US" b="0" dirty="0">
              <a:solidFill>
                <a:srgbClr val="000000"/>
              </a:solidFill>
              <a:effectLst/>
              <a:latin typeface="Consolas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18367" y="569185"/>
            <a:ext cx="1135526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	Метод </a:t>
            </a:r>
            <a:r>
              <a:rPr lang="ru-RU" sz="2400" i="1" dirty="0" err="1">
                <a:latin typeface="Times New Roman" panose="02020603050405020304" charset="0"/>
                <a:cs typeface="Times New Roman" panose="02020603050405020304" charset="0"/>
              </a:rPr>
              <a:t>reverse</a:t>
            </a:r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() на месте обращает порядок следования элементов массива. Первый элемент массива становится последним, а последний — первым.</a:t>
            </a:r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ru-RU" sz="2400" dirty="0">
                <a:latin typeface="Times New Roman" panose="02020603050405020304" charset="0"/>
                <a:cs typeface="Times New Roman" panose="02020603050405020304" charset="0"/>
              </a:rPr>
              <a:t>Reverse（）方法将数组元素的顺序颠倒在原处。数组的第一个元素成为最后一个元素，最后一个元素成为第一个元素。</a:t>
            </a:r>
            <a:endParaRPr lang="ru-RU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59685" y="4756785"/>
            <a:ext cx="694499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400" b="0" dirty="0">
                <a:solidFill>
                  <a:srgbClr val="0070C1"/>
                </a:solidFill>
                <a:latin typeface="Consolas" charset="0"/>
              </a:rPr>
              <a:t>reversed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 = [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'one'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'two'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400" b="0" dirty="0">
                <a:solidFill>
                  <a:srgbClr val="A31515"/>
                </a:solidFill>
                <a:latin typeface="Consolas" charset="0"/>
              </a:rPr>
              <a:t>'three'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].</a:t>
            </a:r>
            <a:r>
              <a:rPr lang="en-US" sz="2400" b="0" dirty="0">
                <a:solidFill>
                  <a:srgbClr val="795E26"/>
                </a:solidFill>
                <a:latin typeface="Consolas" charset="0"/>
              </a:rPr>
              <a:t>reverse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();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  <a:p>
            <a:r>
              <a:rPr lang="en-US" sz="2400" b="0" dirty="0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400" b="0" dirty="0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400" b="0" dirty="0">
                <a:solidFill>
                  <a:srgbClr val="0070C1"/>
                </a:solidFill>
                <a:latin typeface="Consolas" charset="0"/>
              </a:rPr>
              <a:t>reversed</a:t>
            </a:r>
            <a:r>
              <a:rPr lang="en-US" sz="2400" b="0" dirty="0">
                <a:solidFill>
                  <a:srgbClr val="000000"/>
                </a:solidFill>
                <a:latin typeface="Consolas" charset="0"/>
              </a:rPr>
              <a:t>); </a:t>
            </a:r>
            <a:endParaRPr lang="en-US" sz="2400" b="0" dirty="0">
              <a:solidFill>
                <a:srgbClr val="000000"/>
              </a:solidFill>
              <a:latin typeface="Consolas" charset="0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2559685" y="5586730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 algn="l"/>
            <a:r>
              <a:rPr lang="en-US" sz="2400" b="0">
                <a:solidFill>
                  <a:srgbClr val="008000"/>
                </a:solidFill>
                <a:latin typeface="Menlo" panose="020B0609030804020204" charset="0"/>
                <a:cs typeface="SimSun" pitchFamily="2" charset="-122"/>
              </a:rPr>
              <a:t>// ['three', 'two', 'one']</a:t>
            </a:r>
            <a:endParaRPr lang="en-US" sz="2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0" name="Text Box 99"/>
          <p:cNvSpPr txBox="1"/>
          <p:nvPr/>
        </p:nvSpPr>
        <p:spPr>
          <a:xfrm>
            <a:off x="494665" y="395605"/>
            <a:ext cx="11202670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49580" algn="just"/>
            <a:r>
              <a:rPr lang="en-US" sz="2400" b="0" dirty="0" err="1">
                <a:latin typeface="Times New Roman" panose="02020603050405020304" charset="0"/>
              </a:rPr>
              <a:t>Давайте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попробуем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создать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массив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заполнить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его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рандомными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значениями</a:t>
            </a:r>
            <a:r>
              <a:rPr lang="en-US" sz="2400" b="0" dirty="0">
                <a:latin typeface="Times New Roman" panose="02020603050405020304" charset="0"/>
              </a:rPr>
              <a:t>, и </a:t>
            </a:r>
            <a:r>
              <a:rPr lang="en-US" sz="2400" b="0" dirty="0" err="1">
                <a:latin typeface="Times New Roman" panose="02020603050405020304" charset="0"/>
              </a:rPr>
              <a:t>выбрать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только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четные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значения</a:t>
            </a:r>
            <a:r>
              <a:rPr lang="en-US" sz="2400" b="0" dirty="0">
                <a:latin typeface="Times New Roman" panose="02020603050405020304" charset="0"/>
              </a:rPr>
              <a:t>, </a:t>
            </a:r>
            <a:r>
              <a:rPr lang="en-US" sz="2400" b="0" dirty="0" err="1">
                <a:latin typeface="Times New Roman" panose="02020603050405020304" charset="0"/>
              </a:rPr>
              <a:t>больше</a:t>
            </a:r>
            <a:r>
              <a:rPr lang="en-US" sz="2400" b="0" dirty="0">
                <a:latin typeface="Times New Roman" panose="02020603050405020304" charset="0"/>
              </a:rPr>
              <a:t> 10. </a:t>
            </a:r>
            <a:r>
              <a:rPr lang="en-US" sz="2400" b="0" dirty="0" err="1">
                <a:latin typeface="Times New Roman" panose="02020603050405020304" charset="0"/>
              </a:rPr>
              <a:t>Все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операции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выполним</a:t>
            </a:r>
            <a:r>
              <a:rPr lang="en-US" sz="2400" b="0" dirty="0">
                <a:latin typeface="Times New Roman" panose="02020603050405020304" charset="0"/>
              </a:rPr>
              <a:t> с </a:t>
            </a:r>
            <a:r>
              <a:rPr lang="en-US" sz="2400" b="0" dirty="0" err="1">
                <a:latin typeface="Times New Roman" panose="02020603050405020304" charset="0"/>
              </a:rPr>
              <a:t>использованием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изученных</a:t>
            </a:r>
            <a:r>
              <a:rPr lang="en-US" sz="2400" b="0" dirty="0">
                <a:latin typeface="Times New Roman" panose="02020603050405020304" charset="0"/>
              </a:rPr>
              <a:t> </a:t>
            </a:r>
            <a:r>
              <a:rPr lang="en-US" sz="2400" b="0" dirty="0" err="1">
                <a:latin typeface="Times New Roman" panose="02020603050405020304" charset="0"/>
              </a:rPr>
              <a:t>методов</a:t>
            </a:r>
            <a:r>
              <a:rPr lang="en-US" sz="2400" b="0" dirty="0">
                <a:latin typeface="Times New Roman" panose="02020603050405020304" charset="0"/>
              </a:rPr>
              <a:t>.</a:t>
            </a:r>
            <a:endParaRPr lang="en-US" sz="2400" b="0" dirty="0">
              <a:latin typeface="Times New Roman" panose="02020603050405020304" charset="0"/>
            </a:endParaRPr>
          </a:p>
          <a:p>
            <a:pPr indent="449580" algn="just"/>
            <a:endParaRPr lang="en-US" sz="2400" dirty="0">
              <a:latin typeface="Times New Roman" panose="02020603050405020304" charset="0"/>
            </a:endParaRPr>
          </a:p>
          <a:p>
            <a:pPr indent="449580" algn="just"/>
            <a:r>
              <a:rPr lang="zh-CN" altLang="en-US" sz="2400" dirty="0"/>
              <a:t>让我们尝试创建一个数组，用随机值填充它，然后选择仅大于</a:t>
            </a:r>
            <a:r>
              <a:rPr lang="en-US" altLang="zh-CN" sz="2400" dirty="0"/>
              <a:t>10</a:t>
            </a:r>
            <a:r>
              <a:rPr lang="zh-CN" altLang="en-US" sz="2400" dirty="0"/>
              <a:t>的偶数值。我们将使用已学的方法执行所有操作。</a:t>
            </a:r>
            <a:endParaRPr lang="en-US" sz="2400" dirty="0"/>
          </a:p>
        </p:txBody>
      </p:sp>
      <p:sp>
        <p:nvSpPr>
          <p:cNvPr id="3" name="Text Box 2"/>
          <p:cNvSpPr txBox="1"/>
          <p:nvPr/>
        </p:nvSpPr>
        <p:spPr>
          <a:xfrm>
            <a:off x="1705610" y="3099435"/>
            <a:ext cx="9161145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generateArray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= (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length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max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 </a:t>
            </a:r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{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 </a:t>
            </a:r>
            <a:r>
              <a:rPr lang="en-US" sz="2000" b="0" dirty="0">
                <a:solidFill>
                  <a:srgbClr val="AF00DB"/>
                </a:solidFill>
                <a:latin typeface="Consolas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 err="1">
                <a:solidFill>
                  <a:srgbClr val="267F99"/>
                </a:solidFill>
                <a:latin typeface="Consolas" charset="0"/>
              </a:rPr>
              <a:t>Array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from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({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length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}, () </a:t>
            </a:r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Math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round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Math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random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() * 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max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));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}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 dirty="0">
              <a:solidFill>
                <a:srgbClr val="0000FF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generateArray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 dirty="0">
                <a:solidFill>
                  <a:srgbClr val="098658"/>
                </a:solidFill>
                <a:latin typeface="Consolas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latin typeface="Consolas" charset="0"/>
              </a:rPr>
              <a:t>50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 dirty="0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 b="0" dirty="0">
              <a:solidFill>
                <a:srgbClr val="000000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endParaRPr lang="en-US" sz="2000" b="0" dirty="0">
              <a:solidFill>
                <a:srgbClr val="0000FF"/>
              </a:solidFill>
              <a:latin typeface="Consolas" charset="0"/>
            </a:endParaRPr>
          </a:p>
          <a:p>
            <a:pPr marL="0" indent="0"/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 err="1">
                <a:solidFill>
                  <a:srgbClr val="0070C1"/>
                </a:solidFill>
                <a:latin typeface="Consolas" charset="0"/>
              </a:rPr>
              <a:t>filteredArray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= </a:t>
            </a:r>
            <a:r>
              <a:rPr lang="en-US" sz="2000" b="0" dirty="0" err="1">
                <a:solidFill>
                  <a:srgbClr val="0070C1"/>
                </a:solidFill>
                <a:latin typeface="Consolas" charset="0"/>
              </a:rPr>
              <a:t>array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filter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latin typeface="Consolas" charset="0"/>
              </a:rPr>
              <a:t>=&gt;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&gt; </a:t>
            </a:r>
            <a:r>
              <a:rPr lang="en-US" sz="2000" b="0" dirty="0">
                <a:solidFill>
                  <a:srgbClr val="098658"/>
                </a:solidFill>
                <a:latin typeface="Consolas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 &amp;&amp; (</a:t>
            </a:r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v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%</a:t>
            </a:r>
            <a:r>
              <a:rPr lang="en-US" sz="2000" b="0" dirty="0" err="1">
                <a:solidFill>
                  <a:srgbClr val="098658"/>
                </a:solidFill>
                <a:latin typeface="Consolas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 === </a:t>
            </a:r>
            <a:r>
              <a:rPr lang="en-US" sz="2000" b="0" dirty="0">
                <a:solidFill>
                  <a:srgbClr val="098658"/>
                </a:solidFill>
                <a:latin typeface="Consolas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 b="0" dirty="0">
              <a:solidFill>
                <a:srgbClr val="001080"/>
              </a:solidFill>
              <a:latin typeface="Consolas" charset="0"/>
            </a:endParaRPr>
          </a:p>
          <a:p>
            <a:pPr marL="0" indent="0"/>
            <a:r>
              <a:rPr lang="en-US" sz="2000" b="0" dirty="0" err="1">
                <a:solidFill>
                  <a:srgbClr val="001080"/>
                </a:solidFill>
                <a:latin typeface="Consolas" charset="0"/>
              </a:rPr>
              <a:t>console</a:t>
            </a:r>
            <a:r>
              <a:rPr lang="en-US" sz="2000" b="0" dirty="0" err="1">
                <a:solidFill>
                  <a:srgbClr val="000000"/>
                </a:solidFill>
                <a:latin typeface="Consolas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latin typeface="Consolas" charset="0"/>
              </a:rPr>
              <a:t>log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000" b="0" dirty="0" err="1">
                <a:solidFill>
                  <a:srgbClr val="0070C1"/>
                </a:solidFill>
                <a:latin typeface="Consolas" charset="0"/>
              </a:rPr>
              <a:t>filteredArray</a:t>
            </a:r>
            <a:r>
              <a:rPr lang="en-US" sz="2000" b="0" dirty="0">
                <a:solidFill>
                  <a:srgbClr val="000000"/>
                </a:solidFill>
                <a:latin typeface="Consolas" charset="0"/>
              </a:rPr>
              <a:t>);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23268</Words>
  <Application>WPS Writer</Application>
  <PresentationFormat>宽屏</PresentationFormat>
  <Paragraphs>894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96" baseType="lpstr">
      <vt:lpstr>Arial</vt:lpstr>
      <vt:lpstr>SimSun</vt:lpstr>
      <vt:lpstr>Wingdings</vt:lpstr>
      <vt:lpstr>Calibri</vt:lpstr>
      <vt:lpstr>Arial</vt:lpstr>
      <vt:lpstr>Helvetica Neue</vt:lpstr>
      <vt:lpstr>Times New Roman</vt:lpstr>
      <vt:lpstr>Arial Regular</vt:lpstr>
      <vt:lpstr>Times New Roman Regular</vt:lpstr>
      <vt:lpstr>Söhne</vt:lpstr>
      <vt:lpstr>Thonburi</vt:lpstr>
      <vt:lpstr>Times New Roman</vt:lpstr>
      <vt:lpstr>Consolas</vt:lpstr>
      <vt:lpstr>苹方-简</vt:lpstr>
      <vt:lpstr>Menlo</vt:lpstr>
      <vt:lpstr>Courier New</vt:lpstr>
      <vt:lpstr>SimSun</vt:lpstr>
      <vt:lpstr>宋体-简</vt:lpstr>
      <vt:lpstr>SimSun</vt:lpstr>
      <vt:lpstr>Microsoft YaHei</vt:lpstr>
      <vt:lpstr>汉仪旗黑</vt:lpstr>
      <vt:lpstr>Arial Unicode MS</vt:lpstr>
      <vt:lpstr>Calibri Light</vt:lpstr>
      <vt:lpstr>Menlo</vt:lpstr>
      <vt:lpstr>SimSun</vt:lpstr>
      <vt:lpstr>sans-serif</vt:lpstr>
      <vt:lpstr>Noto Sans Symbols</vt:lpstr>
      <vt:lpstr>Times New Roman Italic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valeriakhlyzoa</cp:lastModifiedBy>
  <cp:revision>298</cp:revision>
  <dcterms:created xsi:type="dcterms:W3CDTF">2025-12-08T07:10:26Z</dcterms:created>
  <dcterms:modified xsi:type="dcterms:W3CDTF">2025-12-08T07:10:26Z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1033-12.1.23152.23152</vt:lpwstr>
  </property>
  <property fmtid="{D5CDD505-2E9C-101B-9397-08002B2CF9AE}" pid="3" name="ICV">
    <vt:lpwstr>F7A04AD8AAEE624B78114D678CA850D5_42</vt:lpwstr>
  </property>
</Properties>
</file>