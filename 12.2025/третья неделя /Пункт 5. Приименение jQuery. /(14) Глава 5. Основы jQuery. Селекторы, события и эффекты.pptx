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377" r:id="rId18"/>
    <p:sldId id="271" r:id="rId19"/>
    <p:sldId id="272" r:id="rId20"/>
    <p:sldId id="273" r:id="rId21"/>
    <p:sldId id="274" r:id="rId22"/>
    <p:sldId id="275" r:id="rId23"/>
    <p:sldId id="276" r:id="rId24"/>
    <p:sldId id="277" r:id="rId25"/>
    <p:sldId id="278" r:id="rId26"/>
    <p:sldId id="279" r:id="rId27"/>
    <p:sldId id="280" r:id="rId28"/>
    <p:sldId id="281" r:id="rId29"/>
    <p:sldId id="428" r:id="rId30"/>
    <p:sldId id="336" r:id="rId31"/>
    <p:sldId id="337" r:id="rId32"/>
    <p:sldId id="283" r:id="rId33"/>
    <p:sldId id="284" r:id="rId34"/>
    <p:sldId id="299" r:id="rId35"/>
    <p:sldId id="382" r:id="rId36"/>
    <p:sldId id="383" r:id="rId37"/>
    <p:sldId id="287" r:id="rId38"/>
    <p:sldId id="288" r:id="rId39"/>
    <p:sldId id="289" r:id="rId40"/>
    <p:sldId id="290" r:id="rId41"/>
    <p:sldId id="291" r:id="rId42"/>
    <p:sldId id="292" r:id="rId43"/>
    <p:sldId id="296" r:id="rId44"/>
    <p:sldId id="302" r:id="rId45"/>
    <p:sldId id="294" r:id="rId46"/>
    <p:sldId id="379" r:id="rId47"/>
    <p:sldId id="385" r:id="rId48"/>
    <p:sldId id="386" r:id="rId49"/>
    <p:sldId id="387" r:id="rId50"/>
    <p:sldId id="303" r:id="rId51"/>
    <p:sldId id="304" r:id="rId52"/>
    <p:sldId id="306" r:id="rId53"/>
    <p:sldId id="305" r:id="rId54"/>
    <p:sldId id="307" r:id="rId55"/>
    <p:sldId id="315" r:id="rId56"/>
    <p:sldId id="316" r:id="rId57"/>
    <p:sldId id="378" r:id="rId58"/>
    <p:sldId id="318" r:id="rId59"/>
    <p:sldId id="319" r:id="rId60"/>
    <p:sldId id="320" r:id="rId61"/>
    <p:sldId id="321" r:id="rId62"/>
    <p:sldId id="322" r:id="rId63"/>
    <p:sldId id="323" r:id="rId64"/>
    <p:sldId id="324" r:id="rId65"/>
    <p:sldId id="325" r:id="rId66"/>
    <p:sldId id="326"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1" d="100"/>
          <a:sy n="81" d="100"/>
        </p:scale>
        <p:origin x="7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https://jquery.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hyperlink" Target="https://jquery.com/" TargetMode="Externa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jquery-docs.ru/category/selectors/%E3%80%82%E6%88%91%E4%BB%AC%E5%B0%86%E4%BB%8B%E7%BB%8D%E4%B8%80%E4%BA%9B%E5%9F%BA%E6%9C%AC%E7%9A%84%E9%80%89%E6%8B%A9%E5%99%A8%EF%BC%81" TargetMode="External"/><Relationship Id="rId1" Type="http://schemas.openxmlformats.org/officeDocument/2006/relationships/hyperlink" Target="https://jquery-docs.ru/category/select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lstStyle/>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ВЛАДИМИРСКИЙ ГОСУДАРСТВЕННЫЙ УНИВЕРСИТЕТ</a:t>
            </a:r>
            <a:r>
              <a:rPr lang="en-US"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ИМЕНИ </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АЛЕКСАНДРА ГРИГОРЬЕВИЧА И НИКОЛАЯ ГРИГОРЬЕВИЧА СТОЛЕТОВЫХ</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12" name="Google Shape;87;p1"/>
          <p:cNvSpPr txBox="1"/>
          <p:nvPr/>
        </p:nvSpPr>
        <p:spPr>
          <a:xfrm>
            <a:off x="260985" y="1649730"/>
            <a:ext cx="11781790" cy="424727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веб-интерфейсного</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скрипта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“Web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前端脚本开发</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Базовый</a:t>
            </a:r>
            <a:r>
              <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синтаксис</a:t>
            </a:r>
            <a:r>
              <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jQuery.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Селекторы</a:t>
            </a:r>
            <a:r>
              <a:rPr 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события</a:t>
            </a:r>
            <a:r>
              <a:rPr 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ru-RU" alt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и эффекты</a:t>
            </a:r>
            <a:endParaRPr lang="en-US" alt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altLang="zh-CN" sz="3600" b="0" i="0" dirty="0">
                <a:solidFill>
                  <a:srgbClr val="0F0F0F"/>
                </a:solidFill>
                <a:effectLst/>
                <a:latin typeface="Söhne"/>
              </a:rPr>
              <a:t>jQuery</a:t>
            </a:r>
            <a:r>
              <a:rPr lang="zh-CN" altLang="en-US" sz="3600" b="0" i="0" dirty="0">
                <a:solidFill>
                  <a:srgbClr val="0F0F0F"/>
                </a:solidFill>
                <a:effectLst/>
                <a:latin typeface="Söhne"/>
              </a:rPr>
              <a:t>基本语法。选择器、事件和效果</a:t>
            </a:r>
            <a:endPar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36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88;p1"/>
          <p:cNvSpPr txBox="1"/>
          <p:nvPr/>
        </p:nvSpPr>
        <p:spPr>
          <a:xfrm>
            <a:off x="8701088" y="5498106"/>
            <a:ext cx="334159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ИСПИ Хлызова Валерия Григорьевна.</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438785" y="201930"/>
            <a:ext cx="5438140" cy="521970"/>
          </a:xfrm>
          <a:prstGeom prst="rect">
            <a:avLst/>
          </a:prstGeom>
          <a:noFill/>
        </p:spPr>
        <p:txBody>
          <a:bodyPr wrap="square" rtlCol="0" anchor="t">
            <a:spAutoFit/>
          </a:bodyPr>
          <a:lstStyle/>
          <a:p>
            <a:r>
              <a:rPr lang="en-US" sz="2800">
                <a:latin typeface="Times New Roman Regular" panose="02020603050405020304" charset="0"/>
                <a:cs typeface="Times New Roman Regular" panose="02020603050405020304" charset="0"/>
              </a:rPr>
              <a:t>ЦЕЛЬ РАБОТЫ   工作目标</a:t>
            </a:r>
            <a:endParaRPr lang="en-US" sz="2800">
              <a:latin typeface="Times New Roman Regular" panose="02020603050405020304" charset="0"/>
              <a:cs typeface="Times New Roman Regular" panose="02020603050405020304" charset="0"/>
            </a:endParaRPr>
          </a:p>
        </p:txBody>
      </p:sp>
      <p:sp>
        <p:nvSpPr>
          <p:cNvPr id="2" name="Text Box 1"/>
          <p:cNvSpPr txBox="1"/>
          <p:nvPr/>
        </p:nvSpPr>
        <p:spPr>
          <a:xfrm>
            <a:off x="481965" y="1194435"/>
            <a:ext cx="10871835" cy="4401205"/>
          </a:xfrm>
          <a:prstGeom prst="rect">
            <a:avLst/>
          </a:prstGeom>
          <a:noFill/>
        </p:spPr>
        <p:txBody>
          <a:bodyPr wrap="square" rtlCol="0">
            <a:spAutoFit/>
          </a:bodyPr>
          <a:lstStyle/>
          <a:p>
            <a:pPr marL="342900" indent="-342900">
              <a:buAutoNum type="arabicPeriod"/>
            </a:pPr>
            <a:r>
              <a:rPr lang="ru-RU" altLang="en-US" sz="2800" dirty="0">
                <a:latin typeface="Times New Roman Regular" panose="02020603050405020304" charset="0"/>
                <a:cs typeface="Times New Roman Regular" panose="02020603050405020304" charset="0"/>
              </a:rPr>
              <a:t>Изучить способы подключения </a:t>
            </a:r>
            <a:r>
              <a:rPr lang="en-US" altLang="ru-RU" sz="2800" dirty="0">
                <a:latin typeface="Times New Roman Regular" panose="02020603050405020304" charset="0"/>
                <a:cs typeface="Times New Roman Regular" panose="02020603050405020304" charset="0"/>
              </a:rPr>
              <a:t>jQuery </a:t>
            </a:r>
            <a:r>
              <a:rPr lang="ru-RU" altLang="en-US" sz="2800" dirty="0">
                <a:latin typeface="Times New Roman Regular" panose="02020603050405020304" charset="0"/>
                <a:cs typeface="Times New Roman Regular" panose="02020603050405020304" charset="0"/>
              </a:rPr>
              <a:t>на страницу;</a:t>
            </a:r>
            <a:endParaRPr lang="ru-RU" altLang="en-US" sz="2800" dirty="0">
              <a:latin typeface="Times New Roman Regular" panose="02020603050405020304" charset="0"/>
              <a:cs typeface="Times New Roman Regular" panose="02020603050405020304" charset="0"/>
            </a:endParaRPr>
          </a:p>
          <a:p>
            <a:pPr lvl="1"/>
            <a:r>
              <a:rPr lang="zh-CN" altLang="en-US" sz="2800" b="0" i="0" dirty="0">
                <a:solidFill>
                  <a:srgbClr val="0F0F0F"/>
                </a:solidFill>
                <a:effectLst/>
                <a:latin typeface="Söhne"/>
              </a:rPr>
              <a:t>学习在页面上连接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的方法；</a:t>
            </a:r>
            <a:endParaRPr lang="ru-RU" altLang="en-US" sz="2800" dirty="0">
              <a:latin typeface="Times New Roman Regular" panose="02020603050405020304" charset="0"/>
              <a:cs typeface="Times New Roman Regular" panose="02020603050405020304" charset="0"/>
            </a:endParaRPr>
          </a:p>
          <a:p>
            <a:pPr marL="342900" indent="-342900">
              <a:buAutoNum type="arabicPeriod"/>
            </a:pPr>
            <a:r>
              <a:rPr lang="ru-RU" altLang="en-US" sz="2800" dirty="0">
                <a:latin typeface="Times New Roman Regular" panose="02020603050405020304" charset="0"/>
                <a:cs typeface="Times New Roman Regular" panose="02020603050405020304" charset="0"/>
              </a:rPr>
              <a:t>Изучить базовый синтаксис </a:t>
            </a:r>
            <a:r>
              <a:rPr lang="en-US" altLang="ru-RU" sz="2800" dirty="0">
                <a:latin typeface="Times New Roman Regular" panose="02020603050405020304" charset="0"/>
                <a:cs typeface="Times New Roman Regular" panose="02020603050405020304" charset="0"/>
              </a:rPr>
              <a:t>jQuery:</a:t>
            </a:r>
            <a:endParaRPr lang="en-US" altLang="ru-RU" sz="2800" dirty="0">
              <a:latin typeface="Times New Roman Regular" panose="02020603050405020304" charset="0"/>
              <a:cs typeface="Times New Roman Regular" panose="02020603050405020304" charset="0"/>
            </a:endParaRPr>
          </a:p>
          <a:p>
            <a:pPr lvl="1"/>
            <a:r>
              <a:rPr lang="zh-CN" altLang="en-US" sz="2800" b="0" i="0" dirty="0">
                <a:solidFill>
                  <a:srgbClr val="0F0F0F"/>
                </a:solidFill>
                <a:effectLst/>
                <a:latin typeface="Söhne"/>
              </a:rPr>
              <a:t>学习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的基本语法：</a:t>
            </a:r>
            <a:endParaRPr lang="en-US" altLang="ru-RU" sz="2800" dirty="0">
              <a:latin typeface="Times New Roman Regular" panose="02020603050405020304" charset="0"/>
              <a:cs typeface="Times New Roman Regular" panose="02020603050405020304" charset="0"/>
            </a:endParaRPr>
          </a:p>
          <a:p>
            <a:pPr marL="971550" lvl="1" indent="-514350">
              <a:buFont typeface="+mj-lt"/>
              <a:buAutoNum type="alphaLcParenR"/>
            </a:pPr>
            <a:r>
              <a:rPr lang="ru-RU" altLang="en-US" sz="2800" dirty="0">
                <a:latin typeface="Times New Roman Regular" panose="02020603050405020304" charset="0"/>
                <a:cs typeface="Times New Roman Regular" panose="02020603050405020304" charset="0"/>
              </a:rPr>
              <a:t>Научиться использовать селекторы;</a:t>
            </a:r>
            <a:endParaRPr lang="ru-RU" altLang="en-US" sz="2800" dirty="0">
              <a:latin typeface="Times New Roman Regular" panose="02020603050405020304" charset="0"/>
              <a:cs typeface="Times New Roman Regular" panose="02020603050405020304" charset="0"/>
            </a:endParaRPr>
          </a:p>
          <a:p>
            <a:pPr lvl="2"/>
            <a:r>
              <a:rPr lang="zh-CN" altLang="en-US" sz="2800" b="0" i="0" dirty="0">
                <a:solidFill>
                  <a:srgbClr val="0F0F0F"/>
                </a:solidFill>
                <a:effectLst/>
                <a:latin typeface="Söhne"/>
              </a:rPr>
              <a:t>学会使用选择器；</a:t>
            </a:r>
            <a:endParaRPr lang="ru-RU" altLang="en-US" sz="2800" dirty="0">
              <a:latin typeface="Times New Roman Regular" panose="02020603050405020304" charset="0"/>
              <a:cs typeface="Times New Roman Regular" panose="02020603050405020304" charset="0"/>
            </a:endParaRPr>
          </a:p>
          <a:p>
            <a:pPr marL="800100" lvl="1" indent="-342900">
              <a:buAutoNum type="alphaLcParenR"/>
            </a:pPr>
            <a:r>
              <a:rPr lang="ru-RU" altLang="en-US" sz="2800" dirty="0">
                <a:latin typeface="Times New Roman Regular" panose="02020603050405020304" charset="0"/>
                <a:cs typeface="Times New Roman Regular" panose="02020603050405020304" charset="0"/>
              </a:rPr>
              <a:t> Научиться обрабатывать пользовательские события;</a:t>
            </a:r>
            <a:endParaRPr lang="ru-RU" altLang="en-US" sz="2800" dirty="0">
              <a:latin typeface="Times New Roman Regular" panose="02020603050405020304" charset="0"/>
              <a:cs typeface="Times New Roman Regular" panose="02020603050405020304" charset="0"/>
            </a:endParaRPr>
          </a:p>
          <a:p>
            <a:pPr lvl="2"/>
            <a:r>
              <a:rPr lang="zh-CN" altLang="en-US" sz="2800" b="0" i="0" dirty="0">
                <a:solidFill>
                  <a:srgbClr val="0F0F0F"/>
                </a:solidFill>
                <a:effectLst/>
                <a:latin typeface="Söhne"/>
              </a:rPr>
              <a:t>学会处理用户事件；</a:t>
            </a:r>
            <a:endParaRPr lang="ru-RU" altLang="en-US" sz="2800" dirty="0">
              <a:latin typeface="Times New Roman Regular" panose="02020603050405020304" charset="0"/>
              <a:cs typeface="Times New Roman Regular" panose="02020603050405020304" charset="0"/>
            </a:endParaRPr>
          </a:p>
          <a:p>
            <a:pPr marL="800100" lvl="1" indent="-342900">
              <a:buAutoNum type="alphaLcParenR"/>
            </a:pPr>
            <a:r>
              <a:rPr lang="ru-RU" altLang="en-US" sz="2800" dirty="0">
                <a:latin typeface="Times New Roman Regular" panose="02020603050405020304" charset="0"/>
                <a:cs typeface="Times New Roman Regular" panose="02020603050405020304" charset="0"/>
              </a:rPr>
              <a:t> Посмотреть на работу основных эффектов в </a:t>
            </a:r>
            <a:r>
              <a:rPr lang="en-US" altLang="ru-RU" sz="2800" dirty="0">
                <a:latin typeface="Times New Roman Regular" panose="02020603050405020304" charset="0"/>
                <a:cs typeface="Times New Roman Regular" panose="02020603050405020304" charset="0"/>
              </a:rPr>
              <a:t>jQuery.</a:t>
            </a:r>
            <a:endParaRPr lang="en-US" altLang="ru-RU" sz="2800" dirty="0">
              <a:latin typeface="Times New Roman Regular" panose="02020603050405020304" charset="0"/>
              <a:cs typeface="Times New Roman Regular" panose="02020603050405020304" charset="0"/>
            </a:endParaRPr>
          </a:p>
          <a:p>
            <a:pPr lvl="1"/>
            <a:r>
              <a:rPr lang="en-US" altLang="zh-CN" sz="2800" b="0" i="0" dirty="0">
                <a:solidFill>
                  <a:srgbClr val="0F0F0F"/>
                </a:solidFill>
                <a:effectLst/>
                <a:latin typeface="Söhne"/>
              </a:rPr>
              <a:t>	</a:t>
            </a:r>
            <a:r>
              <a:rPr lang="zh-CN" altLang="en-US" sz="2800" b="0" i="0" dirty="0">
                <a:solidFill>
                  <a:srgbClr val="0F0F0F"/>
                </a:solidFill>
                <a:effectLst/>
                <a:latin typeface="Söhne"/>
              </a:rPr>
              <a:t>查看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中基本效果的工作。</a:t>
            </a:r>
            <a:endParaRPr lang="en-US" altLang="ru-RU" sz="2800" dirty="0">
              <a:latin typeface="Times New Roman Regular" panose="02020603050405020304" charset="0"/>
              <a:cs typeface="Times New Roman Regular"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14375" y="914400"/>
            <a:ext cx="10763885" cy="2677656"/>
          </a:xfrm>
          <a:prstGeom prst="rect">
            <a:avLst/>
          </a:prstGeom>
          <a:noFill/>
          <a:ln w="9525">
            <a:noFill/>
          </a:ln>
        </p:spPr>
        <p:txBody>
          <a:bodyPr wrap="square">
            <a:spAutoFit/>
          </a:bodyPr>
          <a:lstStyle/>
          <a:p>
            <a:pPr marL="0" indent="0" algn="just"/>
            <a:r>
              <a:rPr lang="ru-RU" altLang="en-US" sz="2400" b="0" i="1" dirty="0">
                <a:latin typeface="Times New Roman" panose="02020603050405020304" charset="0"/>
              </a:rPr>
              <a:t>	</a:t>
            </a:r>
            <a:r>
              <a:rPr lang="en-US" sz="2800" b="0" i="1" dirty="0">
                <a:latin typeface="Times New Roman" panose="02020603050405020304" charset="0"/>
              </a:rPr>
              <a:t>jQuery</a:t>
            </a:r>
            <a:r>
              <a:rPr lang="en-US" sz="2800" b="0" dirty="0">
                <a:latin typeface="Times New Roman" panose="02020603050405020304" charset="0"/>
              </a:rPr>
              <a:t> – </a:t>
            </a:r>
            <a:r>
              <a:rPr lang="en-US" sz="2800" b="0" dirty="0" err="1">
                <a:latin typeface="Times New Roman" panose="02020603050405020304" charset="0"/>
              </a:rPr>
              <a:t>это</a:t>
            </a:r>
            <a:r>
              <a:rPr lang="en-US" sz="2800" b="0" dirty="0">
                <a:latin typeface="Times New Roman" panose="02020603050405020304" charset="0"/>
              </a:rPr>
              <a:t> </a:t>
            </a:r>
            <a:r>
              <a:rPr lang="en-US" sz="2800" b="0" dirty="0" err="1">
                <a:latin typeface="Times New Roman" panose="02020603050405020304" charset="0"/>
              </a:rPr>
              <a:t>библиотека</a:t>
            </a:r>
            <a:r>
              <a:rPr lang="en-US" sz="2800" b="0" dirty="0">
                <a:latin typeface="Times New Roman" panose="02020603050405020304" charset="0"/>
              </a:rPr>
              <a:t> </a:t>
            </a:r>
            <a:r>
              <a:rPr lang="en-US" sz="2800" b="0" i="1" dirty="0">
                <a:latin typeface="Times New Roman" panose="02020603050405020304" charset="0"/>
              </a:rPr>
              <a:t>JavaScript</a:t>
            </a:r>
            <a:r>
              <a:rPr lang="en-US" sz="2800" b="0" dirty="0">
                <a:latin typeface="Times New Roman" panose="02020603050405020304" charset="0"/>
              </a:rPr>
              <a:t>, </a:t>
            </a:r>
            <a:r>
              <a:rPr lang="en-US" sz="2800" b="0" dirty="0" err="1">
                <a:latin typeface="Times New Roman" panose="02020603050405020304" charset="0"/>
              </a:rPr>
              <a:t>основанная</a:t>
            </a:r>
            <a:r>
              <a:rPr lang="en-US" sz="2800" b="0" dirty="0">
                <a:latin typeface="Times New Roman" panose="02020603050405020304" charset="0"/>
              </a:rPr>
              <a:t> </a:t>
            </a:r>
            <a:r>
              <a:rPr lang="en-US" sz="2800" b="0" dirty="0" err="1">
                <a:latin typeface="Times New Roman" panose="02020603050405020304" charset="0"/>
              </a:rPr>
              <a:t>на</a:t>
            </a:r>
            <a:r>
              <a:rPr lang="en-US" sz="2800" b="0" dirty="0">
                <a:latin typeface="Times New Roman" panose="02020603050405020304" charset="0"/>
              </a:rPr>
              <a:t> </a:t>
            </a:r>
            <a:r>
              <a:rPr lang="en-US" sz="2800" b="0" dirty="0" err="1">
                <a:latin typeface="Times New Roman" panose="02020603050405020304" charset="0"/>
              </a:rPr>
              <a:t>принципе</a:t>
            </a:r>
            <a:r>
              <a:rPr lang="en-US" sz="2800" b="0" dirty="0">
                <a:latin typeface="Times New Roman" panose="02020603050405020304" charset="0"/>
              </a:rPr>
              <a:t> </a:t>
            </a:r>
            <a:r>
              <a:rPr lang="en-US" sz="2800" b="0" i="1" dirty="0">
                <a:latin typeface="Times New Roman" panose="02020603050405020304" charset="0"/>
              </a:rPr>
              <a:t>«</a:t>
            </a:r>
            <a:r>
              <a:rPr lang="en-US" sz="2800" b="0" i="1" dirty="0" err="1">
                <a:latin typeface="Times New Roman" panose="02020603050405020304" charset="0"/>
              </a:rPr>
              <a:t>пиши</a:t>
            </a:r>
            <a:r>
              <a:rPr lang="en-US" sz="2800" b="0" i="1" dirty="0">
                <a:latin typeface="Times New Roman" panose="02020603050405020304" charset="0"/>
              </a:rPr>
              <a:t> </a:t>
            </a:r>
            <a:r>
              <a:rPr lang="en-US" sz="2800" b="0" i="1" dirty="0" err="1">
                <a:latin typeface="Times New Roman" panose="02020603050405020304" charset="0"/>
              </a:rPr>
              <a:t>меньше</a:t>
            </a:r>
            <a:r>
              <a:rPr lang="en-US" sz="2800" b="0" i="1" dirty="0">
                <a:latin typeface="Times New Roman" panose="02020603050405020304" charset="0"/>
              </a:rPr>
              <a:t>, </a:t>
            </a:r>
            <a:r>
              <a:rPr lang="en-US" sz="2800" b="0" i="1" dirty="0" err="1">
                <a:latin typeface="Times New Roman" panose="02020603050405020304" charset="0"/>
              </a:rPr>
              <a:t>делай</a:t>
            </a:r>
            <a:r>
              <a:rPr lang="en-US" sz="2800" b="0" i="1" dirty="0">
                <a:latin typeface="Times New Roman" panose="02020603050405020304" charset="0"/>
              </a:rPr>
              <a:t> </a:t>
            </a:r>
            <a:r>
              <a:rPr lang="en-US" sz="2800" b="0" i="1" dirty="0" err="1">
                <a:latin typeface="Times New Roman" panose="02020603050405020304" charset="0"/>
              </a:rPr>
              <a:t>больше</a:t>
            </a:r>
            <a:r>
              <a:rPr lang="en-US" sz="2800" b="0" i="1" dirty="0">
                <a:latin typeface="Times New Roman" panose="02020603050405020304" charset="0"/>
              </a:rPr>
              <a:t>»</a:t>
            </a:r>
            <a:r>
              <a:rPr lang="en-US" sz="2800" b="0" dirty="0">
                <a:latin typeface="Times New Roman" panose="02020603050405020304" charset="0"/>
              </a:rPr>
              <a:t>. </a:t>
            </a:r>
            <a:r>
              <a:rPr lang="en-US" sz="2800" b="0" dirty="0" err="1">
                <a:latin typeface="Times New Roman" panose="02020603050405020304" charset="0"/>
              </a:rPr>
              <a:t>Это</a:t>
            </a:r>
            <a:r>
              <a:rPr lang="en-US" sz="2800" b="0" dirty="0">
                <a:latin typeface="Times New Roman" panose="02020603050405020304" charset="0"/>
              </a:rPr>
              <a:t> </a:t>
            </a:r>
            <a:r>
              <a:rPr lang="en-US" sz="2800" b="0" dirty="0" err="1">
                <a:latin typeface="Times New Roman" panose="02020603050405020304" charset="0"/>
              </a:rPr>
              <a:t>не</a:t>
            </a:r>
            <a:r>
              <a:rPr lang="en-US" sz="2800" b="0" dirty="0">
                <a:latin typeface="Times New Roman" panose="02020603050405020304" charset="0"/>
              </a:rPr>
              <a:t> </a:t>
            </a:r>
            <a:r>
              <a:rPr lang="en-US" sz="2800" b="0" dirty="0" err="1">
                <a:latin typeface="Times New Roman" panose="02020603050405020304" charset="0"/>
              </a:rPr>
              <a:t>язык</a:t>
            </a:r>
            <a:r>
              <a:rPr lang="en-US" sz="2800" b="0" dirty="0">
                <a:latin typeface="Times New Roman" panose="02020603050405020304" charset="0"/>
              </a:rPr>
              <a:t> </a:t>
            </a:r>
            <a:r>
              <a:rPr lang="en-US" sz="2800" b="0" dirty="0" err="1">
                <a:latin typeface="Times New Roman" panose="02020603050405020304" charset="0"/>
              </a:rPr>
              <a:t>программирования</a:t>
            </a:r>
            <a:r>
              <a:rPr lang="en-US" sz="2800" b="0" dirty="0">
                <a:latin typeface="Times New Roman" panose="02020603050405020304" charset="0"/>
              </a:rPr>
              <a:t>, а </a:t>
            </a:r>
            <a:r>
              <a:rPr lang="en-US" sz="2800" b="0" dirty="0" err="1">
                <a:latin typeface="Times New Roman" panose="02020603050405020304" charset="0"/>
              </a:rPr>
              <a:t>инструмент</a:t>
            </a:r>
            <a:r>
              <a:rPr lang="en-US" sz="2800" b="0" dirty="0">
                <a:latin typeface="Times New Roman" panose="02020603050405020304" charset="0"/>
              </a:rPr>
              <a:t>, </a:t>
            </a:r>
            <a:r>
              <a:rPr lang="en-US" sz="2800" b="0" dirty="0" err="1">
                <a:latin typeface="Times New Roman" panose="02020603050405020304" charset="0"/>
              </a:rPr>
              <a:t>который</a:t>
            </a:r>
            <a:r>
              <a:rPr lang="en-US" sz="2800" b="0" dirty="0">
                <a:latin typeface="Times New Roman" panose="02020603050405020304" charset="0"/>
              </a:rPr>
              <a:t> </a:t>
            </a:r>
            <a:r>
              <a:rPr lang="en-US" sz="2800" b="0" dirty="0" err="1">
                <a:latin typeface="Times New Roman" panose="02020603050405020304" charset="0"/>
              </a:rPr>
              <a:t>упрощает</a:t>
            </a:r>
            <a:r>
              <a:rPr lang="en-US" sz="2800" b="0" dirty="0">
                <a:latin typeface="Times New Roman" panose="02020603050405020304" charset="0"/>
              </a:rPr>
              <a:t> </a:t>
            </a:r>
            <a:r>
              <a:rPr lang="en-US" sz="2800" b="0" dirty="0" err="1">
                <a:latin typeface="Times New Roman" panose="02020603050405020304" charset="0"/>
              </a:rPr>
              <a:t>написание</a:t>
            </a:r>
            <a:r>
              <a:rPr lang="en-US" sz="2800" b="0" dirty="0">
                <a:latin typeface="Times New Roman" panose="02020603050405020304" charset="0"/>
              </a:rPr>
              <a:t> </a:t>
            </a:r>
            <a:r>
              <a:rPr lang="en-US" sz="2800" b="0" dirty="0" err="1">
                <a:latin typeface="Times New Roman" panose="02020603050405020304" charset="0"/>
              </a:rPr>
              <a:t>общих</a:t>
            </a:r>
            <a:r>
              <a:rPr lang="en-US" sz="2800" b="0" dirty="0">
                <a:latin typeface="Times New Roman" panose="02020603050405020304" charset="0"/>
              </a:rPr>
              <a:t> </a:t>
            </a:r>
            <a:r>
              <a:rPr lang="en-US" sz="2800" b="0" dirty="0" err="1">
                <a:latin typeface="Times New Roman" panose="02020603050405020304" charset="0"/>
              </a:rPr>
              <a:t>задач</a:t>
            </a:r>
            <a:r>
              <a:rPr lang="en-US" sz="2800" b="0" dirty="0">
                <a:latin typeface="Times New Roman" panose="02020603050405020304" charset="0"/>
              </a:rPr>
              <a:t> </a:t>
            </a:r>
            <a:r>
              <a:rPr lang="en-US" sz="2800" b="0" i="1" dirty="0">
                <a:latin typeface="Times New Roman" panose="02020603050405020304" charset="0"/>
              </a:rPr>
              <a:t>JavaScript</a:t>
            </a:r>
            <a:r>
              <a:rPr lang="en-US" sz="2800" b="0" dirty="0">
                <a:latin typeface="Times New Roman" panose="02020603050405020304" charset="0"/>
              </a:rPr>
              <a:t>. </a:t>
            </a:r>
            <a:endParaRPr lang="en-US" sz="2800" b="0" dirty="0">
              <a:latin typeface="Times New Roman" panose="02020603050405020304" charset="0"/>
            </a:endParaRPr>
          </a:p>
          <a:p>
            <a:pPr marL="0" indent="0" algn="just"/>
            <a:endParaRPr lang="en-US" sz="2800" dirty="0">
              <a:latin typeface="Times New Roman" panose="02020603050405020304" charset="0"/>
            </a:endParaRPr>
          </a:p>
          <a:p>
            <a:pPr marL="0" indent="0" algn="just"/>
            <a:r>
              <a:rPr lang="en-US" altLang="zh-CN" sz="2800" dirty="0"/>
              <a:t>jQuery</a:t>
            </a:r>
            <a:r>
              <a:rPr lang="zh-CN" altLang="en-US" sz="2800" dirty="0"/>
              <a:t>是一个基于“写得更少，做得更多”原则的</a:t>
            </a:r>
            <a:r>
              <a:rPr lang="en-US" altLang="zh-CN" sz="2800" dirty="0"/>
              <a:t>JavaScript</a:t>
            </a:r>
            <a:r>
              <a:rPr lang="zh-CN" altLang="en-US" sz="2800" dirty="0"/>
              <a:t>库。它不是一种编程语言，而是一种简化编写</a:t>
            </a:r>
            <a:r>
              <a:rPr lang="en-US" altLang="zh-CN" sz="2800" dirty="0"/>
              <a:t>JavaScript</a:t>
            </a:r>
            <a:r>
              <a:rPr lang="zh-CN" altLang="en-US" sz="2800" dirty="0"/>
              <a:t>常见任务的工具。</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53110" y="1115695"/>
            <a:ext cx="10600690" cy="2308324"/>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Кроме</a:t>
            </a:r>
            <a:r>
              <a:rPr lang="en-US" sz="2400" b="0" dirty="0">
                <a:latin typeface="Times New Roman" panose="02020603050405020304" charset="0"/>
              </a:rPr>
              <a:t> </a:t>
            </a:r>
            <a:r>
              <a:rPr lang="en-US" sz="2400" b="0" dirty="0" err="1">
                <a:latin typeface="Times New Roman" panose="02020603050405020304" charset="0"/>
              </a:rPr>
              <a:t>того</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обладает</a:t>
            </a:r>
            <a:r>
              <a:rPr lang="en-US" sz="2400" b="0" dirty="0">
                <a:latin typeface="Times New Roman" panose="02020603050405020304" charset="0"/>
              </a:rPr>
              <a:t> </a:t>
            </a:r>
            <a:r>
              <a:rPr lang="en-US" sz="2400" b="0" dirty="0" err="1">
                <a:latin typeface="Times New Roman" panose="02020603050405020304" charset="0"/>
              </a:rPr>
              <a:t>кроссбраузерной</a:t>
            </a:r>
            <a:r>
              <a:rPr lang="en-US" sz="2400" b="0" dirty="0">
                <a:latin typeface="Times New Roman" panose="02020603050405020304" charset="0"/>
              </a:rPr>
              <a:t> </a:t>
            </a:r>
            <a:r>
              <a:rPr lang="en-US" sz="2400" b="0" dirty="0" err="1">
                <a:latin typeface="Times New Roman" panose="02020603050405020304" charset="0"/>
              </a:rPr>
              <a:t>совместимостью</a:t>
            </a:r>
            <a:r>
              <a:rPr lang="en-US" sz="2400" b="0" dirty="0">
                <a:latin typeface="Times New Roman" panose="02020603050405020304" charset="0"/>
              </a:rPr>
              <a:t>, а </a:t>
            </a:r>
            <a:r>
              <a:rPr lang="en-US" sz="2400" b="0" dirty="0" err="1">
                <a:latin typeface="Times New Roman" panose="02020603050405020304" charset="0"/>
              </a:rPr>
              <a:t>значит</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можем</a:t>
            </a:r>
            <a:r>
              <a:rPr lang="en-US" sz="2400" b="0" dirty="0">
                <a:latin typeface="Times New Roman" panose="02020603050405020304" charset="0"/>
              </a:rPr>
              <a:t> </a:t>
            </a:r>
            <a:r>
              <a:rPr lang="en-US" sz="2400" b="0" dirty="0" err="1">
                <a:latin typeface="Times New Roman" panose="02020603050405020304" charset="0"/>
              </a:rPr>
              <a:t>быть</a:t>
            </a:r>
            <a:r>
              <a:rPr lang="en-US" sz="2400" b="0" dirty="0">
                <a:latin typeface="Times New Roman" panose="02020603050405020304" charset="0"/>
              </a:rPr>
              <a:t> </a:t>
            </a:r>
            <a:r>
              <a:rPr lang="en-US" sz="2400" b="0" dirty="0" err="1">
                <a:latin typeface="Times New Roman" panose="02020603050405020304" charset="0"/>
              </a:rPr>
              <a:t>уверены</a:t>
            </a:r>
            <a:r>
              <a:rPr lang="en-US" sz="2400" b="0" dirty="0">
                <a:latin typeface="Times New Roman" panose="02020603050405020304" charset="0"/>
              </a:rPr>
              <a:t> в </a:t>
            </a:r>
            <a:r>
              <a:rPr lang="en-US" sz="2400" b="0" dirty="0" err="1">
                <a:latin typeface="Times New Roman" panose="02020603050405020304" charset="0"/>
              </a:rPr>
              <a:t>том</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любой</a:t>
            </a:r>
            <a:r>
              <a:rPr lang="en-US" sz="2400" b="0" dirty="0">
                <a:latin typeface="Times New Roman" panose="02020603050405020304" charset="0"/>
              </a:rPr>
              <a:t> </a:t>
            </a:r>
            <a:r>
              <a:rPr lang="en-US" sz="2400" b="0" dirty="0" err="1">
                <a:latin typeface="Times New Roman" panose="02020603050405020304" charset="0"/>
              </a:rPr>
              <a:t>современный</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корректно</a:t>
            </a:r>
            <a:r>
              <a:rPr lang="en-US" sz="2400" b="0" dirty="0">
                <a:latin typeface="Times New Roman" panose="02020603050405020304" charset="0"/>
              </a:rPr>
              <a:t> </a:t>
            </a:r>
            <a:r>
              <a:rPr lang="en-US" sz="2400" b="0" dirty="0" err="1">
                <a:latin typeface="Times New Roman" panose="02020603050405020304" charset="0"/>
              </a:rPr>
              <a:t>отобразит</a:t>
            </a:r>
            <a:r>
              <a:rPr lang="en-US" sz="2400" b="0" dirty="0">
                <a:latin typeface="Times New Roman" panose="02020603050405020304" charset="0"/>
              </a:rPr>
              <a:t> </a:t>
            </a:r>
            <a:r>
              <a:rPr lang="en-US" sz="2400" b="0" dirty="0" err="1">
                <a:latin typeface="Times New Roman" panose="02020603050405020304" charset="0"/>
              </a:rPr>
              <a:t>вывод</a:t>
            </a:r>
            <a:r>
              <a:rPr lang="en-US" sz="2400" b="0" dirty="0">
                <a:latin typeface="Times New Roman" panose="02020603050405020304" charset="0"/>
              </a:rPr>
              <a:t> </a:t>
            </a:r>
            <a:r>
              <a:rPr lang="en-US" sz="2400" b="0" dirty="0" err="1">
                <a:latin typeface="Times New Roman" panose="02020603050405020304" charset="0"/>
              </a:rPr>
              <a:t>программы</a:t>
            </a:r>
            <a:r>
              <a:rPr lang="en-US" sz="2400" b="0" dirty="0">
                <a:latin typeface="Times New Roman" panose="02020603050405020304" charset="0"/>
              </a:rPr>
              <a:t>.</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zh-CN" altLang="en-US" sz="2400" dirty="0"/>
              <a:t>此外，</a:t>
            </a:r>
            <a:r>
              <a:rPr lang="en-US" altLang="zh-CN" sz="2400" dirty="0"/>
              <a:t>jQuery</a:t>
            </a:r>
            <a:r>
              <a:rPr lang="zh-CN" altLang="en-US" sz="2400" dirty="0"/>
              <a:t>具有跨浏览器兼容性，这意味着我们可以确信任何现代浏览器都能正确显示程序的输出。</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61695" y="1959610"/>
            <a:ext cx="10492740" cy="2677656"/>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Почему</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i="1" dirty="0">
                <a:latin typeface="Times New Roman" panose="02020603050405020304" charset="0"/>
              </a:rPr>
              <a:t>«</a:t>
            </a:r>
            <a:r>
              <a:rPr lang="en-US" sz="2400" b="0" i="1" dirty="0" err="1">
                <a:latin typeface="Times New Roman" panose="02020603050405020304" charset="0"/>
              </a:rPr>
              <a:t>пиши</a:t>
            </a:r>
            <a:r>
              <a:rPr lang="en-US" sz="2400" b="0" i="1" dirty="0">
                <a:latin typeface="Times New Roman" panose="02020603050405020304" charset="0"/>
              </a:rPr>
              <a:t> </a:t>
            </a:r>
            <a:r>
              <a:rPr lang="en-US" sz="2400" b="0" i="1" dirty="0" err="1">
                <a:latin typeface="Times New Roman" panose="02020603050405020304" charset="0"/>
              </a:rPr>
              <a:t>меньше</a:t>
            </a:r>
            <a:r>
              <a:rPr lang="en-US" sz="2400" b="0" i="1" dirty="0">
                <a:latin typeface="Times New Roman" panose="02020603050405020304" charset="0"/>
              </a:rPr>
              <a:t>, </a:t>
            </a:r>
            <a:r>
              <a:rPr lang="en-US" sz="2400" b="0" i="1" dirty="0" err="1">
                <a:latin typeface="Times New Roman" panose="02020603050405020304" charset="0"/>
              </a:rPr>
              <a:t>делай</a:t>
            </a:r>
            <a:r>
              <a:rPr lang="en-US" sz="2400" b="0" i="1" dirty="0">
                <a:latin typeface="Times New Roman" panose="02020603050405020304" charset="0"/>
              </a:rPr>
              <a:t> </a:t>
            </a:r>
            <a:r>
              <a:rPr lang="en-US" sz="2400" b="0" i="1" dirty="0" err="1">
                <a:latin typeface="Times New Roman" panose="02020603050405020304" charset="0"/>
              </a:rPr>
              <a:t>больше</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слоган</a:t>
            </a:r>
            <a:r>
              <a:rPr lang="en-US" sz="2400" b="0" dirty="0">
                <a:latin typeface="Times New Roman" panose="02020603050405020304" charset="0"/>
              </a:rPr>
              <a:t> </a:t>
            </a:r>
            <a:r>
              <a:rPr lang="en-US" sz="2400" b="0" dirty="0" err="1">
                <a:latin typeface="Times New Roman" panose="02020603050405020304" charset="0"/>
              </a:rPr>
              <a:t>библиотеки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если</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зайдем</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их</a:t>
            </a:r>
            <a:r>
              <a:rPr lang="en-US" sz="2400" b="0" dirty="0">
                <a:latin typeface="Times New Roman" panose="02020603050405020304" charset="0"/>
              </a:rPr>
              <a:t> </a:t>
            </a:r>
            <a:r>
              <a:rPr lang="en-US" sz="2400" b="0" dirty="0" err="1">
                <a:latin typeface="Times New Roman" panose="02020603050405020304" charset="0"/>
              </a:rPr>
              <a:t>официальный</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u="sng" dirty="0">
                <a:solidFill>
                  <a:srgbClr val="0563C1"/>
                </a:solidFill>
                <a:uFill>
                  <a:solidFill>
                    <a:srgbClr val="000000"/>
                  </a:solidFill>
                </a:uFill>
                <a:latin typeface="Times New Roman" panose="02020603050405020304" charset="0"/>
                <a:hlinkClick r:id="rId1" tooltip="https://jquery.com/"/>
              </a:rPr>
              <a:t>https://</a:t>
            </a:r>
            <a:r>
              <a:rPr lang="en-US" sz="2400" b="0" u="sng" dirty="0" err="1">
                <a:solidFill>
                  <a:srgbClr val="0563C1"/>
                </a:solidFill>
                <a:uFill>
                  <a:solidFill>
                    <a:srgbClr val="000000"/>
                  </a:solidFill>
                </a:uFill>
                <a:latin typeface="Times New Roman" panose="02020603050405020304" charset="0"/>
                <a:hlinkClick r:id="rId1" tooltip="https://jquery.com/"/>
              </a:rPr>
              <a:t>jquery.com</a:t>
            </a:r>
            <a:r>
              <a:rPr lang="en-US" sz="2400" b="0" u="sng" dirty="0">
                <a:solidFill>
                  <a:srgbClr val="0563C1"/>
                </a:solidFill>
                <a:uFill>
                  <a:solidFill>
                    <a:srgbClr val="000000"/>
                  </a:solidFill>
                </a:uFill>
                <a:latin typeface="Times New Roman" panose="02020603050405020304" charset="0"/>
                <a:hlinkClick r:id="rId1" tooltip="https://jquery.com/"/>
              </a:rPr>
              <a:t>/</a:t>
            </a:r>
            <a:r>
              <a:rPr lang="en-US" sz="2400" b="0" dirty="0">
                <a:latin typeface="Times New Roman" panose="02020603050405020304" charset="0"/>
              </a:rPr>
              <a:t>, </a:t>
            </a:r>
            <a:r>
              <a:rPr lang="en-US" sz="2400" b="0" dirty="0" err="1">
                <a:latin typeface="Times New Roman" panose="02020603050405020304" charset="0"/>
              </a:rPr>
              <a:t>то</a:t>
            </a:r>
            <a:r>
              <a:rPr lang="en-US" sz="2400" b="0" dirty="0">
                <a:latin typeface="Times New Roman" panose="02020603050405020304" charset="0"/>
              </a:rPr>
              <a:t> </a:t>
            </a:r>
            <a:r>
              <a:rPr lang="en-US" sz="2400" b="0" dirty="0" err="1">
                <a:latin typeface="Times New Roman" panose="02020603050405020304" charset="0"/>
              </a:rPr>
              <a:t>увидим</a:t>
            </a:r>
            <a:r>
              <a:rPr lang="en-US" sz="2400" b="0" dirty="0">
                <a:latin typeface="Times New Roman" panose="02020603050405020304" charset="0"/>
              </a:rPr>
              <a:t> </a:t>
            </a:r>
            <a:r>
              <a:rPr lang="en-US" sz="2400" b="0" dirty="0" err="1">
                <a:latin typeface="Times New Roman" panose="02020603050405020304" charset="0"/>
              </a:rPr>
              <a:t>эту</a:t>
            </a:r>
            <a:r>
              <a:rPr lang="en-US" sz="2400" b="0" dirty="0">
                <a:latin typeface="Times New Roman" panose="02020603050405020304" charset="0"/>
              </a:rPr>
              <a:t> </a:t>
            </a:r>
            <a:r>
              <a:rPr lang="en-US" sz="2400" b="0" dirty="0" err="1">
                <a:latin typeface="Times New Roman" panose="02020603050405020304" charset="0"/>
              </a:rPr>
              <a:t>надпись</a:t>
            </a:r>
            <a:r>
              <a:rPr lang="en-US" sz="2400" b="0" dirty="0">
                <a:latin typeface="Times New Roman" panose="02020603050405020304" charset="0"/>
              </a:rPr>
              <a:t> </a:t>
            </a:r>
            <a:r>
              <a:rPr lang="en-US" sz="2400" b="0" dirty="0" err="1">
                <a:latin typeface="Times New Roman" panose="02020603050405020304" charset="0"/>
              </a:rPr>
              <a:t>самой</a:t>
            </a:r>
            <a:r>
              <a:rPr lang="en-US" sz="2400" b="0" dirty="0">
                <a:latin typeface="Times New Roman" panose="02020603050405020304" charset="0"/>
              </a:rPr>
              <a:t> </a:t>
            </a:r>
            <a:r>
              <a:rPr lang="en-US" sz="2400" b="0" dirty="0" err="1">
                <a:latin typeface="Times New Roman" panose="02020603050405020304" charset="0"/>
              </a:rPr>
              <a:t>первой</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странице</a:t>
            </a:r>
            <a:r>
              <a:rPr lang="en-US" sz="2400" b="0" dirty="0">
                <a:latin typeface="Times New Roman" panose="02020603050405020304" charset="0"/>
              </a:rPr>
              <a:t>.</a:t>
            </a:r>
            <a:endParaRPr lang="en-US" sz="2400" b="0" dirty="0">
              <a:latin typeface="Times New Roman" panose="02020603050405020304" charset="0"/>
            </a:endParaRPr>
          </a:p>
          <a:p>
            <a:pPr marL="0" indent="449580" algn="just"/>
            <a:endParaRPr lang="en-US" sz="2400" dirty="0">
              <a:latin typeface="Times New Roman" panose="02020603050405020304" charset="0"/>
            </a:endParaRPr>
          </a:p>
          <a:p>
            <a:pPr marL="0" indent="449580" algn="just"/>
            <a:r>
              <a:rPr lang="zh-CN" altLang="en-US" sz="2400" dirty="0"/>
              <a:t>为什么要</a:t>
            </a:r>
            <a:r>
              <a:rPr lang="en-US" altLang="zh-CN" sz="2400" dirty="0"/>
              <a:t>"</a:t>
            </a:r>
            <a:r>
              <a:rPr lang="zh-CN" altLang="en-US" sz="2400" dirty="0"/>
              <a:t>写得更少，做得更多</a:t>
            </a:r>
            <a:r>
              <a:rPr lang="en-US" altLang="zh-CN" sz="2400" dirty="0"/>
              <a:t>"</a:t>
            </a:r>
            <a:r>
              <a:rPr lang="zh-CN" altLang="en-US" sz="2400" dirty="0"/>
              <a:t>呢？这是</a:t>
            </a:r>
            <a:r>
              <a:rPr lang="en-US" sz="2400" dirty="0"/>
              <a:t>jQuery</a:t>
            </a:r>
            <a:r>
              <a:rPr lang="zh-CN" altLang="en-US" sz="2400" dirty="0"/>
              <a:t>图书馆的口号。如果我们访问他们的官方网站：</a:t>
            </a:r>
            <a:r>
              <a:rPr lang="en-US" sz="2400" dirty="0"/>
              <a:t>https://</a:t>
            </a:r>
            <a:r>
              <a:rPr lang="en-US" sz="2400" dirty="0" err="1"/>
              <a:t>jquery.com</a:t>
            </a:r>
            <a:r>
              <a:rPr lang="en-US" sz="2400" dirty="0"/>
              <a:t>/，</a:t>
            </a:r>
            <a:r>
              <a:rPr lang="zh-CN" altLang="en-US" sz="2400" dirty="0"/>
              <a:t>我们会看到这个标语是页面上的第一条。</a:t>
            </a:r>
            <a:endParaRPr lang="en-US" sz="2400" dirty="0"/>
          </a:p>
        </p:txBody>
      </p:sp>
      <p:pic>
        <p:nvPicPr>
          <p:cNvPr id="2" name="Picture 1"/>
          <p:cNvPicPr>
            <a:picLocks noChangeAspect="1"/>
          </p:cNvPicPr>
          <p:nvPr/>
        </p:nvPicPr>
        <p:blipFill>
          <a:blip r:embed="rId2"/>
          <a:stretch>
            <a:fillRect/>
          </a:stretch>
        </p:blipFill>
        <p:spPr>
          <a:xfrm>
            <a:off x="0" y="0"/>
            <a:ext cx="3721100" cy="1257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03250" y="447675"/>
            <a:ext cx="10916920" cy="2308324"/>
          </a:xfrm>
          <a:prstGeom prst="rect">
            <a:avLst/>
          </a:prstGeom>
          <a:noFill/>
          <a:ln w="9525">
            <a:noFill/>
          </a:ln>
        </p:spPr>
        <p:txBody>
          <a:bodyPr wrap="square">
            <a:spAutoFit/>
          </a:bodyPr>
          <a:lstStyle/>
          <a:p>
            <a:pPr indent="0" algn="just"/>
            <a:r>
              <a:rPr lang="ru-RU" altLang="en-US" sz="2400" b="0" dirty="0">
                <a:latin typeface="Times New Roman" panose="02020603050405020304" charset="0"/>
              </a:rPr>
              <a:t>	</a:t>
            </a:r>
            <a:r>
              <a:rPr lang="en-US" sz="2400" b="0" dirty="0" err="1">
                <a:latin typeface="Times New Roman" panose="02020603050405020304" charset="0"/>
              </a:rPr>
              <a:t>Давайте</a:t>
            </a:r>
            <a:r>
              <a:rPr lang="en-US" sz="2400" b="0" dirty="0">
                <a:latin typeface="Times New Roman" panose="02020603050405020304" charset="0"/>
              </a:rPr>
              <a:t> </a:t>
            </a:r>
            <a:r>
              <a:rPr lang="en-US" sz="2400" b="0" dirty="0" err="1">
                <a:latin typeface="Times New Roman" panose="02020603050405020304" charset="0"/>
              </a:rPr>
              <a:t>сравним</a:t>
            </a:r>
            <a:r>
              <a:rPr lang="en-US" sz="2400" b="0" dirty="0">
                <a:latin typeface="Times New Roman" panose="02020603050405020304" charset="0"/>
              </a:rPr>
              <a:t> </a:t>
            </a:r>
            <a:r>
              <a:rPr lang="en-US" sz="2400" b="0" dirty="0" err="1">
                <a:latin typeface="Times New Roman" panose="02020603050405020304" charset="0"/>
              </a:rPr>
              <a:t>код</a:t>
            </a:r>
            <a:r>
              <a:rPr lang="en-US" sz="2400" b="0" dirty="0">
                <a:latin typeface="Times New Roman" panose="02020603050405020304" charset="0"/>
              </a:rPr>
              <a:t> </a:t>
            </a:r>
            <a:r>
              <a:rPr lang="en-US" sz="2400" b="0" dirty="0" err="1">
                <a:latin typeface="Times New Roman" panose="02020603050405020304" charset="0"/>
              </a:rPr>
              <a:t>простого</a:t>
            </a:r>
            <a:r>
              <a:rPr lang="en-US" sz="2400" b="0" dirty="0">
                <a:latin typeface="Times New Roman" panose="02020603050405020304" charset="0"/>
              </a:rPr>
              <a:t> </a:t>
            </a:r>
            <a:r>
              <a:rPr lang="en-US" sz="2400" b="0" dirty="0" err="1">
                <a:latin typeface="Times New Roman" panose="02020603050405020304" charset="0"/>
              </a:rPr>
              <a:t>приложения</a:t>
            </a:r>
            <a:r>
              <a:rPr lang="en-US" sz="2400" b="0" dirty="0">
                <a:latin typeface="Times New Roman" panose="02020603050405020304" charset="0"/>
              </a:rPr>
              <a:t> </a:t>
            </a:r>
            <a:r>
              <a:rPr lang="en-US" sz="2400" b="0" i="1" dirty="0">
                <a:latin typeface="Times New Roman" panose="02020603050405020304" charset="0"/>
              </a:rPr>
              <a:t>«Hello, World»</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чистом</a:t>
            </a:r>
            <a:r>
              <a:rPr lang="en-US" sz="2400" b="0" dirty="0">
                <a:latin typeface="Times New Roman" panose="02020603050405020304" charset="0"/>
              </a:rPr>
              <a:t> </a:t>
            </a:r>
            <a:r>
              <a:rPr lang="en-US" sz="2400" b="0" i="1" dirty="0">
                <a:latin typeface="Times New Roman" panose="02020603050405020304" charset="0"/>
              </a:rPr>
              <a:t>JavaScript</a:t>
            </a:r>
            <a:r>
              <a:rPr lang="en-US" sz="2400" b="0" dirty="0">
                <a:latin typeface="Times New Roman" panose="02020603050405020304" charset="0"/>
              </a:rPr>
              <a:t> и </a:t>
            </a:r>
            <a:r>
              <a:rPr lang="en-US" sz="2400" b="0" dirty="0" err="1">
                <a:latin typeface="Times New Roman" panose="02020603050405020304" charset="0"/>
              </a:rPr>
              <a:t>на</a:t>
            </a:r>
            <a:r>
              <a:rPr lang="en-US" sz="2400" b="0" dirty="0">
                <a:latin typeface="Times New Roman" panose="02020603050405020304" charset="0"/>
              </a:rPr>
              <a:t> jQuery. </a:t>
            </a:r>
            <a:r>
              <a:rPr lang="en-US" sz="2400" b="0" dirty="0" err="1">
                <a:latin typeface="Times New Roman" panose="02020603050405020304" charset="0"/>
              </a:rPr>
              <a:t>Как</a:t>
            </a:r>
            <a:r>
              <a:rPr lang="en-US" sz="2400" b="0" dirty="0">
                <a:latin typeface="Times New Roman" panose="02020603050405020304" charset="0"/>
              </a:rPr>
              <a:t> </a:t>
            </a:r>
            <a:r>
              <a:rPr lang="en-US" sz="2400" b="0" dirty="0" err="1">
                <a:latin typeface="Times New Roman" panose="02020603050405020304" charset="0"/>
              </a:rPr>
              <a:t>можно</a:t>
            </a:r>
            <a:r>
              <a:rPr lang="en-US" sz="2400" b="0" dirty="0">
                <a:latin typeface="Times New Roman" panose="02020603050405020304" charset="0"/>
              </a:rPr>
              <a:t> </a:t>
            </a:r>
            <a:r>
              <a:rPr lang="en-US" sz="2400" b="0" dirty="0" err="1">
                <a:latin typeface="Times New Roman" panose="02020603050405020304" charset="0"/>
              </a:rPr>
              <a:t>заметить</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позволяет</a:t>
            </a:r>
            <a:r>
              <a:rPr lang="en-US" sz="2400" b="0" dirty="0">
                <a:latin typeface="Times New Roman" panose="02020603050405020304" charset="0"/>
              </a:rPr>
              <a:t> </a:t>
            </a:r>
            <a:r>
              <a:rPr lang="en-US" sz="2400" b="0" dirty="0" err="1">
                <a:latin typeface="Times New Roman" panose="02020603050405020304" charset="0"/>
              </a:rPr>
              <a:t>достичь</a:t>
            </a:r>
            <a:r>
              <a:rPr lang="en-US" sz="2400" b="0" dirty="0">
                <a:latin typeface="Times New Roman" panose="02020603050405020304" charset="0"/>
              </a:rPr>
              <a:t> </a:t>
            </a:r>
            <a:r>
              <a:rPr lang="en-US" sz="2400" b="0" dirty="0" err="1">
                <a:latin typeface="Times New Roman" panose="02020603050405020304" charset="0"/>
              </a:rPr>
              <a:t>того</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результата</a:t>
            </a:r>
            <a:r>
              <a:rPr lang="en-US" sz="2400" b="0" dirty="0">
                <a:latin typeface="Times New Roman" panose="02020603050405020304" charset="0"/>
              </a:rPr>
              <a:t> </a:t>
            </a:r>
            <a:r>
              <a:rPr lang="en-US" sz="2400" b="0" dirty="0" err="1">
                <a:latin typeface="Times New Roman" panose="02020603050405020304" charset="0"/>
              </a:rPr>
              <a:t>гораздо</a:t>
            </a:r>
            <a:r>
              <a:rPr lang="en-US" sz="2400" b="0" dirty="0">
                <a:latin typeface="Times New Roman" panose="02020603050405020304" charset="0"/>
              </a:rPr>
              <a:t> </a:t>
            </a:r>
            <a:r>
              <a:rPr lang="en-US" sz="2400" b="0" dirty="0" err="1">
                <a:latin typeface="Times New Roman" panose="02020603050405020304" charset="0"/>
              </a:rPr>
              <a:t>быстрее</a:t>
            </a:r>
            <a:r>
              <a:rPr lang="en-US" sz="2400" b="0" dirty="0">
                <a:latin typeface="Times New Roman" panose="02020603050405020304" charset="0"/>
              </a:rPr>
              <a:t> и </a:t>
            </a:r>
            <a:r>
              <a:rPr lang="en-US" sz="2400" b="0" dirty="0" err="1">
                <a:latin typeface="Times New Roman" panose="02020603050405020304" charset="0"/>
              </a:rPr>
              <a:t>короче</a:t>
            </a:r>
            <a:r>
              <a:rPr lang="en-US" sz="2400" b="0" dirty="0">
                <a:latin typeface="Times New Roman" panose="02020603050405020304" charset="0"/>
              </a:rPr>
              <a:t>.</a:t>
            </a:r>
            <a:endParaRPr lang="en-US" sz="2400" b="0" dirty="0">
              <a:latin typeface="Times New Roman" panose="02020603050405020304" charset="0"/>
            </a:endParaRPr>
          </a:p>
          <a:p>
            <a:pPr indent="0" algn="just"/>
            <a:endParaRPr lang="en-US" sz="2400" dirty="0">
              <a:latin typeface="Times New Roman" panose="02020603050405020304" charset="0"/>
            </a:endParaRPr>
          </a:p>
          <a:p>
            <a:pPr indent="0" algn="just"/>
            <a:r>
              <a:rPr lang="zh-CN" altLang="en-US" sz="2400" dirty="0"/>
              <a:t>让我们比较使用纯</a:t>
            </a:r>
            <a:r>
              <a:rPr lang="en-US" altLang="zh-CN" sz="2400" dirty="0"/>
              <a:t>JavaScript</a:t>
            </a:r>
            <a:r>
              <a:rPr lang="zh-CN" altLang="en-US" sz="2400" dirty="0"/>
              <a:t>和</a:t>
            </a:r>
            <a:r>
              <a:rPr lang="en-US" altLang="zh-CN" sz="2400" dirty="0"/>
              <a:t>jQuery</a:t>
            </a:r>
            <a:r>
              <a:rPr lang="zh-CN" altLang="en-US" sz="2400" dirty="0"/>
              <a:t>编写的简单“</a:t>
            </a:r>
            <a:r>
              <a:rPr lang="en-US" altLang="zh-CN" sz="2400" dirty="0"/>
              <a:t>Hello, World”</a:t>
            </a:r>
            <a:r>
              <a:rPr lang="zh-CN" altLang="en-US" sz="2400" dirty="0"/>
              <a:t>应用程序的代码。正如你可能注意到的那样，</a:t>
            </a:r>
            <a:r>
              <a:rPr lang="en-US" altLang="zh-CN" sz="2400" dirty="0"/>
              <a:t>jQuery</a:t>
            </a:r>
            <a:r>
              <a:rPr lang="zh-CN" altLang="en-US" sz="2400" dirty="0"/>
              <a:t>使得实现相同结果变得更加迅速和简短。</a:t>
            </a:r>
            <a:endParaRPr lang="en-US" sz="2400" dirty="0"/>
          </a:p>
        </p:txBody>
      </p:sp>
      <p:sp>
        <p:nvSpPr>
          <p:cNvPr id="2" name="Text Box 1"/>
          <p:cNvSpPr txBox="1"/>
          <p:nvPr/>
        </p:nvSpPr>
        <p:spPr>
          <a:xfrm>
            <a:off x="2045970" y="3768725"/>
            <a:ext cx="7797165" cy="1630045"/>
          </a:xfrm>
          <a:prstGeom prst="rect">
            <a:avLst/>
          </a:prstGeom>
          <a:noFill/>
          <a:ln w="9525">
            <a:noFill/>
          </a:ln>
        </p:spPr>
        <p:txBody>
          <a:bodyPr wrap="square">
            <a:spAutoFit/>
          </a:bodyPr>
          <a:lstStyle/>
          <a:p>
            <a:pPr marL="0" indent="0"/>
            <a:r>
              <a:rPr lang="en-US" sz="2000" b="0">
                <a:solidFill>
                  <a:srgbClr val="008000"/>
                </a:solidFill>
                <a:latin typeface="Consolas" charset="0"/>
              </a:rPr>
              <a:t>// JavaScript</a:t>
            </a:r>
            <a:endParaRPr lang="en-US" sz="2000" b="0">
              <a:solidFill>
                <a:srgbClr val="001080"/>
              </a:solidFill>
              <a:latin typeface="Consolas" charset="0"/>
            </a:endParaRPr>
          </a:p>
          <a:p>
            <a:pPr marL="0" indent="0"/>
            <a:r>
              <a:rPr lang="en-US" sz="2000" b="0">
                <a:solidFill>
                  <a:srgbClr val="001080"/>
                </a:solidFill>
                <a:latin typeface="Consolas" charset="0"/>
              </a:rPr>
              <a:t>document</a:t>
            </a:r>
            <a:r>
              <a:rPr lang="en-US" sz="2000" b="0">
                <a:solidFill>
                  <a:srgbClr val="000000"/>
                </a:solidFill>
                <a:latin typeface="Consolas" charset="0"/>
              </a:rPr>
              <a:t>.</a:t>
            </a:r>
            <a:r>
              <a:rPr lang="en-US" sz="2000" b="0">
                <a:solidFill>
                  <a:srgbClr val="795E26"/>
                </a:solidFill>
                <a:latin typeface="Consolas" charset="0"/>
              </a:rPr>
              <a:t>getElementById</a:t>
            </a:r>
            <a:r>
              <a:rPr lang="en-US" sz="2000" b="0">
                <a:solidFill>
                  <a:srgbClr val="000000"/>
                </a:solidFill>
                <a:latin typeface="Consolas" charset="0"/>
              </a:rPr>
              <a:t>(</a:t>
            </a:r>
            <a:r>
              <a:rPr lang="en-US" sz="2000" b="0">
                <a:solidFill>
                  <a:srgbClr val="A31515"/>
                </a:solidFill>
                <a:latin typeface="Consolas" charset="0"/>
              </a:rPr>
              <a:t>"demo"</a:t>
            </a:r>
            <a:r>
              <a:rPr lang="en-US" sz="2000" b="0">
                <a:solidFill>
                  <a:srgbClr val="000000"/>
                </a:solidFill>
                <a:latin typeface="Consolas" charset="0"/>
              </a:rPr>
              <a:t>).</a:t>
            </a:r>
            <a:r>
              <a:rPr lang="en-US" sz="2000" b="0">
                <a:solidFill>
                  <a:srgbClr val="001080"/>
                </a:solidFill>
                <a:latin typeface="Consolas" charset="0"/>
              </a:rPr>
              <a:t>innerHTML</a:t>
            </a:r>
            <a:r>
              <a:rPr lang="en-US" sz="2000" b="0">
                <a:solidFill>
                  <a:srgbClr val="000000"/>
                </a:solidFill>
                <a:latin typeface="Consolas" charset="0"/>
              </a:rPr>
              <a:t> = </a:t>
            </a:r>
            <a:r>
              <a:rPr lang="en-US" sz="2000" b="0">
                <a:solidFill>
                  <a:srgbClr val="A31515"/>
                </a:solidFill>
                <a:latin typeface="Consolas" charset="0"/>
              </a:rPr>
              <a:t>"Hello World!"</a:t>
            </a:r>
            <a:r>
              <a:rPr lang="en-US" sz="2000" b="0">
                <a:solidFill>
                  <a:srgbClr val="000000"/>
                </a:solidFill>
                <a:latin typeface="Consolas" charset="0"/>
              </a:rPr>
              <a:t>;</a:t>
            </a:r>
            <a:endParaRPr lang="en-US" sz="2000" b="0">
              <a:solidFill>
                <a:srgbClr val="000000"/>
              </a:solidFill>
              <a:latin typeface="Consolas" charset="0"/>
            </a:endParaRPr>
          </a:p>
          <a:p>
            <a:pPr marL="0" indent="0"/>
            <a:r>
              <a:rPr lang="en-US" sz="2000" b="0">
                <a:solidFill>
                  <a:srgbClr val="000000"/>
                </a:solidFill>
                <a:latin typeface="Consolas" charset="0"/>
              </a:rPr>
              <a:t> </a:t>
            </a:r>
            <a:endParaRPr lang="en-US" sz="2000" b="0">
              <a:solidFill>
                <a:srgbClr val="008000"/>
              </a:solidFill>
              <a:latin typeface="Consolas" charset="0"/>
            </a:endParaRPr>
          </a:p>
          <a:p>
            <a:pPr marL="0" indent="0"/>
            <a:r>
              <a:rPr lang="en-US" sz="2000" b="0">
                <a:solidFill>
                  <a:srgbClr val="008000"/>
                </a:solidFill>
                <a:latin typeface="Consolas" charset="0"/>
              </a:rPr>
              <a:t>// jQuery</a:t>
            </a:r>
            <a:endParaRPr lang="en-US" sz="2000" b="0">
              <a:solidFill>
                <a:srgbClr val="795E26"/>
              </a:solidFill>
              <a:latin typeface="Consolas" charset="0"/>
            </a:endParaRPr>
          </a:p>
          <a:p>
            <a:pPr marL="0" indent="0"/>
            <a:r>
              <a:rPr lang="en-US" sz="2000" b="0">
                <a:solidFill>
                  <a:srgbClr val="795E26"/>
                </a:solidFill>
                <a:latin typeface="Consolas" charset="0"/>
              </a:rPr>
              <a:t>$</a:t>
            </a:r>
            <a:r>
              <a:rPr lang="en-US" sz="2000" b="0">
                <a:solidFill>
                  <a:srgbClr val="000000"/>
                </a:solidFill>
                <a:latin typeface="Consolas" charset="0"/>
              </a:rPr>
              <a:t>(</a:t>
            </a:r>
            <a:r>
              <a:rPr lang="en-US" sz="2000" b="0">
                <a:solidFill>
                  <a:srgbClr val="A31515"/>
                </a:solidFill>
                <a:latin typeface="Consolas" charset="0"/>
              </a:rPr>
              <a:t>"#demo"</a:t>
            </a:r>
            <a:r>
              <a:rPr lang="en-US" sz="2000" b="0">
                <a:solidFill>
                  <a:srgbClr val="000000"/>
                </a:solidFill>
                <a:latin typeface="Consolas" charset="0"/>
              </a:rPr>
              <a:t>).</a:t>
            </a:r>
            <a:r>
              <a:rPr lang="en-US" sz="2000" b="0">
                <a:solidFill>
                  <a:srgbClr val="795E26"/>
                </a:solidFill>
                <a:latin typeface="Consolas" charset="0"/>
              </a:rPr>
              <a:t>html</a:t>
            </a:r>
            <a:r>
              <a:rPr lang="en-US" sz="2000" b="0">
                <a:solidFill>
                  <a:srgbClr val="000000"/>
                </a:solidFill>
                <a:latin typeface="Consolas" charset="0"/>
              </a:rPr>
              <a:t>(</a:t>
            </a:r>
            <a:r>
              <a:rPr lang="en-US" sz="2000" b="0">
                <a:solidFill>
                  <a:srgbClr val="A31515"/>
                </a:solidFill>
                <a:latin typeface="Consolas" charset="0"/>
              </a:rPr>
              <a:t>"Hello World!"</a:t>
            </a:r>
            <a:r>
              <a:rPr lang="en-US" sz="2000" b="0">
                <a:solidFill>
                  <a:srgbClr val="000000"/>
                </a:solidFill>
                <a:latin typeface="Consolas" charset="0"/>
              </a:rPr>
              <a:t>);</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89000" y="711835"/>
            <a:ext cx="10659110" cy="5262979"/>
          </a:xfrm>
          <a:prstGeom prst="rect">
            <a:avLst/>
          </a:prstGeom>
          <a:noFill/>
          <a:ln w="9525">
            <a:noFill/>
          </a:ln>
        </p:spPr>
        <p:txBody>
          <a:bodyPr wrap="square">
            <a:spAutoFit/>
          </a:bodyPr>
          <a:lstStyle/>
          <a:p>
            <a:pPr marL="0" indent="12700" algn="just"/>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работы</a:t>
            </a:r>
            <a:r>
              <a:rPr lang="en-US" sz="2400" b="0" dirty="0">
                <a:latin typeface="Times New Roman" panose="02020603050405020304" charset="0"/>
              </a:rPr>
              <a:t> с </a:t>
            </a:r>
            <a:r>
              <a:rPr lang="en-US" sz="2400" b="0" i="1" dirty="0">
                <a:latin typeface="Times New Roman" panose="02020603050405020304" charset="0"/>
              </a:rPr>
              <a:t>jQuery </a:t>
            </a:r>
            <a:r>
              <a:rPr lang="en-US" sz="2400" b="0" dirty="0" err="1">
                <a:latin typeface="Times New Roman" panose="02020603050405020304" charset="0"/>
              </a:rPr>
              <a:t>разработчик</a:t>
            </a:r>
            <a:r>
              <a:rPr lang="en-US" sz="2400" b="0" dirty="0">
                <a:latin typeface="Times New Roman" panose="02020603050405020304" charset="0"/>
              </a:rPr>
              <a:t> </a:t>
            </a:r>
            <a:r>
              <a:rPr lang="en-US" sz="2400" b="0" dirty="0" err="1">
                <a:latin typeface="Times New Roman" panose="02020603050405020304" charset="0"/>
              </a:rPr>
              <a:t>должен</a:t>
            </a:r>
            <a:r>
              <a:rPr lang="en-US" sz="2400" b="0" dirty="0">
                <a:latin typeface="Times New Roman" panose="02020603050405020304" charset="0"/>
              </a:rPr>
              <a:t> </a:t>
            </a:r>
            <a:r>
              <a:rPr lang="en-US" sz="2400" b="0" dirty="0" err="1">
                <a:latin typeface="Times New Roman" panose="02020603050405020304" charset="0"/>
              </a:rPr>
              <a:t>знать</a:t>
            </a:r>
            <a:r>
              <a:rPr lang="en-US" sz="2400" b="0" dirty="0">
                <a:latin typeface="Times New Roman" panose="02020603050405020304" charset="0"/>
              </a:rPr>
              <a:t>:</a:t>
            </a:r>
            <a:endParaRPr lang="en-US" sz="2400" b="0" dirty="0">
              <a:latin typeface="Times New Roman" panose="02020603050405020304" charset="0"/>
            </a:endParaRPr>
          </a:p>
          <a:p>
            <a:pPr marL="0" indent="12700" algn="just"/>
            <a:r>
              <a:rPr lang="zh-CN" altLang="en-US" sz="2400" b="0" i="0" dirty="0">
                <a:solidFill>
                  <a:srgbClr val="0F0F0F"/>
                </a:solidFill>
                <a:effectLst/>
                <a:latin typeface="Söhne"/>
              </a:rPr>
              <a:t>为了使用</a:t>
            </a:r>
            <a:r>
              <a:rPr lang="en-US" altLang="zh-CN" sz="2400" b="0" i="0" dirty="0">
                <a:solidFill>
                  <a:srgbClr val="0F0F0F"/>
                </a:solidFill>
                <a:effectLst/>
                <a:latin typeface="Söhne"/>
              </a:rPr>
              <a:t>jQuery</a:t>
            </a:r>
            <a:r>
              <a:rPr lang="zh-CN" altLang="en-US" sz="2400" b="0" i="0" dirty="0">
                <a:solidFill>
                  <a:srgbClr val="0F0F0F"/>
                </a:solidFill>
                <a:effectLst/>
                <a:latin typeface="Söhne"/>
              </a:rPr>
              <a:t>，开发者应该了解以下基本知识：</a:t>
            </a:r>
            <a:endParaRPr lang="en-US" sz="2400" b="0" dirty="0">
              <a:solidFill>
                <a:srgbClr val="000000"/>
              </a:solidFill>
              <a:latin typeface="Times New Roman" panose="02020603050405020304" charset="0"/>
            </a:endParaRPr>
          </a:p>
          <a:p>
            <a:pPr marL="0" indent="12700" algn="just"/>
            <a:endParaRPr lang="en-US" sz="2400" b="0" dirty="0">
              <a:solidFill>
                <a:srgbClr val="000000"/>
              </a:solidFill>
              <a:latin typeface="Times New Roman" panose="02020603050405020304" charset="0"/>
            </a:endParaRPr>
          </a:p>
          <a:p>
            <a:pPr marL="342900" indent="-342900" algn="just">
              <a:buFont typeface="Wingdings" panose="05000000000000000000" charset="0"/>
              <a:buChar char=""/>
            </a:pPr>
            <a:r>
              <a:rPr lang="en-US" sz="2400" b="0" dirty="0" err="1">
                <a:solidFill>
                  <a:srgbClr val="000000"/>
                </a:solidFill>
                <a:latin typeface="Times New Roman" panose="02020603050405020304" charset="0"/>
              </a:rPr>
              <a:t>Базовые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работы</a:t>
            </a:r>
            <a:r>
              <a:rPr lang="en-US" sz="2400" b="0" dirty="0">
                <a:solidFill>
                  <a:srgbClr val="000000"/>
                </a:solidFill>
                <a:latin typeface="Times New Roman" panose="02020603050405020304" charset="0"/>
              </a:rPr>
              <a:t> с </a:t>
            </a:r>
            <a:r>
              <a:rPr lang="en-US" sz="2400" b="0" i="1" dirty="0">
                <a:solidFill>
                  <a:srgbClr val="000000"/>
                </a:solidFill>
                <a:latin typeface="Times New Roman" panose="02020603050405020304" charset="0"/>
              </a:rPr>
              <a:t>HTML</a:t>
            </a:r>
            <a:r>
              <a:rPr lang="en-US" sz="2400" b="0" dirty="0">
                <a:solidFill>
                  <a:srgbClr val="000000"/>
                </a:solidFill>
                <a:latin typeface="Times New Roman" panose="02020603050405020304" charset="0"/>
              </a:rPr>
              <a:t> и </a:t>
            </a:r>
            <a:r>
              <a:rPr lang="en-US" sz="2400" b="0" i="1" dirty="0">
                <a:solidFill>
                  <a:srgbClr val="000000"/>
                </a:solidFill>
                <a:latin typeface="Times New Roman" panose="02020603050405020304" charset="0"/>
              </a:rPr>
              <a:t>CSS</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Разработчик</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должен</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уметь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настроить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простой</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веб-сайт</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понимать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работу</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базовых</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селекторов</a:t>
            </a:r>
            <a:r>
              <a:rPr lang="en-US" sz="2400" b="0" dirty="0">
                <a:solidFill>
                  <a:srgbClr val="000000"/>
                </a:solidFill>
                <a:latin typeface="Times New Roman" panose="02020603050405020304" charset="0"/>
              </a:rPr>
              <a:t> CSS.</a:t>
            </a:r>
            <a:endParaRPr lang="en-US" sz="2400" b="0" dirty="0">
              <a:solidFill>
                <a:srgbClr val="000000"/>
              </a:solidFill>
              <a:latin typeface="Times New Roman" panose="02020603050405020304" charset="0"/>
            </a:endParaRPr>
          </a:p>
          <a:p>
            <a:pPr marL="0" indent="12700" algn="just"/>
            <a:r>
              <a:rPr lang="zh-CN" altLang="en-US" sz="2400" b="0" i="0" dirty="0">
                <a:solidFill>
                  <a:srgbClr val="0F0F0F"/>
                </a:solidFill>
                <a:effectLst/>
                <a:latin typeface="Söhne"/>
              </a:rPr>
              <a:t>基本的</a:t>
            </a:r>
            <a:r>
              <a:rPr lang="en-US" altLang="zh-CN" sz="2400" b="0" i="0" dirty="0">
                <a:solidFill>
                  <a:srgbClr val="0F0F0F"/>
                </a:solidFill>
                <a:effectLst/>
                <a:latin typeface="Söhne"/>
              </a:rPr>
              <a:t>HTML</a:t>
            </a:r>
            <a:r>
              <a:rPr lang="zh-CN" altLang="en-US" sz="2400" b="0" i="0" dirty="0">
                <a:solidFill>
                  <a:srgbClr val="0F0F0F"/>
                </a:solidFill>
                <a:effectLst/>
                <a:latin typeface="Söhne"/>
              </a:rPr>
              <a:t>和</a:t>
            </a:r>
            <a:r>
              <a:rPr lang="en-US" altLang="zh-CN" sz="2400" b="0" i="0" dirty="0">
                <a:solidFill>
                  <a:srgbClr val="0F0F0F"/>
                </a:solidFill>
                <a:effectLst/>
                <a:latin typeface="Söhne"/>
              </a:rPr>
              <a:t>CSS</a:t>
            </a:r>
            <a:r>
              <a:rPr lang="zh-CN" altLang="en-US" sz="2400" b="0" i="0" dirty="0">
                <a:solidFill>
                  <a:srgbClr val="0F0F0F"/>
                </a:solidFill>
                <a:effectLst/>
                <a:latin typeface="Söhne"/>
              </a:rPr>
              <a:t>操作技能。开发者需要能够设置简单的网站并理解基本的</a:t>
            </a:r>
            <a:r>
              <a:rPr lang="en-US" altLang="zh-CN" sz="2400" b="0" i="0" dirty="0">
                <a:solidFill>
                  <a:srgbClr val="0F0F0F"/>
                </a:solidFill>
                <a:effectLst/>
                <a:latin typeface="Söhne"/>
              </a:rPr>
              <a:t>CSS</a:t>
            </a:r>
            <a:r>
              <a:rPr lang="zh-CN" altLang="en-US" sz="2400" b="0" i="0" dirty="0">
                <a:solidFill>
                  <a:srgbClr val="0F0F0F"/>
                </a:solidFill>
                <a:effectLst/>
                <a:latin typeface="Söhne"/>
              </a:rPr>
              <a:t>选择器的工作原理。</a:t>
            </a:r>
            <a:endParaRPr lang="en-US" sz="2400" b="0" dirty="0">
              <a:solidFill>
                <a:srgbClr val="000000"/>
              </a:solidFill>
              <a:latin typeface="Times New Roman" panose="02020603050405020304" charset="0"/>
            </a:endParaRPr>
          </a:p>
          <a:p>
            <a:pPr marL="0" indent="12700" algn="just"/>
            <a:endParaRPr lang="en-US" sz="2400" b="0" dirty="0">
              <a:solidFill>
                <a:srgbClr val="000000"/>
              </a:solidFill>
              <a:latin typeface="Times New Roman" panose="02020603050405020304" charset="0"/>
            </a:endParaRPr>
          </a:p>
          <a:p>
            <a:pPr marL="342900" indent="-342900" algn="just">
              <a:buFont typeface="Wingdings" panose="05000000000000000000" charset="0"/>
              <a:buChar char=""/>
            </a:pPr>
            <a:r>
              <a:rPr lang="en-US" sz="2400" b="0" dirty="0" err="1">
                <a:solidFill>
                  <a:srgbClr val="000000"/>
                </a:solidFill>
                <a:latin typeface="Times New Roman" panose="02020603050405020304" charset="0"/>
              </a:rPr>
              <a:t>Базовые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программирования</a:t>
            </a:r>
            <a:r>
              <a:rPr lang="en-US" sz="2400" b="0" dirty="0">
                <a:solidFill>
                  <a:srgbClr val="000000"/>
                </a:solidFill>
                <a:latin typeface="Times New Roman" panose="02020603050405020304" charset="0"/>
              </a:rPr>
              <a:t>. В </a:t>
            </a:r>
            <a:r>
              <a:rPr lang="en-US" sz="2400" b="0" dirty="0" err="1">
                <a:solidFill>
                  <a:srgbClr val="000000"/>
                </a:solidFill>
                <a:latin typeface="Times New Roman" panose="02020603050405020304" charset="0"/>
              </a:rPr>
              <a:t>целом</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разработчик</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может</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работать</a:t>
            </a:r>
            <a:r>
              <a:rPr lang="en-US" sz="2400" b="0" dirty="0">
                <a:solidFill>
                  <a:srgbClr val="000000"/>
                </a:solidFill>
                <a:latin typeface="Times New Roman" panose="02020603050405020304" charset="0"/>
              </a:rPr>
              <a:t> с </a:t>
            </a:r>
            <a:r>
              <a:rPr lang="en-US" sz="2400" b="0" i="1" dirty="0">
                <a:solidFill>
                  <a:srgbClr val="000000"/>
                </a:solidFill>
                <a:latin typeface="Times New Roman" panose="02020603050405020304" charset="0"/>
              </a:rPr>
              <a:t>jQuery</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зная</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основ</a:t>
            </a:r>
            <a:r>
              <a:rPr lang="en-US" sz="2400" b="0" dirty="0">
                <a:solidFill>
                  <a:srgbClr val="000000"/>
                </a:solidFill>
                <a:latin typeface="Times New Roman" panose="02020603050405020304" charset="0"/>
              </a:rPr>
              <a:t> </a:t>
            </a:r>
            <a:r>
              <a:rPr lang="en-US" sz="2400" b="0" i="1" dirty="0">
                <a:solidFill>
                  <a:srgbClr val="000000"/>
                </a:solidFill>
                <a:latin typeface="Times New Roman" panose="02020603050405020304" charset="0"/>
              </a:rPr>
              <a:t>JavaScript</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но</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понимание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переменных</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типов</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данных</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в </a:t>
            </a:r>
            <a:r>
              <a:rPr lang="en-US" sz="2400" b="0" dirty="0" err="1">
                <a:solidFill>
                  <a:srgbClr val="000000"/>
                </a:solidFill>
                <a:latin typeface="Times New Roman" panose="02020603050405020304" charset="0"/>
              </a:rPr>
              <a:t>математике</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логике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очень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облегчат</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ему</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жизнь</a:t>
            </a:r>
            <a:r>
              <a:rPr lang="en-US" sz="2400" b="0" dirty="0">
                <a:solidFill>
                  <a:srgbClr val="000000"/>
                </a:solidFill>
                <a:latin typeface="Times New Roman" panose="02020603050405020304" charset="0"/>
              </a:rPr>
              <a:t>. </a:t>
            </a:r>
            <a:endParaRPr lang="en-US" sz="2400" dirty="0">
              <a:solidFill>
                <a:srgbClr val="000000"/>
              </a:solidFill>
              <a:latin typeface="Times New Roman" panose="02020603050405020304" charset="0"/>
            </a:endParaRPr>
          </a:p>
          <a:p>
            <a:pPr algn="just"/>
            <a:r>
              <a:rPr lang="zh-CN" altLang="en-US" sz="2400" b="0" i="0" dirty="0">
                <a:solidFill>
                  <a:srgbClr val="0F0F0F"/>
                </a:solidFill>
                <a:effectLst/>
                <a:latin typeface="Söhne"/>
              </a:rPr>
              <a:t>基本的编程技能。总体而言，开发者可以使用</a:t>
            </a:r>
            <a:r>
              <a:rPr lang="en-US" altLang="zh-CN" sz="2400" b="0" i="0" dirty="0">
                <a:solidFill>
                  <a:srgbClr val="0F0F0F"/>
                </a:solidFill>
                <a:effectLst/>
                <a:latin typeface="Söhne"/>
              </a:rPr>
              <a:t>jQuery</a:t>
            </a:r>
            <a:r>
              <a:rPr lang="zh-CN" altLang="en-US" sz="2400" b="0" i="0" dirty="0">
                <a:solidFill>
                  <a:srgbClr val="0F0F0F"/>
                </a:solidFill>
                <a:effectLst/>
                <a:latin typeface="Söhne"/>
              </a:rPr>
              <a:t>而不了解</a:t>
            </a:r>
            <a:r>
              <a:rPr lang="en-US" altLang="zh-CN" sz="2400" b="0" i="0" dirty="0">
                <a:solidFill>
                  <a:srgbClr val="0F0F0F"/>
                </a:solidFill>
                <a:effectLst/>
                <a:latin typeface="Söhne"/>
              </a:rPr>
              <a:t>JavaScript</a:t>
            </a:r>
            <a:r>
              <a:rPr lang="zh-CN" altLang="en-US" sz="2400" b="0" i="0" dirty="0">
                <a:solidFill>
                  <a:srgbClr val="0F0F0F"/>
                </a:solidFill>
                <a:effectLst/>
                <a:latin typeface="Söhne"/>
              </a:rPr>
              <a:t>的基础知识，但是理解变量和数据类型，以及在数学和逻辑方面的技能将使他们的工作更加轻松。</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80695" y="873125"/>
            <a:ext cx="11024235" cy="5262979"/>
          </a:xfrm>
          <a:prstGeom prst="rect">
            <a:avLst/>
          </a:prstGeom>
          <a:noFill/>
          <a:ln w="9525">
            <a:noFill/>
          </a:ln>
        </p:spPr>
        <p:txBody>
          <a:bodyPr wrap="square">
            <a:spAutoFit/>
          </a:bodyPr>
          <a:lstStyle/>
          <a:p>
            <a:pPr marL="0" indent="12700" algn="just"/>
            <a:r>
              <a:rPr lang="ru-RU" alt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Поговорим</a:t>
            </a:r>
            <a:r>
              <a:rPr lang="en-US" sz="2400" b="0" dirty="0">
                <a:latin typeface="Times New Roman Regular" panose="02020603050405020304" charset="0"/>
                <a:cs typeface="Times New Roman Regular" panose="02020603050405020304" charset="0"/>
              </a:rPr>
              <a:t> о</a:t>
            </a:r>
            <a:r>
              <a:rPr lang="ru-RU" altLang="en-US" sz="2400" b="0" dirty="0">
                <a:latin typeface="Times New Roman Regular" panose="02020603050405020304" charset="0"/>
                <a:cs typeface="Times New Roman Regular" panose="02020603050405020304" charset="0"/>
              </a:rPr>
              <a:t>б</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установке</a:t>
            </a:r>
            <a:r>
              <a:rPr lang="en-US" sz="2400" b="0" dirty="0">
                <a:latin typeface="Times New Roman Regular" panose="02020603050405020304" charset="0"/>
                <a:cs typeface="Times New Roman Regular" panose="02020603050405020304" charset="0"/>
              </a:rPr>
              <a:t> и </a:t>
            </a:r>
            <a:r>
              <a:rPr lang="en-US" sz="2400" b="0" dirty="0" err="1">
                <a:latin typeface="Times New Roman Regular" panose="02020603050405020304" charset="0"/>
                <a:cs typeface="Times New Roman Regular" panose="02020603050405020304" charset="0"/>
              </a:rPr>
              <a:t>настройке</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библиотеки</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 </a:t>
            </a:r>
            <a:r>
              <a:rPr lang="en-US" sz="2400" b="0" dirty="0" err="1">
                <a:latin typeface="Times New Roman Regular" panose="02020603050405020304" charset="0"/>
                <a:cs typeface="Times New Roman Regular" panose="02020603050405020304" charset="0"/>
              </a:rPr>
              <a:t>это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файл</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JavaScript</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на</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который</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можно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сослаться</a:t>
            </a:r>
            <a:r>
              <a:rPr lang="en-US" sz="2400" b="0" dirty="0">
                <a:latin typeface="Times New Roman Regular" panose="02020603050405020304" charset="0"/>
                <a:cs typeface="Times New Roman Regular" panose="02020603050405020304" charset="0"/>
              </a:rPr>
              <a:t> в </a:t>
            </a:r>
            <a:r>
              <a:rPr lang="en-US" sz="2400" b="0" i="1" dirty="0">
                <a:latin typeface="Times New Roman Regular" panose="02020603050405020304" charset="0"/>
                <a:cs typeface="Times New Roman Regular" panose="02020603050405020304" charset="0"/>
              </a:rPr>
              <a:t>HTML</a:t>
            </a:r>
            <a:r>
              <a:rPr lang="en-US" sz="2400" b="0" dirty="0">
                <a:latin typeface="Times New Roman Regular" panose="02020603050405020304" charset="0"/>
                <a:cs typeface="Times New Roman Regular" panose="02020603050405020304" charset="0"/>
              </a:rPr>
              <a:t>-</a:t>
            </a:r>
            <a:r>
              <a:rPr lang="en-US" sz="2400" b="0" dirty="0" err="1">
                <a:latin typeface="Times New Roman Regular" panose="02020603050405020304" charset="0"/>
                <a:cs typeface="Times New Roman Regular" panose="02020603050405020304" charset="0"/>
              </a:rPr>
              <a:t>файле</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Добавить</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в </a:t>
            </a:r>
            <a:r>
              <a:rPr lang="en-US" sz="2400" b="0" dirty="0" err="1">
                <a:latin typeface="Times New Roman Regular" panose="02020603050405020304" charset="0"/>
                <a:cs typeface="Times New Roman Regular" panose="02020603050405020304" charset="0"/>
              </a:rPr>
              <a:t>проект</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можно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двумя</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способами</a:t>
            </a:r>
            <a:r>
              <a:rPr lang="en-US" sz="2400" b="0" dirty="0">
                <a:latin typeface="Times New Roman Regular" panose="02020603050405020304" charset="0"/>
                <a:cs typeface="Times New Roman Regular" panose="02020603050405020304" charset="0"/>
              </a:rPr>
              <a:t>:</a:t>
            </a:r>
            <a:endParaRPr lang="en-US" sz="2400" b="0" dirty="0">
              <a:latin typeface="Times New Roman Regular" panose="02020603050405020304" charset="0"/>
              <a:cs typeface="Times New Roman Regular" panose="02020603050405020304" charset="0"/>
            </a:endParaRPr>
          </a:p>
          <a:p>
            <a:pPr marL="0" indent="450215" algn="just"/>
            <a:r>
              <a:rPr lang="zh-CN" altLang="en-US" sz="2400" b="0" i="0" dirty="0">
                <a:solidFill>
                  <a:srgbClr val="0F0F0F"/>
                </a:solidFill>
                <a:effectLst/>
                <a:latin typeface="Söhne"/>
              </a:rPr>
              <a:t>让我们讨论一下如何安装和配置</a:t>
            </a:r>
            <a:r>
              <a:rPr lang="en-US" altLang="zh-CN" sz="2400" b="0" i="0" dirty="0">
                <a:solidFill>
                  <a:srgbClr val="0F0F0F"/>
                </a:solidFill>
                <a:effectLst/>
                <a:latin typeface="Söhne"/>
              </a:rPr>
              <a:t>jQuery</a:t>
            </a:r>
            <a:r>
              <a:rPr lang="zh-CN" altLang="en-US" sz="2400" b="0" i="0" dirty="0">
                <a:solidFill>
                  <a:srgbClr val="0F0F0F"/>
                </a:solidFill>
                <a:effectLst/>
                <a:latin typeface="Söhne"/>
              </a:rPr>
              <a:t>库。</a:t>
            </a:r>
            <a:r>
              <a:rPr lang="en-US" altLang="zh-CN" sz="2400" b="0" i="0" dirty="0">
                <a:solidFill>
                  <a:srgbClr val="0F0F0F"/>
                </a:solidFill>
                <a:effectLst/>
                <a:latin typeface="Söhne"/>
              </a:rPr>
              <a:t>jQuery</a:t>
            </a:r>
            <a:r>
              <a:rPr lang="zh-CN" altLang="en-US" sz="2400" b="0" i="0" dirty="0">
                <a:solidFill>
                  <a:srgbClr val="0F0F0F"/>
                </a:solidFill>
                <a:effectLst/>
                <a:latin typeface="Söhne"/>
              </a:rPr>
              <a:t>是一个</a:t>
            </a:r>
            <a:r>
              <a:rPr lang="en-US" altLang="zh-CN" sz="2400" b="0" i="0" dirty="0">
                <a:solidFill>
                  <a:srgbClr val="0F0F0F"/>
                </a:solidFill>
                <a:effectLst/>
                <a:latin typeface="Söhne"/>
              </a:rPr>
              <a:t>JavaScript</a:t>
            </a:r>
            <a:r>
              <a:rPr lang="zh-CN" altLang="en-US" sz="2400" b="0" i="0" dirty="0">
                <a:solidFill>
                  <a:srgbClr val="0F0F0F"/>
                </a:solidFill>
                <a:effectLst/>
                <a:latin typeface="Söhne"/>
              </a:rPr>
              <a:t>文件，可以在</a:t>
            </a:r>
            <a:r>
              <a:rPr lang="en-US" altLang="zh-CN" sz="2400" b="0" i="0" dirty="0">
                <a:solidFill>
                  <a:srgbClr val="0F0F0F"/>
                </a:solidFill>
                <a:effectLst/>
                <a:latin typeface="Söhne"/>
              </a:rPr>
              <a:t>HTML</a:t>
            </a:r>
            <a:r>
              <a:rPr lang="zh-CN" altLang="en-US" sz="2400" b="0" i="0" dirty="0">
                <a:solidFill>
                  <a:srgbClr val="0F0F0F"/>
                </a:solidFill>
                <a:effectLst/>
                <a:latin typeface="Söhne"/>
              </a:rPr>
              <a:t>文件中进行引用。有两种方式将</a:t>
            </a:r>
            <a:r>
              <a:rPr lang="en-US" altLang="zh-CN" sz="2400" b="0" i="0" dirty="0">
                <a:solidFill>
                  <a:srgbClr val="0F0F0F"/>
                </a:solidFill>
                <a:effectLst/>
                <a:latin typeface="Söhne"/>
              </a:rPr>
              <a:t>jQuery</a:t>
            </a:r>
            <a:r>
              <a:rPr lang="zh-CN" altLang="en-US" sz="2400" b="0" i="0" dirty="0">
                <a:solidFill>
                  <a:srgbClr val="0F0F0F"/>
                </a:solidFill>
                <a:effectLst/>
                <a:latin typeface="Söhne"/>
              </a:rPr>
              <a:t>添加到项目中：</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endParaRPr lang="en-US" sz="2400" b="0" dirty="0">
              <a:solidFill>
                <a:srgbClr val="000000"/>
              </a:solidFill>
              <a:latin typeface="Times New Roman Regular" panose="02020603050405020304" charset="0"/>
              <a:cs typeface="Times New Roman Regular" panose="02020603050405020304" charset="0"/>
            </a:endParaRPr>
          </a:p>
          <a:p>
            <a:pPr marL="0" indent="450215"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загрузить</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локальную</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копию</a:t>
            </a:r>
            <a:r>
              <a:rPr lang="en-US" sz="2400" b="0" dirty="0">
                <a:solidFill>
                  <a:srgbClr val="000000"/>
                </a:solidFill>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下载本地副本；</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сослаться</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на</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файл</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через</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сеть</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доставки</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контента</a:t>
            </a:r>
            <a:r>
              <a:rPr lang="en-US" sz="2400" b="0" dirty="0">
                <a:solidFill>
                  <a:srgbClr val="000000"/>
                </a:solidFill>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通过内容分发网络引用文件。</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endParaRPr lang="en-US" sz="2400" dirty="0">
              <a:latin typeface="Times New Roman Regular" panose="02020603050405020304" charset="0"/>
              <a:cs typeface="Times New Roman Regular" panose="02020603050405020304" charset="0"/>
            </a:endParaRPr>
          </a:p>
          <a:p>
            <a:pPr marL="0" indent="450215" algn="just"/>
            <a:endParaRPr lang="en-US" sz="2400" dirty="0">
              <a:latin typeface="Times New Roman Regular" panose="02020603050405020304" charset="0"/>
              <a:cs typeface="Times New Roman Regular" panose="02020603050405020304" charset="0"/>
            </a:endParaRPr>
          </a:p>
          <a:p>
            <a:pPr marL="0" indent="12700"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Рассмотрим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варианта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чтобы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сами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могли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определить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лучше</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какой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вариант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выбирать</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будущем</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marL="0" indent="12700" algn="just"/>
            <a:r>
              <a:rPr lang="zh-CN" altLang="en-US" sz="2400" b="0" i="0" dirty="0">
                <a:solidFill>
                  <a:srgbClr val="0F0F0F"/>
                </a:solidFill>
                <a:effectLst/>
                <a:latin typeface="Söhne"/>
              </a:rPr>
              <a:t>我们将讨论这两种选项，以便您自己能够确定哪种更好，以及在将来应该选择哪种方式。</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66445" y="1291590"/>
            <a:ext cx="10659110" cy="1938992"/>
          </a:xfrm>
          <a:prstGeom prst="rect">
            <a:avLst/>
          </a:prstGeom>
          <a:noFill/>
          <a:ln w="9525">
            <a:noFill/>
          </a:ln>
        </p:spPr>
        <p:txBody>
          <a:bodyPr wrap="square">
            <a:spAutoFit/>
          </a:bodyPr>
          <a:lstStyle/>
          <a:p>
            <a:pPr marL="0" indent="450215" algn="just"/>
            <a:r>
              <a:rPr lang="en-US" sz="2400" b="1" dirty="0" err="1">
                <a:latin typeface="Times New Roman" panose="02020603050405020304" charset="0"/>
              </a:rPr>
              <a:t>Способ</a:t>
            </a:r>
            <a:r>
              <a:rPr lang="en-US" sz="2400" b="1" dirty="0">
                <a:latin typeface="Times New Roman" panose="02020603050405020304" charset="0"/>
              </a:rPr>
              <a:t> 1. </a:t>
            </a:r>
            <a:r>
              <a:rPr lang="en-US" sz="2400" b="1" dirty="0" err="1">
                <a:latin typeface="Times New Roman" panose="02020603050405020304" charset="0"/>
              </a:rPr>
              <a:t>Скачать</a:t>
            </a:r>
            <a:r>
              <a:rPr lang="en-US" sz="2400" b="1" dirty="0">
                <a:latin typeface="Times New Roman" panose="02020603050405020304" charset="0"/>
              </a:rPr>
              <a:t> в </a:t>
            </a:r>
            <a:r>
              <a:rPr lang="en-US" sz="2400" b="1" dirty="0" err="1">
                <a:latin typeface="Times New Roman" panose="02020603050405020304" charset="0"/>
              </a:rPr>
              <a:t>папку</a:t>
            </a:r>
            <a:r>
              <a:rPr lang="en-US" sz="2400" b="1" dirty="0">
                <a:latin typeface="Times New Roman" panose="02020603050405020304" charset="0"/>
              </a:rPr>
              <a:t> и </a:t>
            </a:r>
            <a:r>
              <a:rPr lang="en-US" sz="2400" b="1" dirty="0" err="1">
                <a:latin typeface="Times New Roman" panose="02020603050405020304" charset="0"/>
              </a:rPr>
              <a:t>подключить</a:t>
            </a:r>
            <a:r>
              <a:rPr lang="en-US" sz="2400" b="1" dirty="0">
                <a:latin typeface="Times New Roman" panose="02020603050405020304" charset="0"/>
              </a:rPr>
              <a:t> </a:t>
            </a:r>
            <a:r>
              <a:rPr lang="en-US" sz="2400" b="1" dirty="0" err="1">
                <a:latin typeface="Times New Roman" panose="02020603050405020304" charset="0"/>
              </a:rPr>
              <a:t>файл</a:t>
            </a:r>
            <a:r>
              <a:rPr lang="en-US" sz="2400" b="1" dirty="0">
                <a:latin typeface="Times New Roman" panose="02020603050405020304" charset="0"/>
              </a:rPr>
              <a:t>. </a:t>
            </a:r>
            <a:r>
              <a:rPr lang="en-US" sz="2400" b="0" dirty="0" err="1">
                <a:latin typeface="Times New Roman" panose="02020603050405020304" charset="0"/>
              </a:rPr>
              <a:t>Наиболее</a:t>
            </a:r>
            <a:r>
              <a:rPr lang="en-US" sz="2400" b="0" dirty="0">
                <a:latin typeface="Times New Roman" panose="02020603050405020304" charset="0"/>
              </a:rPr>
              <a:t> </a:t>
            </a:r>
            <a:r>
              <a:rPr lang="en-US" sz="2400" b="0" dirty="0" err="1">
                <a:latin typeface="Times New Roman" panose="02020603050405020304" charset="0"/>
              </a:rPr>
              <a:t>распространённый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если</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dirty="0" err="1">
                <a:latin typeface="Times New Roman" panose="02020603050405020304" charset="0"/>
              </a:rPr>
              <a:t>могут</a:t>
            </a:r>
            <a:r>
              <a:rPr lang="en-US" sz="2400" b="0" dirty="0">
                <a:latin typeface="Times New Roman" panose="02020603050405020304" charset="0"/>
              </a:rPr>
              <a:t> </a:t>
            </a:r>
            <a:r>
              <a:rPr lang="en-US" sz="2400" b="0" dirty="0" err="1">
                <a:latin typeface="Times New Roman" panose="02020603050405020304" charset="0"/>
              </a:rPr>
              <a:t>просматривать</a:t>
            </a:r>
            <a:r>
              <a:rPr lang="en-US" sz="2400" b="0" dirty="0">
                <a:latin typeface="Times New Roman" panose="02020603050405020304" charset="0"/>
              </a:rPr>
              <a:t> </a:t>
            </a:r>
            <a:r>
              <a:rPr lang="en-US" sz="2400" b="0" dirty="0" err="1">
                <a:latin typeface="Times New Roman" panose="02020603050405020304" charset="0"/>
              </a:rPr>
              <a:t>локально</a:t>
            </a:r>
            <a:r>
              <a:rPr lang="en-US" sz="2400" b="0" dirty="0">
                <a:latin typeface="Times New Roman" panose="02020603050405020304" charset="0"/>
              </a:rPr>
              <a:t>, </a:t>
            </a:r>
            <a:r>
              <a:rPr lang="en-US" sz="2400" b="0" dirty="0" err="1">
                <a:latin typeface="Times New Roman" panose="02020603050405020304" charset="0"/>
              </a:rPr>
              <a:t>без</a:t>
            </a:r>
            <a:r>
              <a:rPr lang="en-US" sz="2400" b="0" dirty="0">
                <a:latin typeface="Times New Roman" panose="02020603050405020304" charset="0"/>
              </a:rPr>
              <a:t> </a:t>
            </a:r>
            <a:r>
              <a:rPr lang="en-US" sz="2400" b="0" dirty="0" err="1">
                <a:latin typeface="Times New Roman" panose="02020603050405020304" charset="0"/>
              </a:rPr>
              <a:t>подключения</a:t>
            </a:r>
            <a:r>
              <a:rPr lang="en-US" sz="2400" b="0" dirty="0">
                <a:latin typeface="Times New Roman" panose="02020603050405020304" charset="0"/>
              </a:rPr>
              <a:t> </a:t>
            </a:r>
            <a:r>
              <a:rPr lang="en-US" sz="2400" b="0" dirty="0" err="1">
                <a:latin typeface="Times New Roman" panose="02020603050405020304" charset="0"/>
              </a:rPr>
              <a:t>сети</a:t>
            </a:r>
            <a:r>
              <a:rPr lang="en-US" sz="2400" b="0" dirty="0">
                <a:latin typeface="Times New Roman" panose="02020603050405020304" charset="0"/>
              </a:rPr>
              <a:t> </a:t>
            </a:r>
            <a:r>
              <a:rPr lang="en-US" sz="2400" b="0" dirty="0" err="1">
                <a:latin typeface="Times New Roman" panose="02020603050405020304" charset="0"/>
              </a:rPr>
              <a:t>Интернет</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dirty="0"/>
              <a:t>方法</a:t>
            </a:r>
            <a:r>
              <a:rPr lang="en-US" altLang="zh-CN" sz="2400" dirty="0"/>
              <a:t>1</a:t>
            </a:r>
            <a:r>
              <a:rPr lang="zh-CN" altLang="en-US" sz="2400" dirty="0"/>
              <a:t>：下载至文件夹并连接文件。这是最常见的方法，适用于可以在本地查看网站而无需连接到互联网的情况。</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4620895"/>
            <a:ext cx="12192000" cy="2237105"/>
          </a:xfrm>
          <a:prstGeom prst="rect">
            <a:avLst/>
          </a:prstGeom>
        </p:spPr>
      </p:pic>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37490" y="203835"/>
            <a:ext cx="11338560" cy="2677656"/>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Переходим</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официальный</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dirty="0" err="1">
                <a:latin typeface="Times New Roman" panose="02020603050405020304" charset="0"/>
              </a:rPr>
              <a:t>библиотеки</a:t>
            </a:r>
            <a:r>
              <a:rPr lang="en-US" sz="2400" b="0" dirty="0">
                <a:latin typeface="Times New Roman" panose="02020603050405020304" charset="0"/>
              </a:rPr>
              <a:t>(</a:t>
            </a:r>
            <a:r>
              <a:rPr lang="en-US" sz="2400" b="0" u="sng" dirty="0">
                <a:solidFill>
                  <a:srgbClr val="0563C1"/>
                </a:solidFill>
                <a:uFill>
                  <a:solidFill>
                    <a:srgbClr val="000000"/>
                  </a:solidFill>
                </a:uFill>
                <a:latin typeface="Times New Roman" panose="02020603050405020304" charset="0"/>
                <a:hlinkClick r:id="rId2" tooltip="https://jquery.com/"/>
              </a:rPr>
              <a:t>https://</a:t>
            </a:r>
            <a:r>
              <a:rPr lang="en-US" sz="2400" b="0" u="sng" dirty="0" err="1">
                <a:solidFill>
                  <a:srgbClr val="0563C1"/>
                </a:solidFill>
                <a:uFill>
                  <a:solidFill>
                    <a:srgbClr val="000000"/>
                  </a:solidFill>
                </a:uFill>
                <a:latin typeface="Times New Roman" panose="02020603050405020304" charset="0"/>
                <a:hlinkClick r:id="rId2" tooltip="https://jquery.com/"/>
              </a:rPr>
              <a:t>jquery.com</a:t>
            </a:r>
            <a:r>
              <a:rPr lang="en-US" sz="2400" b="0" u="sng" dirty="0">
                <a:solidFill>
                  <a:srgbClr val="0563C1"/>
                </a:solidFill>
                <a:uFill>
                  <a:solidFill>
                    <a:srgbClr val="000000"/>
                  </a:solidFill>
                </a:uFill>
                <a:latin typeface="Times New Roman" panose="02020603050405020304" charset="0"/>
                <a:hlinkClick r:id="rId2" tooltip="https://jquery.com/"/>
              </a:rPr>
              <a:t>/</a:t>
            </a:r>
            <a:r>
              <a:rPr lang="en-US" sz="2400" b="0" dirty="0">
                <a:latin typeface="Times New Roman" panose="02020603050405020304" charset="0"/>
              </a:rPr>
              <a:t>), </a:t>
            </a:r>
            <a:r>
              <a:rPr lang="en-US" sz="2400" b="0" dirty="0" err="1">
                <a:latin typeface="Times New Roman" panose="02020603050405020304" charset="0"/>
              </a:rPr>
              <a:t>где</a:t>
            </a:r>
            <a:r>
              <a:rPr lang="en-US" sz="2400" b="0" dirty="0">
                <a:latin typeface="Times New Roman" panose="02020603050405020304" charset="0"/>
              </a:rPr>
              <a:t> </a:t>
            </a:r>
            <a:r>
              <a:rPr lang="en-US" sz="2400" b="0" dirty="0" err="1">
                <a:latin typeface="Times New Roman" panose="02020603050405020304" charset="0"/>
              </a:rPr>
              <a:t>выбираем</a:t>
            </a:r>
            <a:r>
              <a:rPr lang="en-US" sz="2400" b="0" dirty="0">
                <a:latin typeface="Times New Roman" panose="02020603050405020304" charset="0"/>
              </a:rPr>
              <a:t> </a:t>
            </a:r>
            <a:r>
              <a:rPr lang="en-US" sz="2400" b="0" dirty="0" err="1">
                <a:latin typeface="Times New Roman" panose="02020603050405020304" charset="0"/>
              </a:rPr>
              <a:t>версию</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Желательно</a:t>
            </a:r>
            <a:r>
              <a:rPr lang="en-US" sz="2400" b="0" dirty="0">
                <a:latin typeface="Times New Roman" panose="02020603050405020304" charset="0"/>
              </a:rPr>
              <a:t> </a:t>
            </a:r>
            <a:r>
              <a:rPr lang="en-US" sz="2400" b="0" dirty="0" err="1">
                <a:latin typeface="Times New Roman" panose="02020603050405020304" charset="0"/>
              </a:rPr>
              <a:t>выбирать</a:t>
            </a:r>
            <a:r>
              <a:rPr lang="en-US" sz="2400" b="0" dirty="0">
                <a:latin typeface="Times New Roman" panose="02020603050405020304" charset="0"/>
              </a:rPr>
              <a:t> </a:t>
            </a:r>
            <a:r>
              <a:rPr lang="en-US" sz="2400" b="0" dirty="0" err="1">
                <a:latin typeface="Times New Roman" panose="02020603050405020304" charset="0"/>
              </a:rPr>
              <a:t>последнюю</a:t>
            </a:r>
            <a:r>
              <a:rPr lang="en-US" sz="2400" b="0" dirty="0">
                <a:latin typeface="Times New Roman" panose="02020603050405020304" charset="0"/>
              </a:rPr>
              <a:t> </a:t>
            </a:r>
            <a:r>
              <a:rPr lang="en-US" sz="2400" b="0" dirty="0" err="1">
                <a:latin typeface="Times New Roman" panose="02020603050405020304" charset="0"/>
              </a:rPr>
              <a:t>из</a:t>
            </a:r>
            <a:r>
              <a:rPr lang="en-US" sz="2400" b="0" dirty="0">
                <a:latin typeface="Times New Roman" panose="02020603050405020304" charset="0"/>
              </a:rPr>
              <a:t> </a:t>
            </a:r>
            <a:r>
              <a:rPr lang="en-US" sz="2400" b="0" dirty="0" err="1">
                <a:latin typeface="Times New Roman" panose="02020603050405020304" charset="0"/>
              </a:rPr>
              <a:t>доступных</a:t>
            </a:r>
            <a:r>
              <a:rPr lang="en-US" sz="2400" b="0" dirty="0">
                <a:latin typeface="Times New Roman" panose="02020603050405020304" charset="0"/>
              </a:rPr>
              <a:t>. </a:t>
            </a:r>
            <a:r>
              <a:rPr lang="en-US" sz="2400" b="0" dirty="0" err="1">
                <a:latin typeface="Times New Roman" panose="02020603050405020304" charset="0"/>
              </a:rPr>
              <a:t>Обозначение</a:t>
            </a:r>
            <a:r>
              <a:rPr lang="en-US" sz="2400" b="0" dirty="0">
                <a:latin typeface="Times New Roman" panose="02020603050405020304" charset="0"/>
              </a:rPr>
              <a:t> </a:t>
            </a:r>
            <a:r>
              <a:rPr lang="en-US" sz="2400" b="0" i="1" dirty="0">
                <a:latin typeface="Times New Roman" panose="02020603050405020304" charset="0"/>
              </a:rPr>
              <a:t>compressed</a:t>
            </a:r>
            <a:r>
              <a:rPr lang="en-US" sz="2400" b="0" dirty="0">
                <a:latin typeface="Times New Roman" panose="02020603050405020304" charset="0"/>
              </a:rPr>
              <a:t> – </a:t>
            </a:r>
            <a:r>
              <a:rPr lang="en-US" sz="2400" b="0" dirty="0" err="1">
                <a:latin typeface="Times New Roman" panose="02020603050405020304" charset="0"/>
              </a:rPr>
              <a:t>означает</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dirty="0" err="1">
                <a:latin typeface="Times New Roman" panose="02020603050405020304" charset="0"/>
              </a:rPr>
              <a:t>минимизирована</a:t>
            </a:r>
            <a:r>
              <a:rPr lang="en-US" sz="2400" b="0" dirty="0">
                <a:latin typeface="Times New Roman" panose="02020603050405020304" charset="0"/>
              </a:rPr>
              <a:t>, </a:t>
            </a:r>
            <a:r>
              <a:rPr lang="en-US" sz="2400" b="0" dirty="0" err="1">
                <a:latin typeface="Times New Roman" panose="02020603050405020304" charset="0"/>
              </a:rPr>
              <a:t>т.е</a:t>
            </a:r>
            <a:r>
              <a:rPr lang="en-US" sz="2400" b="0" dirty="0">
                <a:latin typeface="Times New Roman" panose="02020603050405020304" charset="0"/>
              </a:rPr>
              <a:t>. </a:t>
            </a:r>
            <a:r>
              <a:rPr lang="en-US" sz="2400" b="0" dirty="0" err="1">
                <a:latin typeface="Times New Roman" panose="02020603050405020304" charset="0"/>
              </a:rPr>
              <a:t>занимаем</a:t>
            </a:r>
            <a:r>
              <a:rPr lang="en-US" sz="2400" b="0" dirty="0">
                <a:latin typeface="Times New Roman" panose="02020603050405020304" charset="0"/>
              </a:rPr>
              <a:t> </a:t>
            </a:r>
            <a:r>
              <a:rPr lang="en-US" sz="2400" b="0" dirty="0" err="1">
                <a:latin typeface="Times New Roman" panose="02020603050405020304" charset="0"/>
              </a:rPr>
              <a:t>минимум</a:t>
            </a:r>
            <a:r>
              <a:rPr lang="en-US" sz="2400" b="0" dirty="0">
                <a:latin typeface="Times New Roman" panose="02020603050405020304" charset="0"/>
              </a:rPr>
              <a:t> </a:t>
            </a:r>
            <a:r>
              <a:rPr lang="en-US" sz="2400" b="0" dirty="0" err="1">
                <a:latin typeface="Times New Roman" panose="02020603050405020304" charset="0"/>
              </a:rPr>
              <a:t>места</a:t>
            </a:r>
            <a:r>
              <a:rPr lang="en-US" sz="2400" b="0" dirty="0">
                <a:latin typeface="Times New Roman" panose="02020603050405020304" charset="0"/>
              </a:rPr>
              <a:t>, </a:t>
            </a:r>
            <a:r>
              <a:rPr lang="en-US" sz="2400" b="0" dirty="0" err="1">
                <a:latin typeface="Times New Roman" panose="02020603050405020304" charset="0"/>
              </a:rPr>
              <a:t>но</a:t>
            </a:r>
            <a:r>
              <a:rPr lang="en-US" sz="2400" b="0" dirty="0">
                <a:latin typeface="Times New Roman" panose="02020603050405020304" charset="0"/>
              </a:rPr>
              <a:t>, к </a:t>
            </a:r>
            <a:r>
              <a:rPr lang="en-US" sz="2400" b="0" dirty="0" err="1">
                <a:latin typeface="Times New Roman" panose="02020603050405020304" charset="0"/>
              </a:rPr>
              <a:t>сожалению</a:t>
            </a:r>
            <a:r>
              <a:rPr lang="en-US" sz="2400" b="0" dirty="0">
                <a:latin typeface="Times New Roman" panose="02020603050405020304" charset="0"/>
              </a:rPr>
              <a:t>, </a:t>
            </a:r>
            <a:r>
              <a:rPr lang="en-US" sz="2400" b="0" dirty="0" err="1">
                <a:latin typeface="Times New Roman" panose="02020603050405020304" charset="0"/>
              </a:rPr>
              <a:t>читать</a:t>
            </a:r>
            <a:r>
              <a:rPr lang="en-US" sz="2400" b="0" dirty="0">
                <a:latin typeface="Times New Roman" panose="02020603050405020304" charset="0"/>
              </a:rPr>
              <a:t> </a:t>
            </a:r>
            <a:r>
              <a:rPr lang="en-US" sz="2400" b="0" dirty="0" err="1">
                <a:latin typeface="Times New Roman" panose="02020603050405020304" charset="0"/>
              </a:rPr>
              <a:t>исходных</a:t>
            </a:r>
            <a:r>
              <a:rPr lang="en-US" sz="2400" b="0" dirty="0">
                <a:latin typeface="Times New Roman" panose="02020603050405020304" charset="0"/>
              </a:rPr>
              <a:t> </a:t>
            </a:r>
            <a:r>
              <a:rPr lang="en-US" sz="2400" b="0" dirty="0" err="1">
                <a:latin typeface="Times New Roman" panose="02020603050405020304" charset="0"/>
              </a:rPr>
              <a:t>код</a:t>
            </a:r>
            <a:r>
              <a:rPr lang="en-US" sz="2400" b="0" dirty="0">
                <a:latin typeface="Times New Roman" panose="02020603050405020304" charset="0"/>
              </a:rPr>
              <a:t> </a:t>
            </a:r>
            <a:r>
              <a:rPr lang="en-US" sz="2400" b="0" dirty="0" err="1">
                <a:latin typeface="Times New Roman" panose="02020603050405020304" charset="0"/>
              </a:rPr>
              <a:t>трудно</a:t>
            </a:r>
            <a:r>
              <a:rPr lang="en-US" sz="2400" b="0" dirty="0">
                <a:latin typeface="Times New Roman" panose="02020603050405020304" charset="0"/>
              </a:rPr>
              <a:t>.</a:t>
            </a:r>
            <a:r>
              <a:rPr lang="zh-CN" altLang="en-US" sz="2400" b="0" dirty="0">
                <a:latin typeface="Times New Roman" panose="02020603050405020304" charset="0"/>
              </a:rPr>
              <a:t>我们转到</a:t>
            </a:r>
            <a:r>
              <a:rPr lang="en-US" sz="2400" b="0" dirty="0">
                <a:latin typeface="Times New Roman" panose="02020603050405020304" charset="0"/>
              </a:rPr>
              <a:t>jQuery</a:t>
            </a:r>
            <a:r>
              <a:rPr lang="zh-CN" altLang="en-US" sz="2400" b="0" dirty="0">
                <a:latin typeface="Times New Roman" panose="02020603050405020304" charset="0"/>
              </a:rPr>
              <a:t>官方网站</a:t>
            </a:r>
            <a:r>
              <a:rPr lang="en-US" altLang="zh-CN" sz="2400" b="0" dirty="0">
                <a:latin typeface="Times New Roman" panose="02020603050405020304" charset="0"/>
              </a:rPr>
              <a:t>(</a:t>
            </a:r>
            <a:r>
              <a:rPr lang="en-US" sz="2400" b="0" dirty="0">
                <a:latin typeface="Times New Roman" panose="02020603050405020304" charset="0"/>
              </a:rPr>
              <a:t>https://</a:t>
            </a:r>
            <a:r>
              <a:rPr lang="en-US" sz="2400" b="0" dirty="0" err="1">
                <a:latin typeface="Times New Roman" panose="02020603050405020304" charset="0"/>
              </a:rPr>
              <a:t>jquery.com</a:t>
            </a:r>
            <a:r>
              <a:rPr lang="en-US" sz="2400" b="0" dirty="0">
                <a:latin typeface="Times New Roman" panose="02020603050405020304" charset="0"/>
              </a:rPr>
              <a:t>/)，</a:t>
            </a:r>
            <a:r>
              <a:rPr lang="zh-CN" altLang="en-US" sz="2400" b="0" dirty="0">
                <a:latin typeface="Times New Roman" panose="02020603050405020304" charset="0"/>
              </a:rPr>
              <a:t>选择所需的</a:t>
            </a:r>
            <a:r>
              <a:rPr lang="en-US" sz="2400" b="0" dirty="0">
                <a:latin typeface="Times New Roman" panose="02020603050405020304" charset="0"/>
              </a:rPr>
              <a:t>jQuery</a:t>
            </a:r>
            <a:r>
              <a:rPr lang="zh-CN" altLang="en-US" sz="2400" b="0" dirty="0">
                <a:latin typeface="Times New Roman" panose="02020603050405020304" charset="0"/>
              </a:rPr>
              <a:t>版本。最好选择可用的最新版本。压缩版本表示该库经过了最小化处理，即占用最小空间，但不幸的是，阅读源代码可能较为困难。</a:t>
            </a:r>
            <a:endParaRPr lang="en-US" sz="2400" dirty="0"/>
          </a:p>
        </p:txBody>
      </p:sp>
      <p:pic>
        <p:nvPicPr>
          <p:cNvPr id="2" name="Picture 1"/>
          <p:cNvPicPr>
            <a:picLocks noChangeAspect="1"/>
          </p:cNvPicPr>
          <p:nvPr/>
        </p:nvPicPr>
        <p:blipFill>
          <a:blip r:embed="rId3"/>
          <a:stretch>
            <a:fillRect/>
          </a:stretch>
        </p:blipFill>
        <p:spPr>
          <a:xfrm>
            <a:off x="237490" y="3141345"/>
            <a:ext cx="3093720" cy="1503045"/>
          </a:xfrm>
          <a:prstGeom prst="rect">
            <a:avLst/>
          </a:prstGeom>
        </p:spPr>
      </p:pic>
      <p:cxnSp>
        <p:nvCxnSpPr>
          <p:cNvPr id="5" name="Elbow Connector 4"/>
          <p:cNvCxnSpPr>
            <a:stCxn id="2" idx="3"/>
            <a:endCxn id="3" idx="0"/>
          </p:cNvCxnSpPr>
          <p:nvPr/>
        </p:nvCxnSpPr>
        <p:spPr>
          <a:xfrm>
            <a:off x="3331210" y="3893185"/>
            <a:ext cx="2764790" cy="727710"/>
          </a:xfrm>
          <a:prstGeom prst="bentConnector2">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03250" y="487680"/>
            <a:ext cx="10849610" cy="1569660"/>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Скачиваем</a:t>
            </a:r>
            <a:r>
              <a:rPr lang="en-US" sz="2400" b="0" dirty="0">
                <a:latin typeface="Times New Roman" panose="02020603050405020304" charset="0"/>
              </a:rPr>
              <a:t> </a:t>
            </a:r>
            <a:r>
              <a:rPr lang="en-US" sz="2400" b="0" dirty="0" err="1">
                <a:latin typeface="Times New Roman" panose="02020603050405020304" charset="0"/>
              </a:rPr>
              <a:t>версию</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и </a:t>
            </a:r>
            <a:r>
              <a:rPr lang="en-US" sz="2400" b="0" dirty="0" err="1">
                <a:latin typeface="Times New Roman" panose="02020603050405020304" charset="0"/>
              </a:rPr>
              <a:t>после</a:t>
            </a:r>
            <a:r>
              <a:rPr lang="en-US" sz="2400" b="0" dirty="0">
                <a:latin typeface="Times New Roman" panose="02020603050405020304" charset="0"/>
              </a:rPr>
              <a:t> </a:t>
            </a:r>
            <a:r>
              <a:rPr lang="en-US" sz="2400" b="0" dirty="0" err="1">
                <a:latin typeface="Times New Roman" panose="02020603050405020304" charset="0"/>
              </a:rPr>
              <a:t>сохранения</a:t>
            </a:r>
            <a:r>
              <a:rPr lang="en-US" sz="2400" b="0" dirty="0">
                <a:latin typeface="Times New Roman" panose="02020603050405020304" charset="0"/>
              </a:rPr>
              <a:t> </a:t>
            </a:r>
            <a:r>
              <a:rPr lang="ru-RU" altLang="en-US" sz="2400" b="0" dirty="0">
                <a:latin typeface="Times New Roman" panose="02020603050405020304" charset="0"/>
              </a:rPr>
              <a:t>переносим файл в папку с нашим проектом</a:t>
            </a:r>
            <a:r>
              <a:rPr lang="en-US" sz="2400" b="0" dirty="0">
                <a:latin typeface="Times New Roman" panose="02020603050405020304" charset="0"/>
              </a:rPr>
              <a:t>.  </a:t>
            </a:r>
            <a:r>
              <a:rPr lang="ru-RU" altLang="en-US" sz="2400" b="0" dirty="0">
                <a:latin typeface="Times New Roman" panose="02020603050405020304" charset="0"/>
              </a:rPr>
              <a:t>Структура проекта ниже.</a:t>
            </a:r>
            <a:endParaRPr lang="en-US" altLang="en-US" sz="2400" b="0" dirty="0">
              <a:latin typeface="Times New Roman" panose="02020603050405020304" charset="0"/>
            </a:endParaRPr>
          </a:p>
          <a:p>
            <a:pPr marL="0" indent="0" algn="just"/>
            <a:r>
              <a:rPr lang="zh-CN" altLang="en-US" sz="2400" b="0" dirty="0">
                <a:latin typeface="Times New Roman" panose="02020603050405020304" charset="0"/>
              </a:rPr>
              <a:t>下载 </a:t>
            </a:r>
            <a:r>
              <a:rPr lang="en-US" altLang="zh-CN" sz="2400" b="0" dirty="0">
                <a:latin typeface="Times New Roman" panose="02020603050405020304" charset="0"/>
              </a:rPr>
              <a:t>jQuery </a:t>
            </a:r>
            <a:r>
              <a:rPr lang="zh-CN" altLang="en-US" sz="2400" b="0" dirty="0">
                <a:latin typeface="Times New Roman" panose="02020603050405020304" charset="0"/>
              </a:rPr>
              <a:t>版本并保存后，将文件移至与我们项目相同的文件夹中。 项目结构如下。</a:t>
            </a:r>
            <a:endParaRPr lang="ru-RU" altLang="en-US" sz="2400" b="0" dirty="0">
              <a:latin typeface="Times New Roman" panose="02020603050405020304" charset="0"/>
            </a:endParaRPr>
          </a:p>
        </p:txBody>
      </p:sp>
      <p:pic>
        <p:nvPicPr>
          <p:cNvPr id="55" name="image4.png"/>
          <p:cNvPicPr/>
          <p:nvPr/>
        </p:nvPicPr>
        <p:blipFill>
          <a:blip r:embed="rId1"/>
          <a:srcRect/>
          <a:stretch>
            <a:fillRect/>
          </a:stretch>
        </p:blipFill>
        <p:spPr>
          <a:xfrm>
            <a:off x="3614420" y="3156585"/>
            <a:ext cx="4827905" cy="2383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80695" y="2941320"/>
            <a:ext cx="7665085" cy="3415030"/>
          </a:xfrm>
          <a:prstGeom prst="rect">
            <a:avLst/>
          </a:prstGeom>
          <a:noFill/>
          <a:ln w="9525">
            <a:noFill/>
          </a:ln>
        </p:spPr>
        <p:txBody>
          <a:bodyPr wrap="square">
            <a:spAutoFit/>
          </a:bodyPr>
          <a:lstStyle/>
          <a:p>
            <a:pPr indent="0"/>
            <a:r>
              <a:rPr lang="en-US" sz="2400" b="0">
                <a:solidFill>
                  <a:srgbClr val="800000"/>
                </a:solidFill>
                <a:latin typeface="Consolas" charset="0"/>
              </a:rPr>
              <a:t>&lt;!DOCTYPE</a:t>
            </a:r>
            <a:r>
              <a:rPr lang="en-US" sz="2400" b="0">
                <a:solidFill>
                  <a:srgbClr val="000000"/>
                </a:solidFill>
                <a:latin typeface="Consolas" charset="0"/>
              </a:rPr>
              <a:t> </a:t>
            </a:r>
            <a:r>
              <a:rPr lang="en-US" sz="2400" b="0">
                <a:solidFill>
                  <a:srgbClr val="E50000"/>
                </a:solidFill>
                <a:latin typeface="Consolas" charset="0"/>
              </a:rPr>
              <a:t>HTML</a:t>
            </a:r>
            <a:r>
              <a:rPr lang="en-US" sz="2400" b="0">
                <a:solidFill>
                  <a:srgbClr val="800000"/>
                </a:solidFill>
                <a:latin typeface="Consolas" charset="0"/>
              </a:rPr>
              <a:t>&gt;</a:t>
            </a:r>
            <a:endParaRPr lang="en-US" sz="2400" b="0">
              <a:solidFill>
                <a:srgbClr val="800000"/>
              </a:solidFill>
              <a:latin typeface="Consolas" charset="0"/>
            </a:endParaRPr>
          </a:p>
          <a:p>
            <a:pPr indent="0"/>
            <a:r>
              <a:rPr lang="en-US" sz="2400" b="0">
                <a:solidFill>
                  <a:srgbClr val="800000"/>
                </a:solidFill>
                <a:latin typeface="Consolas" charset="0"/>
              </a:rPr>
              <a:t>&lt;html&gt;</a:t>
            </a:r>
            <a:endParaRPr lang="en-US" sz="2400" b="0">
              <a:solidFill>
                <a:srgbClr val="800000"/>
              </a:solidFill>
              <a:latin typeface="Consolas" charset="0"/>
            </a:endParaRPr>
          </a:p>
          <a:p>
            <a:pPr indent="0"/>
            <a:r>
              <a:rPr lang="en-US" sz="2400" b="0">
                <a:solidFill>
                  <a:srgbClr val="800000"/>
                </a:solidFill>
                <a:latin typeface="Consolas" charset="0"/>
              </a:rPr>
              <a:t>&lt;body&gt;</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&lt;p</a:t>
            </a:r>
            <a:r>
              <a:rPr lang="en-US" sz="2400" b="0">
                <a:solidFill>
                  <a:srgbClr val="000000"/>
                </a:solidFill>
                <a:latin typeface="Consolas" charset="0"/>
              </a:rPr>
              <a:t> </a:t>
            </a:r>
            <a:r>
              <a:rPr lang="en-US" sz="2400" b="0">
                <a:solidFill>
                  <a:srgbClr val="E50000"/>
                </a:solidFill>
                <a:latin typeface="Consolas" charset="0"/>
              </a:rPr>
              <a:t>id</a:t>
            </a:r>
            <a:r>
              <a:rPr lang="en-US" sz="2400" b="0">
                <a:solidFill>
                  <a:srgbClr val="000000"/>
                </a:solidFill>
                <a:latin typeface="Consolas" charset="0"/>
              </a:rPr>
              <a:t>=</a:t>
            </a:r>
            <a:r>
              <a:rPr lang="en-US" sz="2400" b="0">
                <a:solidFill>
                  <a:srgbClr val="0000FF"/>
                </a:solidFill>
                <a:latin typeface="Consolas" charset="0"/>
              </a:rPr>
              <a:t>"demo"</a:t>
            </a:r>
            <a:r>
              <a:rPr lang="en-US" sz="2400" b="0">
                <a:solidFill>
                  <a:srgbClr val="800000"/>
                </a:solidFill>
                <a:latin typeface="Consolas" charset="0"/>
              </a:rPr>
              <a:t>&gt;&lt;/p&gt;</a:t>
            </a:r>
            <a:endParaRPr lang="en-US" sz="2400" b="0">
              <a:solidFill>
                <a:srgbClr val="000000"/>
              </a:solidFill>
              <a:latin typeface="Consolas" charset="0"/>
            </a:endParaRPr>
          </a:p>
          <a:p>
            <a:pPr indent="0"/>
            <a:r>
              <a:rPr lang="en-US" sz="2400" b="0">
                <a:solidFill>
                  <a:srgbClr val="000000"/>
                </a:solidFill>
                <a:latin typeface="Consolas" charset="0"/>
              </a:rPr>
              <a:t> </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&lt;script</a:t>
            </a:r>
            <a:r>
              <a:rPr lang="en-US" sz="2400" b="0">
                <a:solidFill>
                  <a:srgbClr val="000000"/>
                </a:solidFill>
                <a:latin typeface="Consolas" charset="0"/>
              </a:rPr>
              <a:t> </a:t>
            </a:r>
            <a:r>
              <a:rPr lang="en-US" sz="2400" b="0">
                <a:solidFill>
                  <a:srgbClr val="E50000"/>
                </a:solidFill>
                <a:latin typeface="Consolas" charset="0"/>
              </a:rPr>
              <a:t>src</a:t>
            </a:r>
            <a:r>
              <a:rPr lang="en-US" sz="2400" b="0">
                <a:solidFill>
                  <a:srgbClr val="000000"/>
                </a:solidFill>
                <a:latin typeface="Consolas" charset="0"/>
              </a:rPr>
              <a:t>=</a:t>
            </a:r>
            <a:r>
              <a:rPr lang="en-US" sz="2400" b="0">
                <a:solidFill>
                  <a:srgbClr val="0000FF"/>
                </a:solidFill>
                <a:latin typeface="Consolas" charset="0"/>
              </a:rPr>
              <a:t>"js/jquery-3.7.1.min.js"</a:t>
            </a:r>
            <a:r>
              <a:rPr lang="en-US" sz="2400" b="0">
                <a:solidFill>
                  <a:srgbClr val="800000"/>
                </a:solidFill>
                <a:latin typeface="Consolas" charset="0"/>
              </a:rPr>
              <a:t>&gt;&lt;/script&gt;</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&lt;script</a:t>
            </a:r>
            <a:r>
              <a:rPr lang="en-US" sz="2400" b="0">
                <a:solidFill>
                  <a:srgbClr val="000000"/>
                </a:solidFill>
                <a:latin typeface="Consolas" charset="0"/>
              </a:rPr>
              <a:t> </a:t>
            </a:r>
            <a:r>
              <a:rPr lang="en-US" sz="2400" b="0">
                <a:solidFill>
                  <a:srgbClr val="E50000"/>
                </a:solidFill>
                <a:latin typeface="Consolas" charset="0"/>
              </a:rPr>
              <a:t>src</a:t>
            </a:r>
            <a:r>
              <a:rPr lang="en-US" sz="2400" b="0">
                <a:solidFill>
                  <a:srgbClr val="000000"/>
                </a:solidFill>
                <a:latin typeface="Consolas" charset="0"/>
              </a:rPr>
              <a:t>=</a:t>
            </a:r>
            <a:r>
              <a:rPr lang="en-US" sz="2400" b="0">
                <a:solidFill>
                  <a:srgbClr val="0000FF"/>
                </a:solidFill>
                <a:latin typeface="Consolas" charset="0"/>
              </a:rPr>
              <a:t>"script.js"</a:t>
            </a:r>
            <a:r>
              <a:rPr lang="en-US" sz="2400" b="0">
                <a:solidFill>
                  <a:srgbClr val="800000"/>
                </a:solidFill>
                <a:latin typeface="Consolas" charset="0"/>
              </a:rPr>
              <a:t>&gt;&lt;/script&gt;</a:t>
            </a:r>
            <a:endParaRPr lang="en-US" sz="2400" b="0">
              <a:solidFill>
                <a:srgbClr val="800000"/>
              </a:solidFill>
              <a:latin typeface="Consolas" charset="0"/>
            </a:endParaRPr>
          </a:p>
          <a:p>
            <a:pPr indent="0"/>
            <a:r>
              <a:rPr lang="en-US" sz="2400" b="0">
                <a:solidFill>
                  <a:srgbClr val="800000"/>
                </a:solidFill>
                <a:latin typeface="Consolas" charset="0"/>
              </a:rPr>
              <a:t>&lt;/body&gt;</a:t>
            </a:r>
            <a:endParaRPr lang="en-US" sz="2400" b="0">
              <a:solidFill>
                <a:srgbClr val="800000"/>
              </a:solidFill>
              <a:latin typeface="Consolas" charset="0"/>
            </a:endParaRPr>
          </a:p>
          <a:p>
            <a:pPr indent="0"/>
            <a:r>
              <a:rPr lang="en-US" sz="2400" b="0">
                <a:solidFill>
                  <a:srgbClr val="800000"/>
                </a:solidFill>
                <a:latin typeface="Consolas" charset="0"/>
              </a:rPr>
              <a:t>&lt;/html&gt;</a:t>
            </a:r>
            <a:endParaRPr lang="en-US" sz="2400"/>
          </a:p>
        </p:txBody>
      </p:sp>
      <p:sp>
        <p:nvSpPr>
          <p:cNvPr id="2" name="Text Box 1"/>
          <p:cNvSpPr txBox="1"/>
          <p:nvPr/>
        </p:nvSpPr>
        <p:spPr>
          <a:xfrm>
            <a:off x="6169025" y="2941320"/>
            <a:ext cx="5896610" cy="460375"/>
          </a:xfrm>
          <a:prstGeom prst="rect">
            <a:avLst/>
          </a:prstGeom>
          <a:noFill/>
          <a:ln w="9525">
            <a:noFill/>
          </a:ln>
        </p:spPr>
        <p:txBody>
          <a:bodyPr wrap="square">
            <a:spAutoFit/>
          </a:bodyPr>
          <a:lstStyle/>
          <a:p>
            <a:pPr marL="0"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"#demo"</a:t>
            </a:r>
            <a:r>
              <a:rPr lang="en-US" sz="2400" b="0">
                <a:solidFill>
                  <a:srgbClr val="000000"/>
                </a:solidFill>
                <a:latin typeface="Consolas" charset="0"/>
              </a:rPr>
              <a:t>).</a:t>
            </a:r>
            <a:r>
              <a:rPr lang="en-US" sz="2400" b="0">
                <a:solidFill>
                  <a:srgbClr val="795E26"/>
                </a:solidFill>
                <a:latin typeface="Consolas" charset="0"/>
              </a:rPr>
              <a:t>html</a:t>
            </a:r>
            <a:r>
              <a:rPr lang="en-US" sz="2400" b="0">
                <a:solidFill>
                  <a:srgbClr val="000000"/>
                </a:solidFill>
                <a:latin typeface="Consolas" charset="0"/>
              </a:rPr>
              <a:t>(</a:t>
            </a:r>
            <a:r>
              <a:rPr lang="en-US" sz="2400" b="0">
                <a:solidFill>
                  <a:srgbClr val="A31515"/>
                </a:solidFill>
                <a:latin typeface="Consolas" charset="0"/>
              </a:rPr>
              <a:t>"Hello, World!"</a:t>
            </a:r>
            <a:r>
              <a:rPr lang="en-US" sz="2400" b="0">
                <a:solidFill>
                  <a:srgbClr val="000000"/>
                </a:solidFill>
                <a:latin typeface="Consolas" charset="0"/>
              </a:rPr>
              <a:t>);</a:t>
            </a:r>
            <a:endParaRPr lang="en-US" sz="2400"/>
          </a:p>
        </p:txBody>
      </p:sp>
      <p:sp>
        <p:nvSpPr>
          <p:cNvPr id="3" name="Text Box 2"/>
          <p:cNvSpPr txBox="1"/>
          <p:nvPr/>
        </p:nvSpPr>
        <p:spPr>
          <a:xfrm>
            <a:off x="1899920" y="435610"/>
            <a:ext cx="8451031" cy="830997"/>
          </a:xfrm>
          <a:prstGeom prst="rect">
            <a:avLst/>
          </a:prstGeom>
          <a:noFill/>
        </p:spPr>
        <p:txBody>
          <a:bodyPr wrap="none" rtlCol="0">
            <a:spAutoFit/>
          </a:bodyPr>
          <a:lstStyle/>
          <a:p>
            <a:r>
              <a:rPr lang="ru-RU" altLang="en-US" sz="2400" dirty="0">
                <a:latin typeface="Times New Roman Regular" panose="02020603050405020304" charset="0"/>
                <a:cs typeface="Times New Roman Regular" panose="02020603050405020304" charset="0"/>
              </a:rPr>
              <a:t>Подключаем скаченный файл и проверяем работоспособность.</a:t>
            </a:r>
            <a:endParaRPr lang="en-US" altLang="en-US" sz="2400" dirty="0">
              <a:latin typeface="Times New Roman Regular" panose="02020603050405020304" charset="0"/>
              <a:cs typeface="Times New Roman Regular" panose="02020603050405020304" charset="0"/>
            </a:endParaRPr>
          </a:p>
          <a:p>
            <a:r>
              <a:rPr lang="zh-CN" altLang="en-US" sz="2400" dirty="0">
                <a:latin typeface="Times New Roman Regular" panose="02020603050405020304" charset="0"/>
                <a:cs typeface="Times New Roman Regular" panose="02020603050405020304" charset="0"/>
              </a:rPr>
              <a:t>连接下载的文件并检查其是否正常工作。</a:t>
            </a:r>
            <a:endParaRPr lang="ru-RU" alt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480695" y="200914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169025" y="20094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Rectangles 5"/>
          <p:cNvSpPr/>
          <p:nvPr/>
        </p:nvSpPr>
        <p:spPr>
          <a:xfrm>
            <a:off x="840740" y="4752340"/>
            <a:ext cx="6693535" cy="4597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57860" y="846455"/>
            <a:ext cx="10876915" cy="5262979"/>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Библиотеку</a:t>
            </a:r>
            <a:r>
              <a:rPr lang="en-US" sz="2400" b="0" dirty="0">
                <a:latin typeface="Times New Roman" panose="02020603050405020304" charset="0"/>
              </a:rPr>
              <a:t> </a:t>
            </a:r>
            <a:r>
              <a:rPr lang="en-US" sz="2400" b="0" dirty="0" err="1">
                <a:latin typeface="Times New Roman" panose="02020603050405020304" charset="0"/>
              </a:rPr>
              <a:t>подключают</a:t>
            </a:r>
            <a:r>
              <a:rPr lang="en-US" sz="2400" b="0" dirty="0">
                <a:latin typeface="Times New Roman" panose="02020603050405020304" charset="0"/>
              </a:rPr>
              <a:t> </a:t>
            </a:r>
            <a:r>
              <a:rPr lang="en-US" sz="2400" b="0" dirty="0" err="1">
                <a:latin typeface="Times New Roman" panose="02020603050405020304" charset="0"/>
              </a:rPr>
              <a:t>перед</a:t>
            </a:r>
            <a:r>
              <a:rPr lang="en-US" sz="2400" b="0" dirty="0">
                <a:latin typeface="Times New Roman" panose="02020603050405020304" charset="0"/>
              </a:rPr>
              <a:t> </a:t>
            </a:r>
            <a:r>
              <a:rPr lang="en-US" sz="2400" b="0" dirty="0" err="1">
                <a:latin typeface="Times New Roman" panose="02020603050405020304" charset="0"/>
              </a:rPr>
              <a:t>закрывающимся</a:t>
            </a:r>
            <a:r>
              <a:rPr lang="en-US" sz="2400" b="0" dirty="0">
                <a:latin typeface="Times New Roman" panose="02020603050405020304" charset="0"/>
              </a:rPr>
              <a:t> </a:t>
            </a:r>
            <a:r>
              <a:rPr lang="en-US" sz="2400" b="0" dirty="0" err="1">
                <a:latin typeface="Times New Roman" panose="02020603050405020304" charset="0"/>
              </a:rPr>
              <a:t>тегом</a:t>
            </a:r>
            <a:r>
              <a:rPr lang="en-US" sz="2400" b="0" dirty="0">
                <a:latin typeface="Times New Roman" panose="02020603050405020304" charset="0"/>
              </a:rPr>
              <a:t> </a:t>
            </a:r>
            <a:r>
              <a:rPr lang="en-US" sz="2400" b="0" i="1" dirty="0">
                <a:latin typeface="Times New Roman" panose="02020603050405020304" charset="0"/>
              </a:rPr>
              <a:t>body</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связанно</a:t>
            </a:r>
            <a:r>
              <a:rPr lang="en-US" sz="2400" b="0" dirty="0">
                <a:latin typeface="Times New Roman" panose="02020603050405020304" charset="0"/>
              </a:rPr>
              <a:t> с </a:t>
            </a:r>
            <a:r>
              <a:rPr lang="en-US" sz="2400" b="0" dirty="0" err="1">
                <a:latin typeface="Times New Roman" panose="02020603050405020304" charset="0"/>
              </a:rPr>
              <a:t>порядком</a:t>
            </a:r>
            <a:r>
              <a:rPr lang="en-US" sz="2400" b="0" dirty="0">
                <a:latin typeface="Times New Roman" panose="02020603050405020304" charset="0"/>
              </a:rPr>
              <a:t> </a:t>
            </a:r>
            <a:r>
              <a:rPr lang="en-US" sz="2400" b="0" dirty="0" err="1">
                <a:latin typeface="Times New Roman" panose="02020603050405020304" charset="0"/>
              </a:rPr>
              <a:t>обработки</a:t>
            </a:r>
            <a:r>
              <a:rPr lang="en-US" sz="2400" b="0" dirty="0">
                <a:latin typeface="Times New Roman" panose="02020603050405020304" charset="0"/>
              </a:rPr>
              <a:t> </a:t>
            </a:r>
            <a:r>
              <a:rPr lang="en-US" sz="2400" b="0" i="1" dirty="0">
                <a:latin typeface="Times New Roman" panose="02020603050405020304" charset="0"/>
              </a:rPr>
              <a:t>html</a:t>
            </a:r>
            <a:r>
              <a:rPr lang="en-US" sz="2400" b="0" dirty="0">
                <a:latin typeface="Times New Roman" panose="02020603050405020304" charset="0"/>
              </a:rPr>
              <a:t> </a:t>
            </a:r>
            <a:r>
              <a:rPr lang="en-US" sz="2400" b="0" dirty="0" err="1">
                <a:latin typeface="Times New Roman" panose="02020603050405020304" charset="0"/>
              </a:rPr>
              <a:t>страницы</a:t>
            </a:r>
            <a:r>
              <a:rPr lang="en-US" sz="2400" b="0" dirty="0">
                <a:latin typeface="Times New Roman" panose="02020603050405020304" charset="0"/>
              </a:rPr>
              <a:t> </a:t>
            </a:r>
            <a:r>
              <a:rPr lang="en-US" sz="2400" b="0" dirty="0" err="1">
                <a:latin typeface="Times New Roman" panose="02020603050405020304" charset="0"/>
              </a:rPr>
              <a:t>браузером</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将库连接到 </a:t>
            </a:r>
            <a:r>
              <a:rPr lang="en-US" altLang="zh-CN" sz="2400" b="0" i="0" dirty="0">
                <a:solidFill>
                  <a:srgbClr val="0F0F0F"/>
                </a:solidFill>
                <a:effectLst/>
                <a:latin typeface="Söhne"/>
              </a:rPr>
              <a:t>body </a:t>
            </a:r>
            <a:r>
              <a:rPr lang="zh-CN" altLang="en-US" sz="2400" b="0" i="0" dirty="0">
                <a:solidFill>
                  <a:srgbClr val="0F0F0F"/>
                </a:solidFill>
                <a:effectLst/>
                <a:latin typeface="Söhne"/>
              </a:rPr>
              <a:t>结束标签之前，这与浏览器处理 </a:t>
            </a:r>
            <a:r>
              <a:rPr lang="en-US" altLang="zh-CN" sz="2400" b="0" i="0" dirty="0">
                <a:solidFill>
                  <a:srgbClr val="0F0F0F"/>
                </a:solidFill>
                <a:effectLst/>
                <a:latin typeface="Söhne"/>
              </a:rPr>
              <a:t>HTML </a:t>
            </a:r>
            <a:r>
              <a:rPr lang="zh-CN" altLang="en-US" sz="2400" b="0" i="0" dirty="0">
                <a:solidFill>
                  <a:srgbClr val="0F0F0F"/>
                </a:solidFill>
                <a:effectLst/>
                <a:latin typeface="Söhne"/>
              </a:rPr>
              <a:t>页面的顺序有关。</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en-US" sz="2400" b="0" dirty="0" err="1">
                <a:latin typeface="Times New Roman" panose="02020603050405020304" charset="0"/>
              </a:rPr>
              <a:t>Поскольку</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вычитывает</a:t>
            </a:r>
            <a:r>
              <a:rPr lang="en-US" sz="2400" b="0" dirty="0">
                <a:latin typeface="Times New Roman" panose="02020603050405020304" charset="0"/>
              </a:rPr>
              <a:t> </a:t>
            </a:r>
            <a:r>
              <a:rPr lang="en-US" sz="2400" b="0" dirty="0" err="1">
                <a:latin typeface="Times New Roman" panose="02020603050405020304" charset="0"/>
              </a:rPr>
              <a:t>строки</a:t>
            </a:r>
            <a:r>
              <a:rPr lang="en-US" sz="2400" b="0" dirty="0">
                <a:latin typeface="Times New Roman" panose="02020603050405020304" charset="0"/>
              </a:rPr>
              <a:t> </a:t>
            </a:r>
            <a:r>
              <a:rPr lang="en-US" sz="2400" b="0" dirty="0" err="1">
                <a:latin typeface="Times New Roman" panose="02020603050405020304" charset="0"/>
              </a:rPr>
              <a:t>последовательно</a:t>
            </a:r>
            <a:r>
              <a:rPr lang="en-US" sz="2400" b="0" dirty="0">
                <a:latin typeface="Times New Roman" panose="02020603050405020304" charset="0"/>
              </a:rPr>
              <a:t>, </a:t>
            </a:r>
            <a:r>
              <a:rPr lang="en-US" sz="2400" b="0" dirty="0" err="1">
                <a:latin typeface="Times New Roman" panose="02020603050405020304" charset="0"/>
              </a:rPr>
              <a:t>то</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подключении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в </a:t>
            </a:r>
            <a:r>
              <a:rPr lang="en-US" sz="2400" b="0" dirty="0" err="1">
                <a:latin typeface="Times New Roman" panose="02020603050405020304" charset="0"/>
              </a:rPr>
              <a:t>конце</a:t>
            </a:r>
            <a:r>
              <a:rPr lang="en-US" sz="2400" b="0" dirty="0">
                <a:latin typeface="Times New Roman" panose="02020603050405020304" charset="0"/>
              </a:rPr>
              <a:t> </a:t>
            </a:r>
            <a:r>
              <a:rPr lang="en-US" sz="2400" b="0" dirty="0" err="1">
                <a:latin typeface="Times New Roman" panose="02020603050405020304" charset="0"/>
              </a:rPr>
              <a:t>файла</a:t>
            </a:r>
            <a:r>
              <a:rPr lang="en-US" sz="2400" b="0" dirty="0">
                <a:latin typeface="Times New Roman" panose="02020603050405020304" charset="0"/>
              </a:rPr>
              <a:t> </a:t>
            </a:r>
            <a:r>
              <a:rPr lang="en-US" sz="2400" b="0" dirty="0" err="1">
                <a:latin typeface="Times New Roman" panose="02020603050405020304" charset="0"/>
              </a:rPr>
              <a:t>вначале</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отобразит</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а </a:t>
            </a:r>
            <a:r>
              <a:rPr lang="en-US" sz="2400" b="0" dirty="0" err="1">
                <a:latin typeface="Times New Roman" panose="02020603050405020304" charset="0"/>
              </a:rPr>
              <a:t>затем</a:t>
            </a:r>
            <a:r>
              <a:rPr lang="en-US" sz="2400" b="0" dirty="0">
                <a:latin typeface="Times New Roman" panose="02020603050405020304" charset="0"/>
              </a:rPr>
              <a:t> </a:t>
            </a:r>
            <a:r>
              <a:rPr lang="en-US" sz="2400" b="0" dirty="0" err="1">
                <a:latin typeface="Times New Roman" panose="02020603050405020304" charset="0"/>
              </a:rPr>
              <a:t>уже</a:t>
            </a:r>
            <a:r>
              <a:rPr lang="en-US" sz="2400" b="0" dirty="0">
                <a:latin typeface="Times New Roman" panose="02020603050405020304" charset="0"/>
              </a:rPr>
              <a:t> </a:t>
            </a:r>
            <a:r>
              <a:rPr lang="en-US" sz="2400" b="0" dirty="0" err="1">
                <a:latin typeface="Times New Roman" panose="02020603050405020304" charset="0"/>
              </a:rPr>
              <a:t>подключит</a:t>
            </a:r>
            <a:r>
              <a:rPr lang="en-US" sz="2400" b="0" dirty="0">
                <a:latin typeface="Times New Roman" panose="02020603050405020304" charset="0"/>
              </a:rPr>
              <a:t> </a:t>
            </a:r>
            <a:r>
              <a:rPr lang="en-US" sz="2400" b="0" dirty="0" err="1">
                <a:latin typeface="Times New Roman" panose="02020603050405020304" charset="0"/>
              </a:rPr>
              <a:t>динамику</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由于浏览器逐行读取代码，因此在文件末尾连接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时，浏览器首先会显示网站，然后再加载动态内容。</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медленном</a:t>
            </a:r>
            <a:r>
              <a:rPr lang="en-US" sz="2400" b="0" dirty="0">
                <a:latin typeface="Times New Roman" panose="02020603050405020304" charset="0"/>
              </a:rPr>
              <a:t> </a:t>
            </a:r>
            <a:r>
              <a:rPr lang="en-US" sz="2400" b="0" dirty="0" err="1">
                <a:latin typeface="Times New Roman" panose="02020603050405020304" charset="0"/>
              </a:rPr>
              <a:t>соединении</a:t>
            </a:r>
            <a:r>
              <a:rPr lang="en-US" sz="2400" b="0" dirty="0">
                <a:latin typeface="Times New Roman" panose="02020603050405020304" charset="0"/>
              </a:rPr>
              <a:t>, </a:t>
            </a:r>
            <a:r>
              <a:rPr lang="en-US" sz="2400" b="0" dirty="0" err="1">
                <a:latin typeface="Times New Roman" panose="02020603050405020304" charset="0"/>
              </a:rPr>
              <a:t>такой</a:t>
            </a:r>
            <a:r>
              <a:rPr lang="en-US" sz="2400" b="0" dirty="0">
                <a:latin typeface="Times New Roman" panose="02020603050405020304" charset="0"/>
              </a:rPr>
              <a:t> </a:t>
            </a:r>
            <a:r>
              <a:rPr lang="en-US" sz="2400" b="0" dirty="0" err="1">
                <a:latin typeface="Times New Roman" panose="02020603050405020304" charset="0"/>
              </a:rPr>
              <a:t>подход</a:t>
            </a:r>
            <a:r>
              <a:rPr lang="en-US" sz="2400" b="0" dirty="0">
                <a:latin typeface="Times New Roman" panose="02020603050405020304" charset="0"/>
              </a:rPr>
              <a:t> </a:t>
            </a:r>
            <a:r>
              <a:rPr lang="en-US" sz="2400" b="0" dirty="0" err="1">
                <a:latin typeface="Times New Roman" panose="02020603050405020304" charset="0"/>
              </a:rPr>
              <a:t>обеспечивает</a:t>
            </a:r>
            <a:r>
              <a:rPr lang="en-US" sz="2400" b="0" dirty="0">
                <a:latin typeface="Times New Roman" panose="02020603050405020304" charset="0"/>
              </a:rPr>
              <a:t> </a:t>
            </a:r>
            <a:r>
              <a:rPr lang="en-US" sz="2400" b="0" dirty="0" err="1">
                <a:latin typeface="Times New Roman" panose="02020603050405020304" charset="0"/>
              </a:rPr>
              <a:t>увеличение</a:t>
            </a:r>
            <a:r>
              <a:rPr lang="en-US" sz="2400" b="0" dirty="0">
                <a:latin typeface="Times New Roman" panose="02020603050405020304" charset="0"/>
              </a:rPr>
              <a:t> </a:t>
            </a:r>
            <a:r>
              <a:rPr lang="en-US" sz="2400" b="0" dirty="0" err="1">
                <a:latin typeface="Times New Roman" panose="02020603050405020304" charset="0"/>
              </a:rPr>
              <a:t>скорости</a:t>
            </a:r>
            <a:r>
              <a:rPr lang="en-US" sz="2400" b="0" dirty="0">
                <a:latin typeface="Times New Roman" panose="02020603050405020304" charset="0"/>
              </a:rPr>
              <a:t> </a:t>
            </a:r>
            <a:r>
              <a:rPr lang="en-US" sz="2400" b="0" dirty="0" err="1">
                <a:latin typeface="Times New Roman" panose="02020603050405020304" charset="0"/>
              </a:rPr>
              <a:t>загрузки</a:t>
            </a:r>
            <a:r>
              <a:rPr lang="en-US" sz="2400" b="0" dirty="0">
                <a:latin typeface="Times New Roman" panose="02020603050405020304" charset="0"/>
              </a:rPr>
              <a:t> </a:t>
            </a:r>
            <a:r>
              <a:rPr lang="en-US" sz="2400" b="0" dirty="0" err="1">
                <a:latin typeface="Times New Roman" panose="02020603050405020304" charset="0"/>
              </a:rPr>
              <a:t>сайта</a:t>
            </a:r>
            <a:r>
              <a:rPr lang="en-US" sz="2400" b="0" dirty="0">
                <a:latin typeface="Times New Roman" panose="02020603050405020304" charset="0"/>
              </a:rPr>
              <a:t>, и </a:t>
            </a:r>
            <a:r>
              <a:rPr lang="en-US" sz="2400" b="0" dirty="0" err="1">
                <a:latin typeface="Times New Roman" panose="02020603050405020304" charset="0"/>
              </a:rPr>
              <a:t>уже</a:t>
            </a:r>
            <a:r>
              <a:rPr lang="en-US" sz="2400" b="0" dirty="0">
                <a:latin typeface="Times New Roman" panose="02020603050405020304" charset="0"/>
              </a:rPr>
              <a:t> </a:t>
            </a:r>
            <a:r>
              <a:rPr lang="en-US" sz="2400" b="0" dirty="0" err="1">
                <a:latin typeface="Times New Roman" panose="02020603050405020304" charset="0"/>
              </a:rPr>
              <a:t>потом</a:t>
            </a:r>
            <a:r>
              <a:rPr lang="en-US" sz="2400" b="0" dirty="0">
                <a:latin typeface="Times New Roman" panose="02020603050405020304" charset="0"/>
              </a:rPr>
              <a:t> </a:t>
            </a:r>
            <a:r>
              <a:rPr lang="en-US" sz="2400" b="0" dirty="0" err="1">
                <a:latin typeface="Times New Roman" panose="02020603050405020304" charset="0"/>
              </a:rPr>
              <a:t>работу</a:t>
            </a:r>
            <a:r>
              <a:rPr lang="en-US" sz="2400" b="0" dirty="0">
                <a:latin typeface="Times New Roman" panose="02020603050405020304" charset="0"/>
              </a:rPr>
              <a:t> </a:t>
            </a:r>
            <a:r>
              <a:rPr lang="en-US" sz="2400" b="0" dirty="0" err="1">
                <a:latin typeface="Times New Roman" panose="02020603050405020304" charset="0"/>
              </a:rPr>
              <a:t>слайдеров</a:t>
            </a:r>
            <a:r>
              <a:rPr lang="en-US" sz="2400" b="0" dirty="0">
                <a:latin typeface="Times New Roman" panose="02020603050405020304" charset="0"/>
              </a:rPr>
              <a:t> и </a:t>
            </a:r>
            <a:r>
              <a:rPr lang="en-US" sz="2400" b="0" dirty="0" err="1">
                <a:latin typeface="Times New Roman" panose="02020603050405020304" charset="0"/>
              </a:rPr>
              <a:t>остального</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在网络连接较慢的情况下，这种方法可以提高网站加载速度，然后再启用滑块和其他动态元素。</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53110" y="993140"/>
            <a:ext cx="10767060" cy="1938992"/>
          </a:xfrm>
          <a:prstGeom prst="rect">
            <a:avLst/>
          </a:prstGeom>
          <a:noFill/>
          <a:ln w="9525">
            <a:noFill/>
          </a:ln>
        </p:spPr>
        <p:txBody>
          <a:bodyPr wrap="square">
            <a:spAutoFit/>
          </a:bodyPr>
          <a:lstStyle/>
          <a:p>
            <a:pPr marL="0" indent="449580" algn="just"/>
            <a:r>
              <a:rPr lang="en-US" sz="2400" b="1" dirty="0" err="1">
                <a:latin typeface="Times New Roman" panose="02020603050405020304" charset="0"/>
              </a:rPr>
              <a:t>Способ</a:t>
            </a:r>
            <a:r>
              <a:rPr lang="en-US" sz="2400" b="1" dirty="0">
                <a:latin typeface="Times New Roman" panose="02020603050405020304" charset="0"/>
              </a:rPr>
              <a:t> 2. </a:t>
            </a:r>
            <a:r>
              <a:rPr lang="en-US" sz="2400" b="1" dirty="0" err="1">
                <a:latin typeface="Times New Roman" panose="02020603050405020304" charset="0"/>
              </a:rPr>
              <a:t>Подключаем</a:t>
            </a:r>
            <a:r>
              <a:rPr lang="en-US" sz="2400" b="1" dirty="0">
                <a:latin typeface="Times New Roman" panose="02020603050405020304" charset="0"/>
              </a:rPr>
              <a:t> </a:t>
            </a:r>
            <a:r>
              <a:rPr lang="en-US" sz="2400" b="1" dirty="0" err="1">
                <a:latin typeface="Times New Roman" panose="02020603050405020304" charset="0"/>
              </a:rPr>
              <a:t>напрямую</a:t>
            </a:r>
            <a:r>
              <a:rPr lang="en-US" sz="2400" b="1" dirty="0">
                <a:latin typeface="Times New Roman" panose="02020603050405020304" charset="0"/>
              </a:rPr>
              <a:t> с </a:t>
            </a:r>
            <a:r>
              <a:rPr lang="en-US" sz="2400" b="1" dirty="0" err="1">
                <a:latin typeface="Times New Roman" panose="02020603050405020304" charset="0"/>
              </a:rPr>
              <a:t>CDN</a:t>
            </a:r>
            <a:r>
              <a:rPr lang="en-US" sz="2400" b="1" dirty="0">
                <a:latin typeface="Times New Roman" panose="02020603050405020304" charset="0"/>
              </a:rPr>
              <a:t>. </a:t>
            </a:r>
            <a:r>
              <a:rPr lang="en-US" sz="2400" b="0" dirty="0" err="1">
                <a:latin typeface="Times New Roman" panose="02020603050405020304" charset="0"/>
              </a:rPr>
              <a:t>Данный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хорош</a:t>
            </a:r>
            <a:r>
              <a:rPr lang="en-US" sz="2400" b="0" dirty="0">
                <a:latin typeface="Times New Roman" panose="02020603050405020304" charset="0"/>
              </a:rPr>
              <a:t> </a:t>
            </a:r>
            <a:r>
              <a:rPr lang="en-US" sz="2400" b="0" dirty="0" err="1">
                <a:latin typeface="Times New Roman" panose="02020603050405020304" charset="0"/>
              </a:rPr>
              <a:t>тем</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dirty="0" err="1">
                <a:latin typeface="Times New Roman" panose="02020603050405020304" charset="0"/>
              </a:rPr>
              <a:t>подключается</a:t>
            </a:r>
            <a:r>
              <a:rPr lang="en-US" sz="2400" b="0" dirty="0">
                <a:latin typeface="Times New Roman" panose="02020603050405020304" charset="0"/>
              </a:rPr>
              <a:t> с </a:t>
            </a:r>
            <a:r>
              <a:rPr lang="en-US" sz="2400" b="0" dirty="0" err="1">
                <a:latin typeface="Times New Roman" panose="02020603050405020304" charset="0"/>
              </a:rPr>
              <a:t>сайта</a:t>
            </a:r>
            <a:r>
              <a:rPr lang="en-US" sz="2400" b="0" dirty="0">
                <a:latin typeface="Times New Roman" panose="02020603050405020304" charset="0"/>
              </a:rPr>
              <a:t> и </a:t>
            </a:r>
            <a:r>
              <a:rPr lang="en-US" sz="2400" b="0" dirty="0" err="1">
                <a:latin typeface="Times New Roman" panose="02020603050405020304" charset="0"/>
              </a:rPr>
              <a:t>не</a:t>
            </a:r>
            <a:r>
              <a:rPr lang="en-US" sz="2400" b="0" dirty="0">
                <a:latin typeface="Times New Roman" panose="02020603050405020304" charset="0"/>
              </a:rPr>
              <a:t> </a:t>
            </a:r>
            <a:r>
              <a:rPr lang="en-US" sz="2400" b="0" dirty="0" err="1">
                <a:latin typeface="Times New Roman" panose="02020603050405020304" charset="0"/>
              </a:rPr>
              <a:t>валяется</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жестком</a:t>
            </a:r>
            <a:r>
              <a:rPr lang="en-US" sz="2400" b="0" dirty="0">
                <a:latin typeface="Times New Roman" panose="02020603050405020304" charset="0"/>
              </a:rPr>
              <a:t> </a:t>
            </a:r>
            <a:r>
              <a:rPr lang="en-US" sz="2400" b="0" dirty="0" err="1">
                <a:latin typeface="Times New Roman" panose="02020603050405020304" charset="0"/>
              </a:rPr>
              <a:t>диске</a:t>
            </a:r>
            <a:r>
              <a:rPr lang="en-US" sz="2400" b="0" dirty="0">
                <a:latin typeface="Times New Roman" panose="02020603050405020304" charset="0"/>
              </a:rPr>
              <a:t>. </a:t>
            </a:r>
            <a:r>
              <a:rPr lang="en-US" sz="2400" b="0" dirty="0" err="1">
                <a:latin typeface="Times New Roman" panose="02020603050405020304" charset="0"/>
              </a:rPr>
              <a:t>Особенно</a:t>
            </a:r>
            <a:r>
              <a:rPr lang="en-US" sz="2400" b="0" dirty="0">
                <a:latin typeface="Times New Roman" panose="02020603050405020304" charset="0"/>
              </a:rPr>
              <a:t>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актуально</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большом</a:t>
            </a:r>
            <a:r>
              <a:rPr lang="en-US" sz="2400" b="0" dirty="0">
                <a:latin typeface="Times New Roman" panose="02020603050405020304" charset="0"/>
              </a:rPr>
              <a:t> </a:t>
            </a:r>
            <a:r>
              <a:rPr lang="en-US" sz="2400" b="0" dirty="0" err="1">
                <a:latin typeface="Times New Roman" panose="02020603050405020304" charset="0"/>
              </a:rPr>
              <a:t>количестве</a:t>
            </a:r>
            <a:r>
              <a:rPr lang="en-US" sz="2400" b="0" dirty="0">
                <a:latin typeface="Times New Roman" panose="02020603050405020304" charset="0"/>
              </a:rPr>
              <a:t> </a:t>
            </a:r>
            <a:r>
              <a:rPr lang="en-US" sz="2400" b="0" dirty="0" err="1">
                <a:latin typeface="Times New Roman" panose="02020603050405020304" charset="0"/>
              </a:rPr>
              <a:t>маленьких</a:t>
            </a:r>
            <a:r>
              <a:rPr lang="en-US" sz="2400" b="0" dirty="0">
                <a:latin typeface="Times New Roman" panose="02020603050405020304" charset="0"/>
              </a:rPr>
              <a:t> </a:t>
            </a:r>
            <a:r>
              <a:rPr lang="en-US" sz="2400" b="0" dirty="0" err="1">
                <a:latin typeface="Times New Roman" panose="02020603050405020304" charset="0"/>
              </a:rPr>
              <a:t>проектов</a:t>
            </a:r>
            <a:r>
              <a:rPr lang="en-US" sz="2400" b="0" dirty="0">
                <a:latin typeface="Times New Roman" panose="02020603050405020304" charset="0"/>
              </a:rPr>
              <a:t> и </a:t>
            </a:r>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обучения</a:t>
            </a:r>
            <a:r>
              <a:rPr lang="en-US" sz="2400" b="0" dirty="0">
                <a:latin typeface="Times New Roman" panose="02020603050405020304" charset="0"/>
              </a:rPr>
              <a:t>.</a:t>
            </a:r>
            <a:endParaRPr lang="en-US" sz="2400" b="0" dirty="0">
              <a:latin typeface="Times New Roman" panose="02020603050405020304" charset="0"/>
            </a:endParaRPr>
          </a:p>
          <a:p>
            <a:pPr marL="0" indent="449580" algn="just"/>
            <a:r>
              <a:rPr lang="zh-CN" altLang="en-US" sz="2400" dirty="0"/>
              <a:t>方式</a:t>
            </a:r>
            <a:r>
              <a:rPr lang="en-US" altLang="zh-CN" sz="2400" dirty="0"/>
              <a:t>2</a:t>
            </a:r>
            <a:r>
              <a:rPr lang="zh-CN" altLang="en-US" sz="2400" dirty="0"/>
              <a:t>：直接通过</a:t>
            </a:r>
            <a:r>
              <a:rPr lang="en-US" altLang="zh-CN" sz="2400" dirty="0" err="1"/>
              <a:t>CDN</a:t>
            </a:r>
            <a:r>
              <a:rPr lang="zh-CN" altLang="en-US" sz="2400" dirty="0"/>
              <a:t>连接。这种方式的优点在于库直接从网站加载，不会占用硬盘空间。这在有许多小型项目和教育环境下尤为重要。</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46125" y="845820"/>
            <a:ext cx="10727055" cy="3785652"/>
          </a:xfrm>
          <a:prstGeom prst="rect">
            <a:avLst/>
          </a:prstGeom>
          <a:noFill/>
          <a:ln w="9525">
            <a:noFill/>
          </a:ln>
        </p:spPr>
        <p:txBody>
          <a:bodyPr wrap="square">
            <a:spAutoFit/>
          </a:bodyPr>
          <a:lstStyle/>
          <a:p>
            <a:pPr marL="0" indent="450215" algn="just"/>
            <a:r>
              <a:rPr lang="en-US" sz="2400" b="0" dirty="0" err="1">
                <a:latin typeface="Times New Roman" panose="02020603050405020304" charset="0"/>
              </a:rPr>
              <a:t>Сеть</a:t>
            </a:r>
            <a:r>
              <a:rPr lang="en-US" sz="2400" b="0" dirty="0">
                <a:latin typeface="Times New Roman" panose="02020603050405020304" charset="0"/>
              </a:rPr>
              <a:t> </a:t>
            </a:r>
            <a:r>
              <a:rPr lang="en-US" sz="2400" b="0" dirty="0" err="1">
                <a:latin typeface="Times New Roman" panose="02020603050405020304" charset="0"/>
              </a:rPr>
              <a:t>доставки</a:t>
            </a:r>
            <a:r>
              <a:rPr lang="en-US" sz="2400" b="0" dirty="0">
                <a:latin typeface="Times New Roman" panose="02020603050405020304" charset="0"/>
              </a:rPr>
              <a:t> </a:t>
            </a:r>
            <a:r>
              <a:rPr lang="en-US" sz="2400" b="0" dirty="0" err="1">
                <a:latin typeface="Times New Roman" panose="02020603050405020304" charset="0"/>
              </a:rPr>
              <a:t>контента</a:t>
            </a:r>
            <a:r>
              <a:rPr lang="en-US" sz="2400" b="0" dirty="0">
                <a:latin typeface="Times New Roman" panose="02020603050405020304" charset="0"/>
              </a:rPr>
              <a:t> (</a:t>
            </a:r>
            <a:r>
              <a:rPr lang="en-US" sz="2400" b="0" i="1" dirty="0">
                <a:latin typeface="Times New Roman" panose="02020603050405020304" charset="0"/>
              </a:rPr>
              <a:t>Content Delivery Network, </a:t>
            </a:r>
            <a:r>
              <a:rPr lang="en-US" sz="2400" b="0" i="1" dirty="0" err="1">
                <a:latin typeface="Times New Roman" panose="02020603050405020304" charset="0"/>
              </a:rPr>
              <a:t>CDN</a:t>
            </a:r>
            <a:r>
              <a:rPr lang="en-US" sz="2400" b="0" dirty="0">
                <a:latin typeface="Times New Roman" panose="02020603050405020304" charset="0"/>
              </a:rPr>
              <a:t>) –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система</a:t>
            </a:r>
            <a:r>
              <a:rPr lang="en-US" sz="2400" b="0" dirty="0">
                <a:latin typeface="Times New Roman" panose="02020603050405020304" charset="0"/>
              </a:rPr>
              <a:t> </a:t>
            </a:r>
            <a:r>
              <a:rPr lang="en-US" sz="2400" b="0" dirty="0" err="1">
                <a:latin typeface="Times New Roman" panose="02020603050405020304" charset="0"/>
              </a:rPr>
              <a:t>серверов</a:t>
            </a:r>
            <a:r>
              <a:rPr lang="en-US" sz="2400" b="0" dirty="0">
                <a:latin typeface="Times New Roman" panose="02020603050405020304" charset="0"/>
              </a:rPr>
              <a:t>, </a:t>
            </a:r>
            <a:r>
              <a:rPr lang="en-US" sz="2400" b="0" dirty="0" err="1">
                <a:latin typeface="Times New Roman" panose="02020603050405020304" charset="0"/>
              </a:rPr>
              <a:t>которая</a:t>
            </a:r>
            <a:r>
              <a:rPr lang="en-US" sz="2400" b="0" dirty="0">
                <a:latin typeface="Times New Roman" panose="02020603050405020304" charset="0"/>
              </a:rPr>
              <a:t> </a:t>
            </a:r>
            <a:r>
              <a:rPr lang="en-US" sz="2400" b="0" dirty="0" err="1">
                <a:latin typeface="Times New Roman" panose="02020603050405020304" charset="0"/>
              </a:rPr>
              <a:t>обслуживает</a:t>
            </a:r>
            <a:r>
              <a:rPr lang="en-US" sz="2400" b="0" dirty="0">
                <a:latin typeface="Times New Roman" panose="02020603050405020304" charset="0"/>
              </a:rPr>
              <a:t> </a:t>
            </a:r>
            <a:r>
              <a:rPr lang="en-US" sz="2400" b="0" dirty="0" err="1">
                <a:latin typeface="Times New Roman" panose="02020603050405020304" charset="0"/>
              </a:rPr>
              <a:t>веб-контент</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основе</a:t>
            </a:r>
            <a:r>
              <a:rPr lang="en-US" sz="2400" b="0" dirty="0">
                <a:latin typeface="Times New Roman" panose="02020603050405020304" charset="0"/>
              </a:rPr>
              <a:t> </a:t>
            </a:r>
            <a:r>
              <a:rPr lang="en-US" sz="2400" b="0" dirty="0" err="1">
                <a:latin typeface="Times New Roman" panose="02020603050405020304" charset="0"/>
              </a:rPr>
              <a:t>географического</a:t>
            </a:r>
            <a:r>
              <a:rPr lang="en-US" sz="2400" b="0" dirty="0">
                <a:latin typeface="Times New Roman" panose="02020603050405020304" charset="0"/>
              </a:rPr>
              <a:t> </a:t>
            </a:r>
            <a:r>
              <a:rPr lang="en-US" sz="2400" b="0" dirty="0" err="1">
                <a:latin typeface="Times New Roman" panose="02020603050405020304" charset="0"/>
              </a:rPr>
              <a:t>положения</a:t>
            </a:r>
            <a:r>
              <a:rPr lang="en-US" sz="2400" b="0" dirty="0">
                <a:latin typeface="Times New Roman" panose="02020603050405020304" charset="0"/>
              </a:rPr>
              <a:t> </a:t>
            </a:r>
            <a:r>
              <a:rPr lang="en-US" sz="2400" b="0" dirty="0" err="1">
                <a:latin typeface="Times New Roman" panose="02020603050405020304" charset="0"/>
              </a:rPr>
              <a:t>пользователя</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内容传递网络（</a:t>
            </a:r>
            <a:r>
              <a:rPr lang="en-US" altLang="zh-CN" sz="2400" b="0" i="0" dirty="0">
                <a:solidFill>
                  <a:srgbClr val="0F0F0F"/>
                </a:solidFill>
                <a:effectLst/>
                <a:latin typeface="Söhne"/>
              </a:rPr>
              <a:t>Content Delivery Network, </a:t>
            </a:r>
            <a:r>
              <a:rPr lang="en-US" altLang="zh-CN" sz="2400" b="0" i="0" dirty="0" err="1">
                <a:solidFill>
                  <a:srgbClr val="0F0F0F"/>
                </a:solidFill>
                <a:effectLst/>
                <a:latin typeface="Söhne"/>
              </a:rPr>
              <a:t>CDN</a:t>
            </a:r>
            <a:r>
              <a:rPr lang="zh-CN" altLang="en-US" sz="2400" b="0" i="0" dirty="0">
                <a:solidFill>
                  <a:srgbClr val="0F0F0F"/>
                </a:solidFill>
                <a:effectLst/>
                <a:latin typeface="Söhne"/>
              </a:rPr>
              <a:t>）是一种基于用户地理位置提供</a:t>
            </a:r>
            <a:r>
              <a:rPr lang="en-US" altLang="zh-CN" sz="2400" b="0" i="0" dirty="0">
                <a:solidFill>
                  <a:srgbClr val="0F0F0F"/>
                </a:solidFill>
                <a:effectLst/>
                <a:latin typeface="Söhne"/>
              </a:rPr>
              <a:t>Web</a:t>
            </a:r>
            <a:r>
              <a:rPr lang="zh-CN" altLang="en-US" sz="2400" b="0" i="0" dirty="0">
                <a:solidFill>
                  <a:srgbClr val="0F0F0F"/>
                </a:solidFill>
                <a:effectLst/>
                <a:latin typeface="Söhne"/>
              </a:rPr>
              <a:t>内容的服务器系统。</a:t>
            </a:r>
            <a:endParaRPr lang="en-US" sz="2400" b="0" dirty="0">
              <a:latin typeface="Times New Roman" panose="02020603050405020304" charset="0"/>
            </a:endParaRPr>
          </a:p>
          <a:p>
            <a:pPr marL="0" indent="450215" algn="just"/>
            <a:endParaRPr lang="en-US" sz="2400" b="0" dirty="0">
              <a:latin typeface="Times New Roman" panose="02020603050405020304" charset="0"/>
            </a:endParaRPr>
          </a:p>
          <a:p>
            <a:pPr marL="0" indent="450215" algn="just"/>
            <a:r>
              <a:rPr lang="en-US" sz="2400" b="0" dirty="0" err="1">
                <a:latin typeface="Times New Roman" panose="02020603050405020304" charset="0"/>
              </a:rPr>
              <a:t>Файл</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a:t>
            </a:r>
            <a:r>
              <a:rPr lang="en-US" sz="2400" b="0" dirty="0">
                <a:latin typeface="Times New Roman" panose="02020603050405020304" charset="0"/>
              </a:rPr>
              <a:t> </a:t>
            </a:r>
            <a:r>
              <a:rPr lang="en-US" sz="2400" b="0" i="1" dirty="0" err="1">
                <a:latin typeface="Times New Roman" panose="02020603050405020304" charset="0"/>
              </a:rPr>
              <a:t>CDN</a:t>
            </a:r>
            <a:r>
              <a:rPr lang="en-US" sz="2400" b="0" dirty="0">
                <a:latin typeface="Times New Roman" panose="02020603050405020304" charset="0"/>
              </a:rPr>
              <a:t> </a:t>
            </a:r>
            <a:r>
              <a:rPr lang="en-US" sz="2400" b="0" dirty="0" err="1">
                <a:latin typeface="Times New Roman" panose="02020603050405020304" charset="0"/>
              </a:rPr>
              <a:t>будет</a:t>
            </a:r>
            <a:r>
              <a:rPr lang="en-US" sz="2400" b="0" dirty="0">
                <a:latin typeface="Times New Roman" panose="02020603050405020304" charset="0"/>
              </a:rPr>
              <a:t> </a:t>
            </a:r>
            <a:r>
              <a:rPr lang="en-US" sz="2400" b="0" dirty="0" err="1">
                <a:latin typeface="Times New Roman" panose="02020603050405020304" charset="0"/>
              </a:rPr>
              <a:t>обслуживаться</a:t>
            </a:r>
            <a:r>
              <a:rPr lang="en-US" sz="2400" b="0" dirty="0">
                <a:latin typeface="Times New Roman" panose="02020603050405020304" charset="0"/>
              </a:rPr>
              <a:t> </a:t>
            </a:r>
            <a:r>
              <a:rPr lang="en-US" sz="2400" b="0" dirty="0" err="1">
                <a:latin typeface="Times New Roman" panose="02020603050405020304" charset="0"/>
              </a:rPr>
              <a:t>быстрее</a:t>
            </a:r>
            <a:r>
              <a:rPr lang="en-US" sz="2400" b="0" dirty="0">
                <a:latin typeface="Times New Roman" panose="02020603050405020304" charset="0"/>
              </a:rPr>
              <a:t> и </a:t>
            </a:r>
            <a:r>
              <a:rPr lang="en-US" sz="2400" b="0" dirty="0" err="1">
                <a:latin typeface="Times New Roman" panose="02020603050405020304" charset="0"/>
              </a:rPr>
              <a:t>эффективнее</a:t>
            </a:r>
            <a:r>
              <a:rPr lang="en-US" sz="2400" b="0" dirty="0">
                <a:latin typeface="Times New Roman" panose="02020603050405020304" charset="0"/>
              </a:rPr>
              <a:t>, </a:t>
            </a:r>
            <a:r>
              <a:rPr lang="en-US" sz="2400" b="0" dirty="0" err="1">
                <a:latin typeface="Times New Roman" panose="02020603050405020304" charset="0"/>
              </a:rPr>
              <a:t>чем</a:t>
            </a:r>
            <a:r>
              <a:rPr lang="en-US" sz="2400" b="0" dirty="0">
                <a:latin typeface="Times New Roman" panose="02020603050405020304" charset="0"/>
              </a:rPr>
              <a:t> </a:t>
            </a:r>
            <a:r>
              <a:rPr lang="en-US" sz="2400" b="0" dirty="0" err="1">
                <a:latin typeface="Times New Roman" panose="02020603050405020304" charset="0"/>
              </a:rPr>
              <a:t>файл</a:t>
            </a:r>
            <a:r>
              <a:rPr lang="en-US" sz="2400" b="0" dirty="0">
                <a:latin typeface="Times New Roman" panose="02020603050405020304" charset="0"/>
              </a:rPr>
              <a:t>, </a:t>
            </a:r>
            <a:r>
              <a:rPr lang="en-US" sz="2400" b="0" dirty="0" err="1">
                <a:latin typeface="Times New Roman" panose="02020603050405020304" charset="0"/>
              </a:rPr>
              <a:t>размещённый</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сервере</a:t>
            </a:r>
            <a:r>
              <a:rPr lang="en-US" sz="2400" b="0" dirty="0">
                <a:latin typeface="Times New Roman" panose="02020603050405020304" charset="0"/>
              </a:rPr>
              <a:t> </a:t>
            </a:r>
            <a:r>
              <a:rPr lang="en-US" sz="2400" b="0" dirty="0" err="1">
                <a:latin typeface="Times New Roman" panose="02020603050405020304" charset="0"/>
              </a:rPr>
              <a:t>вместе</a:t>
            </a:r>
            <a:r>
              <a:rPr lang="en-US" sz="2400" b="0" dirty="0">
                <a:latin typeface="Times New Roman" panose="02020603050405020304" charset="0"/>
              </a:rPr>
              <a:t> с </a:t>
            </a:r>
            <a:r>
              <a:rPr lang="en-US" sz="2400" b="0" dirty="0" err="1">
                <a:latin typeface="Times New Roman" panose="02020603050405020304" charset="0"/>
              </a:rPr>
              <a:t>остальными</a:t>
            </a:r>
            <a:r>
              <a:rPr lang="en-US" sz="2400" b="0" dirty="0">
                <a:latin typeface="Times New Roman" panose="02020603050405020304" charset="0"/>
              </a:rPr>
              <a:t> </a:t>
            </a:r>
            <a:r>
              <a:rPr lang="en-US" sz="2400" b="0" dirty="0" err="1">
                <a:latin typeface="Times New Roman" panose="02020603050405020304" charset="0"/>
              </a:rPr>
              <a:t>компонентами</a:t>
            </a:r>
            <a:r>
              <a:rPr lang="en-US" sz="2400" b="0" dirty="0">
                <a:latin typeface="Times New Roman" panose="02020603050405020304" charset="0"/>
              </a:rPr>
              <a:t> </a:t>
            </a:r>
            <a:r>
              <a:rPr lang="en-US" sz="2400" b="0" dirty="0" err="1">
                <a:latin typeface="Times New Roman" panose="02020603050405020304" charset="0"/>
              </a:rPr>
              <a:t>приложения</a:t>
            </a:r>
            <a:r>
              <a:rPr lang="en-US" sz="2400" b="0" dirty="0">
                <a:latin typeface="Times New Roman" panose="02020603050405020304" charset="0"/>
              </a:rPr>
              <a:t>.</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通过</a:t>
            </a:r>
            <a:r>
              <a:rPr lang="en-US" altLang="zh-CN" sz="2400" b="0" i="0" dirty="0" err="1">
                <a:solidFill>
                  <a:srgbClr val="0F0F0F"/>
                </a:solidFill>
                <a:effectLst/>
                <a:latin typeface="Söhne"/>
              </a:rPr>
              <a:t>CDN</a:t>
            </a:r>
            <a:r>
              <a:rPr lang="zh-CN" altLang="en-US" sz="2400" b="0" i="0" dirty="0">
                <a:solidFill>
                  <a:srgbClr val="0F0F0F"/>
                </a:solidFill>
                <a:effectLst/>
                <a:latin typeface="Söhne"/>
              </a:rPr>
              <a:t>提供的</a:t>
            </a:r>
            <a:r>
              <a:rPr lang="en-US" altLang="zh-CN" sz="2400" b="0" i="0" dirty="0">
                <a:solidFill>
                  <a:srgbClr val="0F0F0F"/>
                </a:solidFill>
                <a:effectLst/>
                <a:latin typeface="Söhne"/>
              </a:rPr>
              <a:t>jQuery</a:t>
            </a:r>
            <a:r>
              <a:rPr lang="zh-CN" altLang="en-US" sz="2400" b="0" i="0" dirty="0">
                <a:solidFill>
                  <a:srgbClr val="0F0F0F"/>
                </a:solidFill>
                <a:effectLst/>
                <a:latin typeface="Söhne"/>
              </a:rPr>
              <a:t>文件将比与应用程序的其他组件一起放置在服务器上的文件更快速和高效。</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7" name="Text Box 6"/>
          <p:cNvSpPr txBox="1"/>
          <p:nvPr/>
        </p:nvSpPr>
        <p:spPr>
          <a:xfrm>
            <a:off x="740410" y="468630"/>
            <a:ext cx="10817225" cy="1938992"/>
          </a:xfrm>
          <a:prstGeom prst="rect">
            <a:avLst/>
          </a:prstGeom>
          <a:noFill/>
        </p:spPr>
        <p:txBody>
          <a:bodyPr wrap="square" rtlCol="0" anchor="t">
            <a:spAutoFit/>
          </a:bodyPr>
          <a:lstStyle/>
          <a:p>
            <a:pPr algn="just"/>
            <a:r>
              <a:rPr lang="ru-RU" altLang="en-US" sz="2400" dirty="0">
                <a:latin typeface="Times New Roman" panose="02020603050405020304" charset="0"/>
                <a:sym typeface="+mn-ea"/>
              </a:rPr>
              <a:t>	Чтобы использовать с</a:t>
            </a:r>
            <a:r>
              <a:rPr lang="en-US" sz="2400" dirty="0" err="1">
                <a:latin typeface="Times New Roman" panose="02020603050405020304" charset="0"/>
                <a:sym typeface="+mn-ea"/>
              </a:rPr>
              <a:t>еть</a:t>
            </a:r>
            <a:r>
              <a:rPr lang="en-US" sz="2400" dirty="0">
                <a:latin typeface="Times New Roman" panose="02020603050405020304" charset="0"/>
                <a:sym typeface="+mn-ea"/>
              </a:rPr>
              <a:t> </a:t>
            </a:r>
            <a:r>
              <a:rPr lang="en-US" sz="2400" dirty="0" err="1">
                <a:latin typeface="Times New Roman" panose="02020603050405020304" charset="0"/>
                <a:sym typeface="+mn-ea"/>
              </a:rPr>
              <a:t>доставки</a:t>
            </a:r>
            <a:r>
              <a:rPr lang="en-US" sz="2400" dirty="0">
                <a:latin typeface="Times New Roman" panose="02020603050405020304" charset="0"/>
                <a:sym typeface="+mn-ea"/>
              </a:rPr>
              <a:t> </a:t>
            </a:r>
            <a:r>
              <a:rPr lang="en-US" sz="2400" dirty="0" err="1">
                <a:latin typeface="Times New Roman" panose="02020603050405020304" charset="0"/>
                <a:sym typeface="+mn-ea"/>
              </a:rPr>
              <a:t>контента</a:t>
            </a:r>
            <a:r>
              <a:rPr lang="en-US" sz="2400" dirty="0">
                <a:latin typeface="Times New Roman" panose="02020603050405020304" charset="0"/>
                <a:sym typeface="+mn-ea"/>
              </a:rPr>
              <a:t> (</a:t>
            </a:r>
            <a:r>
              <a:rPr lang="en-US" sz="2400" i="1" dirty="0">
                <a:latin typeface="Times New Roman" panose="02020603050405020304" charset="0"/>
                <a:sym typeface="+mn-ea"/>
              </a:rPr>
              <a:t>Content Delivery Network, </a:t>
            </a:r>
            <a:r>
              <a:rPr lang="en-US" sz="2400" i="1" dirty="0" err="1">
                <a:latin typeface="Times New Roman" panose="02020603050405020304" charset="0"/>
                <a:sym typeface="+mn-ea"/>
              </a:rPr>
              <a:t>CDN</a:t>
            </a:r>
            <a:r>
              <a:rPr lang="en-US" sz="2400" dirty="0">
                <a:latin typeface="Times New Roman" panose="02020603050405020304" charset="0"/>
                <a:sym typeface="+mn-ea"/>
              </a:rPr>
              <a:t>)</a:t>
            </a:r>
            <a:r>
              <a:rPr lang="ru-RU" altLang="en-US" sz="2400" dirty="0">
                <a:latin typeface="Times New Roman" panose="02020603050405020304" charset="0"/>
                <a:sym typeface="+mn-ea"/>
              </a:rPr>
              <a:t> нам понадобиться ссылка подключения. Добавьте данный код в </a:t>
            </a:r>
            <a:r>
              <a:rPr lang="en-US" altLang="ru-RU" sz="2400" dirty="0">
                <a:latin typeface="Times New Roman" panose="02020603050405020304" charset="0"/>
                <a:sym typeface="+mn-ea"/>
              </a:rPr>
              <a:t>HTML </a:t>
            </a:r>
            <a:r>
              <a:rPr lang="ru-RU" altLang="en-US" sz="2400" dirty="0">
                <a:latin typeface="Times New Roman" panose="02020603050405020304" charset="0"/>
                <a:sym typeface="+mn-ea"/>
              </a:rPr>
              <a:t>документ. </a:t>
            </a:r>
            <a:endParaRPr lang="en-US" altLang="en-US" sz="2400" dirty="0">
              <a:latin typeface="Times New Roman" panose="02020603050405020304" charset="0"/>
              <a:sym typeface="+mn-ea"/>
            </a:endParaRPr>
          </a:p>
          <a:p>
            <a:pPr algn="just"/>
            <a:r>
              <a:rPr lang="zh-CN" altLang="en-US" sz="2400" dirty="0">
                <a:latin typeface="Times New Roman" panose="02020603050405020304" charset="0"/>
                <a:sym typeface="+mn-ea"/>
              </a:rPr>
              <a:t>为了使用内容传送网络（</a:t>
            </a:r>
            <a:r>
              <a:rPr lang="en-US" altLang="en-US" sz="2400" dirty="0">
                <a:latin typeface="Times New Roman" panose="02020603050405020304" charset="0"/>
                <a:sym typeface="+mn-ea"/>
              </a:rPr>
              <a:t>Content Delivery Network, </a:t>
            </a:r>
            <a:r>
              <a:rPr lang="en-US" altLang="en-US" sz="2400" dirty="0" err="1">
                <a:latin typeface="Times New Roman" panose="02020603050405020304" charset="0"/>
                <a:sym typeface="+mn-ea"/>
              </a:rPr>
              <a:t>CDN</a:t>
            </a:r>
            <a:r>
              <a:rPr lang="en-US" altLang="en-US" sz="2400" dirty="0">
                <a:latin typeface="Times New Roman" panose="02020603050405020304" charset="0"/>
                <a:sym typeface="+mn-ea"/>
              </a:rPr>
              <a:t>），</a:t>
            </a:r>
            <a:r>
              <a:rPr lang="zh-CN" altLang="en-US" sz="2400" dirty="0">
                <a:latin typeface="Times New Roman" panose="02020603050405020304" charset="0"/>
                <a:sym typeface="+mn-ea"/>
              </a:rPr>
              <a:t>我们需要连接链接。请将以下代码添加到</a:t>
            </a:r>
            <a:r>
              <a:rPr lang="en-US" altLang="en-US" sz="2400" dirty="0">
                <a:latin typeface="Times New Roman" panose="02020603050405020304" charset="0"/>
                <a:sym typeface="+mn-ea"/>
              </a:rPr>
              <a:t>HTML</a:t>
            </a:r>
            <a:r>
              <a:rPr lang="zh-CN" altLang="en-US" sz="2400" dirty="0">
                <a:latin typeface="Times New Roman" panose="02020603050405020304" charset="0"/>
                <a:sym typeface="+mn-ea"/>
              </a:rPr>
              <a:t>文档中。</a:t>
            </a:r>
            <a:endParaRPr lang="ru-RU" altLang="en-US" sz="2400" dirty="0">
              <a:latin typeface="Times New Roman" panose="02020603050405020304" charset="0"/>
              <a:sym typeface="+mn-ea"/>
            </a:endParaRPr>
          </a:p>
        </p:txBody>
      </p:sp>
      <p:sp>
        <p:nvSpPr>
          <p:cNvPr id="8" name="Text Box 7"/>
          <p:cNvSpPr txBox="1"/>
          <p:nvPr/>
        </p:nvSpPr>
        <p:spPr>
          <a:xfrm>
            <a:off x="740410" y="3571240"/>
            <a:ext cx="9150350" cy="1198880"/>
          </a:xfrm>
          <a:prstGeom prst="rect">
            <a:avLst/>
          </a:prstGeom>
          <a:noFill/>
        </p:spPr>
        <p:txBody>
          <a:bodyPr wrap="none" rtlCol="0" anchor="t">
            <a:spAutoFit/>
          </a:bodyPr>
          <a:lstStyle/>
          <a:p>
            <a:pPr algn="l"/>
            <a:r>
              <a:rPr lang="en-US" sz="2400">
                <a:solidFill>
                  <a:srgbClr val="800000"/>
                </a:solidFill>
                <a:latin typeface="Consolas" charset="0"/>
                <a:sym typeface="+mn-ea"/>
              </a:rPr>
              <a:t>&lt;script</a:t>
            </a:r>
            <a:r>
              <a:rPr lang="en-US" sz="2400">
                <a:solidFill>
                  <a:srgbClr val="000000"/>
                </a:solidFill>
                <a:latin typeface="Consolas" charset="0"/>
                <a:sym typeface="+mn-ea"/>
              </a:rPr>
              <a:t> </a:t>
            </a:r>
            <a:endParaRPr lang="en-US" sz="2400">
              <a:solidFill>
                <a:srgbClr val="000000"/>
              </a:solidFill>
              <a:latin typeface="Consolas" charset="0"/>
              <a:sym typeface="+mn-ea"/>
            </a:endParaRPr>
          </a:p>
          <a:p>
            <a:pPr algn="l"/>
            <a:r>
              <a:rPr lang="ru-RU" altLang="en-US" sz="2400">
                <a:solidFill>
                  <a:srgbClr val="000000"/>
                </a:solidFill>
                <a:latin typeface="Consolas" charset="0"/>
                <a:sym typeface="+mn-ea"/>
              </a:rPr>
              <a:t>	</a:t>
            </a:r>
            <a:r>
              <a:rPr lang="en-US" sz="2400">
                <a:solidFill>
                  <a:srgbClr val="E50000"/>
                </a:solidFill>
                <a:latin typeface="Consolas" charset="0"/>
                <a:sym typeface="+mn-ea"/>
              </a:rPr>
              <a:t>src</a:t>
            </a:r>
            <a:r>
              <a:rPr lang="en-US" sz="2400">
                <a:solidFill>
                  <a:srgbClr val="000000"/>
                </a:solidFill>
                <a:latin typeface="Consolas" charset="0"/>
                <a:sym typeface="+mn-ea"/>
              </a:rPr>
              <a:t>=</a:t>
            </a:r>
            <a:r>
              <a:rPr lang="en-US" sz="2400">
                <a:solidFill>
                  <a:srgbClr val="0000FF"/>
                </a:solidFill>
                <a:latin typeface="Consolas" charset="0"/>
                <a:sym typeface="+mn-ea"/>
              </a:rPr>
              <a:t>"https://cdn.bootcss.com/jquery/3.1.1/jquery.min.js"</a:t>
            </a:r>
            <a:endParaRPr lang="en-US" sz="2400">
              <a:solidFill>
                <a:srgbClr val="0000FF"/>
              </a:solidFill>
              <a:latin typeface="Consolas" charset="0"/>
              <a:sym typeface="+mn-ea"/>
            </a:endParaRPr>
          </a:p>
          <a:p>
            <a:pPr algn="l"/>
            <a:r>
              <a:rPr lang="en-US" sz="2400">
                <a:solidFill>
                  <a:srgbClr val="800000"/>
                </a:solidFill>
                <a:latin typeface="Consolas" charset="0"/>
                <a:sym typeface="+mn-ea"/>
              </a:rPr>
              <a:t>&gt;&lt;/script&gt;</a:t>
            </a:r>
            <a:endParaRPr 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s 6"/>
          <p:cNvSpPr/>
          <p:nvPr/>
        </p:nvSpPr>
        <p:spPr>
          <a:xfrm>
            <a:off x="262890" y="4493260"/>
            <a:ext cx="11158220" cy="179895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s 5"/>
          <p:cNvSpPr/>
          <p:nvPr/>
        </p:nvSpPr>
        <p:spPr>
          <a:xfrm>
            <a:off x="249555" y="262255"/>
            <a:ext cx="11184890" cy="3755390"/>
          </a:xfrm>
          <a:prstGeom prst="rect">
            <a:avLst/>
          </a:prstGeom>
          <a:solidFill>
            <a:schemeClr val="accent1">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49555" y="1092200"/>
            <a:ext cx="11692890" cy="2861310"/>
          </a:xfrm>
          <a:prstGeom prst="rect">
            <a:avLst/>
          </a:prstGeom>
          <a:noFill/>
          <a:ln w="9525">
            <a:noFill/>
          </a:ln>
        </p:spPr>
        <p:txBody>
          <a:bodyPr wrap="square">
            <a:spAutoFit/>
          </a:bodyPr>
          <a:lstStyle/>
          <a:p>
            <a:pPr indent="0"/>
            <a:r>
              <a:rPr lang="en-US" sz="2000" b="0">
                <a:solidFill>
                  <a:srgbClr val="800000"/>
                </a:solidFill>
                <a:latin typeface="Consolas" charset="0"/>
              </a:rPr>
              <a:t>&lt;!DOCTYPE</a:t>
            </a:r>
            <a:r>
              <a:rPr lang="en-US" sz="2000" b="0">
                <a:solidFill>
                  <a:srgbClr val="000000"/>
                </a:solidFill>
                <a:latin typeface="Consolas" charset="0"/>
              </a:rPr>
              <a:t> </a:t>
            </a:r>
            <a:r>
              <a:rPr lang="en-US" sz="2000" b="0">
                <a:solidFill>
                  <a:srgbClr val="E50000"/>
                </a:solidFill>
                <a:latin typeface="Consolas" charset="0"/>
              </a:rPr>
              <a:t>HTML</a:t>
            </a:r>
            <a:r>
              <a:rPr lang="en-US" sz="2000" b="0">
                <a:solidFill>
                  <a:srgbClr val="800000"/>
                </a:solidFill>
                <a:latin typeface="Consolas" charset="0"/>
              </a:rPr>
              <a:t>&gt;</a:t>
            </a:r>
            <a:endParaRPr lang="en-US" sz="2000" b="0">
              <a:solidFill>
                <a:srgbClr val="800000"/>
              </a:solidFill>
              <a:latin typeface="Consolas" charset="0"/>
            </a:endParaRPr>
          </a:p>
          <a:p>
            <a:pPr indent="0"/>
            <a:r>
              <a:rPr lang="en-US" sz="2000" b="0">
                <a:solidFill>
                  <a:srgbClr val="800000"/>
                </a:solidFill>
                <a:latin typeface="Consolas" charset="0"/>
              </a:rPr>
              <a:t>&lt;html&gt;</a:t>
            </a:r>
            <a:endParaRPr lang="en-US" sz="2000" b="0">
              <a:solidFill>
                <a:srgbClr val="800000"/>
              </a:solidFill>
              <a:latin typeface="Consolas" charset="0"/>
            </a:endParaRPr>
          </a:p>
          <a:p>
            <a:pPr indent="0"/>
            <a:r>
              <a:rPr lang="en-US" sz="2000" b="0">
                <a:solidFill>
                  <a:srgbClr val="800000"/>
                </a:solidFill>
                <a:latin typeface="Consolas" charset="0"/>
              </a:rPr>
              <a:t>&lt;body&gt;</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&lt;p</a:t>
            </a:r>
            <a:r>
              <a:rPr lang="en-US" sz="2000" b="0">
                <a:solidFill>
                  <a:srgbClr val="000000"/>
                </a:solidFill>
                <a:latin typeface="Consolas" charset="0"/>
              </a:rPr>
              <a:t> </a:t>
            </a:r>
            <a:r>
              <a:rPr lang="en-US" sz="2000" b="0">
                <a:solidFill>
                  <a:srgbClr val="E50000"/>
                </a:solidFill>
                <a:latin typeface="Consolas" charset="0"/>
              </a:rPr>
              <a:t>id</a:t>
            </a:r>
            <a:r>
              <a:rPr lang="en-US" sz="2000" b="0">
                <a:solidFill>
                  <a:srgbClr val="000000"/>
                </a:solidFill>
                <a:latin typeface="Consolas" charset="0"/>
              </a:rPr>
              <a:t>=</a:t>
            </a:r>
            <a:r>
              <a:rPr lang="en-US" sz="2000" b="0">
                <a:solidFill>
                  <a:srgbClr val="0000FF"/>
                </a:solidFill>
                <a:latin typeface="Consolas" charset="0"/>
              </a:rPr>
              <a:t>"demo"</a:t>
            </a:r>
            <a:r>
              <a:rPr lang="en-US" sz="2000" b="0">
                <a:solidFill>
                  <a:srgbClr val="800000"/>
                </a:solidFill>
                <a:latin typeface="Consolas" charset="0"/>
              </a:rPr>
              <a:t>&gt;&lt;/p&gt;</a:t>
            </a:r>
            <a:endParaRPr lang="en-US" sz="2000" b="0">
              <a:solidFill>
                <a:srgbClr val="000000"/>
              </a:solidFill>
              <a:latin typeface="Consolas" charset="0"/>
            </a:endParaRPr>
          </a:p>
          <a:p>
            <a:pPr indent="0"/>
            <a:r>
              <a:rPr lang="en-US" sz="2000" b="0">
                <a:solidFill>
                  <a:srgbClr val="000000"/>
                </a:solidFill>
                <a:latin typeface="Consolas" charset="0"/>
              </a:rPr>
              <a:t> </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&lt;script</a:t>
            </a:r>
            <a:r>
              <a:rPr lang="en-US" sz="2000" b="0">
                <a:solidFill>
                  <a:srgbClr val="000000"/>
                </a:solidFill>
                <a:latin typeface="Consolas" charset="0"/>
              </a:rPr>
              <a:t> </a:t>
            </a:r>
            <a:r>
              <a:rPr lang="en-US" sz="2000" b="0">
                <a:solidFill>
                  <a:srgbClr val="E50000"/>
                </a:solidFill>
                <a:latin typeface="Consolas" charset="0"/>
              </a:rPr>
              <a:t>src</a:t>
            </a:r>
            <a:r>
              <a:rPr lang="en-US" sz="2000" b="0">
                <a:solidFill>
                  <a:srgbClr val="000000"/>
                </a:solidFill>
                <a:latin typeface="Consolas" charset="0"/>
              </a:rPr>
              <a:t>=</a:t>
            </a:r>
            <a:r>
              <a:rPr lang="en-US" sz="2000" b="0">
                <a:solidFill>
                  <a:srgbClr val="0000FF"/>
                </a:solidFill>
                <a:latin typeface="Consolas" charset="0"/>
              </a:rPr>
              <a:t>"https://cdn.bootcss.com/jquery/3.1.1/jquery.min.js"</a:t>
            </a:r>
            <a:r>
              <a:rPr lang="en-US" sz="2000" b="0">
                <a:solidFill>
                  <a:srgbClr val="800000"/>
                </a:solidFill>
                <a:latin typeface="Consolas" charset="0"/>
              </a:rPr>
              <a:t>&gt;&lt;/script&gt;</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&lt;script</a:t>
            </a:r>
            <a:r>
              <a:rPr lang="en-US" sz="2000" b="0">
                <a:solidFill>
                  <a:srgbClr val="000000"/>
                </a:solidFill>
                <a:latin typeface="Consolas" charset="0"/>
              </a:rPr>
              <a:t> </a:t>
            </a:r>
            <a:r>
              <a:rPr lang="en-US" sz="2000" b="0">
                <a:solidFill>
                  <a:srgbClr val="E50000"/>
                </a:solidFill>
                <a:latin typeface="Consolas" charset="0"/>
              </a:rPr>
              <a:t>src</a:t>
            </a:r>
            <a:r>
              <a:rPr lang="en-US" sz="2000" b="0">
                <a:solidFill>
                  <a:srgbClr val="000000"/>
                </a:solidFill>
                <a:latin typeface="Consolas" charset="0"/>
              </a:rPr>
              <a:t>=</a:t>
            </a:r>
            <a:r>
              <a:rPr lang="en-US" sz="2000" b="0">
                <a:solidFill>
                  <a:srgbClr val="0000FF"/>
                </a:solidFill>
                <a:latin typeface="Consolas" charset="0"/>
              </a:rPr>
              <a:t>"script.js"</a:t>
            </a:r>
            <a:r>
              <a:rPr lang="en-US" sz="2000" b="0">
                <a:solidFill>
                  <a:srgbClr val="800000"/>
                </a:solidFill>
                <a:latin typeface="Consolas" charset="0"/>
              </a:rPr>
              <a:t>&gt;&lt;/script&gt;</a:t>
            </a:r>
            <a:endParaRPr lang="en-US" sz="2000" b="0">
              <a:solidFill>
                <a:srgbClr val="800000"/>
              </a:solidFill>
              <a:latin typeface="Consolas" charset="0"/>
            </a:endParaRPr>
          </a:p>
          <a:p>
            <a:pPr indent="0"/>
            <a:r>
              <a:rPr lang="en-US" sz="2000" b="0">
                <a:solidFill>
                  <a:srgbClr val="800000"/>
                </a:solidFill>
                <a:latin typeface="Consolas" charset="0"/>
              </a:rPr>
              <a:t>&lt;/body&gt;</a:t>
            </a:r>
            <a:endParaRPr lang="en-US" sz="2000" b="0">
              <a:solidFill>
                <a:srgbClr val="800000"/>
              </a:solidFill>
              <a:latin typeface="Consolas" charset="0"/>
            </a:endParaRPr>
          </a:p>
          <a:p>
            <a:pPr indent="0"/>
            <a:r>
              <a:rPr lang="en-US" sz="2000" b="0">
                <a:solidFill>
                  <a:srgbClr val="800000"/>
                </a:solidFill>
                <a:latin typeface="Consolas" charset="0"/>
              </a:rPr>
              <a:t>&lt;/html&gt;</a:t>
            </a:r>
            <a:endParaRPr lang="en-US" sz="2000"/>
          </a:p>
        </p:txBody>
      </p:sp>
      <p:sp>
        <p:nvSpPr>
          <p:cNvPr id="2" name="Text Box 1"/>
          <p:cNvSpPr txBox="1"/>
          <p:nvPr/>
        </p:nvSpPr>
        <p:spPr>
          <a:xfrm>
            <a:off x="358140" y="5332095"/>
            <a:ext cx="5080000" cy="460375"/>
          </a:xfrm>
          <a:prstGeom prst="rect">
            <a:avLst/>
          </a:prstGeom>
          <a:noFill/>
          <a:ln w="9525">
            <a:noFill/>
          </a:ln>
        </p:spPr>
        <p:txBody>
          <a:bodyPr>
            <a:spAutoFit/>
          </a:bodyPr>
          <a:lstStyle/>
          <a:p>
            <a:pPr marL="0"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"#demo"</a:t>
            </a:r>
            <a:r>
              <a:rPr lang="en-US" sz="2400" b="0">
                <a:solidFill>
                  <a:srgbClr val="000000"/>
                </a:solidFill>
                <a:latin typeface="Consolas" charset="0"/>
              </a:rPr>
              <a:t>).</a:t>
            </a:r>
            <a:r>
              <a:rPr lang="en-US" sz="2400" b="0">
                <a:solidFill>
                  <a:srgbClr val="795E26"/>
                </a:solidFill>
                <a:latin typeface="Consolas" charset="0"/>
              </a:rPr>
              <a:t>html</a:t>
            </a:r>
            <a:r>
              <a:rPr lang="en-US" sz="2400" b="0">
                <a:solidFill>
                  <a:srgbClr val="000000"/>
                </a:solidFill>
                <a:latin typeface="Consolas" charset="0"/>
              </a:rPr>
              <a:t>(</a:t>
            </a:r>
            <a:r>
              <a:rPr lang="en-US" sz="2400" b="0">
                <a:solidFill>
                  <a:srgbClr val="A31515"/>
                </a:solidFill>
                <a:latin typeface="Consolas" charset="0"/>
              </a:rPr>
              <a:t>"Hello, World!"</a:t>
            </a:r>
            <a:r>
              <a:rPr lang="en-US" sz="2400" b="0">
                <a:solidFill>
                  <a:srgbClr val="000000"/>
                </a:solidFill>
                <a:latin typeface="Consolas" charset="0"/>
              </a:rPr>
              <a:t>);</a:t>
            </a:r>
            <a:endParaRPr lang="en-US" sz="2400"/>
          </a:p>
        </p:txBody>
      </p:sp>
      <p:sp>
        <p:nvSpPr>
          <p:cNvPr id="3" name="Text Box 2"/>
          <p:cNvSpPr txBox="1"/>
          <p:nvPr/>
        </p:nvSpPr>
        <p:spPr>
          <a:xfrm>
            <a:off x="358140" y="450246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5" name="Text Box 4"/>
          <p:cNvSpPr txBox="1"/>
          <p:nvPr/>
        </p:nvSpPr>
        <p:spPr>
          <a:xfrm>
            <a:off x="358140" y="262255"/>
            <a:ext cx="4812665"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943610" y="829945"/>
            <a:ext cx="10410190" cy="3416320"/>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Очень</a:t>
            </a:r>
            <a:r>
              <a:rPr lang="en-US" sz="2400" b="0" dirty="0">
                <a:latin typeface="Times New Roman" panose="02020603050405020304" charset="0"/>
              </a:rPr>
              <a:t> </a:t>
            </a:r>
            <a:r>
              <a:rPr lang="en-US" sz="2400" b="0" dirty="0" err="1">
                <a:latin typeface="Times New Roman" panose="02020603050405020304" charset="0"/>
              </a:rPr>
              <a:t>важно</a:t>
            </a:r>
            <a:r>
              <a:rPr lang="en-US" sz="2400" b="0" dirty="0">
                <a:latin typeface="Times New Roman" panose="02020603050405020304" charset="0"/>
              </a:rPr>
              <a:t> </a:t>
            </a:r>
            <a:r>
              <a:rPr lang="en-US" sz="2400" b="0" dirty="0" err="1">
                <a:latin typeface="Times New Roman" panose="02020603050405020304" charset="0"/>
              </a:rPr>
              <a:t>заметить</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файл</a:t>
            </a:r>
            <a:r>
              <a:rPr lang="en-US" sz="2400" b="0" dirty="0">
                <a:latin typeface="Times New Roman" panose="02020603050405020304" charset="0"/>
              </a:rPr>
              <a:t> </a:t>
            </a:r>
            <a:r>
              <a:rPr lang="en-US" sz="2400" b="0" i="1" dirty="0">
                <a:latin typeface="Times New Roman" panose="02020603050405020304" charset="0"/>
              </a:rPr>
              <a:t>JavaScript</a:t>
            </a:r>
            <a:r>
              <a:rPr lang="en-US" sz="2400" b="0" dirty="0">
                <a:latin typeface="Times New Roman" panose="02020603050405020304" charset="0"/>
              </a:rPr>
              <a:t> </a:t>
            </a:r>
            <a:r>
              <a:rPr lang="en-US" sz="2400" b="0" i="1" dirty="0" err="1">
                <a:latin typeface="Times New Roman" panose="02020603050405020304" charset="0"/>
              </a:rPr>
              <a:t>scripts.js</a:t>
            </a:r>
            <a:r>
              <a:rPr lang="en-US" sz="2400" b="0" dirty="0">
                <a:latin typeface="Times New Roman" panose="02020603050405020304" charset="0"/>
              </a:rPr>
              <a:t> </a:t>
            </a:r>
            <a:r>
              <a:rPr lang="en-US" sz="2400" b="0" dirty="0" err="1">
                <a:latin typeface="Times New Roman" panose="02020603050405020304" charset="0"/>
              </a:rPr>
              <a:t>нужно</a:t>
            </a:r>
            <a:r>
              <a:rPr lang="en-US" sz="2400" b="0" dirty="0">
                <a:latin typeface="Times New Roman" panose="02020603050405020304" charset="0"/>
              </a:rPr>
              <a:t> </a:t>
            </a:r>
            <a:r>
              <a:rPr lang="en-US" sz="2400" b="0" dirty="0" err="1">
                <a:latin typeface="Times New Roman" panose="02020603050405020304" charset="0"/>
              </a:rPr>
              <a:t>добавить</a:t>
            </a:r>
            <a:r>
              <a:rPr lang="en-US" sz="2400" b="0" dirty="0">
                <a:latin typeface="Times New Roman" panose="02020603050405020304" charset="0"/>
              </a:rPr>
              <a:t> </a:t>
            </a:r>
            <a:r>
              <a:rPr lang="en-US" sz="2400" b="1" dirty="0" err="1">
                <a:latin typeface="Times New Roman" panose="02020603050405020304" charset="0"/>
              </a:rPr>
              <a:t>под</a:t>
            </a:r>
            <a:r>
              <a:rPr lang="en-US" sz="2400" b="0" dirty="0">
                <a:latin typeface="Times New Roman" panose="02020603050405020304" charset="0"/>
              </a:rPr>
              <a:t> </a:t>
            </a:r>
            <a:r>
              <a:rPr lang="en-US" sz="2400" b="1" dirty="0" err="1">
                <a:latin typeface="Times New Roman" panose="02020603050405020304" charset="0"/>
              </a:rPr>
              <a:t>библиотекой</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или</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он</a:t>
            </a:r>
            <a:r>
              <a:rPr lang="en-US" sz="2400" b="0" dirty="0">
                <a:latin typeface="Times New Roman" panose="02020603050405020304" charset="0"/>
              </a:rPr>
              <a:t> </a:t>
            </a:r>
            <a:r>
              <a:rPr lang="en-US" sz="2400" b="0" dirty="0" err="1">
                <a:latin typeface="Times New Roman" panose="02020603050405020304" charset="0"/>
              </a:rPr>
              <a:t>не</a:t>
            </a:r>
            <a:r>
              <a:rPr lang="en-US" sz="2400" b="0" dirty="0">
                <a:latin typeface="Times New Roman" panose="02020603050405020304" charset="0"/>
              </a:rPr>
              <a:t> </a:t>
            </a:r>
            <a:r>
              <a:rPr lang="en-US" sz="2400" b="0" dirty="0" err="1">
                <a:latin typeface="Times New Roman" panose="02020603050405020304" charset="0"/>
              </a:rPr>
              <a:t>будет</a:t>
            </a:r>
            <a:r>
              <a:rPr lang="en-US" sz="2400" b="0" dirty="0">
                <a:latin typeface="Times New Roman" panose="02020603050405020304" charset="0"/>
              </a:rPr>
              <a:t> </a:t>
            </a:r>
            <a:r>
              <a:rPr lang="en-US" sz="2400" b="0" dirty="0" err="1">
                <a:latin typeface="Times New Roman" panose="02020603050405020304" charset="0"/>
              </a:rPr>
              <a:t>работать</a:t>
            </a:r>
            <a:r>
              <a:rPr lang="en-US" sz="2400" b="0" dirty="0">
                <a:latin typeface="Times New Roman" panose="02020603050405020304" charset="0"/>
              </a:rPr>
              <a:t>.</a:t>
            </a:r>
            <a:endParaRPr lang="en-US" sz="2400" b="0" dirty="0">
              <a:latin typeface="Times New Roman" panose="02020603050405020304" charset="0"/>
            </a:endParaRPr>
          </a:p>
          <a:p>
            <a:pPr marL="0" indent="0" algn="just"/>
            <a:r>
              <a:rPr lang="zh-CN" altLang="en-US" sz="2400" b="0" i="0" dirty="0">
                <a:solidFill>
                  <a:srgbClr val="0F0F0F"/>
                </a:solidFill>
                <a:effectLst/>
                <a:latin typeface="Söhne"/>
              </a:rPr>
              <a:t>非常重要的是要注意，</a:t>
            </a:r>
            <a:r>
              <a:rPr lang="en-US" altLang="zh-CN" sz="2400" b="0" i="0" dirty="0">
                <a:solidFill>
                  <a:srgbClr val="0F0F0F"/>
                </a:solidFill>
                <a:effectLst/>
                <a:latin typeface="Söhne"/>
              </a:rPr>
              <a:t>JavaScript </a:t>
            </a:r>
            <a:r>
              <a:rPr lang="zh-CN" altLang="en-US" sz="2400" b="0" i="0" dirty="0">
                <a:solidFill>
                  <a:srgbClr val="0F0F0F"/>
                </a:solidFill>
                <a:effectLst/>
                <a:latin typeface="Söhne"/>
              </a:rPr>
              <a:t>文件 </a:t>
            </a:r>
            <a:r>
              <a:rPr lang="en-US" altLang="zh-CN" sz="2400" b="0" i="0" dirty="0" err="1">
                <a:solidFill>
                  <a:srgbClr val="0F0F0F"/>
                </a:solidFill>
                <a:effectLst/>
                <a:latin typeface="Söhne"/>
              </a:rPr>
              <a:t>scripts.js</a:t>
            </a:r>
            <a:r>
              <a:rPr lang="en-US" altLang="zh-CN" sz="2400" b="0" i="0" dirty="0">
                <a:solidFill>
                  <a:srgbClr val="0F0F0F"/>
                </a:solidFill>
                <a:effectLst/>
                <a:latin typeface="Söhne"/>
              </a:rPr>
              <a:t> </a:t>
            </a:r>
            <a:r>
              <a:rPr lang="zh-CN" altLang="en-US" sz="2400" b="0" i="0" dirty="0">
                <a:solidFill>
                  <a:srgbClr val="0F0F0F"/>
                </a:solidFill>
                <a:effectLst/>
                <a:latin typeface="Söhne"/>
              </a:rPr>
              <a:t>必须在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库之后添加，否则它将无法正常工作。</a:t>
            </a:r>
            <a:endParaRPr lang="en-US" sz="2400" b="0" dirty="0">
              <a:latin typeface="Times New Roman" panose="02020603050405020304" charset="0"/>
            </a:endParaRPr>
          </a:p>
          <a:p>
            <a:pPr marL="0" indent="0" algn="just"/>
            <a:endParaRPr lang="en-US" sz="2400" b="0" dirty="0">
              <a:latin typeface="Times New Roman" panose="02020603050405020304" charset="0"/>
            </a:endParaRPr>
          </a:p>
          <a:p>
            <a:pPr marL="0" indent="0" algn="just"/>
            <a:endParaRPr lang="en-US" sz="2400" b="0" dirty="0">
              <a:latin typeface="Times New Roman" panose="02020603050405020304" charset="0"/>
            </a:endParaRPr>
          </a:p>
          <a:p>
            <a:pPr marL="0" indent="0" algn="just"/>
            <a:r>
              <a:rPr lang="ru-RU" altLang="en-US" sz="2400" b="0" dirty="0">
                <a:latin typeface="Times New Roman" panose="02020603050405020304" charset="0"/>
              </a:rPr>
              <a:t>	</a:t>
            </a:r>
            <a:r>
              <a:rPr lang="en-US" sz="2400" b="0" dirty="0" err="1">
                <a:latin typeface="Times New Roman" panose="02020603050405020304" charset="0"/>
              </a:rPr>
              <a:t>Теперь</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загружена</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а у </a:t>
            </a:r>
            <a:r>
              <a:rPr lang="en-US" sz="2400" b="0" dirty="0" err="1">
                <a:latin typeface="Times New Roman" panose="02020603050405020304" charset="0"/>
              </a:rPr>
              <a:t>вас</a:t>
            </a:r>
            <a:r>
              <a:rPr lang="en-US" sz="2400" b="0" dirty="0">
                <a:latin typeface="Times New Roman" panose="02020603050405020304" charset="0"/>
              </a:rPr>
              <a:t> </a:t>
            </a:r>
            <a:r>
              <a:rPr lang="en-US" sz="2400" b="0" dirty="0" err="1">
                <a:latin typeface="Times New Roman" panose="02020603050405020304" charset="0"/>
              </a:rPr>
              <a:t>есть</a:t>
            </a:r>
            <a:r>
              <a:rPr lang="en-US" sz="2400" b="0" dirty="0">
                <a:latin typeface="Times New Roman" panose="02020603050405020304" charset="0"/>
              </a:rPr>
              <a:t> </a:t>
            </a:r>
            <a:r>
              <a:rPr lang="en-US" sz="2400" b="0" dirty="0" err="1">
                <a:latin typeface="Times New Roman" panose="02020603050405020304" charset="0"/>
              </a:rPr>
              <a:t>полный</a:t>
            </a:r>
            <a:r>
              <a:rPr lang="en-US" sz="2400" b="0" dirty="0">
                <a:latin typeface="Times New Roman" panose="02020603050405020304" charset="0"/>
              </a:rPr>
              <a:t> </a:t>
            </a:r>
            <a:r>
              <a:rPr lang="en-US" sz="2400" b="0" dirty="0" err="1">
                <a:latin typeface="Times New Roman" panose="02020603050405020304" charset="0"/>
              </a:rPr>
              <a:t>доступ</a:t>
            </a:r>
            <a:r>
              <a:rPr lang="en-US" sz="2400" b="0" dirty="0">
                <a:latin typeface="Times New Roman" panose="02020603050405020304" charset="0"/>
              </a:rPr>
              <a:t> к </a:t>
            </a:r>
            <a:r>
              <a:rPr lang="en-US" sz="2400" b="0" i="1" dirty="0">
                <a:latin typeface="Times New Roman" panose="02020603050405020304" charset="0"/>
              </a:rPr>
              <a:t>jQuery API</a:t>
            </a:r>
            <a:r>
              <a:rPr lang="en-US" sz="2400" b="0" dirty="0">
                <a:latin typeface="Times New Roman" panose="02020603050405020304" charset="0"/>
              </a:rPr>
              <a:t>.</a:t>
            </a:r>
            <a:endParaRPr lang="en-US" sz="2400" b="0" dirty="0">
              <a:latin typeface="Times New Roman" panose="02020603050405020304" charset="0"/>
            </a:endParaRPr>
          </a:p>
          <a:p>
            <a:pPr marL="0" indent="0" algn="just"/>
            <a:r>
              <a:rPr lang="zh-CN" altLang="en-US" sz="2400" b="0" i="0" dirty="0">
                <a:solidFill>
                  <a:srgbClr val="0F0F0F"/>
                </a:solidFill>
                <a:effectLst/>
                <a:latin typeface="Söhne"/>
              </a:rPr>
              <a:t>现在，</a:t>
            </a:r>
            <a:r>
              <a:rPr lang="en-US" altLang="zh-CN" sz="2400" b="0" i="0" dirty="0">
                <a:solidFill>
                  <a:srgbClr val="0F0F0F"/>
                </a:solidFill>
                <a:effectLst/>
                <a:latin typeface="Söhne"/>
              </a:rPr>
              <a:t>jQuery </a:t>
            </a:r>
            <a:r>
              <a:rPr lang="zh-CN" altLang="en-US" sz="2400" b="0" i="0" dirty="0">
                <a:solidFill>
                  <a:srgbClr val="0F0F0F"/>
                </a:solidFill>
                <a:effectLst/>
                <a:latin typeface="Söhne"/>
              </a:rPr>
              <a:t>库已加载到网站中，您可以完全访问 </a:t>
            </a:r>
            <a:r>
              <a:rPr lang="en-US" altLang="zh-CN" sz="2400" b="0" i="0" dirty="0">
                <a:solidFill>
                  <a:srgbClr val="0F0F0F"/>
                </a:solidFill>
                <a:effectLst/>
                <a:latin typeface="Söhne"/>
              </a:rPr>
              <a:t>jQuery API</a:t>
            </a:r>
            <a:r>
              <a:rPr lang="zh-CN" altLang="en-US" sz="2400" b="0" i="0" dirty="0">
                <a:solidFill>
                  <a:srgbClr val="0F0F0F"/>
                </a:solidFill>
                <a:effectLst/>
                <a:latin typeface="Söhne"/>
              </a:rPr>
              <a:t>。</a:t>
            </a:r>
            <a:endParaRPr lang="ru-RU" altLang="en-US" sz="2400" b="0" dirty="0">
              <a:latin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57225" y="381000"/>
            <a:ext cx="10930255" cy="2306955"/>
          </a:xfrm>
          <a:prstGeom prst="rect">
            <a:avLst/>
          </a:prstGeom>
          <a:noFill/>
          <a:ln w="9525">
            <a:noFill/>
          </a:ln>
        </p:spPr>
        <p:txBody>
          <a:bodyPr wrap="square">
            <a:spAutoFit/>
          </a:bodyPr>
          <a:lstStyle/>
          <a:p>
            <a:pPr indent="0" algn="just"/>
            <a:r>
              <a:rPr lang="ru-RU" altLang="en-US" sz="2400" b="0" i="1"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вызывается</a:t>
            </a:r>
            <a:r>
              <a:rPr lang="en-US" sz="2400" b="0" dirty="0">
                <a:latin typeface="Times New Roman" panose="02020603050405020304" charset="0"/>
              </a:rPr>
              <a:t> и </a:t>
            </a:r>
            <a:r>
              <a:rPr lang="en-US" sz="2400" b="0" dirty="0" err="1">
                <a:latin typeface="Times New Roman" panose="02020603050405020304" charset="0"/>
              </a:rPr>
              <a:t>представляется</a:t>
            </a:r>
            <a:r>
              <a:rPr lang="en-US" sz="2400" b="0" dirty="0">
                <a:latin typeface="Times New Roman" panose="02020603050405020304" charset="0"/>
              </a:rPr>
              <a:t> с </a:t>
            </a:r>
            <a:r>
              <a:rPr lang="en-US" sz="2400" b="0" dirty="0" err="1">
                <a:latin typeface="Times New Roman" panose="02020603050405020304" charset="0"/>
              </a:rPr>
              <a:t>помощью</a:t>
            </a:r>
            <a:r>
              <a:rPr lang="en-US" sz="2400" b="0" dirty="0">
                <a:latin typeface="Times New Roman" panose="02020603050405020304" charset="0"/>
              </a:rPr>
              <a:t> </a:t>
            </a:r>
            <a:r>
              <a:rPr lang="en-US" sz="2400" b="0" dirty="0" err="1">
                <a:latin typeface="Times New Roman" panose="02020603050405020304" charset="0"/>
              </a:rPr>
              <a:t>символа</a:t>
            </a:r>
            <a:r>
              <a:rPr lang="en-US" sz="2400" b="0" dirty="0">
                <a:latin typeface="Times New Roman" panose="02020603050405020304" charset="0"/>
              </a:rPr>
              <a:t> </a:t>
            </a:r>
            <a:r>
              <a:rPr lang="en-US" sz="2400" b="0" dirty="0" err="1">
                <a:latin typeface="Times New Roman" panose="02020603050405020304" charset="0"/>
              </a:rPr>
              <a:t>доллара</a:t>
            </a:r>
            <a:r>
              <a:rPr lang="en-US" sz="2400" b="0" dirty="0">
                <a:latin typeface="Times New Roman" panose="02020603050405020304" charset="0"/>
              </a:rPr>
              <a:t>, </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помощи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a:t>
            </a:r>
            <a:r>
              <a:rPr lang="en-US" sz="2400" b="0" dirty="0">
                <a:latin typeface="Times New Roman" panose="02020603050405020304" charset="0"/>
              </a:rPr>
              <a:t> </a:t>
            </a:r>
            <a:r>
              <a:rPr lang="en-US" sz="2400" b="0" dirty="0" err="1">
                <a:latin typeface="Times New Roman" panose="02020603050405020304" charset="0"/>
              </a:rPr>
              <a:t>выбираете</a:t>
            </a:r>
            <a:r>
              <a:rPr lang="en-US" sz="2400" b="0" dirty="0">
                <a:latin typeface="Times New Roman" panose="02020603050405020304" charset="0"/>
              </a:rPr>
              <a:t> </a:t>
            </a:r>
            <a:r>
              <a:rPr lang="en-US" sz="2400" b="0" i="1" dirty="0">
                <a:latin typeface="Times New Roman" panose="02020603050405020304" charset="0"/>
              </a:rPr>
              <a:t>HTML</a:t>
            </a:r>
            <a:r>
              <a:rPr lang="en-US" sz="2400" b="0" dirty="0">
                <a:latin typeface="Times New Roman" panose="02020603050405020304" charset="0"/>
              </a:rPr>
              <a:t> </a:t>
            </a:r>
            <a:r>
              <a:rPr lang="en-US" sz="2400" b="0" dirty="0" err="1">
                <a:latin typeface="Times New Roman" panose="02020603050405020304" charset="0"/>
              </a:rPr>
              <a:t>элементы</a:t>
            </a:r>
            <a:r>
              <a:rPr lang="en-US" sz="2400" b="0" dirty="0">
                <a:latin typeface="Times New Roman" panose="02020603050405020304" charset="0"/>
              </a:rPr>
              <a:t> и </a:t>
            </a:r>
            <a:r>
              <a:rPr lang="en-US" sz="2400" b="0" dirty="0" err="1">
                <a:latin typeface="Times New Roman" panose="02020603050405020304" charset="0"/>
              </a:rPr>
              <a:t>выполняете</a:t>
            </a:r>
            <a:r>
              <a:rPr lang="en-US" sz="2400" b="0" dirty="0">
                <a:latin typeface="Times New Roman" panose="02020603050405020304" charset="0"/>
              </a:rPr>
              <a:t> с </a:t>
            </a:r>
            <a:r>
              <a:rPr lang="en-US" sz="2400" b="0" dirty="0" err="1">
                <a:latin typeface="Times New Roman" panose="02020603050405020304" charset="0"/>
              </a:rPr>
              <a:t>ними</a:t>
            </a:r>
            <a:r>
              <a:rPr lang="en-US" sz="2400" b="0" dirty="0">
                <a:latin typeface="Times New Roman" panose="02020603050405020304" charset="0"/>
              </a:rPr>
              <a:t> </a:t>
            </a:r>
            <a:r>
              <a:rPr lang="en-US" sz="2400" b="0" dirty="0" err="1">
                <a:latin typeface="Times New Roman" panose="02020603050405020304" charset="0"/>
              </a:rPr>
              <a:t>определенные</a:t>
            </a:r>
            <a:r>
              <a:rPr lang="en-US" sz="2400" b="0" dirty="0">
                <a:latin typeface="Times New Roman" panose="02020603050405020304" charset="0"/>
              </a:rPr>
              <a:t> </a:t>
            </a:r>
            <a:r>
              <a:rPr lang="en-US" sz="2400" b="0" i="1" dirty="0">
                <a:latin typeface="Times New Roman" panose="02020603050405020304" charset="0"/>
              </a:rPr>
              <a:t>"</a:t>
            </a:r>
            <a:r>
              <a:rPr lang="en-US" sz="2400" b="0" i="1" dirty="0" err="1">
                <a:latin typeface="Times New Roman" panose="02020603050405020304" charset="0"/>
              </a:rPr>
              <a:t>действия</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Базовый</a:t>
            </a:r>
            <a:r>
              <a:rPr lang="en-US" sz="2400" b="0" dirty="0">
                <a:latin typeface="Times New Roman" panose="02020603050405020304" charset="0"/>
              </a:rPr>
              <a:t> </a:t>
            </a:r>
            <a:r>
              <a:rPr lang="en-US" sz="2400" b="0" dirty="0" err="1">
                <a:latin typeface="Times New Roman" panose="02020603050405020304" charset="0"/>
              </a:rPr>
              <a:t>синтаксис</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выглядит</a:t>
            </a:r>
            <a:r>
              <a:rPr lang="en-US" sz="2400" b="0" dirty="0">
                <a:latin typeface="Times New Roman" panose="02020603050405020304" charset="0"/>
              </a:rPr>
              <a:t> </a:t>
            </a:r>
            <a:r>
              <a:rPr lang="en-US" sz="2400" b="0" dirty="0" err="1">
                <a:latin typeface="Times New Roman" panose="02020603050405020304" charset="0"/>
              </a:rPr>
              <a:t>так</a:t>
            </a:r>
            <a:r>
              <a:rPr lang="en-US" sz="2400" b="0" dirty="0">
                <a:latin typeface="Times New Roman" panose="02020603050405020304" charset="0"/>
              </a:rPr>
              <a:t>:</a:t>
            </a:r>
            <a:r>
              <a:rPr lang="zh-CN" altLang="en-US" sz="2400" b="0" dirty="0">
                <a:latin typeface="Times New Roman" panose="02020603050405020304" charset="0"/>
              </a:rPr>
              <a:t> </a:t>
            </a:r>
            <a:endParaRPr lang="en-US" altLang="zh-CN" sz="2400" b="0" dirty="0">
              <a:latin typeface="Times New Roman" panose="02020603050405020304" charset="0"/>
            </a:endParaRPr>
          </a:p>
          <a:p>
            <a:pPr indent="0" algn="just"/>
            <a:r>
              <a:rPr lang="en-US" altLang="zh-CN" sz="2400" b="0" dirty="0">
                <a:latin typeface="Times New Roman" panose="02020603050405020304" charset="0"/>
              </a:rPr>
              <a:t>jQuery </a:t>
            </a:r>
            <a:r>
              <a:rPr lang="zh-CN" altLang="en-US" sz="2400" b="0" dirty="0">
                <a:latin typeface="Times New Roman" panose="02020603050405020304" charset="0"/>
              </a:rPr>
              <a:t>被调用并通过美元符号 </a:t>
            </a:r>
            <a:r>
              <a:rPr lang="en-US" altLang="zh-CN" sz="2400" b="0" dirty="0">
                <a:latin typeface="Times New Roman" panose="02020603050405020304" charset="0"/>
              </a:rPr>
              <a:t>$ </a:t>
            </a:r>
            <a:r>
              <a:rPr lang="zh-CN" altLang="en-US" sz="2400" b="0" dirty="0">
                <a:latin typeface="Times New Roman" panose="02020603050405020304" charset="0"/>
              </a:rPr>
              <a:t>表示。使用 </a:t>
            </a:r>
            <a:r>
              <a:rPr lang="en-US" altLang="zh-CN" sz="2400" b="0" dirty="0">
                <a:latin typeface="Times New Roman" panose="02020603050405020304" charset="0"/>
              </a:rPr>
              <a:t>jQuery</a:t>
            </a:r>
            <a:r>
              <a:rPr lang="zh-CN" altLang="en-US" sz="2400" b="0" dirty="0">
                <a:latin typeface="Times New Roman" panose="02020603050405020304" charset="0"/>
              </a:rPr>
              <a:t>，您可以选择 </a:t>
            </a:r>
            <a:r>
              <a:rPr lang="en-US" altLang="zh-CN" sz="2400" b="0" dirty="0">
                <a:latin typeface="Times New Roman" panose="02020603050405020304" charset="0"/>
              </a:rPr>
              <a:t>HTML </a:t>
            </a:r>
            <a:r>
              <a:rPr lang="zh-CN" altLang="en-US" sz="2400" b="0" dirty="0">
                <a:latin typeface="Times New Roman" panose="02020603050405020304" charset="0"/>
              </a:rPr>
              <a:t>元素并对其执行特定的 </a:t>
            </a:r>
            <a:r>
              <a:rPr lang="en-US" altLang="zh-CN" sz="2400" b="0" dirty="0">
                <a:latin typeface="Times New Roman" panose="02020603050405020304" charset="0"/>
              </a:rPr>
              <a:t>"</a:t>
            </a:r>
            <a:r>
              <a:rPr lang="zh-CN" altLang="en-US" sz="2400" b="0" dirty="0">
                <a:latin typeface="Times New Roman" panose="02020603050405020304" charset="0"/>
              </a:rPr>
              <a:t>动作</a:t>
            </a:r>
            <a:r>
              <a:rPr lang="en-US" altLang="zh-CN" sz="2400" b="0" dirty="0">
                <a:latin typeface="Times New Roman" panose="02020603050405020304" charset="0"/>
              </a:rPr>
              <a:t>"</a:t>
            </a:r>
            <a:r>
              <a:rPr lang="zh-CN" altLang="en-US" sz="2400" b="0" dirty="0">
                <a:latin typeface="Times New Roman" panose="02020603050405020304" charset="0"/>
              </a:rPr>
              <a:t>。</a:t>
            </a:r>
            <a:r>
              <a:rPr lang="en-US" altLang="zh-CN" sz="2400" b="0" dirty="0">
                <a:latin typeface="Times New Roman" panose="02020603050405020304" charset="0"/>
              </a:rPr>
              <a:t>jQuery </a:t>
            </a:r>
            <a:r>
              <a:rPr lang="zh-CN" altLang="en-US" sz="2400" b="0" dirty="0">
                <a:latin typeface="Times New Roman" panose="02020603050405020304" charset="0"/>
              </a:rPr>
              <a:t>的基本语法如下：</a:t>
            </a:r>
            <a:endParaRPr lang="zh-CN" altLang="en-US" sz="2400" b="0" dirty="0">
              <a:latin typeface="Times New Roman" panose="02020603050405020304" charset="0"/>
            </a:endParaRPr>
          </a:p>
          <a:p>
            <a:pPr indent="0" algn="just"/>
            <a:endParaRPr lang="en-US" sz="2400" dirty="0"/>
          </a:p>
        </p:txBody>
      </p:sp>
      <p:sp>
        <p:nvSpPr>
          <p:cNvPr id="2" name="Text Box 1"/>
          <p:cNvSpPr txBox="1"/>
          <p:nvPr/>
        </p:nvSpPr>
        <p:spPr>
          <a:xfrm>
            <a:off x="4358005" y="2687955"/>
            <a:ext cx="3528695" cy="460375"/>
          </a:xfrm>
          <a:prstGeom prst="rect">
            <a:avLst/>
          </a:prstGeom>
          <a:noFill/>
          <a:ln w="9525">
            <a:noFill/>
          </a:ln>
        </p:spPr>
        <p:txBody>
          <a:bodyPr wrap="square">
            <a:spAutoFit/>
          </a:bodyPr>
          <a:lstStyle/>
          <a:p>
            <a:pPr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"selector"</a:t>
            </a:r>
            <a:r>
              <a:rPr lang="en-US" sz="2400" b="0">
                <a:solidFill>
                  <a:srgbClr val="000000"/>
                </a:solidFill>
                <a:latin typeface="Consolas" charset="0"/>
              </a:rPr>
              <a:t>).</a:t>
            </a:r>
            <a:r>
              <a:rPr lang="en-US" sz="2400" b="0">
                <a:solidFill>
                  <a:srgbClr val="795E26"/>
                </a:solidFill>
                <a:latin typeface="Consolas" charset="0"/>
              </a:rPr>
              <a:t>method</a:t>
            </a:r>
            <a:r>
              <a:rPr lang="en-US" sz="2400" b="0">
                <a:solidFill>
                  <a:srgbClr val="000000"/>
                </a:solidFill>
                <a:latin typeface="Consolas" charset="0"/>
              </a:rPr>
              <a:t>();</a:t>
            </a:r>
            <a:endParaRPr lang="en-US" sz="2400"/>
          </a:p>
        </p:txBody>
      </p:sp>
      <p:sp>
        <p:nvSpPr>
          <p:cNvPr id="3" name="Text Box 2"/>
          <p:cNvSpPr txBox="1"/>
          <p:nvPr/>
        </p:nvSpPr>
        <p:spPr>
          <a:xfrm>
            <a:off x="1146810" y="3578225"/>
            <a:ext cx="9951085" cy="2677656"/>
          </a:xfrm>
          <a:prstGeom prst="rect">
            <a:avLst/>
          </a:prstGeom>
          <a:noFill/>
          <a:ln w="9525">
            <a:noFill/>
          </a:ln>
        </p:spPr>
        <p:txBody>
          <a:bodyPr wrap="square">
            <a:spAutoFit/>
          </a:bodyPr>
          <a:lstStyle/>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Знак</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указывает</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на</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доступ</a:t>
            </a:r>
            <a:r>
              <a:rPr lang="en-US" sz="2400" b="0" dirty="0">
                <a:solidFill>
                  <a:srgbClr val="000000"/>
                </a:solidFill>
                <a:latin typeface="Times New Roman Regular" panose="02020603050405020304" charset="0"/>
                <a:cs typeface="Times New Roman Regular" panose="02020603050405020304" charset="0"/>
              </a:rPr>
              <a:t> к </a:t>
            </a:r>
            <a:r>
              <a:rPr lang="en-US" sz="2400" b="0" i="1" dirty="0">
                <a:solidFill>
                  <a:srgbClr val="000000"/>
                </a:solidFill>
                <a:latin typeface="Times New Roman Regular" panose="02020603050405020304" charset="0"/>
                <a:cs typeface="Times New Roman Regular" panose="02020603050405020304" charset="0"/>
              </a:rPr>
              <a:t>jQuery;</a:t>
            </a:r>
            <a:r>
              <a:rPr lang="zh-CN" altLang="en-US" sz="2400" b="0" i="0" dirty="0">
                <a:solidFill>
                  <a:srgbClr val="0F0F0F"/>
                </a:solidFill>
                <a:effectLst/>
                <a:latin typeface="Söhne"/>
              </a:rPr>
              <a:t>  </a:t>
            </a:r>
            <a:endParaRPr lang="en-US" altLang="zh-CN" sz="2400" b="0" i="0" dirty="0">
              <a:solidFill>
                <a:srgbClr val="0F0F0F"/>
              </a:solidFill>
              <a:effectLst/>
              <a:latin typeface="Söhne"/>
            </a:endParaRPr>
          </a:p>
          <a:p>
            <a:pPr marL="12700" indent="0" algn="just"/>
            <a:r>
              <a:rPr lang="en-US" altLang="zh-CN" sz="2400" b="0" i="0" dirty="0">
                <a:solidFill>
                  <a:srgbClr val="0F0F0F"/>
                </a:solidFill>
                <a:effectLst/>
                <a:latin typeface="Söhne"/>
              </a:rPr>
              <a:t>$</a:t>
            </a:r>
            <a:r>
              <a:rPr lang="zh-CN" altLang="en-US" sz="2400" b="0" i="0" dirty="0">
                <a:solidFill>
                  <a:srgbClr val="0F0F0F"/>
                </a:solidFill>
                <a:effectLst/>
                <a:latin typeface="Söhne"/>
              </a:rPr>
              <a:t>符号表示访问</a:t>
            </a:r>
            <a:r>
              <a:rPr lang="en-US" altLang="zh-CN" sz="2400" b="0" i="0" dirty="0">
                <a:solidFill>
                  <a:srgbClr val="0F0F0F"/>
                </a:solidFill>
                <a:effectLst/>
                <a:latin typeface="Söhne"/>
              </a:rPr>
              <a:t>jQuery</a:t>
            </a:r>
            <a:r>
              <a:rPr lang="zh-CN" altLang="en-US" sz="2400" b="0" i="0" dirty="0">
                <a:solidFill>
                  <a:srgbClr val="0F0F0F"/>
                </a:solidFill>
                <a:effectLst/>
                <a:latin typeface="Söhne"/>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selector</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a:t>
            </a:r>
            <a:r>
              <a:rPr lang="en-US" sz="2400" b="0" i="1" dirty="0" err="1">
                <a:solidFill>
                  <a:srgbClr val="000000"/>
                </a:solidFill>
                <a:latin typeface="Times New Roman Regular" panose="02020603050405020304" charset="0"/>
                <a:cs typeface="Times New Roman Regular" panose="02020603050405020304" charset="0"/>
              </a:rPr>
              <a:t>ищет</a:t>
            </a:r>
            <a:r>
              <a:rPr lang="en-US" sz="2400" b="0" i="1" dirty="0">
                <a:solidFill>
                  <a:srgbClr val="000000"/>
                </a:solidFill>
                <a:latin typeface="Times New Roman Regular" panose="02020603050405020304" charset="0"/>
                <a:cs typeface="Times New Roman Regular" panose="02020603050405020304" charset="0"/>
              </a:rPr>
              <a:t>/о</a:t>
            </a:r>
            <a:r>
              <a:rPr lang="ru-RU" altLang="en-US" sz="2400" b="0" i="1" dirty="0">
                <a:solidFill>
                  <a:srgbClr val="000000"/>
                </a:solidFill>
                <a:latin typeface="Times New Roman Regular" panose="02020603050405020304" charset="0"/>
                <a:cs typeface="Times New Roman Regular" panose="02020603050405020304" charset="0"/>
              </a:rPr>
              <a:t>т</a:t>
            </a:r>
            <a:r>
              <a:rPr lang="en-US" sz="2400" b="0" i="1" dirty="0" err="1">
                <a:solidFill>
                  <a:srgbClr val="000000"/>
                </a:solidFill>
                <a:latin typeface="Times New Roman Regular" panose="02020603050405020304" charset="0"/>
                <a:cs typeface="Times New Roman Regular" panose="02020603050405020304" charset="0"/>
              </a:rPr>
              <a:t>бирает</a:t>
            </a:r>
            <a:r>
              <a:rPr lang="en-US" sz="2400" b="0" i="1" dirty="0">
                <a:solidFill>
                  <a:srgbClr val="000000"/>
                </a:solidFill>
                <a:latin typeface="Times New Roman Regular" panose="02020603050405020304" charset="0"/>
                <a:cs typeface="Times New Roman Regular" panose="02020603050405020304" charset="0"/>
              </a:rPr>
              <a:t>"</a:t>
            </a:r>
            <a:r>
              <a:rPr lang="en-US" sz="2400" b="0" dirty="0">
                <a:solidFill>
                  <a:srgbClr val="000000"/>
                </a:solidFill>
                <a:latin typeface="Times New Roman Regular" panose="02020603050405020304" charset="0"/>
                <a:cs typeface="Times New Roman Regular" panose="02020603050405020304" charset="0"/>
              </a:rPr>
              <a:t> HTML </a:t>
            </a:r>
            <a:r>
              <a:rPr lang="en-US" sz="2400" b="0" dirty="0" err="1">
                <a:solidFill>
                  <a:srgbClr val="000000"/>
                </a:solidFill>
                <a:latin typeface="Times New Roman Regular" panose="02020603050405020304" charset="0"/>
                <a:cs typeface="Times New Roman Regular" panose="02020603050405020304" charset="0"/>
              </a:rPr>
              <a:t>элементы</a:t>
            </a:r>
            <a:r>
              <a:rPr lang="en-US" sz="2400" b="0" dirty="0">
                <a:solidFill>
                  <a:srgbClr val="000000"/>
                </a:solidFill>
                <a:latin typeface="Times New Roman Regular" panose="02020603050405020304" charset="0"/>
                <a:cs typeface="Times New Roman Regular" panose="02020603050405020304" charset="0"/>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zh-CN" altLang="en-US" sz="2400" b="0" i="0" dirty="0">
                <a:solidFill>
                  <a:srgbClr val="0F0F0F"/>
                </a:solidFill>
                <a:effectLst/>
                <a:latin typeface="Söhne"/>
              </a:rPr>
              <a:t>选择器</a:t>
            </a:r>
            <a:r>
              <a:rPr lang="en-US" altLang="zh-CN" sz="2400" b="0" i="0" dirty="0">
                <a:solidFill>
                  <a:srgbClr val="0F0F0F"/>
                </a:solidFill>
                <a:effectLst/>
                <a:latin typeface="Söhne"/>
              </a:rPr>
              <a:t>"</a:t>
            </a:r>
            <a:r>
              <a:rPr lang="zh-CN" altLang="en-US" sz="2400" b="0" i="0" dirty="0">
                <a:solidFill>
                  <a:srgbClr val="0F0F0F"/>
                </a:solidFill>
                <a:effectLst/>
                <a:latin typeface="Söhne"/>
              </a:rPr>
              <a:t>查找</a:t>
            </a:r>
            <a:r>
              <a:rPr lang="en-US" altLang="zh-CN" sz="2400" b="0" i="0" dirty="0">
                <a:solidFill>
                  <a:srgbClr val="0F0F0F"/>
                </a:solidFill>
                <a:effectLst/>
                <a:latin typeface="Söhne"/>
              </a:rPr>
              <a:t>/</a:t>
            </a:r>
            <a:r>
              <a:rPr lang="zh-CN" altLang="en-US" sz="2400" b="0" i="0" dirty="0">
                <a:solidFill>
                  <a:srgbClr val="0F0F0F"/>
                </a:solidFill>
                <a:effectLst/>
                <a:latin typeface="Söhne"/>
              </a:rPr>
              <a:t>筛选</a:t>
            </a:r>
            <a:r>
              <a:rPr lang="en-US" altLang="zh-CN" sz="2400" b="0" i="0" dirty="0">
                <a:solidFill>
                  <a:srgbClr val="0F0F0F"/>
                </a:solidFill>
                <a:effectLst/>
                <a:latin typeface="Söhne"/>
              </a:rPr>
              <a:t>"HTML</a:t>
            </a:r>
            <a:r>
              <a:rPr lang="zh-CN" altLang="en-US" sz="2400" b="0" i="0" dirty="0">
                <a:solidFill>
                  <a:srgbClr val="0F0F0F"/>
                </a:solidFill>
                <a:effectLst/>
                <a:latin typeface="Söhne"/>
              </a:rPr>
              <a:t>元素；</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Метод</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jQuery</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method()</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выполняет</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заданное</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действие</a:t>
            </a:r>
            <a:r>
              <a:rPr lang="en-US" sz="2400" b="0" dirty="0">
                <a:solidFill>
                  <a:srgbClr val="000000"/>
                </a:solidFill>
                <a:latin typeface="Times New Roman Regular" panose="02020603050405020304" charset="0"/>
                <a:cs typeface="Times New Roman Regular" panose="02020603050405020304" charset="0"/>
              </a:rPr>
              <a:t> с </a:t>
            </a:r>
            <a:r>
              <a:rPr lang="en-US" sz="2400" b="0" dirty="0" err="1">
                <a:solidFill>
                  <a:srgbClr val="000000"/>
                </a:solidFill>
                <a:latin typeface="Times New Roman Regular" panose="02020603050405020304" charset="0"/>
                <a:cs typeface="Times New Roman Regular" panose="02020603050405020304" charset="0"/>
              </a:rPr>
              <a:t>найденным</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элементом</a:t>
            </a:r>
            <a:r>
              <a:rPr lang="en-US" sz="2400" b="0" dirty="0">
                <a:solidFill>
                  <a:srgbClr val="000000"/>
                </a:solidFill>
                <a:latin typeface="Times New Roman Regular" panose="02020603050405020304" charset="0"/>
                <a:cs typeface="Times New Roman Regular" panose="02020603050405020304" charset="0"/>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altLang="zh-CN" sz="2400" b="0" i="0" dirty="0">
                <a:solidFill>
                  <a:srgbClr val="0F0F0F"/>
                </a:solidFill>
                <a:effectLst/>
                <a:latin typeface="Söhne"/>
              </a:rPr>
              <a:t>jQuery</a:t>
            </a:r>
            <a:r>
              <a:rPr lang="zh-CN" altLang="en-US" sz="2400" b="0" i="0" dirty="0">
                <a:solidFill>
                  <a:srgbClr val="0F0F0F"/>
                </a:solidFill>
                <a:effectLst/>
                <a:latin typeface="Söhne"/>
              </a:rPr>
              <a:t>方法</a:t>
            </a:r>
            <a:r>
              <a:rPr lang="en-US" altLang="zh-CN" sz="2400" b="0" i="0" dirty="0">
                <a:solidFill>
                  <a:srgbClr val="0F0F0F"/>
                </a:solidFill>
                <a:effectLst/>
                <a:latin typeface="Söhne"/>
              </a:rPr>
              <a:t>()</a:t>
            </a:r>
            <a:r>
              <a:rPr lang="zh-CN" altLang="en-US" sz="2400" b="0" i="0" dirty="0">
                <a:solidFill>
                  <a:srgbClr val="0F0F0F"/>
                </a:solidFill>
                <a:effectLst/>
                <a:latin typeface="Söhne"/>
              </a:rPr>
              <a:t>执行对找到的元素的指定操作。</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61695" y="1103630"/>
            <a:ext cx="10492105" cy="3785652"/>
          </a:xfrm>
          <a:prstGeom prst="rect">
            <a:avLst/>
          </a:prstGeom>
          <a:noFill/>
          <a:ln w="9525">
            <a:noFill/>
          </a:ln>
        </p:spPr>
        <p:txBody>
          <a:bodyPr wrap="square">
            <a:spAutoFit/>
          </a:bodyPr>
          <a:lstStyle/>
          <a:p>
            <a:pPr marL="0" indent="450215" algn="just"/>
            <a:r>
              <a:rPr lang="en-US" sz="2400" b="0" dirty="0" err="1">
                <a:latin typeface="Times New Roman" panose="02020603050405020304" charset="0"/>
              </a:rPr>
              <a:t>Селекторы</a:t>
            </a:r>
            <a:r>
              <a:rPr lang="en-US" sz="2400" b="0" dirty="0">
                <a:latin typeface="Times New Roman" panose="02020603050405020304" charset="0"/>
              </a:rPr>
              <a:t> </a:t>
            </a:r>
            <a:r>
              <a:rPr lang="en-US" sz="2400" b="0" dirty="0" err="1">
                <a:latin typeface="Times New Roman" panose="02020603050405020304" charset="0"/>
              </a:rPr>
              <a:t>сообщают</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с </a:t>
            </a:r>
            <a:r>
              <a:rPr lang="en-US" sz="2400" b="0" dirty="0" err="1">
                <a:latin typeface="Times New Roman" panose="02020603050405020304" charset="0"/>
              </a:rPr>
              <a:t>каким</a:t>
            </a:r>
            <a:r>
              <a:rPr lang="en-US" sz="2400" b="0" dirty="0">
                <a:latin typeface="Times New Roman" panose="02020603050405020304" charset="0"/>
              </a:rPr>
              <a:t> </a:t>
            </a:r>
            <a:r>
              <a:rPr lang="en-US" sz="2400" b="0" dirty="0" err="1">
                <a:latin typeface="Times New Roman" panose="02020603050405020304" charset="0"/>
              </a:rPr>
              <a:t>элементом</a:t>
            </a:r>
            <a:r>
              <a:rPr lang="en-US" sz="2400" b="0" dirty="0">
                <a:latin typeface="Times New Roman" panose="02020603050405020304" charset="0"/>
              </a:rPr>
              <a:t> </a:t>
            </a:r>
            <a:r>
              <a:rPr lang="en-US" sz="2400" b="0" dirty="0" err="1">
                <a:latin typeface="Times New Roman" panose="02020603050405020304" charset="0"/>
              </a:rPr>
              <a:t>нужно</a:t>
            </a:r>
            <a:r>
              <a:rPr lang="en-US" sz="2400" b="0" dirty="0">
                <a:latin typeface="Times New Roman" panose="02020603050405020304" charset="0"/>
              </a:rPr>
              <a:t> </a:t>
            </a:r>
            <a:r>
              <a:rPr lang="en-US" sz="2400" b="0" dirty="0" err="1">
                <a:latin typeface="Times New Roman" panose="02020603050405020304" charset="0"/>
              </a:rPr>
              <a:t>работать</a:t>
            </a:r>
            <a:r>
              <a:rPr lang="en-US" sz="2400" b="0" dirty="0">
                <a:latin typeface="Times New Roman" panose="02020603050405020304" charset="0"/>
              </a:rPr>
              <a:t>. </a:t>
            </a:r>
            <a:r>
              <a:rPr lang="en-US" sz="2400" b="0" dirty="0" err="1">
                <a:latin typeface="Times New Roman" panose="02020603050405020304" charset="0"/>
              </a:rPr>
              <a:t>Большинство</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похожи</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i="1" dirty="0">
                <a:latin typeface="Times New Roman" panose="02020603050405020304" charset="0"/>
              </a:rPr>
              <a:t>CSS</a:t>
            </a:r>
            <a:r>
              <a:rPr lang="en-US" sz="2400" b="0" dirty="0">
                <a:latin typeface="Times New Roman" panose="02020603050405020304" charset="0"/>
              </a:rPr>
              <a:t>, </a:t>
            </a:r>
            <a:r>
              <a:rPr lang="en-US" sz="2400" b="0" dirty="0" err="1">
                <a:latin typeface="Times New Roman" panose="02020603050405020304" charset="0"/>
              </a:rPr>
              <a:t>но</a:t>
            </a:r>
            <a:r>
              <a:rPr lang="en-US" sz="2400" b="0" dirty="0">
                <a:latin typeface="Times New Roman" panose="02020603050405020304" charset="0"/>
              </a:rPr>
              <a:t> </a:t>
            </a:r>
            <a:r>
              <a:rPr lang="en-US" sz="2400" b="0" dirty="0" err="1">
                <a:latin typeface="Times New Roman" panose="02020603050405020304" charset="0"/>
              </a:rPr>
              <a:t>все</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они</a:t>
            </a:r>
            <a:r>
              <a:rPr lang="en-US" sz="2400" b="0" dirty="0">
                <a:latin typeface="Times New Roman" panose="02020603050405020304" charset="0"/>
              </a:rPr>
              <a:t> </a:t>
            </a:r>
            <a:r>
              <a:rPr lang="en-US" sz="2400" b="0" dirty="0" err="1">
                <a:latin typeface="Times New Roman" panose="02020603050405020304" charset="0"/>
              </a:rPr>
              <a:t>имеют</a:t>
            </a:r>
            <a:r>
              <a:rPr lang="en-US" sz="2400" b="0" dirty="0">
                <a:latin typeface="Times New Roman" panose="02020603050405020304" charset="0"/>
              </a:rPr>
              <a:t> </a:t>
            </a:r>
            <a:r>
              <a:rPr lang="en-US" sz="2400" b="0" dirty="0" err="1">
                <a:latin typeface="Times New Roman" panose="02020603050405020304" charset="0"/>
              </a:rPr>
              <a:t>некоторые</a:t>
            </a:r>
            <a:r>
              <a:rPr lang="en-US" sz="2400" b="0" dirty="0">
                <a:latin typeface="Times New Roman" panose="02020603050405020304" charset="0"/>
              </a:rPr>
              <a:t> </a:t>
            </a:r>
            <a:r>
              <a:rPr lang="en-US" sz="2400" b="0" dirty="0" err="1">
                <a:latin typeface="Times New Roman" panose="02020603050405020304" charset="0"/>
              </a:rPr>
              <a:t>особенности</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选择器告诉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需要处理哪个元素。大多数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选择器类似于 </a:t>
            </a:r>
            <a:r>
              <a:rPr lang="en-US" altLang="zh-CN" sz="2400" b="0" i="0" dirty="0">
                <a:solidFill>
                  <a:srgbClr val="0F0F0F"/>
                </a:solidFill>
                <a:effectLst/>
                <a:latin typeface="Söhne"/>
              </a:rPr>
              <a:t>CSS</a:t>
            </a:r>
            <a:r>
              <a:rPr lang="zh-CN" altLang="en-US" sz="2400" b="0" i="0" dirty="0">
                <a:solidFill>
                  <a:srgbClr val="0F0F0F"/>
                </a:solidFill>
                <a:effectLst/>
                <a:latin typeface="Söhne"/>
              </a:rPr>
              <a:t>，但它们仍然具有一些特殊之处。</a:t>
            </a:r>
            <a:endParaRPr lang="en-US" sz="2400" b="0" dirty="0">
              <a:latin typeface="Times New Roman" panose="02020603050405020304" charset="0"/>
            </a:endParaRPr>
          </a:p>
          <a:p>
            <a:pPr marL="0" indent="450215" algn="just"/>
            <a:endParaRPr lang="en-US" sz="2400" b="0" dirty="0">
              <a:latin typeface="Times New Roman" panose="02020603050405020304" charset="0"/>
            </a:endParaRPr>
          </a:p>
          <a:p>
            <a:pPr marL="0" indent="450215" algn="just"/>
            <a:r>
              <a:rPr lang="en-US" sz="2400" b="0" dirty="0" err="1">
                <a:latin typeface="Times New Roman" panose="02020603050405020304" charset="0"/>
              </a:rPr>
              <a:t>Полный</a:t>
            </a:r>
            <a:r>
              <a:rPr lang="en-US" sz="2400" b="0" dirty="0">
                <a:latin typeface="Times New Roman" panose="02020603050405020304" charset="0"/>
              </a:rPr>
              <a:t> </a:t>
            </a:r>
            <a:r>
              <a:rPr lang="en-US" sz="2400" b="0" dirty="0" err="1">
                <a:latin typeface="Times New Roman" panose="02020603050405020304" charset="0"/>
              </a:rPr>
              <a:t>список</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jQuery </a:t>
            </a:r>
            <a:r>
              <a:rPr lang="en-US" sz="2400" b="0" dirty="0" err="1">
                <a:latin typeface="Times New Roman" panose="02020603050405020304" charset="0"/>
              </a:rPr>
              <a:t>можно</a:t>
            </a:r>
            <a:r>
              <a:rPr lang="en-US" sz="2400" b="0" dirty="0">
                <a:latin typeface="Times New Roman" panose="02020603050405020304" charset="0"/>
              </a:rPr>
              <a:t> </a:t>
            </a:r>
            <a:r>
              <a:rPr lang="en-US" sz="2400" b="0" dirty="0" err="1">
                <a:latin typeface="Times New Roman" panose="02020603050405020304" charset="0"/>
              </a:rPr>
              <a:t>найти</a:t>
            </a:r>
            <a:r>
              <a:rPr lang="en-US" sz="2400" b="0" dirty="0">
                <a:latin typeface="Times New Roman" panose="02020603050405020304" charset="0"/>
              </a:rPr>
              <a:t> в </a:t>
            </a:r>
            <a:r>
              <a:rPr lang="en-US" sz="2400" b="0" dirty="0" err="1">
                <a:latin typeface="Times New Roman" panose="02020603050405020304" charset="0"/>
              </a:rPr>
              <a:t>документации</a:t>
            </a:r>
            <a:r>
              <a:rPr lang="en-US" sz="2400" b="0" dirty="0">
                <a:latin typeface="Times New Roman" panose="02020603050405020304" charset="0"/>
              </a:rPr>
              <a:t>: </a:t>
            </a:r>
            <a:r>
              <a:rPr lang="en-US" sz="2400" b="0" u="sng" dirty="0">
                <a:solidFill>
                  <a:srgbClr val="0563C1"/>
                </a:solidFill>
                <a:uFill>
                  <a:solidFill>
                    <a:srgbClr val="000000"/>
                  </a:solidFill>
                </a:uFill>
                <a:latin typeface="Times New Roman" panose="02020603050405020304" charset="0"/>
                <a:hlinkClick r:id="rId1" tooltip="https://jquery-docs.ru/category/selectors/"/>
              </a:rPr>
              <a:t>https://</a:t>
            </a:r>
            <a:r>
              <a:rPr lang="en-US" sz="2400" b="0" u="sng" dirty="0" err="1">
                <a:solidFill>
                  <a:srgbClr val="0563C1"/>
                </a:solidFill>
                <a:uFill>
                  <a:solidFill>
                    <a:srgbClr val="000000"/>
                  </a:solidFill>
                </a:uFill>
                <a:latin typeface="Times New Roman" panose="02020603050405020304" charset="0"/>
                <a:hlinkClick r:id="rId1" tooltip="https://jquery-docs.ru/category/selectors/"/>
              </a:rPr>
              <a:t>jquery-docs.ru</a:t>
            </a:r>
            <a:r>
              <a:rPr lang="en-US" sz="2400" b="0" u="sng" dirty="0">
                <a:solidFill>
                  <a:srgbClr val="0563C1"/>
                </a:solidFill>
                <a:uFill>
                  <a:solidFill>
                    <a:srgbClr val="000000"/>
                  </a:solidFill>
                </a:uFill>
                <a:latin typeface="Times New Roman" panose="02020603050405020304" charset="0"/>
                <a:hlinkClick r:id="rId1" tooltip="https://jquery-docs.ru/category/selectors/"/>
              </a:rPr>
              <a:t>/category/selectors/</a:t>
            </a:r>
            <a:r>
              <a:rPr lang="en-US" sz="2400" b="0" dirty="0">
                <a:latin typeface="Times New Roman" panose="02020603050405020304" charset="0"/>
              </a:rPr>
              <a:t>.</a:t>
            </a:r>
            <a:r>
              <a:rPr lang="ru-RU" altLang="en-US" sz="2400" b="0" dirty="0">
                <a:latin typeface="Times New Roman" panose="02020603050405020304" charset="0"/>
              </a:rPr>
              <a:t> Мы разберем основные!</a:t>
            </a:r>
            <a:endParaRPr lang="en-US" altLang="en-US" sz="2400" b="0" dirty="0">
              <a:latin typeface="Times New Roman" panose="02020603050405020304" charset="0"/>
            </a:endParaRPr>
          </a:p>
          <a:p>
            <a:pPr marL="0" indent="450215" algn="just"/>
            <a:r>
              <a:rPr lang="zh-CN" altLang="en-US" sz="2400" b="0" i="0" dirty="0">
                <a:solidFill>
                  <a:srgbClr val="0F0F0F"/>
                </a:solidFill>
                <a:effectLst/>
                <a:latin typeface="Söhne"/>
              </a:rPr>
              <a:t>您可以在文档中找到完整的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选择器列表：</a:t>
            </a:r>
            <a:r>
              <a:rPr lang="en-US" altLang="zh-CN" sz="2400" b="0" i="0" u="none" strike="noStrike" dirty="0">
                <a:effectLst/>
                <a:latin typeface="Söhne"/>
                <a:hlinkClick r:id="rId2"/>
              </a:rPr>
              <a:t>https://</a:t>
            </a:r>
            <a:r>
              <a:rPr lang="en-US" altLang="zh-CN" sz="2400" b="0" i="0" u="none" strike="noStrike" dirty="0" err="1">
                <a:effectLst/>
                <a:latin typeface="Söhne"/>
                <a:hlinkClick r:id="rId2"/>
              </a:rPr>
              <a:t>jquery-docs.ru</a:t>
            </a:r>
            <a:r>
              <a:rPr lang="en-US" altLang="zh-CN" sz="2400" b="0" i="0" u="none" strike="noStrike" dirty="0">
                <a:effectLst/>
                <a:latin typeface="Söhne"/>
                <a:hlinkClick r:id="rId2"/>
              </a:rPr>
              <a:t>/category/selectors/</a:t>
            </a:r>
            <a:r>
              <a:rPr lang="zh-CN" altLang="en-US" sz="2400" b="0" i="0" u="none" strike="noStrike" dirty="0">
                <a:effectLst/>
                <a:latin typeface="Söhne"/>
                <a:hlinkClick r:id="rId2"/>
              </a:rPr>
              <a:t>。我们将介绍一些基本的选择器！</a:t>
            </a:r>
            <a:endParaRPr lang="ru-RU" altLang="en-US" sz="2400" b="0" dirty="0">
              <a:latin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751205" y="550545"/>
            <a:ext cx="10689590" cy="4524315"/>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a:t>
            </a:r>
            <a:r>
              <a:rPr lang="en-US" sz="2400" dirty="0">
                <a:latin typeface="Times New Roman Regular" panose="02020603050405020304" charset="0"/>
                <a:cs typeface="Times New Roman Regular" panose="02020603050405020304" charset="0"/>
              </a:rPr>
              <a:t>В jQuery </a:t>
            </a:r>
            <a:r>
              <a:rPr lang="ru-RU" altLang="en-US" sz="2400" dirty="0">
                <a:latin typeface="Times New Roman Regular" panose="02020603050405020304" charset="0"/>
                <a:cs typeface="Times New Roman Regular" panose="02020603050405020304" charset="0"/>
              </a:rPr>
              <a:t>мы </a:t>
            </a:r>
            <a:r>
              <a:rPr lang="en-US" sz="2400" dirty="0" err="1">
                <a:latin typeface="Times New Roman Regular" panose="02020603050405020304" charset="0"/>
                <a:cs typeface="Times New Roman Regular" panose="02020603050405020304" charset="0"/>
              </a:rPr>
              <a:t>може</a:t>
            </a:r>
            <a:r>
              <a:rPr lang="ru-RU" altLang="en-US" sz="2400" dirty="0">
                <a:latin typeface="Times New Roman Regular" panose="02020603050405020304" charset="0"/>
                <a:cs typeface="Times New Roman Regular" panose="02020603050405020304" charset="0"/>
              </a:rPr>
              <a:t>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множество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различных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свойств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числе</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zh-CN" altLang="en-US" sz="2400" b="0" i="0" dirty="0">
                <a:solidFill>
                  <a:srgbClr val="0F0F0F"/>
                </a:solidFill>
                <a:effectLst/>
                <a:latin typeface="Söhne"/>
              </a:rPr>
              <a:t>在</a:t>
            </a:r>
            <a:r>
              <a:rPr lang="en-US" altLang="zh-CN" sz="2400" b="0" i="0" dirty="0">
                <a:solidFill>
                  <a:srgbClr val="0F0F0F"/>
                </a:solidFill>
                <a:effectLst/>
                <a:latin typeface="Söhne"/>
              </a:rPr>
              <a:t>jQuery</a:t>
            </a:r>
            <a:r>
              <a:rPr lang="zh-CN" altLang="en-US" sz="2400" b="0" i="0" dirty="0">
                <a:solidFill>
                  <a:srgbClr val="0F0F0F"/>
                </a:solidFill>
                <a:effectLst/>
                <a:latin typeface="Söhne"/>
              </a:rPr>
              <a:t>中，我们可以使用多种不同的元素属性来选择页面上的元素，其中包括：</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Тип</a:t>
            </a:r>
            <a:r>
              <a:rPr lang="en-US" sz="2400" dirty="0">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类型</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Класс</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类</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Идентификатор</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标识符 </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Обладание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атрибутом</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具有属性</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Значение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属性值</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Индексированный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索引选择器</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1229360" y="415925"/>
            <a:ext cx="9733280" cy="830997"/>
          </a:xfrm>
          <a:prstGeom prst="rect">
            <a:avLst/>
          </a:prstGeom>
          <a:noFill/>
        </p:spPr>
        <p:txBody>
          <a:bodyPr wrap="square" rtlCol="0" anchor="t">
            <a:spAutoFit/>
          </a:bodyPr>
          <a:lstStyle/>
          <a:p>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типу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выделит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&lt;p&gt;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r>
              <a:rPr lang="zh-CN" altLang="en-US" sz="2400" b="0" i="0" dirty="0">
                <a:solidFill>
                  <a:srgbClr val="0F0F0F"/>
                </a:solidFill>
                <a:effectLst/>
                <a:latin typeface="Söhne"/>
              </a:rPr>
              <a:t>按类型选择：下面的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选择器将选择所有 </a:t>
            </a:r>
            <a:r>
              <a:rPr lang="en-US" altLang="zh-CN" sz="2400" b="0" i="0" dirty="0">
                <a:solidFill>
                  <a:srgbClr val="0F0F0F"/>
                </a:solidFill>
                <a:effectLst/>
                <a:latin typeface="Söhne"/>
              </a:rPr>
              <a:t>&lt;p&gt; </a:t>
            </a:r>
            <a:r>
              <a:rPr lang="zh-CN" altLang="en-US" sz="2400" b="0" i="0" dirty="0">
                <a:solidFill>
                  <a:srgbClr val="0F0F0F"/>
                </a:solidFill>
                <a:effectLst/>
                <a:latin typeface="Söhne"/>
              </a:rPr>
              <a:t>元素。</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52400" y="2765425"/>
            <a:ext cx="12259310" cy="4092575"/>
          </a:xfrm>
          <a:prstGeom prst="rect">
            <a:avLst/>
          </a:prstGeom>
          <a:noFill/>
          <a:ln w="9525">
            <a:noFill/>
          </a:ln>
        </p:spPr>
        <p:txBody>
          <a:bodyPr wrap="square">
            <a:spAutoFit/>
          </a:bodyPr>
          <a:lstStyle/>
          <a:p>
            <a:pPr indent="0"/>
            <a:r>
              <a:rPr lang="en-US" sz="2000" b="0">
                <a:solidFill>
                  <a:srgbClr val="800000"/>
                </a:solidFill>
                <a:latin typeface="Menlo" panose="020B0609030804020204" charset="0"/>
                <a:cs typeface="SimSun" charset="0"/>
              </a:rPr>
              <a:t>&lt;!DOCTYPE</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HTML</a:t>
            </a:r>
            <a:r>
              <a:rPr lang="en-US" sz="2000" b="0">
                <a:solidFill>
                  <a:srgbClr val="800000"/>
                </a:solidFill>
                <a:latin typeface="Menlo" panose="020B0609030804020204" charset="0"/>
                <a:cs typeface="SimSun" charset="0"/>
              </a:rPr>
              <a: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&lt;html&gt;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&lt;body&gt;</a:t>
            </a:r>
            <a:r>
              <a:rPr lang="en-US" sz="2000" b="0">
                <a:solidFill>
                  <a:srgbClr val="3B3B3B"/>
                </a:solidFill>
                <a:latin typeface="Menlo" panose="020B0609030804020204" charset="0"/>
                <a:cs typeface="SimSun" charset="0"/>
              </a:rPr>
              <a:t> </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&lt;p</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id</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"demo"</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&lt;/p&gt;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&lt;p</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class</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"example"</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&lt;/p&gt;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&lt;a</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href</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"index.html"</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&lt;/a&gt;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&lt;span</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class</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"example"</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&lt;/span&gt;</a:t>
            </a:r>
            <a:endParaRPr lang="en-US" sz="2000" b="0">
              <a:solidFill>
                <a:srgbClr val="3B3B3B"/>
              </a:solidFill>
              <a:latin typeface="Menlo" panose="020B0609030804020204" charset="0"/>
              <a:cs typeface="SimSun" charset="0"/>
            </a:endParaRPr>
          </a:p>
          <a:p>
            <a:pPr indent="0"/>
            <a:r>
              <a:rPr lang="en-US" sz="2000" b="0">
                <a:solidFill>
                  <a:srgbClr val="3B3B3B"/>
                </a:solidFill>
                <a:latin typeface="Menlo" panose="020B0609030804020204" charset="0"/>
                <a:cs typeface="SimSun" charset="0"/>
              </a:rPr>
              <a:t> </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a:t>
            </a:r>
            <a:r>
              <a:rPr lang="en-US" sz="2000" b="0">
                <a:solidFill>
                  <a:srgbClr val="000000"/>
                </a:solidFill>
                <a:latin typeface="Menlo" panose="020B0609030804020204" charset="0"/>
                <a:cs typeface="SimSun" charset="0"/>
              </a:rPr>
              <a:t> </a:t>
            </a:r>
            <a:r>
              <a:rPr lang="en-US" sz="2000" b="0">
                <a:solidFill>
                  <a:srgbClr val="E50000"/>
                </a:solidFill>
                <a:latin typeface="Menlo" panose="020B0609030804020204" charset="0"/>
                <a:cs typeface="SimSun" charset="0"/>
              </a:rPr>
              <a:t>src</a:t>
            </a:r>
            <a:r>
              <a:rPr lang="en-US" sz="2000" b="0">
                <a:solidFill>
                  <a:srgbClr val="000000"/>
                </a:solidFill>
                <a:latin typeface="Menlo" panose="020B0609030804020204" charset="0"/>
                <a:cs typeface="SimSun" charset="0"/>
              </a:rPr>
              <a:t>=</a:t>
            </a:r>
            <a:r>
              <a:rPr lang="en-US" sz="2000" b="0">
                <a:solidFill>
                  <a:srgbClr val="0000FF"/>
                </a:solidFill>
                <a:latin typeface="Menlo" panose="020B0609030804020204" charset="0"/>
                <a:cs typeface="SimSun" charset="0"/>
              </a:rPr>
              <a:t>"js/jquery.min.js"</a:t>
            </a:r>
            <a:r>
              <a:rPr lang="en-US" sz="2000" b="0">
                <a:solidFill>
                  <a:srgbClr val="800000"/>
                </a:solidFill>
                <a:latin typeface="Menlo" panose="020B0609030804020204" charset="0"/>
                <a:cs typeface="SimSun" charset="0"/>
              </a:rPr>
              <a:t>&gt;&lt;/script&gt;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 src="https://cdn.bootcss.com/jquery/3.1.1/jquery.min.js"&gt;&lt;/script&gt;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a:t>
            </a:r>
            <a:r>
              <a:rPr lang="en-US" sz="2000" b="0">
                <a:solidFill>
                  <a:srgbClr val="000000"/>
                </a:solidFill>
                <a:latin typeface="Menlo" panose="020B0609030804020204" charset="0"/>
                <a:cs typeface="SimSun" charset="0"/>
              </a:rPr>
              <a:t> </a:t>
            </a:r>
            <a:r>
              <a:rPr lang="en-US" sz="2000" b="0">
                <a:solidFill>
                  <a:srgbClr val="E50000"/>
                </a:solidFill>
                <a:latin typeface="Menlo" panose="020B0609030804020204" charset="0"/>
                <a:cs typeface="SimSun" charset="0"/>
              </a:rPr>
              <a:t>src</a:t>
            </a:r>
            <a:r>
              <a:rPr lang="en-US" sz="2000" b="0">
                <a:solidFill>
                  <a:srgbClr val="000000"/>
                </a:solidFill>
                <a:latin typeface="Menlo" panose="020B0609030804020204" charset="0"/>
                <a:cs typeface="SimSun" charset="0"/>
              </a:rPr>
              <a:t>=</a:t>
            </a:r>
            <a:r>
              <a:rPr lang="en-US" sz="2000" b="0">
                <a:solidFill>
                  <a:srgbClr val="0000FF"/>
                </a:solidFill>
                <a:latin typeface="Menlo" panose="020B0609030804020204" charset="0"/>
                <a:cs typeface="SimSun" charset="0"/>
              </a:rPr>
              <a:t>"script.js"</a:t>
            </a:r>
            <a:r>
              <a:rPr lang="en-US" sz="2000" b="0">
                <a:solidFill>
                  <a:srgbClr val="800000"/>
                </a:solidFill>
                <a:latin typeface="Menlo" panose="020B0609030804020204" charset="0"/>
                <a:cs typeface="SimSun" charset="0"/>
              </a:rPr>
              <a:t>&gt;&lt;/script&gt;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&lt;/body&gt;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&lt;/html&gt;</a:t>
            </a:r>
            <a:endParaRPr lang="en-US" sz="2000"/>
          </a:p>
        </p:txBody>
      </p:sp>
      <p:sp>
        <p:nvSpPr>
          <p:cNvPr id="5" name="Text Box 4"/>
          <p:cNvSpPr txBox="1"/>
          <p:nvPr/>
        </p:nvSpPr>
        <p:spPr>
          <a:xfrm>
            <a:off x="5801360" y="2936875"/>
            <a:ext cx="6195060"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"p"</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
        <p:nvSpPr>
          <p:cNvPr id="3" name="Text Box 2"/>
          <p:cNvSpPr txBox="1"/>
          <p:nvPr/>
        </p:nvSpPr>
        <p:spPr>
          <a:xfrm>
            <a:off x="152400" y="200914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5801360" y="20094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06095" y="368300"/>
            <a:ext cx="11180445" cy="1569660"/>
          </a:xfrm>
          <a:prstGeom prst="rect">
            <a:avLst/>
          </a:prstGeom>
          <a:noFill/>
        </p:spPr>
        <p:txBody>
          <a:bodyPr wrap="square" rtlCol="0" anchor="t">
            <a:spAutoFit/>
          </a:bodyPr>
          <a:lstStyle/>
          <a:p>
            <a:pPr algn="just"/>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класса</a:t>
            </a:r>
            <a:r>
              <a:rPr lang="en-US" sz="2400" dirty="0">
                <a:latin typeface="Times New Roman Regular" panose="02020603050405020304" charset="0"/>
                <a:cs typeface="Times New Roman Regular" panose="02020603050405020304" charset="0"/>
              </a:rPr>
              <a:t> example.</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按类选择：下面的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选择器将选择所有类为 </a:t>
            </a:r>
            <a:r>
              <a:rPr lang="en-US" altLang="zh-CN" sz="2400" dirty="0">
                <a:latin typeface="Times New Roman Regular" panose="02020603050405020304" charset="0"/>
                <a:cs typeface="Times New Roman Regular" panose="02020603050405020304" charset="0"/>
              </a:rPr>
              <a:t>example </a:t>
            </a:r>
            <a:r>
              <a:rPr lang="zh-CN" altLang="en-US" sz="2400" dirty="0">
                <a:latin typeface="Times New Roman Regular" panose="02020603050405020304" charset="0"/>
                <a:cs typeface="Times New Roman Regular" panose="02020603050405020304" charset="0"/>
              </a:rPr>
              <a:t>的元素。</a:t>
            </a:r>
            <a:r>
              <a:rPr lang="en-US" altLang="zh-CN"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522855" y="3229610"/>
            <a:ext cx="7146290"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".example"</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28930" y="342900"/>
            <a:ext cx="1149286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идентификатору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заданным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идентификатором</a:t>
            </a:r>
            <a:r>
              <a:rPr lang="en-US" sz="2400" dirty="0">
                <a:latin typeface="Times New Roman Regular" panose="02020603050405020304" charset="0"/>
                <a:cs typeface="Times New Roman Regular" panose="02020603050405020304" charset="0"/>
              </a:rPr>
              <a:t> (id).</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通过标识符进行选择：下面的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选择器将选择具有指定标识符（</a:t>
            </a:r>
            <a:r>
              <a:rPr lang="en-US" altLang="zh-CN" sz="2400" dirty="0">
                <a:latin typeface="Times New Roman Regular" panose="02020603050405020304" charset="0"/>
                <a:cs typeface="Times New Roman Regular" panose="02020603050405020304" charset="0"/>
              </a:rPr>
              <a:t>id</a:t>
            </a:r>
            <a:r>
              <a:rPr lang="zh-CN" altLang="en-US" sz="2400" dirty="0">
                <a:latin typeface="Times New Roman Regular" panose="02020603050405020304" charset="0"/>
                <a:cs typeface="Times New Roman Regular" panose="02020603050405020304" charset="0"/>
              </a:rPr>
              <a:t>）的元素。</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691765" y="3229610"/>
            <a:ext cx="6767195"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"#demo"</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63855" y="299720"/>
            <a:ext cx="11396980"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наличию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определенным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href</a:t>
            </a:r>
            <a:r>
              <a:rPr lang="ru-RU" altLang="en-US" sz="2400" dirty="0">
                <a:latin typeface="Times New Roman Regular" panose="02020603050405020304" charset="0"/>
                <a:cs typeface="Times New Roman Regular" panose="02020603050405020304" charset="0"/>
              </a:rPr>
              <a:t> или </a:t>
            </a:r>
            <a:r>
              <a:rPr lang="en-US" altLang="ru-RU" sz="2400" dirty="0">
                <a:latin typeface="Times New Roman Regular" panose="02020603050405020304" charset="0"/>
                <a:cs typeface="Times New Roman Regular" panose="02020603050405020304" charset="0"/>
              </a:rPr>
              <a:t>class</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атрибутом</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根据属性的存在进行选择：下面的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选择器将选择所有具有特定 </a:t>
            </a:r>
            <a:r>
              <a:rPr lang="en-US" altLang="zh-CN" sz="2400" dirty="0" err="1">
                <a:latin typeface="Times New Roman Regular" panose="02020603050405020304" charset="0"/>
                <a:cs typeface="Times New Roman Regular" panose="02020603050405020304" charset="0"/>
              </a:rPr>
              <a:t>href</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或 </a:t>
            </a:r>
            <a:r>
              <a:rPr lang="en-US" altLang="zh-CN" sz="2400" dirty="0">
                <a:latin typeface="Times New Roman Regular" panose="02020603050405020304" charset="0"/>
                <a:cs typeface="Times New Roman Regular" panose="02020603050405020304" charset="0"/>
              </a:rPr>
              <a:t>class </a:t>
            </a:r>
            <a:r>
              <a:rPr lang="zh-CN" altLang="en-US" sz="2400" dirty="0">
                <a:latin typeface="Times New Roman Regular" panose="02020603050405020304" charset="0"/>
                <a:cs typeface="Times New Roman Regular" panose="02020603050405020304" charset="0"/>
              </a:rPr>
              <a:t>属性的元素。</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631440" y="2372360"/>
            <a:ext cx="6861810" cy="398780"/>
          </a:xfrm>
          <a:prstGeom prst="rect">
            <a:avLst/>
          </a:prstGeom>
          <a:noFill/>
          <a:ln w="9525">
            <a:noFill/>
          </a:ln>
        </p:spPr>
        <p:txBody>
          <a:bodyPr wrap="square">
            <a:spAutoFit/>
          </a:bodyPr>
          <a:lstStyle/>
          <a:p>
            <a:pPr indent="0"/>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"[href]"</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
        <p:nvSpPr>
          <p:cNvPr id="7" name="Text Box 6"/>
          <p:cNvSpPr txBox="1"/>
          <p:nvPr/>
        </p:nvSpPr>
        <p:spPr>
          <a:xfrm>
            <a:off x="5731510" y="3290570"/>
            <a:ext cx="661670" cy="460375"/>
          </a:xfrm>
          <a:prstGeom prst="rect">
            <a:avLst/>
          </a:prstGeom>
          <a:noFill/>
        </p:spPr>
        <p:txBody>
          <a:bodyPr wrap="none" rtlCol="0">
            <a:spAutoFit/>
          </a:bodyPr>
          <a:lstStyle/>
          <a:p>
            <a:r>
              <a:rPr lang="ru-RU" altLang="en-US" sz="2400">
                <a:latin typeface="Times New Roman Regular" panose="02020603050405020304" charset="0"/>
                <a:cs typeface="Times New Roman Regular" panose="02020603050405020304" charset="0"/>
              </a:rPr>
              <a:t>или</a:t>
            </a:r>
            <a:endParaRPr lang="ru-RU" altLang="en-US" sz="2400">
              <a:latin typeface="Times New Roman Regular" panose="02020603050405020304" charset="0"/>
              <a:cs typeface="Times New Roman Regular" panose="02020603050405020304" charset="0"/>
            </a:endParaRPr>
          </a:p>
        </p:txBody>
      </p:sp>
      <p:sp>
        <p:nvSpPr>
          <p:cNvPr id="8" name="Text Box 7"/>
          <p:cNvSpPr txBox="1"/>
          <p:nvPr/>
        </p:nvSpPr>
        <p:spPr>
          <a:xfrm>
            <a:off x="2882900" y="4271010"/>
            <a:ext cx="6426200" cy="36830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"[class]"</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"border"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"3px solid red"</a:t>
            </a:r>
            <a:r>
              <a:rPr lang="en-US" b="0">
                <a:solidFill>
                  <a:srgbClr val="3B3B3B"/>
                </a:solidFill>
                <a:latin typeface="Menlo" panose="020B0609030804020204" charset="0"/>
                <a:cs typeface="SimSun" charset="0"/>
              </a:rPr>
              <a:t>);</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98475" y="569595"/>
            <a:ext cx="11017250" cy="1938992"/>
          </a:xfrm>
          <a:prstGeom prst="rect">
            <a:avLst/>
          </a:prstGeom>
          <a:noFill/>
        </p:spPr>
        <p:txBody>
          <a:bodyPr wrap="square" rtlCol="0" anchor="t">
            <a:spAutoFit/>
          </a:bodyPr>
          <a:lstStyle/>
          <a:p>
            <a:pPr algn="just"/>
            <a:r>
              <a:rPr lang="en-US" sz="20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которых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существует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href</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index.html</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按属性值选择：下面的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选择器将选择所有具有 </a:t>
            </a:r>
            <a:r>
              <a:rPr lang="en-US" altLang="zh-CN" sz="2400" dirty="0" err="1">
                <a:latin typeface="Times New Roman Regular" panose="02020603050405020304" charset="0"/>
                <a:cs typeface="Times New Roman Regular" panose="02020603050405020304" charset="0"/>
              </a:rPr>
              <a:t>href</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属性且其值为 </a:t>
            </a:r>
            <a:r>
              <a:rPr lang="en-US" altLang="zh-CN" sz="2400" dirty="0" err="1">
                <a:latin typeface="Times New Roman Regular" panose="02020603050405020304" charset="0"/>
                <a:cs typeface="Times New Roman Regular" panose="02020603050405020304" charset="0"/>
              </a:rPr>
              <a:t>index.html</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的元素。</a:t>
            </a:r>
            <a:r>
              <a:rPr lang="en-US" altLang="zh-CN"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830580" y="2936875"/>
            <a:ext cx="10531475"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"[href='index.html']"</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92125" y="414655"/>
            <a:ext cx="11328400" cy="1569660"/>
          </a:xfrm>
          <a:prstGeom prst="rect">
            <a:avLst/>
          </a:prstGeom>
          <a:noFill/>
        </p:spPr>
        <p:txBody>
          <a:bodyPr wrap="square" rtlCol="0" anchor="t">
            <a:spAutoFit/>
          </a:bodyPr>
          <a:lstStyle/>
          <a:p>
            <a:pPr indent="0" algn="just">
              <a:buFont typeface="Arial" panose="020B0704020202020204" pitchFamily="34" charset="0"/>
              <a:buNone/>
            </a:pPr>
            <a:r>
              <a:rPr lang="ru-RU" alt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Индексированный</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селектор</a:t>
            </a:r>
            <a:r>
              <a:rPr lang="ru-RU" alt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rPr>
              <a:t>с</a:t>
            </a:r>
            <a:r>
              <a:rPr lang="en-US" sz="2400" dirty="0" err="1">
                <a:latin typeface="Times New Roman Regular" panose="02020603050405020304" charset="0"/>
                <a:cs typeface="Times New Roman Regular" panose="02020603050405020304" charset="0"/>
              </a:rPr>
              <a:t>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только</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один первый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a:t>
            </a:r>
            <a:r>
              <a:rPr lang="en-US" altLang="ru-RU"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тега </a:t>
            </a:r>
            <a:r>
              <a:rPr lang="en-US" altLang="ru-RU" sz="2400" dirty="0">
                <a:latin typeface="Times New Roman Regular" panose="02020603050405020304" charset="0"/>
                <a:cs typeface="Times New Roman Regular" panose="02020603050405020304" charset="0"/>
              </a:rPr>
              <a:t>&lt;p&gt;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r>
              <a:rPr lang="zh-CN" altLang="en-US" sz="2400" dirty="0">
                <a:latin typeface="Times New Roman Regular" panose="02020603050405020304" charset="0"/>
                <a:cs typeface="Times New Roman Regular" panose="02020603050405020304" charset="0"/>
              </a:rPr>
              <a:t>索引选择器：下面的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选择器只会选择第一个 </a:t>
            </a:r>
            <a:r>
              <a:rPr lang="en-US" altLang="zh-CN" sz="2400" dirty="0">
                <a:latin typeface="Times New Roman Regular" panose="02020603050405020304" charset="0"/>
                <a:cs typeface="Times New Roman Regular" panose="02020603050405020304" charset="0"/>
              </a:rPr>
              <a:t>&lt;p&gt; </a:t>
            </a:r>
            <a:r>
              <a:rPr lang="zh-CN" altLang="en-US" sz="2400" dirty="0">
                <a:latin typeface="Times New Roman Regular" panose="02020603050405020304" charset="0"/>
                <a:cs typeface="Times New Roman Regular" panose="02020603050405020304" charset="0"/>
              </a:rPr>
              <a:t>标签的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910080" y="3199130"/>
            <a:ext cx="837184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"p:eq(0)"</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1556385" y="3318510"/>
            <a:ext cx="9079865"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"p:last"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
        <p:nvSpPr>
          <p:cNvPr id="5" name="Text Box 4"/>
          <p:cNvSpPr txBox="1"/>
          <p:nvPr/>
        </p:nvSpPr>
        <p:spPr>
          <a:xfrm>
            <a:off x="492125" y="414655"/>
            <a:ext cx="11328400" cy="1200329"/>
          </a:xfrm>
          <a:prstGeom prst="rect">
            <a:avLst/>
          </a:prstGeom>
          <a:noFill/>
        </p:spPr>
        <p:txBody>
          <a:bodyPr wrap="square" rtlCol="0" anchor="t">
            <a:spAutoFit/>
          </a:bodyPr>
          <a:lstStyle/>
          <a:p>
            <a:pPr indent="0" algn="just">
              <a:buFont typeface="Arial" panose="020B0704020202020204" pitchFamily="34" charset="0"/>
              <a:buNone/>
            </a:pPr>
            <a:r>
              <a:rPr lang="ru-RU" alt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Индексированный</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селектор</a:t>
            </a:r>
            <a:r>
              <a:rPr lang="ru-RU" alt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rPr>
              <a:t>с</a:t>
            </a:r>
            <a:r>
              <a:rPr lang="en-US" sz="2400" dirty="0" err="1">
                <a:latin typeface="Times New Roman Regular" panose="02020603050405020304" charset="0"/>
                <a:cs typeface="Times New Roman Regular" panose="02020603050405020304" charset="0"/>
              </a:rPr>
              <a:t>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ru-RU" sz="2400" dirty="0">
                <a:latin typeface="Times New Roman Regular" panose="02020603050405020304" charset="0"/>
                <a:cs typeface="Times New Roman Regular" panose="02020603050405020304" charset="0"/>
              </a:rPr>
              <a:t>последний</a:t>
            </a:r>
            <a:r>
              <a:rPr lang="ru-RU" altLang="en-US" sz="2400" dirty="0">
                <a:latin typeface="Times New Roman Regular" panose="02020603050405020304" charset="0"/>
                <a:cs typeface="Times New Roman Regular" panose="02020603050405020304" charset="0"/>
              </a:rPr>
              <a:t>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a:t>
            </a:r>
            <a:r>
              <a:rPr lang="en-US" altLang="ru-RU"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тега </a:t>
            </a:r>
            <a:r>
              <a:rPr lang="en-US" altLang="ru-RU" sz="2400" dirty="0">
                <a:latin typeface="Times New Roman Regular" panose="02020603050405020304" charset="0"/>
                <a:cs typeface="Times New Roman Regular" panose="02020603050405020304" charset="0"/>
              </a:rPr>
              <a:t>&lt;p&gt;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r>
              <a:rPr lang="zh-CN" altLang="en-US" sz="2400" dirty="0">
                <a:latin typeface="Times New Roman Regular" panose="02020603050405020304" charset="0"/>
                <a:cs typeface="Times New Roman Regular" panose="02020603050405020304" charset="0"/>
              </a:rPr>
              <a:t>索引选择器：以下的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 </a:t>
            </a:r>
            <a:r>
              <a:rPr lang="en-US" altLang="zh-CN" sz="2400" dirty="0">
                <a:latin typeface="Times New Roman Regular" panose="02020603050405020304" charset="0"/>
                <a:cs typeface="Times New Roman Regular" panose="02020603050405020304" charset="0"/>
              </a:rPr>
              <a:t>&lt;p&gt; </a:t>
            </a:r>
            <a:r>
              <a:rPr lang="zh-CN" altLang="en-US" sz="2400" dirty="0">
                <a:latin typeface="Times New Roman Regular" panose="02020603050405020304" charset="0"/>
                <a:cs typeface="Times New Roman Regular" panose="02020603050405020304" charset="0"/>
              </a:rPr>
              <a:t>标签的最后一个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39140" y="491490"/>
            <a:ext cx="10916920" cy="3046988"/>
          </a:xfrm>
          <a:prstGeom prst="rect">
            <a:avLst/>
          </a:prstGeom>
          <a:noFill/>
          <a:ln w="9525">
            <a:noFill/>
          </a:ln>
        </p:spPr>
        <p:txBody>
          <a:bodyPr wrap="square">
            <a:spAutoFit/>
          </a:bodyPr>
          <a:lstStyle/>
          <a:p>
            <a:pPr indent="450215" algn="just"/>
            <a:r>
              <a:rPr lang="en-US" sz="2400" b="0" i="1" dirty="0" err="1">
                <a:latin typeface="Times New Roman" panose="02020603050405020304" charset="0"/>
              </a:rPr>
              <a:t>Групповые</a:t>
            </a:r>
            <a:r>
              <a:rPr lang="en-US" sz="2400" b="0" i="1" dirty="0">
                <a:latin typeface="Times New Roman" panose="02020603050405020304" charset="0"/>
              </a:rPr>
              <a:t> </a:t>
            </a:r>
            <a:r>
              <a:rPr lang="en-US" sz="2400" b="0" i="1" dirty="0" err="1">
                <a:latin typeface="Times New Roman" panose="02020603050405020304" charset="0"/>
              </a:rPr>
              <a:t>селекторы</a:t>
            </a:r>
            <a:r>
              <a:rPr lang="en-US" sz="2400" b="0" i="1" dirty="0">
                <a:latin typeface="Times New Roman" panose="02020603050405020304" charset="0"/>
              </a:rPr>
              <a:t> (“</a:t>
            </a:r>
            <a:r>
              <a:rPr lang="en-US" sz="2400" b="0" i="1" dirty="0" err="1">
                <a:latin typeface="Times New Roman" panose="02020603050405020304" charset="0"/>
              </a:rPr>
              <a:t>selector1</a:t>
            </a:r>
            <a:r>
              <a:rPr lang="en-US" sz="2400" b="0" i="1" dirty="0">
                <a:latin typeface="Times New Roman" panose="02020603050405020304" charset="0"/>
              </a:rPr>
              <a:t>, </a:t>
            </a:r>
            <a:r>
              <a:rPr lang="en-US" sz="2400" b="0" i="1" dirty="0" err="1">
                <a:latin typeface="Times New Roman" panose="02020603050405020304" charset="0"/>
              </a:rPr>
              <a:t>selector2</a:t>
            </a:r>
            <a:r>
              <a:rPr lang="en-US" sz="2400" b="0" i="1" dirty="0">
                <a:latin typeface="Times New Roman" panose="02020603050405020304" charset="0"/>
              </a:rPr>
              <a:t>, </a:t>
            </a:r>
            <a:r>
              <a:rPr lang="en-US" sz="2400" b="0" i="1" dirty="0" err="1">
                <a:latin typeface="Times New Roman" panose="02020603050405020304" charset="0"/>
              </a:rPr>
              <a:t>selectorN</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можем</a:t>
            </a:r>
            <a:r>
              <a:rPr lang="en-US" sz="2400" b="0" dirty="0">
                <a:latin typeface="Times New Roman" panose="02020603050405020304" charset="0"/>
              </a:rPr>
              <a:t> </a:t>
            </a:r>
            <a:r>
              <a:rPr lang="en-US" sz="2400" b="0" dirty="0" err="1">
                <a:latin typeface="Times New Roman" panose="02020603050405020304" charset="0"/>
              </a:rPr>
              <a:t>указать</a:t>
            </a:r>
            <a:r>
              <a:rPr lang="en-US" sz="2400" b="0" dirty="0">
                <a:latin typeface="Times New Roman" panose="02020603050405020304" charset="0"/>
              </a:rPr>
              <a:t> </a:t>
            </a:r>
            <a:r>
              <a:rPr lang="en-US" sz="2400" b="0" dirty="0" err="1">
                <a:latin typeface="Times New Roman" panose="02020603050405020304" charset="0"/>
              </a:rPr>
              <a:t>любое</a:t>
            </a:r>
            <a:r>
              <a:rPr lang="en-US" sz="2400" b="0" dirty="0">
                <a:latin typeface="Times New Roman" panose="02020603050405020304" charset="0"/>
              </a:rPr>
              <a:t> </a:t>
            </a:r>
            <a:r>
              <a:rPr lang="en-US" sz="2400" b="0" dirty="0" err="1">
                <a:latin typeface="Times New Roman" panose="02020603050405020304" charset="0"/>
              </a:rPr>
              <a:t>количество</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объединения</a:t>
            </a:r>
            <a:r>
              <a:rPr lang="en-US" sz="2400" b="0" dirty="0">
                <a:latin typeface="Times New Roman" panose="02020603050405020304" charset="0"/>
              </a:rPr>
              <a:t> в </a:t>
            </a:r>
            <a:r>
              <a:rPr lang="en-US" sz="2400" b="0" dirty="0" err="1">
                <a:latin typeface="Times New Roman" panose="02020603050405020304" charset="0"/>
              </a:rPr>
              <a:t>один</a:t>
            </a:r>
            <a:r>
              <a:rPr lang="en-US" sz="2400" b="0" dirty="0">
                <a:latin typeface="Times New Roman" panose="02020603050405020304" charset="0"/>
              </a:rPr>
              <a:t> </a:t>
            </a:r>
            <a:r>
              <a:rPr lang="en-US" sz="2400" b="0" dirty="0" err="1">
                <a:latin typeface="Times New Roman" panose="02020603050405020304" charset="0"/>
              </a:rPr>
              <a:t>результат</a:t>
            </a:r>
            <a:r>
              <a:rPr lang="en-US" sz="2400" b="0" dirty="0">
                <a:latin typeface="Times New Roman" panose="02020603050405020304" charset="0"/>
              </a:rPr>
              <a:t>. </a:t>
            </a:r>
            <a:r>
              <a:rPr lang="en-US" sz="2400" b="0" dirty="0" err="1">
                <a:latin typeface="Times New Roman" panose="02020603050405020304" charset="0"/>
              </a:rPr>
              <a:t>Этот</a:t>
            </a:r>
            <a:r>
              <a:rPr lang="en-US" sz="2400" b="0" dirty="0">
                <a:latin typeface="Times New Roman" panose="02020603050405020304" charset="0"/>
              </a:rPr>
              <a:t> </a:t>
            </a:r>
            <a:r>
              <a:rPr lang="en-US" sz="2400" b="0" dirty="0" err="1">
                <a:latin typeface="Times New Roman" panose="02020603050405020304" charset="0"/>
              </a:rPr>
              <a:t>комбинатор</a:t>
            </a:r>
            <a:r>
              <a:rPr lang="en-US" sz="2400" b="0" dirty="0">
                <a:latin typeface="Times New Roman" panose="02020603050405020304" charset="0"/>
              </a:rPr>
              <a:t> </a:t>
            </a:r>
            <a:r>
              <a:rPr lang="en-US" sz="2400" b="0" dirty="0" err="1">
                <a:latin typeface="Times New Roman" panose="02020603050405020304" charset="0"/>
              </a:rPr>
              <a:t>нескольких</a:t>
            </a:r>
            <a:r>
              <a:rPr lang="en-US" sz="2400" b="0" dirty="0">
                <a:latin typeface="Times New Roman" panose="02020603050405020304" charset="0"/>
              </a:rPr>
              <a:t> </a:t>
            </a:r>
            <a:r>
              <a:rPr lang="en-US" sz="2400" b="0" dirty="0" err="1">
                <a:latin typeface="Times New Roman" panose="02020603050405020304" charset="0"/>
              </a:rPr>
              <a:t>выражений</a:t>
            </a:r>
            <a:r>
              <a:rPr lang="en-US" sz="2400" b="0" dirty="0">
                <a:latin typeface="Times New Roman" panose="02020603050405020304" charset="0"/>
              </a:rPr>
              <a:t> — </a:t>
            </a:r>
            <a:r>
              <a:rPr lang="en-US" sz="2400" b="0" dirty="0" err="1">
                <a:latin typeface="Times New Roman" panose="02020603050405020304" charset="0"/>
              </a:rPr>
              <a:t>эффективный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выбора</a:t>
            </a:r>
            <a:r>
              <a:rPr lang="en-US" sz="2400" b="0" dirty="0">
                <a:latin typeface="Times New Roman" panose="02020603050405020304" charset="0"/>
              </a:rPr>
              <a:t> </a:t>
            </a:r>
            <a:r>
              <a:rPr lang="en-US" sz="2400" b="0" dirty="0" err="1">
                <a:latin typeface="Times New Roman" panose="02020603050405020304" charset="0"/>
              </a:rPr>
              <a:t>разрозненных</a:t>
            </a:r>
            <a:r>
              <a:rPr lang="en-US" sz="2400" b="0" dirty="0">
                <a:latin typeface="Times New Roman" panose="02020603050405020304" charset="0"/>
              </a:rPr>
              <a:t> </a:t>
            </a:r>
            <a:r>
              <a:rPr lang="en-US" sz="2400" b="0" dirty="0" err="1">
                <a:latin typeface="Times New Roman" panose="02020603050405020304" charset="0"/>
              </a:rPr>
              <a:t>элементов</a:t>
            </a:r>
            <a:r>
              <a:rPr lang="en-US" sz="2400" b="0" dirty="0">
                <a:latin typeface="Times New Roman" panose="02020603050405020304" charset="0"/>
              </a:rPr>
              <a:t>. </a:t>
            </a:r>
            <a:r>
              <a:rPr lang="en-US" sz="2400" b="0" dirty="0" err="1">
                <a:latin typeface="Times New Roman" panose="02020603050405020304" charset="0"/>
              </a:rPr>
              <a:t>Соответствует</a:t>
            </a:r>
            <a:r>
              <a:rPr lang="en-US" sz="2400" b="0" dirty="0">
                <a:latin typeface="Times New Roman" panose="02020603050405020304" charset="0"/>
              </a:rPr>
              <a:t> </a:t>
            </a:r>
            <a:r>
              <a:rPr lang="en-US" sz="2400" b="0" dirty="0" err="1">
                <a:latin typeface="Times New Roman" panose="02020603050405020304" charset="0"/>
              </a:rPr>
              <a:t>элементам</a:t>
            </a:r>
            <a:r>
              <a:rPr lang="en-US" sz="2400" b="0" dirty="0">
                <a:latin typeface="Times New Roman" panose="02020603050405020304" charset="0"/>
              </a:rPr>
              <a:t>, </a:t>
            </a:r>
            <a:r>
              <a:rPr lang="en-US" sz="2400" b="0" dirty="0" err="1">
                <a:latin typeface="Times New Roman" panose="02020603050405020304" charset="0"/>
              </a:rPr>
              <a:t>удовлетворяющим</a:t>
            </a:r>
            <a:r>
              <a:rPr lang="en-US" sz="2400" b="0" dirty="0">
                <a:latin typeface="Times New Roman" panose="02020603050405020304" charset="0"/>
              </a:rPr>
              <a:t> </a:t>
            </a:r>
            <a:r>
              <a:rPr lang="en-US" sz="2400" b="0" dirty="0" err="1">
                <a:latin typeface="Times New Roman" panose="02020603050405020304" charset="0"/>
              </a:rPr>
              <a:t>хотя</a:t>
            </a:r>
            <a:r>
              <a:rPr lang="en-US" sz="2400" b="0" dirty="0">
                <a:latin typeface="Times New Roman" panose="02020603050405020304" charset="0"/>
              </a:rPr>
              <a:t> </a:t>
            </a:r>
            <a:r>
              <a:rPr lang="en-US" sz="2400" b="0" dirty="0" err="1">
                <a:latin typeface="Times New Roman" panose="02020603050405020304" charset="0"/>
              </a:rPr>
              <a:t>бы</a:t>
            </a:r>
            <a:r>
              <a:rPr lang="en-US" sz="2400" b="0" dirty="0">
                <a:latin typeface="Times New Roman" panose="02020603050405020304" charset="0"/>
              </a:rPr>
              <a:t> </a:t>
            </a:r>
            <a:r>
              <a:rPr lang="en-US" sz="2400" b="0" dirty="0" err="1">
                <a:latin typeface="Times New Roman" panose="02020603050405020304" charset="0"/>
              </a:rPr>
              <a:t>одному</a:t>
            </a:r>
            <a:r>
              <a:rPr lang="en-US" sz="2400" b="0" dirty="0">
                <a:latin typeface="Times New Roman" panose="02020603050405020304" charset="0"/>
              </a:rPr>
              <a:t> </a:t>
            </a:r>
            <a:r>
              <a:rPr lang="en-US" sz="2400" b="0" dirty="0" err="1">
                <a:latin typeface="Times New Roman" panose="02020603050405020304" charset="0"/>
              </a:rPr>
              <a:t>из</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i="1" dirty="0">
                <a:latin typeface="Times New Roman" panose="02020603050405020304" charset="0"/>
              </a:rPr>
              <a:t>(first, second, ...)</a:t>
            </a:r>
            <a:r>
              <a:rPr lang="en-US" sz="2400" b="0" dirty="0">
                <a:latin typeface="Times New Roman" panose="02020603050405020304" charset="0"/>
              </a:rPr>
              <a:t>.</a:t>
            </a:r>
            <a:endParaRPr lang="en-US" sz="2400" b="0" dirty="0">
              <a:latin typeface="Times New Roman" panose="02020603050405020304" charset="0"/>
            </a:endParaRPr>
          </a:p>
          <a:p>
            <a:pPr indent="450215" algn="just"/>
            <a:r>
              <a:rPr lang="zh-CN" altLang="en-US" sz="2400" b="0" i="0" dirty="0">
                <a:solidFill>
                  <a:srgbClr val="0F0F0F"/>
                </a:solidFill>
                <a:effectLst/>
                <a:latin typeface="Söhne"/>
              </a:rPr>
              <a:t>选择器（“</a:t>
            </a:r>
            <a:r>
              <a:rPr lang="en-US" altLang="zh-CN" sz="2400" b="0" i="0" dirty="0" err="1">
                <a:solidFill>
                  <a:srgbClr val="0F0F0F"/>
                </a:solidFill>
                <a:effectLst/>
                <a:latin typeface="Söhne"/>
              </a:rPr>
              <a:t>selector1</a:t>
            </a:r>
            <a:r>
              <a:rPr lang="en-US" altLang="zh-CN" sz="2400" b="0" i="0" dirty="0">
                <a:solidFill>
                  <a:srgbClr val="0F0F0F"/>
                </a:solidFill>
                <a:effectLst/>
                <a:latin typeface="Söhne"/>
              </a:rPr>
              <a:t>, </a:t>
            </a:r>
            <a:r>
              <a:rPr lang="en-US" altLang="zh-CN" sz="2400" b="0" i="0" dirty="0" err="1">
                <a:solidFill>
                  <a:srgbClr val="0F0F0F"/>
                </a:solidFill>
                <a:effectLst/>
                <a:latin typeface="Söhne"/>
              </a:rPr>
              <a:t>selector2</a:t>
            </a:r>
            <a:r>
              <a:rPr lang="en-US" altLang="zh-CN" sz="2400" b="0" i="0" dirty="0">
                <a:solidFill>
                  <a:srgbClr val="0F0F0F"/>
                </a:solidFill>
                <a:effectLst/>
                <a:latin typeface="Söhne"/>
              </a:rPr>
              <a:t>, </a:t>
            </a:r>
            <a:r>
              <a:rPr lang="en-US" altLang="zh-CN" sz="2400" b="0" i="0" dirty="0" err="1">
                <a:solidFill>
                  <a:srgbClr val="0F0F0F"/>
                </a:solidFill>
                <a:effectLst/>
                <a:latin typeface="Söhne"/>
              </a:rPr>
              <a:t>selectorN</a:t>
            </a:r>
            <a:r>
              <a:rPr lang="en-US" altLang="zh-CN" sz="2400" b="0" i="0" dirty="0">
                <a:solidFill>
                  <a:srgbClr val="0F0F0F"/>
                </a:solidFill>
                <a:effectLst/>
                <a:latin typeface="Söhne"/>
              </a:rPr>
              <a:t>”</a:t>
            </a:r>
            <a:r>
              <a:rPr lang="zh-CN" altLang="en-US" sz="2400" b="0" i="0" dirty="0">
                <a:solidFill>
                  <a:srgbClr val="0F0F0F"/>
                </a:solidFill>
                <a:effectLst/>
                <a:latin typeface="Söhne"/>
              </a:rPr>
              <a:t>）。我们可以指定任意数量的选择器来合并成一个结果。这个多表达式的组合器是选择分散元素的有效方式。匹配至少一个选择器的元素（第一个、第二个，以此类推）。</a:t>
            </a:r>
            <a:endParaRPr lang="en-US" sz="2400" dirty="0"/>
          </a:p>
        </p:txBody>
      </p:sp>
      <p:sp>
        <p:nvSpPr>
          <p:cNvPr id="6" name="Text Box 5"/>
          <p:cNvSpPr txBox="1"/>
          <p:nvPr/>
        </p:nvSpPr>
        <p:spPr>
          <a:xfrm>
            <a:off x="2160270" y="4344670"/>
            <a:ext cx="7871460" cy="829945"/>
          </a:xfrm>
          <a:prstGeom prst="rect">
            <a:avLst/>
          </a:prstGeom>
          <a:noFill/>
          <a:ln w="9525">
            <a:noFill/>
          </a:ln>
        </p:spPr>
        <p:txBody>
          <a:bodyPr wrap="square">
            <a:spAutoFit/>
          </a:bodyPr>
          <a:lstStyle/>
          <a:p>
            <a:pPr marL="0" indent="0" algn="just"/>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 a"</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just"/>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 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"background"</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"yellow"</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297430" y="3304540"/>
            <a:ext cx="759714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
        <p:nvSpPr>
          <p:cNvPr id="5" name="Text Box 4"/>
          <p:cNvSpPr txBox="1"/>
          <p:nvPr/>
        </p:nvSpPr>
        <p:spPr>
          <a:xfrm>
            <a:off x="362585" y="349885"/>
            <a:ext cx="11356975" cy="2308324"/>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Могут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случаи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хотим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выбрать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общего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свойства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т.д</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этом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случае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можем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использовать</a:t>
            </a:r>
            <a:r>
              <a:rPr lang="en-US" sz="2400" dirty="0">
                <a:latin typeface="Times New Roman Regular" panose="02020603050405020304" charset="0"/>
                <a:cs typeface="Times New Roman Regular" panose="02020603050405020304" charset="0"/>
              </a:rPr>
              <a:t> *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可能会有这样的情况，当我们想要选择所有元素，但没有共同的选择属性（类、属性等）时。在这种情况下，我们可以使用 * 选择器，它只是选择所有元素。</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08330" y="926465"/>
            <a:ext cx="10975340" cy="2677656"/>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События</a:t>
            </a:r>
            <a:r>
              <a:rPr lang="en-US" sz="2400" b="1" dirty="0">
                <a:latin typeface="Times New Roman Bold" panose="02020603050405020304" charset="0"/>
                <a:cs typeface="Times New Roman Bold" panose="02020603050405020304" charset="0"/>
              </a:rPr>
              <a:t> jQuery</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помогают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сделать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веб-страницы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интерактивными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реагируя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простейшие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действия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представляют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точный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момент</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который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что-либо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происходит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щелчок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кнопки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ru-RU" altLang="en-US" sz="2400" dirty="0">
                <a:latin typeface="Times New Roman Regular" panose="02020603050405020304" charset="0"/>
                <a:cs typeface="Times New Roman Regular" panose="02020603050405020304" charset="0"/>
              </a:rPr>
              <a:t> или наведение курсора мыши на объект на странице</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事件有助于通过响应用户的基本操作使网页变得更加交互。事件是指发生某事的确切时刻，例如单击鼠标按钮或将鼠标悬停在页面上的对象上。</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67055" y="702310"/>
            <a:ext cx="11057255" cy="3046988"/>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Процесс</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добавления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некоторому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обычно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осуществляется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после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загрузки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DOM </a:t>
            </a:r>
            <a:r>
              <a:rPr lang="en-US" sz="2400" dirty="0" err="1">
                <a:latin typeface="Times New Roman Regular" panose="02020603050405020304" charset="0"/>
                <a:cs typeface="Times New Roman Regular" panose="02020603050405020304" charset="0"/>
              </a:rPr>
              <a:t>дерево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документа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уже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построено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Иначе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написании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можете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обратиться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элементам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ещё</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Разберем основные события.</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通常，在对某个元素添加事件处理程序的过程中，这通常发生在页面加载后，即文档的</a:t>
            </a:r>
            <a:r>
              <a:rPr lang="en-US" altLang="zh-CN" sz="2400" dirty="0">
                <a:latin typeface="Times New Roman Regular" panose="02020603050405020304" charset="0"/>
                <a:cs typeface="Times New Roman Regular" panose="02020603050405020304" charset="0"/>
              </a:rPr>
              <a:t>DOM</a:t>
            </a:r>
            <a:r>
              <a:rPr lang="zh-CN" altLang="en-US" sz="2400" dirty="0">
                <a:latin typeface="Times New Roman Regular" panose="02020603050405020304" charset="0"/>
                <a:cs typeface="Times New Roman Regular" panose="02020603050405020304" charset="0"/>
              </a:rPr>
              <a:t>树已经构建完成。否则，在编写处理程序时，您可能会尝试访问页面上尚不存在的元素。让我们来了解一下主要的事件。</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499110" y="482600"/>
            <a:ext cx="4634865" cy="521970"/>
          </a:xfrm>
          <a:prstGeom prst="rect">
            <a:avLst/>
          </a:prstGeom>
          <a:noFill/>
        </p:spPr>
        <p:txBody>
          <a:bodyPr wrap="square" rtlCol="0" anchor="t">
            <a:spAutoFit/>
          </a:bodyPr>
          <a:lstStyle/>
          <a:p>
            <a:r>
              <a:rPr lang="en-US" sz="2800" b="1"/>
              <a:t>$(document).ready()</a:t>
            </a:r>
            <a:endParaRPr lang="en-US" sz="2800" b="1"/>
          </a:p>
        </p:txBody>
      </p:sp>
      <p:sp>
        <p:nvSpPr>
          <p:cNvPr id="6" name="Text Box 5"/>
          <p:cNvSpPr txBox="1"/>
          <p:nvPr/>
        </p:nvSpPr>
        <p:spPr>
          <a:xfrm>
            <a:off x="499110" y="1444625"/>
            <a:ext cx="1090803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a:latin typeface="Times New Roman Regular" panose="02020603050405020304" charset="0"/>
                <a:cs typeface="Times New Roman Regular" panose="02020603050405020304" charset="0"/>
                <a:sym typeface="+mn-ea"/>
              </a:rPr>
              <a:t>document</a:t>
            </a:r>
            <a:r>
              <a:rPr lang="en-US" sz="2400" dirty="0">
                <a:latin typeface="Times New Roman Regular" panose="02020603050405020304" charset="0"/>
                <a:cs typeface="Times New Roman Regular" panose="02020603050405020304" charset="0"/>
              </a:rPr>
              <a:t>).ready()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позволяет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документ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полностью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загружен</a:t>
            </a:r>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这句话的中文翻译是：“这种方法允许我们在文档完全加载时执行函数。”</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06650" y="3637280"/>
            <a:ext cx="737933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1080"/>
                </a:solidFill>
                <a:latin typeface="Menlo" panose="020B0609030804020204" charset="0"/>
                <a:cs typeface="SimSun" charset="0"/>
              </a:rPr>
              <a:t>document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ready</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'Document is ready!'</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731520" y="1398905"/>
            <a:ext cx="10893425" cy="2246769"/>
          </a:xfrm>
          <a:prstGeom prst="rect">
            <a:avLst/>
          </a:prstGeom>
          <a:noFill/>
        </p:spPr>
        <p:txBody>
          <a:bodyPr wrap="square" rtlCol="0">
            <a:spAutoFit/>
          </a:bodyPr>
          <a:lstStyle/>
          <a:p>
            <a:pPr algn="just"/>
            <a:r>
              <a:rPr lang="ru-RU" altLang="en-US" sz="2800" dirty="0">
                <a:latin typeface="Times New Roman Regular" panose="02020603050405020304" charset="0"/>
                <a:cs typeface="Times New Roman Regular" panose="02020603050405020304" charset="0"/>
              </a:rPr>
              <a:t>	Давайте самостоятельно попробуем изменить цвет страницы через 3 секунды после загрузки документа. Цвет вы можете выбрать самостоятельно.</a:t>
            </a:r>
            <a:endParaRPr lang="en-US" altLang="en-US" sz="2800" dirty="0">
              <a:latin typeface="Times New Roman Regular" panose="02020603050405020304" charset="0"/>
              <a:cs typeface="Times New Roman Regular" panose="02020603050405020304" charset="0"/>
            </a:endParaRPr>
          </a:p>
          <a:p>
            <a:pPr algn="just"/>
            <a:r>
              <a:rPr lang="zh-CN" altLang="en-US" sz="2800" dirty="0">
                <a:latin typeface="Times New Roman Regular" panose="02020603050405020304" charset="0"/>
                <a:cs typeface="Times New Roman Regular" panose="02020603050405020304" charset="0"/>
              </a:rPr>
              <a:t>让我们尝试在文档加载后的</a:t>
            </a:r>
            <a:r>
              <a:rPr lang="en-US" altLang="zh-CN" sz="2800" dirty="0">
                <a:latin typeface="Times New Roman Regular" panose="02020603050405020304" charset="0"/>
                <a:cs typeface="Times New Roman Regular" panose="02020603050405020304" charset="0"/>
              </a:rPr>
              <a:t>3</a:t>
            </a:r>
            <a:r>
              <a:rPr lang="zh-CN" altLang="en-US" sz="2800" dirty="0">
                <a:latin typeface="Times New Roman Regular" panose="02020603050405020304" charset="0"/>
                <a:cs typeface="Times New Roman Regular" panose="02020603050405020304" charset="0"/>
              </a:rPr>
              <a:t>秒内自行更改页面的颜色。您可以自行选择颜色。</a:t>
            </a:r>
            <a:endParaRPr lang="ru-RU" altLang="en-US" sz="2800" dirty="0">
              <a:latin typeface="Times New Roman Regular" panose="02020603050405020304" charset="0"/>
              <a:cs typeface="Times New Roman Regular"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649605" y="476250"/>
            <a:ext cx="10893425" cy="2677656"/>
          </a:xfrm>
          <a:prstGeom prst="rect">
            <a:avLst/>
          </a:prstGeom>
          <a:noFill/>
        </p:spPr>
        <p:txBody>
          <a:bodyPr wrap="square" rtlCol="0">
            <a:spAutoFit/>
          </a:bodyPr>
          <a:lstStyle/>
          <a:p>
            <a:pPr algn="just"/>
            <a:r>
              <a:rPr lang="ru-RU" altLang="en-US" sz="2800" dirty="0">
                <a:latin typeface="Times New Roman Regular" panose="02020603050405020304" charset="0"/>
                <a:cs typeface="Times New Roman Regular" panose="02020603050405020304" charset="0"/>
              </a:rPr>
              <a:t>	</a:t>
            </a:r>
            <a:r>
              <a:rPr lang="ru-RU" altLang="en-US" sz="2800" dirty="0">
                <a:latin typeface="Times New Roman Regular" panose="02020603050405020304" charset="0"/>
                <a:cs typeface="Times New Roman Regular" panose="02020603050405020304" charset="0"/>
                <a:sym typeface="+mn-ea"/>
              </a:rPr>
              <a:t>Давайте самостоятельно попробуем изменить цвет страницы через 3 секунды после загрузки документа. Цвет вы можете выбрать самостоятельно.</a:t>
            </a:r>
            <a:endParaRPr lang="en-US" altLang="en-US" sz="2800" dirty="0">
              <a:latin typeface="Times New Roman Regular" panose="02020603050405020304" charset="0"/>
              <a:cs typeface="Times New Roman Regular" panose="02020603050405020304" charset="0"/>
              <a:sym typeface="+mn-ea"/>
            </a:endParaRPr>
          </a:p>
          <a:p>
            <a:pPr algn="just"/>
            <a:endParaRPr lang="en-US" altLang="en-US" sz="2800" dirty="0">
              <a:latin typeface="Times New Roman Regular" panose="02020603050405020304" charset="0"/>
              <a:cs typeface="Times New Roman Regular" panose="02020603050405020304" charset="0"/>
              <a:sym typeface="+mn-ea"/>
            </a:endParaRPr>
          </a:p>
          <a:p>
            <a:pPr algn="just"/>
            <a:r>
              <a:rPr lang="zh-CN" altLang="en-US" sz="2800" dirty="0">
                <a:latin typeface="Times New Roman Regular" panose="02020603050405020304" charset="0"/>
                <a:cs typeface="Times New Roman Regular" panose="02020603050405020304" charset="0"/>
              </a:rPr>
              <a:t>让我们尝试在文档加载后的</a:t>
            </a:r>
            <a:r>
              <a:rPr lang="en-US" altLang="zh-CN" sz="2800" dirty="0">
                <a:latin typeface="Times New Roman Regular" panose="02020603050405020304" charset="0"/>
                <a:cs typeface="Times New Roman Regular" panose="02020603050405020304" charset="0"/>
              </a:rPr>
              <a:t>3</a:t>
            </a:r>
            <a:r>
              <a:rPr lang="zh-CN" altLang="en-US" sz="2800" dirty="0">
                <a:latin typeface="Times New Roman Regular" panose="02020603050405020304" charset="0"/>
                <a:cs typeface="Times New Roman Regular" panose="02020603050405020304" charset="0"/>
              </a:rPr>
              <a:t>秒内自行更改页面颜色。您可以自行选择颜色。</a:t>
            </a:r>
            <a:endParaRPr lang="ru-RU" altLang="en-US" sz="2800" dirty="0">
              <a:latin typeface="Times New Roman Regular" panose="02020603050405020304" charset="0"/>
              <a:cs typeface="Times New Roman Regular" panose="02020603050405020304" charset="0"/>
            </a:endParaRPr>
          </a:p>
        </p:txBody>
      </p:sp>
      <p:sp>
        <p:nvSpPr>
          <p:cNvPr id="100" name="Text Box 99"/>
          <p:cNvSpPr txBox="1"/>
          <p:nvPr/>
        </p:nvSpPr>
        <p:spPr>
          <a:xfrm>
            <a:off x="344805" y="3834130"/>
            <a:ext cx="11720830" cy="1476375"/>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001080"/>
                </a:solidFill>
                <a:latin typeface="Menlo" panose="020B0609030804020204" charset="0"/>
                <a:cs typeface="SimSun" charset="0"/>
              </a:rPr>
              <a:t>document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ready</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ru-RU" altLang="en-US" b="0">
                <a:solidFill>
                  <a:srgbClr val="795E26"/>
                </a:solidFill>
                <a:latin typeface="Menlo" panose="020B0609030804020204" charset="0"/>
                <a:cs typeface="SimSun" charset="0"/>
              </a:rPr>
              <a:t>	</a:t>
            </a:r>
            <a:r>
              <a:rPr lang="en-US" b="0">
                <a:solidFill>
                  <a:srgbClr val="795E26"/>
                </a:solidFill>
                <a:latin typeface="Menlo" panose="020B0609030804020204" charset="0"/>
                <a:cs typeface="SimSun" charset="0"/>
              </a:rPr>
              <a:t>alert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'Document is ready!'</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ru-RU" altLang="en-US" b="0">
                <a:solidFill>
                  <a:srgbClr val="795E26"/>
                </a:solidFill>
                <a:latin typeface="Menlo" panose="020B0609030804020204" charset="0"/>
                <a:cs typeface="SimSun" charset="0"/>
              </a:rPr>
              <a:t>	</a:t>
            </a:r>
            <a:r>
              <a:rPr lang="en-US" b="0">
                <a:solidFill>
                  <a:srgbClr val="795E26"/>
                </a:solidFill>
                <a:latin typeface="Menlo" panose="020B0609030804020204" charset="0"/>
                <a:cs typeface="SimSun" charset="0"/>
              </a:rPr>
              <a:t>setTimeout</a:t>
            </a:r>
            <a:r>
              <a:rPr lang="en-US" b="0">
                <a:solidFill>
                  <a:srgbClr val="3B3B3B"/>
                </a:solidFill>
                <a:latin typeface="Menlo" panose="020B0609030804020204" charset="0"/>
                <a:cs typeface="SimSun" charset="0"/>
              </a:rPr>
              <a:t>(() </a:t>
            </a:r>
            <a:r>
              <a:rPr lang="en-US" b="0">
                <a:solidFill>
                  <a:srgbClr val="0000FF"/>
                </a:solidFill>
                <a:latin typeface="Menlo" panose="020B0609030804020204" charset="0"/>
                <a:cs typeface="SimSun" charset="0"/>
              </a:rPr>
              <a:t>=&gt;</a:t>
            </a:r>
            <a:r>
              <a:rPr lang="en-US" b="0">
                <a:solidFill>
                  <a:srgbClr val="3B3B3B"/>
                </a:solidFill>
                <a:latin typeface="Menlo" panose="020B0609030804020204" charset="0"/>
                <a:cs typeface="SimSun" charset="0"/>
              </a:rPr>
              <a:t> </a:t>
            </a:r>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'body'</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'background-color'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'red'</a:t>
            </a:r>
            <a:r>
              <a:rPr lang="en-US" b="0">
                <a:solidFill>
                  <a:srgbClr val="3B3B3B"/>
                </a:solidFill>
                <a:latin typeface="Menlo" panose="020B0609030804020204" charset="0"/>
                <a:cs typeface="SimSun" charset="0"/>
              </a:rPr>
              <a:t>), </a:t>
            </a:r>
            <a:r>
              <a:rPr lang="en-US" b="0">
                <a:solidFill>
                  <a:srgbClr val="098658"/>
                </a:solidFill>
                <a:latin typeface="Menlo" panose="020B0609030804020204" charset="0"/>
                <a:cs typeface="SimSun" charset="0"/>
              </a:rPr>
              <a:t>3000</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894715" y="474980"/>
            <a:ext cx="10186035" cy="2646878"/>
          </a:xfrm>
          <a:prstGeom prst="rect">
            <a:avLst/>
          </a:prstGeom>
          <a:noFill/>
        </p:spPr>
        <p:txBody>
          <a:bodyPr wrap="square" rtlCol="0" anchor="t">
            <a:spAutoFit/>
          </a:bodyPr>
          <a:lstStyle/>
          <a:p>
            <a:r>
              <a:rPr lang="en-US" sz="2800" b="1" dirty="0"/>
              <a:t>click()</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click() </a:t>
            </a:r>
            <a:r>
              <a:rPr lang="ru-RU" altLang="en-US" sz="2400" dirty="0">
                <a:latin typeface="Times New Roman Regular" panose="02020603050405020304" charset="0"/>
                <a:cs typeface="Times New Roman Regular" panose="02020603050405020304" charset="0"/>
              </a:rPr>
              <a:t>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a:t>
            </a:r>
            <a:r>
              <a:rPr lang="ru-RU" altLang="en-US" sz="2400" dirty="0" err="1">
                <a:latin typeface="Times New Roman Regular" panose="02020603050405020304" charset="0"/>
                <a:cs typeface="Times New Roman Regular" panose="02020603050405020304" charset="0"/>
              </a:rPr>
              <a:t>добавлят</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Эта ф</a:t>
            </a:r>
            <a:r>
              <a:rPr lang="en-US" sz="2400" dirty="0" err="1">
                <a:latin typeface="Times New Roman Regular" panose="02020603050405020304" charset="0"/>
                <a:cs typeface="Times New Roman Regular" panose="02020603050405020304" charset="0"/>
              </a:rPr>
              <a:t>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нажимает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`click()` </a:t>
            </a:r>
            <a:r>
              <a:rPr lang="zh-CN" altLang="en-US" sz="2400" dirty="0">
                <a:latin typeface="Times New Roman Regular" panose="02020603050405020304" charset="0"/>
                <a:cs typeface="Times New Roman Regular" panose="02020603050405020304" charset="0"/>
              </a:rPr>
              <a:t>方法将一个事件处理函数添加到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元素。当用户点击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848485" y="4303395"/>
            <a:ext cx="849503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53720" y="412115"/>
            <a:ext cx="11056620" cy="3108543"/>
          </a:xfrm>
          <a:prstGeom prst="rect">
            <a:avLst/>
          </a:prstGeom>
          <a:noFill/>
        </p:spPr>
        <p:txBody>
          <a:bodyPr wrap="square" rtlCol="0" anchor="t">
            <a:spAutoFit/>
          </a:bodyPr>
          <a:lstStyle/>
          <a:p>
            <a:r>
              <a:rPr lang="en-US" sz="2800" b="1" dirty="0" err="1"/>
              <a:t>dblclick</a:t>
            </a:r>
            <a:r>
              <a:rPr lang="en-US" sz="2800" b="1" dirty="0"/>
              <a:t>()</a:t>
            </a:r>
            <a:endParaRPr lang="en-US" sz="2800" b="1" dirty="0"/>
          </a:p>
          <a:p>
            <a:pPr algn="just"/>
            <a:endParaRPr lang="en-US" sz="2400" dirty="0"/>
          </a:p>
          <a:p>
            <a:pPr algn="just"/>
            <a:r>
              <a:rPr lang="en-US" sz="2400" dirty="0"/>
              <a:t>	</a:t>
            </a:r>
            <a:r>
              <a:rPr lang="en-US" sz="2400" dirty="0" err="1">
                <a:latin typeface="Times New Roman Regular" panose="02020603050405020304" charset="0"/>
                <a:cs typeface="Times New Roman Regular" panose="02020603050405020304" charset="0"/>
              </a:rPr>
              <a:t>dblclick</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дважды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щелкает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элементу</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dblclick</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元素。当用户双击该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351915" y="3990975"/>
            <a:ext cx="945959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dblclick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 twice'</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03860" y="363220"/>
            <a:ext cx="10949940" cy="3016210"/>
          </a:xfrm>
          <a:prstGeom prst="rect">
            <a:avLst/>
          </a:prstGeom>
          <a:noFill/>
        </p:spPr>
        <p:txBody>
          <a:bodyPr wrap="square" rtlCol="0" anchor="t">
            <a:spAutoFit/>
          </a:bodyPr>
          <a:lstStyle/>
          <a:p>
            <a:r>
              <a:rPr lang="en-US" sz="2800" b="1" dirty="0" err="1">
                <a:sym typeface="+mn-ea"/>
              </a:rPr>
              <a:t>mouseenter</a:t>
            </a:r>
            <a:r>
              <a:rPr lang="en-US" sz="2800" b="1" dirty="0">
                <a:sym typeface="+mn-ea"/>
              </a:rPr>
              <a:t>() </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mouseenter</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указатель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попадает</a:t>
            </a:r>
            <a:r>
              <a:rPr lang="en-US" sz="2400" dirty="0">
                <a:latin typeface="Times New Roman Regular" panose="02020603050405020304" charset="0"/>
                <a:cs typeface="Times New Roman Regular" panose="02020603050405020304" charset="0"/>
              </a:rPr>
              <a:t> в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mouseenter</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元素。当鼠标指针进入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236980" y="4290060"/>
            <a:ext cx="971867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mouseenter</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=&gt;</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put mouseenter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17830" y="494030"/>
            <a:ext cx="11084560" cy="3016210"/>
          </a:xfrm>
          <a:prstGeom prst="rect">
            <a:avLst/>
          </a:prstGeom>
          <a:noFill/>
        </p:spPr>
        <p:txBody>
          <a:bodyPr wrap="square" rtlCol="0" anchor="t">
            <a:spAutoFit/>
          </a:bodyPr>
          <a:lstStyle/>
          <a:p>
            <a:r>
              <a:rPr lang="en-US" sz="2800" b="1" dirty="0" err="1"/>
              <a:t>mouseleave</a:t>
            </a:r>
            <a:r>
              <a:rPr lang="en-US" sz="2800" b="1" dirty="0"/>
              <a:t>()</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mouseleave</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указатель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покидает</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err="1">
                <a:latin typeface="Times New Roman Regular" panose="02020603050405020304" charset="0"/>
                <a:cs typeface="Times New Roman Regular" panose="02020603050405020304" charset="0"/>
              </a:rPr>
              <a:t>mouseleave</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元素。当鼠标指针离开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zh-CN" alt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120775" y="4235450"/>
            <a:ext cx="995108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mouseleave</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=&gt;</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left mouseenter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25780" y="427355"/>
            <a:ext cx="10827385" cy="3385542"/>
          </a:xfrm>
          <a:prstGeom prst="rect">
            <a:avLst/>
          </a:prstGeom>
          <a:noFill/>
        </p:spPr>
        <p:txBody>
          <a:bodyPr wrap="square" rtlCol="0" anchor="t">
            <a:spAutoFit/>
          </a:bodyPr>
          <a:lstStyle/>
          <a:p>
            <a:r>
              <a:rPr lang="en-US" sz="2800" b="1" dirty="0">
                <a:sym typeface="+mn-ea"/>
              </a:rPr>
              <a:t>hover</a:t>
            </a:r>
            <a:r>
              <a:rPr lang="en-US" sz="2800" b="1" dirty="0"/>
              <a:t>()</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hover() </a:t>
            </a:r>
            <a:r>
              <a:rPr lang="en-US" sz="2400" dirty="0" err="1">
                <a:latin typeface="Times New Roman Regular" panose="02020603050405020304" charset="0"/>
                <a:cs typeface="Times New Roman Regular" panose="02020603050405020304" charset="0"/>
              </a:rPr>
              <a:t>выполняет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две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функции</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представляет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комбинацию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mouseenter</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mouseleave</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Первая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входит</a:t>
            </a:r>
            <a:r>
              <a:rPr lang="en-US" sz="2400" dirty="0">
                <a:latin typeface="Times New Roman Regular" panose="02020603050405020304" charset="0"/>
                <a:cs typeface="Times New Roman Regular" panose="02020603050405020304" charset="0"/>
              </a:rPr>
              <a:t> в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 а </a:t>
            </a:r>
            <a:r>
              <a:rPr lang="en-US" sz="2400" dirty="0" err="1">
                <a:latin typeface="Times New Roman Regular" panose="02020603050405020304" charset="0"/>
                <a:cs typeface="Times New Roman Regular" panose="02020603050405020304" charset="0"/>
              </a:rPr>
              <a:t>вторая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покидает</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方法 </a:t>
            </a:r>
            <a:r>
              <a:rPr lang="en-US" altLang="zh-CN" sz="2400" dirty="0">
                <a:latin typeface="Times New Roman Regular" panose="02020603050405020304" charset="0"/>
                <a:cs typeface="Times New Roman Regular" panose="02020603050405020304" charset="0"/>
              </a:rPr>
              <a:t>`hover()` </a:t>
            </a:r>
            <a:r>
              <a:rPr lang="zh-CN" altLang="en-US" sz="2400" dirty="0">
                <a:latin typeface="Times New Roman Regular" panose="02020603050405020304" charset="0"/>
                <a:cs typeface="Times New Roman Regular" panose="02020603050405020304" charset="0"/>
              </a:rPr>
              <a:t>执行两个功能，是 </a:t>
            </a:r>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mouseenter</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和 </a:t>
            </a:r>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mouseleave</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方法的组合。当鼠标进入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元素时，将执行第一个功能；当鼠标离开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元素时，将执行第二个功能。</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847725" y="4049395"/>
            <a:ext cx="10182860" cy="2306955"/>
          </a:xfrm>
          <a:prstGeom prst="rect">
            <a:avLst/>
          </a:prstGeom>
          <a:noFill/>
          <a:ln w="9525">
            <a:noFill/>
          </a:ln>
        </p:spPr>
        <p:txBody>
          <a:bodyPr wrap="square">
            <a:spAutoFit/>
          </a:bodyPr>
          <a:lstStyle/>
          <a:p>
            <a:pPr marL="0" indent="0" algn="just"/>
            <a:r>
              <a:rPr lang="en-US" sz="2400" b="0">
                <a:solidFill>
                  <a:srgbClr val="795E26"/>
                </a:solidFill>
                <a:latin typeface="Menlo" panose="020B0609030804020204" charset="0"/>
              </a:rPr>
              <a:t>$</a:t>
            </a:r>
            <a:r>
              <a:rPr lang="en-US" sz="2400" b="0">
                <a:solidFill>
                  <a:srgbClr val="3B3B3B"/>
                </a:solidFill>
                <a:latin typeface="Menlo" panose="020B0609030804020204" charset="0"/>
              </a:rPr>
              <a:t>(</a:t>
            </a:r>
            <a:r>
              <a:rPr lang="en-US" sz="2400" b="0">
                <a:solidFill>
                  <a:srgbClr val="A31515"/>
                </a:solidFill>
                <a:latin typeface="Menlo" panose="020B0609030804020204" charset="0"/>
              </a:rPr>
              <a:t>"p"</a:t>
            </a:r>
            <a:r>
              <a:rPr lang="en-US" sz="2400" b="0">
                <a:solidFill>
                  <a:srgbClr val="3B3B3B"/>
                </a:solidFill>
                <a:latin typeface="Menlo" panose="020B0609030804020204" charset="0"/>
              </a:rPr>
              <a:t>).</a:t>
            </a:r>
            <a:r>
              <a:rPr lang="en-US" sz="2400" b="0">
                <a:solidFill>
                  <a:srgbClr val="795E26"/>
                </a:solidFill>
                <a:latin typeface="Menlo" panose="020B0609030804020204" charset="0"/>
              </a:rPr>
              <a:t>hover</a:t>
            </a:r>
            <a:r>
              <a:rPr lang="en-US" sz="2400" b="0">
                <a:solidFill>
                  <a:srgbClr val="3B3B3B"/>
                </a:solidFill>
                <a:latin typeface="Menlo" panose="020B0609030804020204" charset="0"/>
              </a:rPr>
              <a:t>(</a:t>
            </a:r>
            <a:r>
              <a:rPr lang="en-US" sz="2400" b="0">
                <a:solidFill>
                  <a:srgbClr val="0000FF"/>
                </a:solidFill>
                <a:latin typeface="Menlo" panose="020B0609030804020204" charset="0"/>
              </a:rPr>
              <a:t>function</a:t>
            </a:r>
            <a:r>
              <a:rPr lang="en-US" sz="2400" b="0">
                <a:solidFill>
                  <a:srgbClr val="3B3B3B"/>
                </a:solidFill>
                <a:latin typeface="Menlo" panose="020B0609030804020204" charset="0"/>
              </a:rPr>
              <a:t>(){</a:t>
            </a:r>
            <a:endParaRPr lang="en-US" sz="2400" b="0">
              <a:solidFill>
                <a:srgbClr val="795E26"/>
              </a:solidFill>
              <a:latin typeface="Menlo" panose="020B0609030804020204" charset="0"/>
            </a:endParaRPr>
          </a:p>
          <a:p>
            <a:pPr marL="0" indent="0" algn="just"/>
            <a:r>
              <a:rPr lang="ru-RU" altLang="en-US" sz="2400" b="0">
                <a:solidFill>
                  <a:srgbClr val="795E26"/>
                </a:solidFill>
                <a:latin typeface="Menlo" panose="020B0609030804020204" charset="0"/>
              </a:rPr>
              <a:t>	</a:t>
            </a:r>
            <a:r>
              <a:rPr lang="en-US" sz="2400" b="0">
                <a:solidFill>
                  <a:srgbClr val="795E26"/>
                </a:solidFill>
                <a:latin typeface="Menlo" panose="020B0609030804020204" charset="0"/>
              </a:rPr>
              <a:t>alert</a:t>
            </a:r>
            <a:r>
              <a:rPr lang="en-US" sz="2400" b="0">
                <a:solidFill>
                  <a:srgbClr val="3B3B3B"/>
                </a:solidFill>
                <a:latin typeface="Menlo" panose="020B0609030804020204" charset="0"/>
              </a:rPr>
              <a:t>(</a:t>
            </a:r>
            <a:r>
              <a:rPr lang="en-US" sz="2400" b="0">
                <a:solidFill>
                  <a:srgbClr val="A31515"/>
                </a:solidFill>
                <a:latin typeface="Menlo" panose="020B0609030804020204" charset="0"/>
              </a:rPr>
              <a:t>'You have put mouseenter on p element'</a:t>
            </a:r>
            <a:r>
              <a:rPr lang="en-US" sz="2400" b="0">
                <a:solidFill>
                  <a:srgbClr val="3B3B3B"/>
                </a:solidFill>
                <a:latin typeface="Menlo" panose="020B0609030804020204" charset="0"/>
              </a:rPr>
              <a:t>);</a:t>
            </a:r>
            <a:endParaRPr lang="en-US" sz="2400" b="0">
              <a:solidFill>
                <a:srgbClr val="3B3B3B"/>
              </a:solidFill>
              <a:latin typeface="Menlo" panose="020B0609030804020204" charset="0"/>
            </a:endParaRPr>
          </a:p>
          <a:p>
            <a:pPr marL="0" indent="0" algn="just"/>
            <a:r>
              <a:rPr lang="en-US" sz="2400" b="0">
                <a:solidFill>
                  <a:srgbClr val="3B3B3B"/>
                </a:solidFill>
                <a:latin typeface="Menlo" panose="020B0609030804020204" charset="0"/>
              </a:rPr>
              <a:t>},</a:t>
            </a:r>
            <a:endParaRPr lang="en-US" sz="2400" b="0">
              <a:solidFill>
                <a:srgbClr val="0000FF"/>
              </a:solidFill>
              <a:latin typeface="Menlo" panose="020B0609030804020204" charset="0"/>
            </a:endParaRPr>
          </a:p>
          <a:p>
            <a:pPr marL="0" indent="0" algn="just"/>
            <a:r>
              <a:rPr lang="en-US" sz="2400" b="0">
                <a:solidFill>
                  <a:srgbClr val="0000FF"/>
                </a:solidFill>
                <a:latin typeface="Menlo" panose="020B0609030804020204" charset="0"/>
              </a:rPr>
              <a:t>function</a:t>
            </a:r>
            <a:r>
              <a:rPr lang="en-US" sz="2400" b="0">
                <a:solidFill>
                  <a:srgbClr val="3B3B3B"/>
                </a:solidFill>
                <a:latin typeface="Menlo" panose="020B0609030804020204" charset="0"/>
              </a:rPr>
              <a:t>(){</a:t>
            </a:r>
            <a:endParaRPr lang="en-US" sz="2400" b="0">
              <a:solidFill>
                <a:srgbClr val="795E26"/>
              </a:solidFill>
              <a:latin typeface="Menlo" panose="020B0609030804020204" charset="0"/>
            </a:endParaRPr>
          </a:p>
          <a:p>
            <a:pPr marL="0" indent="0" algn="just"/>
            <a:r>
              <a:rPr lang="ru-RU" altLang="en-US" sz="2400" b="0">
                <a:solidFill>
                  <a:srgbClr val="795E26"/>
                </a:solidFill>
                <a:latin typeface="Menlo" panose="020B0609030804020204" charset="0"/>
              </a:rPr>
              <a:t>	</a:t>
            </a:r>
            <a:r>
              <a:rPr lang="en-US" sz="2400" b="0">
                <a:solidFill>
                  <a:srgbClr val="795E26"/>
                </a:solidFill>
                <a:latin typeface="Menlo" panose="020B0609030804020204" charset="0"/>
              </a:rPr>
              <a:t>alert</a:t>
            </a:r>
            <a:r>
              <a:rPr lang="en-US" sz="2400" b="0">
                <a:solidFill>
                  <a:srgbClr val="3B3B3B"/>
                </a:solidFill>
                <a:latin typeface="Menlo" panose="020B0609030804020204" charset="0"/>
              </a:rPr>
              <a:t>(</a:t>
            </a:r>
            <a:r>
              <a:rPr lang="en-US" sz="2400" b="0">
                <a:solidFill>
                  <a:srgbClr val="A31515"/>
                </a:solidFill>
                <a:latin typeface="Menlo" panose="020B0609030804020204" charset="0"/>
              </a:rPr>
              <a:t>'You have left mouseenter on p element'</a:t>
            </a:r>
            <a:r>
              <a:rPr lang="en-US" sz="2400" b="0">
                <a:solidFill>
                  <a:srgbClr val="3B3B3B"/>
                </a:solidFill>
                <a:latin typeface="Menlo" panose="020B0609030804020204" charset="0"/>
              </a:rPr>
              <a:t>);</a:t>
            </a:r>
            <a:endParaRPr lang="en-US" sz="2400" b="0">
              <a:solidFill>
                <a:srgbClr val="3B3B3B"/>
              </a:solidFill>
              <a:latin typeface="Menlo" panose="020B0609030804020204" charset="0"/>
            </a:endParaRPr>
          </a:p>
          <a:p>
            <a:pPr marL="0" indent="0" algn="just"/>
            <a:r>
              <a:rPr lang="en-US" sz="2400" b="0">
                <a:solidFill>
                  <a:srgbClr val="3B3B3B"/>
                </a:solidFill>
                <a:latin typeface="Menlo" panose="020B0609030804020204" charset="0"/>
              </a:rPr>
              <a:t>});</a:t>
            </a:r>
            <a:endParaRPr 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25780" y="427355"/>
            <a:ext cx="10827385" cy="2646878"/>
          </a:xfrm>
          <a:prstGeom prst="rect">
            <a:avLst/>
          </a:prstGeom>
          <a:noFill/>
        </p:spPr>
        <p:txBody>
          <a:bodyPr wrap="square" rtlCol="0" anchor="t">
            <a:spAutoFit/>
          </a:bodyPr>
          <a:lstStyle/>
          <a:p>
            <a:r>
              <a:rPr lang="en-US" sz="2800" b="1" dirty="0">
                <a:sym typeface="+mn-ea"/>
              </a:rPr>
              <a:t>hover</a:t>
            </a:r>
            <a:r>
              <a:rPr lang="en-US" sz="2800" b="1" dirty="0"/>
              <a:t>()</a:t>
            </a:r>
            <a:endParaRPr lang="en-US" sz="2800" b="1" dirty="0"/>
          </a:p>
          <a:p>
            <a:endParaRPr lang="en-US" dirty="0"/>
          </a:p>
          <a:p>
            <a:pPr algn="just"/>
            <a:r>
              <a:rPr lang="ru-RU" altLang="en-US" sz="2400" dirty="0">
                <a:latin typeface="Times New Roman Regular" panose="02020603050405020304" charset="0"/>
                <a:cs typeface="Times New Roman Regular" panose="02020603050405020304" charset="0"/>
              </a:rPr>
              <a:t>	Нагляднее можно продемонстрировать 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hover() </a:t>
            </a:r>
            <a:r>
              <a:rPr lang="ru-RU" altLang="en-US" sz="2400" dirty="0">
                <a:latin typeface="Times New Roman Regular" panose="02020603050405020304" charset="0"/>
                <a:cs typeface="Times New Roman Regular" panose="02020603050405020304" charset="0"/>
              </a:rPr>
              <a:t>путем изменения стиля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элемента. Так же рассмотрим доступ к текущему </a:t>
            </a:r>
            <a:r>
              <a:rPr lang="ru-RU" altLang="en-US" sz="2400" dirty="0" err="1">
                <a:latin typeface="Times New Roman Regular" panose="02020603050405020304" charset="0"/>
                <a:cs typeface="Times New Roman Regular" panose="02020603050405020304" charset="0"/>
              </a:rPr>
              <a:t>элемнту</a:t>
            </a:r>
            <a:r>
              <a:rPr lang="ru-RU" altLang="en-US" sz="2400" dirty="0">
                <a:latin typeface="Times New Roman Regular" panose="02020603050405020304" charset="0"/>
                <a:cs typeface="Times New Roman Regular" panose="02020603050405020304" charset="0"/>
              </a:rPr>
              <a:t>, на котором было вызвано событие - селектор </a:t>
            </a:r>
            <a:r>
              <a:rPr lang="en-US" altLang="ru-RU" sz="2400" dirty="0">
                <a:latin typeface="Times New Roman Regular" panose="02020603050405020304" charset="0"/>
                <a:cs typeface="Times New Roman Regular" panose="02020603050405020304" charset="0"/>
              </a:rPr>
              <a:t>this.</a:t>
            </a:r>
            <a:endParaRPr lang="en-US" altLang="ru-RU"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更直观地展示</a:t>
            </a:r>
            <a:r>
              <a:rPr lang="en-US" altLang="zh-CN" sz="2400" dirty="0">
                <a:latin typeface="Times New Roman Regular" panose="02020603050405020304" charset="0"/>
                <a:cs typeface="Times New Roman Regular" panose="02020603050405020304" charset="0"/>
              </a:rPr>
              <a:t>`hover()`</a:t>
            </a:r>
            <a:r>
              <a:rPr lang="zh-CN" altLang="en-US" sz="2400" dirty="0">
                <a:latin typeface="Times New Roman Regular" panose="02020603050405020304" charset="0"/>
                <a:cs typeface="Times New Roman Regular" panose="02020603050405020304" charset="0"/>
              </a:rPr>
              <a:t>方法可以通过改变</a:t>
            </a:r>
            <a:r>
              <a:rPr lang="en-US" altLang="zh-CN" sz="2400" dirty="0">
                <a:latin typeface="Times New Roman Regular" panose="02020603050405020304" charset="0"/>
                <a:cs typeface="Times New Roman Regular" panose="02020603050405020304" charset="0"/>
              </a:rPr>
              <a:t>HTML</a:t>
            </a:r>
            <a:r>
              <a:rPr lang="zh-CN" altLang="en-US" sz="2400" dirty="0">
                <a:latin typeface="Times New Roman Regular" panose="02020603050405020304" charset="0"/>
                <a:cs typeface="Times New Roman Regular" panose="02020603050405020304" charset="0"/>
              </a:rPr>
              <a:t>元素的样式来实现。我们还将讨论如何访问调用事件的当前元素 </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使用选择器</a:t>
            </a:r>
            <a:r>
              <a:rPr lang="en-US" altLang="zh-CN" sz="2400" dirty="0">
                <a:latin typeface="Times New Roman Regular" panose="02020603050405020304" charset="0"/>
                <a:cs typeface="Times New Roman Regular" panose="02020603050405020304" charset="0"/>
              </a:rPr>
              <a:t>`this`</a:t>
            </a:r>
            <a:r>
              <a:rPr lang="zh-CN" altLang="en-US"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19985" y="3679825"/>
            <a:ext cx="7352665" cy="267652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hover</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457200" lvl="1"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'color'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'red'</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3B3B3B"/>
                </a:solidFill>
                <a:latin typeface="Menlo" panose="020B0609030804020204" charset="0"/>
                <a:cs typeface="SimSun" charset="0"/>
              </a:rPr>
              <a:t>},</a:t>
            </a:r>
            <a:endParaRPr lang="en-US" sz="2400" b="0">
              <a:solidFill>
                <a:srgbClr val="0000FF"/>
              </a:solidFill>
              <a:latin typeface="Menlo" panose="020B0609030804020204" charset="0"/>
              <a:cs typeface="SimSun" charset="0"/>
            </a:endParaRPr>
          </a:p>
          <a:p>
            <a:pPr marL="457200" lvl="1" indent="0" algn="l"/>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457200" lvl="1"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'color'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'blue'</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9115" y="540385"/>
            <a:ext cx="10976610" cy="3016210"/>
          </a:xfrm>
          <a:prstGeom prst="rect">
            <a:avLst/>
          </a:prstGeom>
          <a:noFill/>
        </p:spPr>
        <p:txBody>
          <a:bodyPr wrap="square" rtlCol="0" anchor="t">
            <a:spAutoFit/>
          </a:bodyPr>
          <a:lstStyle/>
          <a:p>
            <a:r>
              <a:rPr lang="en-US" sz="2800" b="1" dirty="0">
                <a:sym typeface="+mn-ea"/>
              </a:rPr>
              <a:t>on() </a:t>
            </a:r>
            <a:endParaRPr lang="en-US" sz="2800" b="1" dirty="0"/>
          </a:p>
          <a:p>
            <a:endParaRPr lang="en-US" dirty="0"/>
          </a:p>
          <a:p>
            <a:pPr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on() </a:t>
            </a:r>
            <a:r>
              <a:rPr lang="en-US" sz="2400" dirty="0" err="1">
                <a:latin typeface="Times New Roman Regular" panose="02020603050405020304" charset="0"/>
                <a:cs typeface="Times New Roman Regular" panose="02020603050405020304" charset="0"/>
              </a:rPr>
              <a:t>присоединяет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один</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несколько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выбранных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элементов</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Использовав метод </a:t>
            </a:r>
            <a:r>
              <a:rPr lang="en-US" altLang="ru-RU" sz="2400" dirty="0">
                <a:latin typeface="Times New Roman Regular" panose="02020603050405020304" charset="0"/>
                <a:cs typeface="Times New Roman Regular" panose="02020603050405020304" charset="0"/>
              </a:rPr>
              <a:t>on() </a:t>
            </a:r>
            <a:r>
              <a:rPr lang="ru-RU" altLang="en-US" sz="2400" dirty="0">
                <a:latin typeface="Times New Roman Regular" panose="02020603050405020304" charset="0"/>
                <a:cs typeface="Times New Roman Regular" panose="02020603050405020304" charset="0"/>
              </a:rPr>
              <a:t>мы можем указать какое именно событие будет обработано и указать обработчик этого события.</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`on()` </a:t>
            </a:r>
            <a:r>
              <a:rPr lang="zh-CN" altLang="en-US" sz="2400" dirty="0">
                <a:latin typeface="Times New Roman Regular" panose="02020603050405020304" charset="0"/>
                <a:cs typeface="Times New Roman Regular" panose="02020603050405020304" charset="0"/>
              </a:rPr>
              <a:t>方法用于为选定的元素附加一个或多个事件处理程序。通过使用 </a:t>
            </a:r>
            <a:r>
              <a:rPr lang="en-US" altLang="zh-CN" sz="2400" dirty="0">
                <a:latin typeface="Times New Roman Regular" panose="02020603050405020304" charset="0"/>
                <a:cs typeface="Times New Roman Regular" panose="02020603050405020304" charset="0"/>
              </a:rPr>
              <a:t>`on()` </a:t>
            </a:r>
            <a:r>
              <a:rPr lang="zh-CN" altLang="en-US" sz="2400" dirty="0">
                <a:latin typeface="Times New Roman Regular" panose="02020603050405020304" charset="0"/>
                <a:cs typeface="Times New Roman Regular" panose="02020603050405020304" charset="0"/>
              </a:rPr>
              <a:t>方法，我们可以指定要处理的确切事件，并指定该事件的处理程序。</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902970" y="4332605"/>
            <a:ext cx="10450830" cy="230695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on</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"click"</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91160" y="377825"/>
            <a:ext cx="11206480" cy="1537970"/>
          </a:xfrm>
          <a:prstGeom prst="rect">
            <a:avLst/>
          </a:prstGeom>
          <a:noFill/>
        </p:spPr>
        <p:txBody>
          <a:bodyPr wrap="square" rtlCol="0" anchor="t">
            <a:spAutoFit/>
          </a:bodyPr>
          <a:lstStyle/>
          <a:p>
            <a:r>
              <a:rPr lang="en-US" sz="2800" b="1" dirty="0">
                <a:sym typeface="+mn-ea"/>
              </a:rPr>
              <a:t>on() </a:t>
            </a:r>
            <a:endParaRPr lang="en-US" sz="2800" b="1" dirty="0"/>
          </a:p>
          <a:p>
            <a:endParaRPr lang="en-US" dirty="0"/>
          </a:p>
          <a:p>
            <a:r>
              <a:rPr lang="ru-RU" sz="2400" dirty="0">
                <a:sym typeface="+mn-ea"/>
              </a:rPr>
              <a:t>	</a:t>
            </a:r>
            <a:r>
              <a:rPr lang="ru-RU" sz="2400" dirty="0">
                <a:latin typeface="Times New Roman Regular" panose="02020603050405020304" charset="0"/>
                <a:cs typeface="Times New Roman Regular" panose="02020603050405020304" charset="0"/>
                <a:sym typeface="+mn-ea"/>
              </a:rPr>
              <a:t>Допустимо использовать </a:t>
            </a:r>
            <a:r>
              <a:rPr lang="ru-RU" sz="2400" dirty="0" err="1">
                <a:latin typeface="Times New Roman Regular" panose="02020603050405020304" charset="0"/>
                <a:cs typeface="Times New Roman Regular" panose="02020603050405020304" charset="0"/>
                <a:sym typeface="+mn-ea"/>
              </a:rPr>
              <a:t>несколько</a:t>
            </a:r>
            <a:r>
              <a:rPr lang="ru-RU" sz="2400" dirty="0">
                <a:latin typeface="Times New Roman Regular" panose="02020603050405020304" charset="0"/>
                <a:cs typeface="Times New Roman Regular" panose="02020603050405020304" charset="0"/>
                <a:sym typeface="+mn-ea"/>
              </a:rPr>
              <a:t> обработчиков событий в методе </a:t>
            </a:r>
            <a:r>
              <a:rPr lang="en-US" altLang="ru-RU" sz="2400" dirty="0">
                <a:latin typeface="Times New Roman Regular" panose="02020603050405020304" charset="0"/>
                <a:cs typeface="Times New Roman Regular" panose="02020603050405020304" charset="0"/>
                <a:sym typeface="+mn-ea"/>
              </a:rPr>
              <a:t>on().</a:t>
            </a:r>
            <a:endParaRPr lang="en-US" altLang="ru-RU" sz="2400" dirty="0">
              <a:latin typeface="Times New Roman Regular" panose="02020603050405020304" charset="0"/>
              <a:cs typeface="Times New Roman Regular" panose="02020603050405020304" charset="0"/>
              <a:sym typeface="+mn-ea"/>
            </a:endParaRPr>
          </a:p>
          <a:p>
            <a:r>
              <a:rPr lang="en-US" altLang="zh-CN" sz="2400" b="0" i="0" dirty="0">
                <a:solidFill>
                  <a:srgbClr val="0F0F0F"/>
                </a:solidFill>
                <a:effectLst/>
                <a:latin typeface="Söhne"/>
              </a:rPr>
              <a:t>	</a:t>
            </a:r>
            <a:r>
              <a:rPr lang="zh-CN" altLang="en-US" sz="2400" b="0" i="0" dirty="0">
                <a:solidFill>
                  <a:srgbClr val="0F0F0F"/>
                </a:solidFill>
                <a:effectLst/>
                <a:latin typeface="Söhne"/>
              </a:rPr>
              <a:t>在</a:t>
            </a:r>
            <a:r>
              <a:rPr lang="en-US" altLang="zh-CN" sz="2400" b="0" i="0" dirty="0">
                <a:solidFill>
                  <a:srgbClr val="0F0F0F"/>
                </a:solidFill>
                <a:effectLst/>
                <a:latin typeface="Söhne"/>
              </a:rPr>
              <a:t>on()</a:t>
            </a:r>
            <a:r>
              <a:rPr lang="zh-CN" altLang="en-US" sz="2400" b="0" i="0" dirty="0">
                <a:solidFill>
                  <a:srgbClr val="0F0F0F"/>
                </a:solidFill>
                <a:effectLst/>
                <a:latin typeface="Söhne"/>
              </a:rPr>
              <a:t>方法中允许使用多个事件处理程序。</a:t>
            </a:r>
            <a:endParaRPr lang="en-US" altLang="ru-RU" sz="2400" dirty="0">
              <a:latin typeface="Times New Roman Regular" panose="02020603050405020304" charset="0"/>
              <a:cs typeface="Times New Roman Regular" panose="02020603050405020304" charset="0"/>
              <a:sym typeface="+mn-ea"/>
            </a:endParaRPr>
          </a:p>
        </p:txBody>
      </p:sp>
      <p:sp>
        <p:nvSpPr>
          <p:cNvPr id="5" name="Text Box 4"/>
          <p:cNvSpPr txBox="1"/>
          <p:nvPr/>
        </p:nvSpPr>
        <p:spPr>
          <a:xfrm>
            <a:off x="645160" y="3050540"/>
            <a:ext cx="11410950" cy="1630045"/>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"p"</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mouseenter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"color"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"red"</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mouseleave</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"color"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"blue"</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click</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alert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'You have clicked on p element'</a:t>
            </a:r>
            <a:r>
              <a:rPr lang="en-US" sz="2000" b="0">
                <a:solidFill>
                  <a:srgbClr val="3B3B3B"/>
                </a:solidFill>
                <a:latin typeface="Menlo" panose="020B0609030804020204" charset="0"/>
                <a:cs typeface="SimSun" charset="0"/>
              </a:rPr>
              <a:t>); }</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62585" y="103505"/>
            <a:ext cx="11466195" cy="2277547"/>
          </a:xfrm>
          <a:prstGeom prst="rect">
            <a:avLst/>
          </a:prstGeom>
          <a:noFill/>
        </p:spPr>
        <p:txBody>
          <a:bodyPr wrap="square" rtlCol="0" anchor="t">
            <a:spAutoFit/>
          </a:bodyPr>
          <a:lstStyle/>
          <a:p>
            <a:r>
              <a:rPr lang="en-US" sz="2800" b="1" dirty="0"/>
              <a:t>focus()</a:t>
            </a:r>
            <a:endParaRPr lang="en-US" sz="2800" b="1" dirty="0"/>
          </a:p>
          <a:p>
            <a:endParaRPr lang="en-US" dirty="0"/>
          </a:p>
          <a:p>
            <a:pPr algn="just"/>
            <a:r>
              <a:rPr lang="en-US" sz="2400" dirty="0"/>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focus()</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полю</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получает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фокус</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altLang="zh-CN" sz="2400" i="0" dirty="0">
                <a:solidFill>
                  <a:srgbClr val="0F0F0F"/>
                </a:solidFill>
                <a:effectLst/>
                <a:latin typeface="Söhne Mono"/>
              </a:rPr>
              <a:t>focus() </a:t>
            </a:r>
            <a:r>
              <a:rPr lang="zh-CN" altLang="en-US" sz="2400" i="0" dirty="0">
                <a:solidFill>
                  <a:srgbClr val="0F0F0F"/>
                </a:solidFill>
                <a:effectLst/>
                <a:latin typeface="Söhne Mono"/>
              </a:rPr>
              <a:t>方法将事件处理函数添加到 </a:t>
            </a:r>
            <a:r>
              <a:rPr lang="en-US" altLang="zh-CN" sz="2400" i="0" dirty="0">
                <a:solidFill>
                  <a:srgbClr val="0F0F0F"/>
                </a:solidFill>
                <a:effectLst/>
                <a:latin typeface="Söhne Mono"/>
              </a:rPr>
              <a:t>HTML </a:t>
            </a:r>
            <a:r>
              <a:rPr lang="zh-CN" altLang="en-US" sz="2400" i="0" dirty="0">
                <a:solidFill>
                  <a:srgbClr val="0F0F0F"/>
                </a:solidFill>
                <a:effectLst/>
                <a:latin typeface="Söhne Mono"/>
              </a:rPr>
              <a:t>表单字段。当表单字段获得焦点时，该函数将被执行。</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362585" y="3306445"/>
            <a:ext cx="8569325" cy="3415030"/>
          </a:xfrm>
          <a:prstGeom prst="rect">
            <a:avLst/>
          </a:prstGeom>
          <a:noFill/>
          <a:ln w="9525">
            <a:noFill/>
          </a:ln>
        </p:spPr>
        <p:txBody>
          <a:bodyPr wrap="square">
            <a:spAutoFit/>
          </a:bodyPr>
          <a:lstStyle/>
          <a:p>
            <a:pPr indent="0"/>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3B3B3B"/>
              </a:solidFill>
              <a:latin typeface="Menlo" panose="020B0609030804020204" charset="0"/>
              <a:cs typeface="SimSun" charset="0"/>
            </a:endParaRPr>
          </a:p>
          <a:p>
            <a:pPr indent="0"/>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&lt;input</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type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"text"</a:t>
            </a:r>
            <a:r>
              <a:rPr lang="en-US" b="0">
                <a:solidFill>
                  <a:srgbClr val="800000"/>
                </a:solidFill>
                <a:latin typeface="Menlo" panose="020B0609030804020204" charset="0"/>
                <a:cs typeface="SimSun" charset="0"/>
              </a:rPr>
              <a:t>&gt;&lt;span&gt;</a:t>
            </a:r>
            <a:r>
              <a:rPr lang="en-US" b="0">
                <a:solidFill>
                  <a:srgbClr val="3B3B3B"/>
                </a:solidFill>
                <a:latin typeface="Menlo" panose="020B0609030804020204" charset="0"/>
                <a:cs typeface="SimSun" charset="0"/>
              </a:rPr>
              <a:t>focus</a:t>
            </a:r>
            <a:r>
              <a:rPr lang="en-US" b="0">
                <a:solidFill>
                  <a:srgbClr val="800000"/>
                </a:solidFill>
                <a:latin typeface="Menlo" panose="020B0609030804020204" charset="0"/>
                <a:cs typeface="SimSun" charset="0"/>
              </a:rPr>
              <a:t>&lt;/span&gt;</a:t>
            </a:r>
            <a:endParaRPr lang="en-US" b="0">
              <a:latin typeface="Times New Roman" panose="02020603050405020304" charset="0"/>
              <a:cs typeface="SimSun" charset="0"/>
            </a:endParaRPr>
          </a:p>
          <a:p>
            <a:pPr indent="0"/>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a:p>
        </p:txBody>
      </p:sp>
      <p:sp>
        <p:nvSpPr>
          <p:cNvPr id="5" name="Text Box 4"/>
          <p:cNvSpPr txBox="1"/>
          <p:nvPr/>
        </p:nvSpPr>
        <p:spPr>
          <a:xfrm>
            <a:off x="6149340" y="3306445"/>
            <a:ext cx="5799455" cy="92202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"input"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focus</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en-US" b="0">
                <a:solidFill>
                  <a:srgbClr val="795E26"/>
                </a:solidFill>
                <a:latin typeface="Menlo" panose="020B0609030804020204" charset="0"/>
                <a:cs typeface="SimSun" charset="0"/>
              </a:rPr>
              <a:t>	$</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"span"</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"red"</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
        <p:nvSpPr>
          <p:cNvPr id="7" name="Text Box 6"/>
          <p:cNvSpPr txBox="1"/>
          <p:nvPr/>
        </p:nvSpPr>
        <p:spPr>
          <a:xfrm>
            <a:off x="362585" y="247650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059805" y="247681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08610" y="278765"/>
            <a:ext cx="11397615" cy="2277547"/>
          </a:xfrm>
          <a:prstGeom prst="rect">
            <a:avLst/>
          </a:prstGeom>
          <a:noFill/>
        </p:spPr>
        <p:txBody>
          <a:bodyPr wrap="square" rtlCol="0" anchor="t">
            <a:spAutoFit/>
          </a:bodyPr>
          <a:lstStyle/>
          <a:p>
            <a:r>
              <a:rPr lang="en-US" sz="2800" b="1" dirty="0"/>
              <a:t>blur()</a:t>
            </a:r>
            <a:endParaRPr lang="en-US" sz="2800" b="1" dirty="0"/>
          </a:p>
          <a:p>
            <a:endParaRPr lang="en-US" dirty="0"/>
          </a:p>
          <a:p>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blur()</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полю</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теряет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фокус</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r>
              <a:rPr lang="en-US" altLang="zh-CN" sz="2400" dirty="0">
                <a:latin typeface="Times New Roman Regular" panose="02020603050405020304" charset="0"/>
                <a:cs typeface="Times New Roman Regular" panose="02020603050405020304" charset="0"/>
              </a:rPr>
              <a:t>blur() </a:t>
            </a:r>
            <a:r>
              <a:rPr lang="zh-CN" altLang="en-US" sz="2400" dirty="0">
                <a:latin typeface="Times New Roman Regular" panose="02020603050405020304" charset="0"/>
                <a:cs typeface="Times New Roman Regular" panose="02020603050405020304" charset="0"/>
              </a:rPr>
              <a:t>方法向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表单字段添加事件处理函数。当表单字段失去焦点时，该函数将被执行。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308610" y="3583305"/>
            <a:ext cx="9654540" cy="3138170"/>
          </a:xfrm>
          <a:prstGeom prst="rect">
            <a:avLst/>
          </a:prstGeom>
          <a:noFill/>
          <a:ln w="9525">
            <a:noFill/>
          </a:ln>
        </p:spPr>
        <p:txBody>
          <a:bodyPr wrap="square">
            <a:spAutoFit/>
          </a:bodyPr>
          <a:lstStyle/>
          <a:p>
            <a:pPr indent="0"/>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3B3B3B"/>
              </a:solidFill>
              <a:latin typeface="Menlo" panose="020B0609030804020204" charset="0"/>
              <a:cs typeface="SimSun" charset="0"/>
            </a:endParaRPr>
          </a:p>
          <a:p>
            <a:pPr indent="0"/>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&lt;input</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type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"text"</a:t>
            </a:r>
            <a:r>
              <a:rPr lang="en-US" b="0">
                <a:solidFill>
                  <a:srgbClr val="800000"/>
                </a:solidFill>
                <a:latin typeface="Menlo" panose="020B0609030804020204" charset="0"/>
                <a:cs typeface="SimSun" charset="0"/>
              </a:rPr>
              <a:t>&gt;&lt;span&gt;</a:t>
            </a:r>
            <a:r>
              <a:rPr lang="en-US" b="0">
                <a:solidFill>
                  <a:srgbClr val="3B3B3B"/>
                </a:solidFill>
                <a:latin typeface="Menlo" panose="020B0609030804020204" charset="0"/>
                <a:cs typeface="SimSun" charset="0"/>
              </a:rPr>
              <a:t>focus</a:t>
            </a:r>
            <a:r>
              <a:rPr lang="en-US" b="0">
                <a:solidFill>
                  <a:srgbClr val="800000"/>
                </a:solidFill>
                <a:latin typeface="Menlo" panose="020B0609030804020204" charset="0"/>
                <a:cs typeface="SimSun" charset="0"/>
              </a:rPr>
              <a:t>&lt;/span&gt;</a:t>
            </a:r>
            <a:endParaRPr lang="en-US" b="0">
              <a:latin typeface="Times New Roman" panose="02020603050405020304" charset="0"/>
              <a:cs typeface="SimSun" charset="0"/>
            </a:endParaRPr>
          </a:p>
          <a:p>
            <a:pPr indent="0"/>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a:p>
        </p:txBody>
      </p:sp>
      <p:sp>
        <p:nvSpPr>
          <p:cNvPr id="5" name="Text Box 4"/>
          <p:cNvSpPr txBox="1"/>
          <p:nvPr/>
        </p:nvSpPr>
        <p:spPr>
          <a:xfrm>
            <a:off x="6358890" y="3583305"/>
            <a:ext cx="5676265" cy="92202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"input"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blur</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en-US" b="0">
                <a:solidFill>
                  <a:srgbClr val="795E26"/>
                </a:solidFill>
                <a:latin typeface="Menlo" panose="020B0609030804020204" charset="0"/>
                <a:cs typeface="SimSun" charset="0"/>
              </a:rPr>
              <a:t>	$</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"span"</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"blue"</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
        <p:nvSpPr>
          <p:cNvPr id="7" name="Text Box 6"/>
          <p:cNvSpPr txBox="1"/>
          <p:nvPr/>
        </p:nvSpPr>
        <p:spPr>
          <a:xfrm>
            <a:off x="308610" y="275336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358890" y="275367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953770" y="1045210"/>
            <a:ext cx="10215880" cy="1938020"/>
          </a:xfrm>
          <a:prstGeom prst="rect">
            <a:avLst/>
          </a:prstGeom>
          <a:noFill/>
        </p:spPr>
        <p:txBody>
          <a:bodyPr wrap="square" rtlCol="0">
            <a:spAutoFit/>
          </a:bodyPr>
          <a:lstStyle/>
          <a:p>
            <a:pPr algn="just"/>
            <a:r>
              <a:rPr lang="ru-RU" altLang="en-US" sz="2400" dirty="0">
                <a:latin typeface="Times New Roman Regular" panose="02020603050405020304" charset="0"/>
                <a:cs typeface="Times New Roman Regular" panose="02020603050405020304" charset="0"/>
              </a:rPr>
              <a:t>	Создадим форму из трех элементов. Каждый элемент должен подсвечиваться при наведении на него курсора одним цветом и при получении фокуса другим цветом. </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16560" y="1877060"/>
            <a:ext cx="10184130" cy="3538220"/>
          </a:xfrm>
          <a:prstGeom prst="rect">
            <a:avLst/>
          </a:prstGeom>
          <a:noFill/>
          <a:ln w="9525">
            <a:noFill/>
          </a:ln>
        </p:spPr>
        <p:txBody>
          <a:bodyPr wrap="square">
            <a:spAutoFit/>
          </a:bodyPr>
          <a:lstStyle/>
          <a:p>
            <a:pPr indent="0"/>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3B3B3B"/>
              </a:solidFill>
              <a:latin typeface="Menlo" panose="020B0609030804020204" charset="0"/>
              <a:cs typeface="SimSun" charset="0"/>
            </a:endParaRPr>
          </a:p>
          <a:p>
            <a:pPr indent="0"/>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&lt;form&gt;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"text"</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"password"</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"date"</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&lt;/form&gt;</a:t>
            </a:r>
            <a:endParaRPr lang="en-US" sz="1600" b="0">
              <a:latin typeface="Times New Roman" panose="02020603050405020304" charset="0"/>
              <a:cs typeface="SimSun" charset="0"/>
            </a:endParaRPr>
          </a:p>
          <a:p>
            <a:pPr indent="0"/>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a:p>
        </p:txBody>
      </p:sp>
      <p:sp>
        <p:nvSpPr>
          <p:cNvPr id="7" name="Text Box 6"/>
          <p:cNvSpPr txBox="1"/>
          <p:nvPr/>
        </p:nvSpPr>
        <p:spPr>
          <a:xfrm>
            <a:off x="416560" y="532765"/>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467360" y="509587"/>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Text Box 5"/>
          <p:cNvSpPr txBox="1"/>
          <p:nvPr/>
        </p:nvSpPr>
        <p:spPr>
          <a:xfrm>
            <a:off x="467360" y="2149475"/>
            <a:ext cx="10455275" cy="193802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'input'</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focus</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'10px solid red'</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blur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'1px solid black'</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mouseenter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'10px solid blue'</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mouseleave</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'1px solid black'</a:t>
            </a:r>
            <a:r>
              <a:rPr lang="en-US" sz="2000" b="0">
                <a:solidFill>
                  <a:srgbClr val="3B3B3B"/>
                </a:solidFill>
                <a:latin typeface="Menlo" panose="020B0609030804020204" charset="0"/>
                <a:cs typeface="SimSun" charset="0"/>
              </a:rPr>
              <a:t>) },</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548640" y="4073525"/>
            <a:ext cx="1109408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1080"/>
                </a:solidFill>
                <a:latin typeface="Menlo" panose="020B0609030804020204" charset="0"/>
                <a:cs typeface="SimSun" charset="0"/>
              </a:rPr>
              <a:t>window</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on</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"resize"</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001080"/>
              </a:solidFill>
              <a:latin typeface="Menlo" panose="020B0609030804020204" charset="0"/>
              <a:cs typeface="SimSun" charset="0"/>
            </a:endParaRPr>
          </a:p>
          <a:p>
            <a:pPr marL="0" indent="0" algn="l"/>
            <a:r>
              <a:rPr lang="en-US" sz="2400" b="0">
                <a:solidFill>
                  <a:srgbClr val="001080"/>
                </a:solidFill>
                <a:latin typeface="Menlo" panose="020B0609030804020204" charset="0"/>
                <a:cs typeface="SimSun" charset="0"/>
              </a:rPr>
              <a:t>	console</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log</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width</a:t>
            </a:r>
            <a:r>
              <a:rPr lang="en-US" sz="2400" b="0">
                <a:solidFill>
                  <a:srgbClr val="3B3B3B"/>
                </a:solidFill>
                <a:latin typeface="Menlo" panose="020B0609030804020204" charset="0"/>
                <a:cs typeface="SimSun" charset="0"/>
              </a:rPr>
              <a:t>() </a:t>
            </a:r>
            <a:r>
              <a:rPr lang="en-US" sz="2400" b="0">
                <a:solidFill>
                  <a:srgbClr val="000000"/>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000000"/>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height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
        <p:nvSpPr>
          <p:cNvPr id="2" name="Text Box 1"/>
          <p:cNvSpPr txBox="1"/>
          <p:nvPr/>
        </p:nvSpPr>
        <p:spPr>
          <a:xfrm>
            <a:off x="619125" y="293370"/>
            <a:ext cx="4890770" cy="521970"/>
          </a:xfrm>
          <a:prstGeom prst="rect">
            <a:avLst/>
          </a:prstGeom>
          <a:noFill/>
        </p:spPr>
        <p:txBody>
          <a:bodyPr wrap="none" rtlCol="0" anchor="t">
            <a:spAutoFit/>
          </a:bodyPr>
          <a:lstStyle/>
          <a:p>
            <a:pPr algn="l"/>
            <a:r>
              <a:rPr lang="en-US" sz="2800" b="1">
                <a:solidFill>
                  <a:schemeClr val="tx1"/>
                </a:solidFill>
                <a:latin typeface="Menlo Bold" panose="020B0609030804020204" charset="0"/>
                <a:cs typeface="Menlo Bold" panose="020B0609030804020204" charset="0"/>
                <a:sym typeface="+mn-ea"/>
              </a:rPr>
              <a:t>$(window).on("resize"</a:t>
            </a:r>
            <a:r>
              <a:rPr lang="ru-RU" altLang="en-US" sz="2800" b="1">
                <a:solidFill>
                  <a:schemeClr val="tx1"/>
                </a:solidFill>
                <a:latin typeface="Menlo Bold" panose="020B0609030804020204" charset="0"/>
                <a:cs typeface="Menlo Bold" panose="020B0609030804020204" charset="0"/>
                <a:sym typeface="+mn-ea"/>
              </a:rPr>
              <a:t>)</a:t>
            </a:r>
            <a:endParaRPr lang="ru-RU" altLang="en-US" sz="2800" b="1">
              <a:solidFill>
                <a:schemeClr val="tx1"/>
              </a:solidFill>
              <a:latin typeface="Menlo Bold" panose="020B0609030804020204" charset="0"/>
              <a:cs typeface="Menlo Bold" panose="020B0609030804020204" charset="0"/>
              <a:sym typeface="+mn-ea"/>
            </a:endParaRPr>
          </a:p>
        </p:txBody>
      </p:sp>
      <p:sp>
        <p:nvSpPr>
          <p:cNvPr id="3" name="Text Box 2"/>
          <p:cNvSpPr txBox="1"/>
          <p:nvPr/>
        </p:nvSpPr>
        <p:spPr>
          <a:xfrm>
            <a:off x="619125" y="1038225"/>
            <a:ext cx="10964545" cy="2308324"/>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Мы можем добавить </a:t>
            </a:r>
            <a:r>
              <a:rPr lang="en-US" sz="2400" dirty="0" err="1">
                <a:latin typeface="Times New Roman Regular" panose="02020603050405020304" charset="0"/>
                <a:cs typeface="Times New Roman Regular" panose="02020603050405020304" charset="0"/>
              </a:rPr>
              <a:t>обработчик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событию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изменить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размер</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страницы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Так же мы можем получить размеры страниц используя методы </a:t>
            </a:r>
            <a:r>
              <a:rPr lang="en-US" altLang="ru-RU" sz="2400" dirty="0">
                <a:latin typeface="Times New Roman Regular" panose="02020603050405020304" charset="0"/>
                <a:cs typeface="Times New Roman Regular" panose="02020603050405020304" charset="0"/>
              </a:rPr>
              <a:t>width() </a:t>
            </a:r>
            <a:r>
              <a:rPr lang="ru-RU" altLang="en-US" sz="2400" dirty="0">
                <a:latin typeface="Times New Roman Regular" panose="02020603050405020304" charset="0"/>
                <a:cs typeface="Times New Roman Regular" panose="02020603050405020304" charset="0"/>
              </a:rPr>
              <a:t>и </a:t>
            </a:r>
            <a:r>
              <a:rPr lang="en-US" altLang="ru-RU" sz="2400" dirty="0">
                <a:latin typeface="Times New Roman Regular" panose="02020603050405020304" charset="0"/>
                <a:cs typeface="Times New Roman Regular" panose="02020603050405020304" charset="0"/>
              </a:rPr>
              <a:t>height().</a:t>
            </a:r>
            <a:endParaRPr lang="en-US" altLang="ru-RU" sz="2400" dirty="0">
              <a:latin typeface="Times New Roman Regular" panose="02020603050405020304" charset="0"/>
              <a:cs typeface="Times New Roman Regular" panose="02020603050405020304" charset="0"/>
            </a:endParaRPr>
          </a:p>
          <a:p>
            <a:pPr algn="just"/>
            <a:endParaRPr lang="en-US" altLang="ru-RU"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我们可以为页面的“调整大小”事件添加处理程序。同样，我们可以使用</a:t>
            </a:r>
            <a:r>
              <a:rPr lang="en-US" altLang="zh-CN" sz="2400" dirty="0">
                <a:latin typeface="Times New Roman Regular" panose="02020603050405020304" charset="0"/>
                <a:cs typeface="Times New Roman Regular" panose="02020603050405020304" charset="0"/>
              </a:rPr>
              <a:t>width()</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height()</a:t>
            </a:r>
            <a:r>
              <a:rPr lang="zh-CN" altLang="en-US" sz="2400" dirty="0">
                <a:latin typeface="Times New Roman Regular" panose="02020603050405020304" charset="0"/>
                <a:cs typeface="Times New Roman Regular" panose="02020603050405020304" charset="0"/>
              </a:rPr>
              <a:t>方法获取页面的尺寸。</a:t>
            </a:r>
            <a:endParaRPr lang="en-US" altLang="ru-RU" sz="2400" dirty="0">
              <a:latin typeface="Times New Roman Regular" panose="02020603050405020304" charset="0"/>
              <a:cs typeface="Times New Roman Regular"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515870" y="4197985"/>
            <a:ext cx="716026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rPr>
              <a:t>$</a:t>
            </a:r>
            <a:r>
              <a:rPr lang="en-US" sz="2400" b="0">
                <a:solidFill>
                  <a:srgbClr val="3B3B3B"/>
                </a:solidFill>
                <a:latin typeface="Menlo" panose="020B0609030804020204" charset="0"/>
              </a:rPr>
              <a:t>(</a:t>
            </a:r>
            <a:r>
              <a:rPr lang="en-US" sz="2400" b="0">
                <a:solidFill>
                  <a:srgbClr val="001080"/>
                </a:solidFill>
                <a:latin typeface="Menlo" panose="020B0609030804020204" charset="0"/>
              </a:rPr>
              <a:t>window</a:t>
            </a:r>
            <a:r>
              <a:rPr lang="en-US" sz="2400" b="0">
                <a:solidFill>
                  <a:srgbClr val="3B3B3B"/>
                </a:solidFill>
                <a:latin typeface="Menlo" panose="020B0609030804020204" charset="0"/>
              </a:rPr>
              <a:t>).</a:t>
            </a:r>
            <a:r>
              <a:rPr lang="en-US" sz="2400" b="0">
                <a:solidFill>
                  <a:srgbClr val="795E26"/>
                </a:solidFill>
                <a:latin typeface="Menlo" panose="020B0609030804020204" charset="0"/>
              </a:rPr>
              <a:t>on</a:t>
            </a:r>
            <a:r>
              <a:rPr lang="en-US" sz="2400" b="0">
                <a:solidFill>
                  <a:srgbClr val="3B3B3B"/>
                </a:solidFill>
                <a:latin typeface="Menlo" panose="020B0609030804020204" charset="0"/>
              </a:rPr>
              <a:t>( </a:t>
            </a:r>
            <a:r>
              <a:rPr lang="en-US" sz="2400" b="0">
                <a:solidFill>
                  <a:srgbClr val="A31515"/>
                </a:solidFill>
                <a:latin typeface="Menlo" panose="020B0609030804020204" charset="0"/>
              </a:rPr>
              <a:t>"scroll"</a:t>
            </a:r>
            <a:r>
              <a:rPr lang="en-US" sz="2400" b="0">
                <a:solidFill>
                  <a:srgbClr val="3B3B3B"/>
                </a:solidFill>
                <a:latin typeface="Menlo" panose="020B0609030804020204" charset="0"/>
              </a:rPr>
              <a:t>, </a:t>
            </a:r>
            <a:r>
              <a:rPr lang="en-US" sz="2400" b="0">
                <a:solidFill>
                  <a:srgbClr val="0000FF"/>
                </a:solidFill>
                <a:latin typeface="Menlo" panose="020B0609030804020204" charset="0"/>
              </a:rPr>
              <a:t>function</a:t>
            </a:r>
            <a:r>
              <a:rPr lang="en-US" sz="2400" b="0">
                <a:solidFill>
                  <a:srgbClr val="3B3B3B"/>
                </a:solidFill>
                <a:latin typeface="Menlo" panose="020B0609030804020204" charset="0"/>
              </a:rPr>
              <a:t>() {</a:t>
            </a:r>
            <a:endParaRPr lang="en-US" sz="2400" b="0">
              <a:solidFill>
                <a:srgbClr val="001080"/>
              </a:solidFill>
              <a:latin typeface="Menlo" panose="020B0609030804020204" charset="0"/>
            </a:endParaRPr>
          </a:p>
          <a:p>
            <a:pPr marL="0" indent="0" algn="l"/>
            <a:r>
              <a:rPr lang="en-US" sz="2400" b="0">
                <a:solidFill>
                  <a:srgbClr val="001080"/>
                </a:solidFill>
                <a:latin typeface="Menlo" panose="020B0609030804020204" charset="0"/>
              </a:rPr>
              <a:t>	console</a:t>
            </a:r>
            <a:r>
              <a:rPr lang="en-US" sz="2400" b="0">
                <a:solidFill>
                  <a:srgbClr val="3B3B3B"/>
                </a:solidFill>
                <a:latin typeface="Menlo" panose="020B0609030804020204" charset="0"/>
              </a:rPr>
              <a:t>.</a:t>
            </a:r>
            <a:r>
              <a:rPr lang="en-US" sz="2400" b="0">
                <a:solidFill>
                  <a:srgbClr val="795E26"/>
                </a:solidFill>
                <a:latin typeface="Menlo" panose="020B0609030804020204" charset="0"/>
              </a:rPr>
              <a:t>log</a:t>
            </a:r>
            <a:r>
              <a:rPr lang="en-US" sz="2400" b="0">
                <a:solidFill>
                  <a:srgbClr val="3B3B3B"/>
                </a:solidFill>
                <a:latin typeface="Menlo" panose="020B0609030804020204" charset="0"/>
              </a:rPr>
              <a:t>(‘scroll’);</a:t>
            </a:r>
            <a:endParaRPr lang="en-US" sz="2400" b="0">
              <a:solidFill>
                <a:srgbClr val="3B3B3B"/>
              </a:solidFill>
              <a:latin typeface="Menlo" panose="020B0609030804020204" charset="0"/>
            </a:endParaRPr>
          </a:p>
          <a:p>
            <a:pPr marL="0" indent="0" algn="l"/>
            <a:r>
              <a:rPr lang="en-US" sz="2400" b="0">
                <a:solidFill>
                  <a:srgbClr val="3B3B3B"/>
                </a:solidFill>
                <a:latin typeface="Menlo" panose="020B0609030804020204" charset="0"/>
              </a:rPr>
              <a:t>});</a:t>
            </a:r>
            <a:endParaRPr lang="en-US" sz="2400"/>
          </a:p>
        </p:txBody>
      </p:sp>
      <p:sp>
        <p:nvSpPr>
          <p:cNvPr id="2" name="Text Box 1"/>
          <p:cNvSpPr txBox="1"/>
          <p:nvPr/>
        </p:nvSpPr>
        <p:spPr>
          <a:xfrm>
            <a:off x="652145" y="1066800"/>
            <a:ext cx="1106360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Мы можем так же </a:t>
            </a:r>
            <a:r>
              <a:rPr lang="ru-RU" altLang="en-US" sz="2400" dirty="0" err="1">
                <a:latin typeface="Times New Roman Regular" panose="02020603050405020304" charset="0"/>
                <a:cs typeface="Times New Roman Regular" panose="02020603050405020304" charset="0"/>
              </a:rPr>
              <a:t>привзать</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событию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прокрутки</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страницы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b="0" i="0" dirty="0">
                <a:solidFill>
                  <a:srgbClr val="0F0F0F"/>
                </a:solidFill>
                <a:effectLst/>
                <a:latin typeface="Söhne"/>
              </a:rPr>
              <a:t>我们还可以将事件处理程序绑定到页面的“滚动”事件。</a:t>
            </a:r>
            <a:endParaRPr lang="en-US" sz="2400" dirty="0">
              <a:latin typeface="Times New Roman Regular" panose="02020603050405020304" charset="0"/>
              <a:cs typeface="Times New Roman Regular" panose="02020603050405020304" charset="0"/>
            </a:endParaRPr>
          </a:p>
        </p:txBody>
      </p:sp>
      <p:sp>
        <p:nvSpPr>
          <p:cNvPr id="3" name="Text Box 2"/>
          <p:cNvSpPr txBox="1"/>
          <p:nvPr/>
        </p:nvSpPr>
        <p:spPr>
          <a:xfrm>
            <a:off x="534670" y="350520"/>
            <a:ext cx="4890770" cy="521970"/>
          </a:xfrm>
          <a:prstGeom prst="rect">
            <a:avLst/>
          </a:prstGeom>
          <a:noFill/>
        </p:spPr>
        <p:txBody>
          <a:bodyPr wrap="none" rtlCol="0" anchor="t">
            <a:spAutoFit/>
          </a:bodyPr>
          <a:lstStyle/>
          <a:p>
            <a:r>
              <a:rPr lang="en-US" sz="2800" b="1">
                <a:solidFill>
                  <a:schemeClr val="tx1"/>
                </a:solidFill>
                <a:latin typeface="Menlo Bold" panose="020B0609030804020204" charset="0"/>
                <a:cs typeface="Menlo Bold" panose="020B0609030804020204" charset="0"/>
                <a:sym typeface="+mn-ea"/>
              </a:rPr>
              <a:t>$(window).on("scroll")</a:t>
            </a:r>
            <a:endParaRPr lang="en-US" sz="2800" b="1">
              <a:solidFill>
                <a:schemeClr val="tx1"/>
              </a:solidFill>
              <a:latin typeface="Menlo Bold" panose="020B0609030804020204" charset="0"/>
              <a:cs typeface="Menlo Bold" panose="020B0609030804020204"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827405" y="1238885"/>
            <a:ext cx="10537825" cy="2308324"/>
          </a:xfrm>
          <a:prstGeom prst="rect">
            <a:avLst/>
          </a:prstGeom>
          <a:noFill/>
        </p:spPr>
        <p:txBody>
          <a:bodyPr wrap="square" rtlCol="0" anchor="t">
            <a:spAutoFit/>
          </a:bodyPr>
          <a:lstStyle/>
          <a:p>
            <a:pPr algn="just"/>
            <a:r>
              <a:rPr lang="en-US"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Библиотека</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предоставляет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несколько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техник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добавления</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эффектов </a:t>
            </a:r>
            <a:r>
              <a:rPr lang="en-US" sz="2400" dirty="0" err="1">
                <a:latin typeface="Times New Roman Regular" panose="02020603050405020304" charset="0"/>
                <a:cs typeface="Times New Roman Regular" panose="02020603050405020304" charset="0"/>
              </a:rPr>
              <a:t>элементам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ru-RU" altLang="en-US" sz="2400" dirty="0" err="1">
                <a:latin typeface="Times New Roman Regular" panose="02020603050405020304" charset="0"/>
                <a:cs typeface="Times New Roman Regular" panose="02020603050405020304" charset="0"/>
              </a:rPr>
              <a:t>Далеее</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описаны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стандартные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часто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используются</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库提供了多种技术，用于向页面元素添加效果。接下来描述了一些常用的简单标准方法。</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01345" y="370205"/>
            <a:ext cx="1098867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может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мгновенно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скрывать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содержимое</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помощью</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show()</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hide()</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可以使用</a:t>
            </a:r>
            <a:r>
              <a:rPr lang="en-US" altLang="zh-CN" sz="2400"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show()`</a:t>
            </a:r>
            <a:r>
              <a:rPr lang="zh-CN" altLang="en-US" sz="2400" dirty="0">
                <a:latin typeface="Times New Roman Regular" panose="02020603050405020304" charset="0"/>
                <a:cs typeface="Times New Roman Regular" panose="02020603050405020304" charset="0"/>
              </a:rPr>
              <a:t>或</a:t>
            </a:r>
            <a:r>
              <a:rPr lang="en-US" altLang="zh-CN" sz="2400"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hide()`</a:t>
            </a:r>
            <a:r>
              <a:rPr lang="zh-CN" altLang="en-US" sz="2400" dirty="0">
                <a:latin typeface="Times New Roman Regular" panose="02020603050405020304" charset="0"/>
                <a:cs typeface="Times New Roman Regular" panose="02020603050405020304" charset="0"/>
              </a:rPr>
              <a:t>来立即显示或隐藏内容。</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256665" y="3392805"/>
            <a:ext cx="967930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hide</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show</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21640" y="455295"/>
            <a:ext cx="11328400" cy="2308324"/>
          </a:xfrm>
          <a:prstGeom prst="rect">
            <a:avLst/>
          </a:prstGeom>
          <a:noFill/>
        </p:spPr>
        <p:txBody>
          <a:bodyPr wrap="square" rtlCol="0" anchor="t">
            <a:spAutoFit/>
          </a:bodyPr>
          <a:lstStyle/>
          <a:p>
            <a:pPr algn="just"/>
            <a:r>
              <a:rPr lang="ru-RU" altLang="en-US"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Мы можем контролировать скорость появления и затухания </a:t>
            </a:r>
            <a:r>
              <a:rPr lang="en-US" altLang="ru-RU" sz="2400" dirty="0">
                <a:latin typeface="Times New Roman Regular" panose="02020603050405020304" charset="0"/>
                <a:cs typeface="Times New Roman Regular" panose="02020603050405020304" charset="0"/>
                <a:sym typeface="+mn-ea"/>
              </a:rPr>
              <a:t>HTML </a:t>
            </a:r>
            <a:r>
              <a:rPr lang="ru-RU" altLang="en-US" sz="2400" dirty="0">
                <a:latin typeface="Times New Roman Regular" panose="02020603050405020304" charset="0"/>
                <a:cs typeface="Times New Roman Regular" panose="02020603050405020304" charset="0"/>
                <a:sym typeface="+mn-ea"/>
              </a:rPr>
              <a:t>элементов используя методы</a:t>
            </a:r>
            <a:r>
              <a:rPr lang="en-US" sz="2400" dirty="0">
                <a:latin typeface="Times New Roman Regular" panose="02020603050405020304" charset="0"/>
                <a:cs typeface="Times New Roman Regular" panose="02020603050405020304" charset="0"/>
                <a:sym typeface="+mn-ea"/>
              </a:rPr>
              <a:t> </a:t>
            </a:r>
            <a:r>
              <a:rPr lang="en-US" sz="2400" b="1" dirty="0">
                <a:latin typeface="Times New Roman Bold" panose="02020603050405020304" charset="0"/>
                <a:cs typeface="Times New Roman Bold" panose="02020603050405020304" charset="0"/>
                <a:sym typeface="+mn-ea"/>
              </a:rPr>
              <a:t>show()</a:t>
            </a:r>
            <a:r>
              <a:rPr 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и </a:t>
            </a:r>
            <a:r>
              <a:rPr lang="en-US" sz="2400" b="1" dirty="0">
                <a:latin typeface="Times New Roman Bold" panose="02020603050405020304" charset="0"/>
                <a:cs typeface="Times New Roman Bold" panose="02020603050405020304" charset="0"/>
                <a:sym typeface="+mn-ea"/>
              </a:rPr>
              <a:t>hide()</a:t>
            </a:r>
            <a:r>
              <a:rPr lang="en-US" sz="2400" dirty="0">
                <a:latin typeface="Times New Roman Regular" panose="02020603050405020304" charset="0"/>
                <a:cs typeface="Times New Roman Regular"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Для этого можно передать скорость анимации</a:t>
            </a:r>
            <a:r>
              <a:rPr lang="en-US" altLang="ru-RU"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Методы </a:t>
            </a:r>
            <a:r>
              <a:rPr lang="ru-RU" altLang="en-US" sz="2400" dirty="0" err="1">
                <a:latin typeface="Times New Roman Regular" panose="02020603050405020304" charset="0"/>
                <a:cs typeface="Times New Roman Regular" panose="02020603050405020304" charset="0"/>
                <a:sym typeface="+mn-ea"/>
              </a:rPr>
              <a:t>принемают</a:t>
            </a:r>
            <a:r>
              <a:rPr lang="ru-RU" altLang="en-US" sz="2400" dirty="0">
                <a:latin typeface="Times New Roman Regular" panose="02020603050405020304" charset="0"/>
                <a:cs typeface="Times New Roman Regular" panose="02020603050405020304" charset="0"/>
                <a:sym typeface="+mn-ea"/>
              </a:rPr>
              <a:t> следующие </a:t>
            </a:r>
            <a:r>
              <a:rPr lang="ru-RU" altLang="en-US" sz="2400" dirty="0" err="1">
                <a:latin typeface="Times New Roman Regular" panose="02020603050405020304" charset="0"/>
                <a:cs typeface="Times New Roman Regular" panose="02020603050405020304" charset="0"/>
                <a:sym typeface="+mn-ea"/>
              </a:rPr>
              <a:t>значния</a:t>
            </a:r>
            <a:r>
              <a:rPr lang="en-US" altLang="ru-RU" sz="2400" dirty="0">
                <a:latin typeface="Times New Roman Regular" panose="02020603050405020304" charset="0"/>
                <a:cs typeface="Times New Roman Regular" panose="02020603050405020304" charset="0"/>
                <a:sym typeface="+mn-ea"/>
              </a:rPr>
              <a:t>: slow, fast </a:t>
            </a:r>
            <a:r>
              <a:rPr lang="ru-RU" altLang="en-US" sz="2400" dirty="0">
                <a:latin typeface="Times New Roman Regular" panose="02020603050405020304" charset="0"/>
                <a:cs typeface="Times New Roman Regular" panose="02020603050405020304" charset="0"/>
                <a:sym typeface="+mn-ea"/>
              </a:rPr>
              <a:t>и количество </a:t>
            </a:r>
            <a:r>
              <a:rPr lang="ru-RU" altLang="en-US" sz="2400" dirty="0" err="1">
                <a:latin typeface="Times New Roman Regular" panose="02020603050405020304" charset="0"/>
                <a:cs typeface="Times New Roman Regular" panose="02020603050405020304" charset="0"/>
                <a:sym typeface="+mn-ea"/>
              </a:rPr>
              <a:t>милесекунд</a:t>
            </a:r>
            <a:r>
              <a:rPr lang="ru-RU" altLang="en-US" sz="2400" dirty="0">
                <a:latin typeface="Times New Roman Regular" panose="02020603050405020304" charset="0"/>
                <a:cs typeface="Times New Roman Regular" panose="02020603050405020304" charset="0"/>
                <a:sym typeface="+mn-ea"/>
              </a:rPr>
              <a:t>.</a:t>
            </a:r>
            <a:endParaRPr lang="en-US" altLang="en-US" sz="2400" dirty="0">
              <a:latin typeface="Times New Roman Regular" panose="02020603050405020304" charset="0"/>
              <a:cs typeface="Times New Roman Regular" panose="02020603050405020304" charset="0"/>
              <a:sym typeface="+mn-ea"/>
            </a:endParaRPr>
          </a:p>
          <a:p>
            <a:pPr algn="just"/>
            <a:endParaRPr lang="en-US" altLang="en-US" sz="2400" dirty="0">
              <a:latin typeface="Times New Roman Regular" panose="02020603050405020304" charset="0"/>
              <a:cs typeface="Times New Roman Regular" panose="02020603050405020304" charset="0"/>
              <a:sym typeface="+mn-ea"/>
            </a:endParaRPr>
          </a:p>
          <a:p>
            <a:pPr algn="just"/>
            <a:r>
              <a:rPr lang="zh-CN" altLang="en-US" sz="2400" dirty="0">
                <a:latin typeface="Times New Roman Regular" panose="02020603050405020304" charset="0"/>
                <a:cs typeface="Times New Roman Regular" panose="02020603050405020304" charset="0"/>
                <a:sym typeface="+mn-ea"/>
              </a:rPr>
              <a:t>我们可以使用</a:t>
            </a:r>
            <a:r>
              <a:rPr lang="en-US" altLang="zh-CN" sz="2400" dirty="0">
                <a:latin typeface="Times New Roman Regular" panose="02020603050405020304" charset="0"/>
                <a:cs typeface="Times New Roman Regular" panose="02020603050405020304" charset="0"/>
                <a:sym typeface="+mn-ea"/>
              </a:rPr>
              <a:t>show()</a:t>
            </a:r>
            <a:r>
              <a:rPr lang="zh-CN" altLang="en-US" sz="2400" dirty="0">
                <a:latin typeface="Times New Roman Regular" panose="02020603050405020304" charset="0"/>
                <a:cs typeface="Times New Roman Regular" panose="02020603050405020304" charset="0"/>
                <a:sym typeface="+mn-ea"/>
              </a:rPr>
              <a:t>和</a:t>
            </a:r>
            <a:r>
              <a:rPr lang="en-US" altLang="zh-CN" sz="2400" dirty="0">
                <a:latin typeface="Times New Roman Regular" panose="02020603050405020304" charset="0"/>
                <a:cs typeface="Times New Roman Regular" panose="02020603050405020304" charset="0"/>
                <a:sym typeface="+mn-ea"/>
              </a:rPr>
              <a:t>hide()</a:t>
            </a:r>
            <a:r>
              <a:rPr lang="zh-CN" altLang="en-US" sz="2400" dirty="0">
                <a:latin typeface="Times New Roman Regular" panose="02020603050405020304" charset="0"/>
                <a:cs typeface="Times New Roman Regular" panose="02020603050405020304" charset="0"/>
                <a:sym typeface="+mn-ea"/>
              </a:rPr>
              <a:t>方法控制</a:t>
            </a:r>
            <a:r>
              <a:rPr lang="en-US" altLang="zh-CN" sz="2400" dirty="0">
                <a:latin typeface="Times New Roman Regular" panose="02020603050405020304" charset="0"/>
                <a:cs typeface="Times New Roman Regular" panose="02020603050405020304" charset="0"/>
                <a:sym typeface="+mn-ea"/>
              </a:rPr>
              <a:t>HTML</a:t>
            </a:r>
            <a:r>
              <a:rPr lang="zh-CN" altLang="en-US" sz="2400" dirty="0">
                <a:latin typeface="Times New Roman Regular" panose="02020603050405020304" charset="0"/>
                <a:cs typeface="Times New Roman Regular" panose="02020603050405020304" charset="0"/>
                <a:sym typeface="+mn-ea"/>
              </a:rPr>
              <a:t>元素的出现和消失速度。为此，可以传递动画速度。这些方法接受以下值：</a:t>
            </a:r>
            <a:r>
              <a:rPr lang="en-US" altLang="zh-CN" sz="2400" dirty="0">
                <a:latin typeface="Times New Roman Regular" panose="02020603050405020304" charset="0"/>
                <a:cs typeface="Times New Roman Regular" panose="02020603050405020304" charset="0"/>
                <a:sym typeface="+mn-ea"/>
              </a:rPr>
              <a:t>slow</a:t>
            </a:r>
            <a:r>
              <a:rPr lang="zh-CN" altLang="en-US" sz="2400" dirty="0">
                <a:latin typeface="Times New Roman Regular" panose="02020603050405020304" charset="0"/>
                <a:cs typeface="Times New Roman Regular" panose="02020603050405020304" charset="0"/>
                <a:sym typeface="+mn-ea"/>
              </a:rPr>
              <a:t>（慢）、</a:t>
            </a:r>
            <a:r>
              <a:rPr lang="en-US" altLang="zh-CN" sz="2400" dirty="0">
                <a:latin typeface="Times New Roman Regular" panose="02020603050405020304" charset="0"/>
                <a:cs typeface="Times New Roman Regular" panose="02020603050405020304" charset="0"/>
                <a:sym typeface="+mn-ea"/>
              </a:rPr>
              <a:t>fast</a:t>
            </a:r>
            <a:r>
              <a:rPr lang="zh-CN" altLang="en-US" sz="2400" dirty="0">
                <a:latin typeface="Times New Roman Regular" panose="02020603050405020304" charset="0"/>
                <a:cs typeface="Times New Roman Regular" panose="02020603050405020304" charset="0"/>
                <a:sym typeface="+mn-ea"/>
              </a:rPr>
              <a:t>（快）和毫秒数。</a:t>
            </a:r>
            <a:endParaRPr lang="ru-RU" altLang="en-US" sz="2400" dirty="0">
              <a:latin typeface="Times New Roman Regular" panose="02020603050405020304" charset="0"/>
              <a:cs typeface="Times New Roman Regular" panose="02020603050405020304" charset="0"/>
              <a:sym typeface="+mn-ea"/>
            </a:endParaRPr>
          </a:p>
        </p:txBody>
      </p:sp>
      <p:sp>
        <p:nvSpPr>
          <p:cNvPr id="100" name="Text Box 99"/>
          <p:cNvSpPr txBox="1"/>
          <p:nvPr/>
        </p:nvSpPr>
        <p:spPr>
          <a:xfrm>
            <a:off x="1105535" y="4195445"/>
            <a:ext cx="996061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hide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show</a:t>
            </a:r>
            <a:r>
              <a:rPr lang="en-US" sz="2400" b="0">
                <a:solidFill>
                  <a:srgbClr val="3B3B3B"/>
                </a:solidFill>
                <a:latin typeface="Menlo" panose="020B0609030804020204" charset="0"/>
                <a:cs typeface="SimSun" charset="0"/>
              </a:rPr>
              <a:t>(</a:t>
            </a:r>
            <a:r>
              <a:rPr lang="ru-RU" altLang="en-US" sz="2400" b="0">
                <a:solidFill>
                  <a:srgbClr val="098658"/>
                </a:solidFill>
                <a:latin typeface="Menlo" panose="020B0609030804020204" charset="0"/>
                <a:cs typeface="SimSun" charset="0"/>
              </a:rPr>
              <a:t>5</a:t>
            </a:r>
            <a:r>
              <a:rPr lang="en-US" sz="2400" b="0">
                <a:solidFill>
                  <a:srgbClr val="098658"/>
                </a:solidFill>
                <a:latin typeface="Menlo" panose="020B0609030804020204" charset="0"/>
                <a:cs typeface="SimSun" charset="0"/>
              </a:rPr>
              <a:t>000</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3" name="Text Box 2"/>
          <p:cNvSpPr txBox="1"/>
          <p:nvPr/>
        </p:nvSpPr>
        <p:spPr>
          <a:xfrm>
            <a:off x="635000" y="499745"/>
            <a:ext cx="10718800" cy="2308324"/>
          </a:xfrm>
          <a:prstGeom prst="rect">
            <a:avLst/>
          </a:prstGeom>
          <a:noFill/>
        </p:spPr>
        <p:txBody>
          <a:bodyPr wrap="square" rtlCol="0" anchor="t">
            <a:spAutoFit/>
          </a:bodyPr>
          <a:lstStyle/>
          <a:p>
            <a:pPr algn="just"/>
            <a:r>
              <a:rPr lang="ru-RU" altLang="en-US" dirty="0"/>
              <a:t>	</a:t>
            </a:r>
            <a:r>
              <a:rPr lang="ru-RU" altLang="en-US" sz="2400" dirty="0">
                <a:latin typeface="Times New Roman Regular" panose="02020603050405020304" charset="0"/>
                <a:cs typeface="Times New Roman Regular" panose="02020603050405020304" charset="0"/>
              </a:rPr>
              <a:t>Мы </a:t>
            </a:r>
            <a:r>
              <a:rPr lang="en-US" sz="2400" dirty="0" err="1">
                <a:latin typeface="Times New Roman Regular" panose="02020603050405020304" charset="0"/>
                <a:cs typeface="Times New Roman Regular" panose="02020603050405020304" charset="0"/>
              </a:rPr>
              <a:t>также</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можем </a:t>
            </a:r>
            <a:r>
              <a:rPr lang="en-US" sz="2400" dirty="0" err="1">
                <a:latin typeface="Times New Roman Regular" panose="02020603050405020304" charset="0"/>
                <a:cs typeface="Times New Roman Regular" panose="02020603050405020304" charset="0"/>
              </a:rPr>
              <a:t>переключаться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скрытием</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отображением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помощью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toggle()</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Отображаемые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скрываются</a:t>
            </a:r>
            <a:r>
              <a:rPr lang="en-US" sz="2400" dirty="0">
                <a:latin typeface="Times New Roman Regular" panose="02020603050405020304" charset="0"/>
                <a:cs typeface="Times New Roman Regular" panose="02020603050405020304" charset="0"/>
              </a:rPr>
              <a:t>, а </a:t>
            </a:r>
            <a:r>
              <a:rPr lang="en-US" sz="2400" dirty="0" err="1">
                <a:latin typeface="Times New Roman Regular" panose="02020603050405020304" charset="0"/>
                <a:cs typeface="Times New Roman Regular" panose="02020603050405020304" charset="0"/>
              </a:rPr>
              <a:t>скрытые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отображаются</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我们还可以使用</a:t>
            </a:r>
            <a:r>
              <a:rPr lang="en-US" altLang="zh-CN" sz="2400" dirty="0">
                <a:latin typeface="Times New Roman Regular" panose="02020603050405020304" charset="0"/>
                <a:cs typeface="Times New Roman Regular" panose="02020603050405020304" charset="0"/>
              </a:rPr>
              <a:t>toggle</a:t>
            </a:r>
            <a:r>
              <a:rPr lang="zh-CN" altLang="en-US" sz="2400" dirty="0">
                <a:latin typeface="Times New Roman Regular" panose="02020603050405020304" charset="0"/>
                <a:cs typeface="Times New Roman Regular" panose="02020603050405020304" charset="0"/>
              </a:rPr>
              <a:t>（）方法在元素的显示和隐藏之间进行切换。可见元素将变为隐藏状态，而隐藏的元素将变为可见。</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026160" y="4203065"/>
            <a:ext cx="993648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toggle</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1000</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75640" y="325755"/>
            <a:ext cx="10678160"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Regular" panose="02020603050405020304" charset="0"/>
                <a:cs typeface="Times New Roman Regular" panose="02020603050405020304" charset="0"/>
              </a:rPr>
              <a:t>fadeIn</a:t>
            </a:r>
            <a:r>
              <a:rPr lang="en-US" sz="2400" b="1"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скрытом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fadeIn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方法用于在隐藏的元素中实现淡入效果。以下是</a:t>
            </a:r>
            <a:r>
              <a:rPr lang="en-US" sz="2400" dirty="0" err="1">
                <a:latin typeface="Times New Roman Regular" panose="02020603050405020304" charset="0"/>
                <a:cs typeface="Times New Roman Regular" panose="02020603050405020304" charset="0"/>
              </a:rPr>
              <a:t>fadeIn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570355" y="3083560"/>
            <a:ext cx="8889365" cy="3538220"/>
          </a:xfrm>
          <a:prstGeom prst="rect">
            <a:avLst/>
          </a:prstGeom>
          <a:noFill/>
          <a:ln w="9525">
            <a:noFill/>
          </a:ln>
        </p:spPr>
        <p:txBody>
          <a:bodyPr wrap="square">
            <a:spAutoFit/>
          </a:bodyPr>
          <a:lstStyle/>
          <a:p>
            <a:pPr indent="0"/>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&lt;button&gt;</a:t>
            </a:r>
            <a:r>
              <a:rPr lang="en-US" sz="1600" b="0">
                <a:solidFill>
                  <a:srgbClr val="3B3B3B"/>
                </a:solidFill>
                <a:latin typeface="Menlo" panose="020B0609030804020204" charset="0"/>
                <a:cs typeface="SimSun" charset="0"/>
              </a:rPr>
              <a:t>Click me!</a:t>
            </a:r>
            <a:r>
              <a:rPr lang="en-US" sz="1600" b="0">
                <a:solidFill>
                  <a:srgbClr val="800000"/>
                </a:solidFill>
                <a:latin typeface="Menlo" panose="020B0609030804020204" charset="0"/>
                <a:cs typeface="SimSun" charset="0"/>
              </a:rPr>
              <a:t>&lt;/button&gt;</a:t>
            </a:r>
            <a:endParaRPr lang="en-US" sz="1600" b="0">
              <a:solidFill>
                <a:srgbClr val="3B3B3B"/>
              </a:solidFill>
              <a:latin typeface="Menlo" panose="020B0609030804020204" charset="0"/>
              <a:cs typeface="SimSun" charset="0"/>
            </a:endParaRPr>
          </a:p>
          <a:p>
            <a:pPr indent="0"/>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"div1"</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First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"div2"</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Second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"div3"</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Third div</a:t>
            </a:r>
            <a:r>
              <a:rPr lang="en-US" sz="1600" b="0">
                <a:solidFill>
                  <a:srgbClr val="800000"/>
                </a:solidFill>
                <a:latin typeface="Menlo" panose="020B0609030804020204" charset="0"/>
                <a:cs typeface="SimSun" charset="0"/>
              </a:rPr>
              <a:t>&lt;/div&gt;</a:t>
            </a:r>
            <a:endParaRPr lang="en-US" sz="1600" b="0">
              <a:latin typeface="Times New Roman" panose="02020603050405020304" charset="0"/>
              <a:cs typeface="SimSun" charset="0"/>
            </a:endParaRPr>
          </a:p>
          <a:p>
            <a:pPr indent="0"/>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a:p>
        </p:txBody>
      </p:sp>
      <p:sp>
        <p:nvSpPr>
          <p:cNvPr id="7" name="Text Box 6"/>
          <p:cNvSpPr txBox="1"/>
          <p:nvPr/>
        </p:nvSpPr>
        <p:spPr>
          <a:xfrm>
            <a:off x="1570355" y="215900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76275" y="488950"/>
            <a:ext cx="10678160"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Regular" panose="02020603050405020304" charset="0"/>
                <a:cs typeface="Times New Roman Regular" panose="02020603050405020304" charset="0"/>
              </a:rPr>
              <a:t>fadeIn</a:t>
            </a:r>
            <a:r>
              <a:rPr lang="en-US" sz="2400" b="1"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скрытом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err="1">
                <a:latin typeface="Times New Roman Regular" panose="02020603050405020304" charset="0"/>
                <a:cs typeface="Times New Roman Regular" panose="02020603050405020304" charset="0"/>
              </a:rPr>
              <a:t>fadeIn</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方法用于在隐藏的元素中实现淡入效果。下面是一个演示</a:t>
            </a:r>
            <a:r>
              <a:rPr lang="en-US" altLang="zh-CN" sz="2400" dirty="0" err="1">
                <a:latin typeface="Times New Roman Regular" panose="02020603050405020304" charset="0"/>
                <a:cs typeface="Times New Roman Regular" panose="02020603050405020304" charset="0"/>
              </a:rPr>
              <a:t>fadeIn</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en-US" sz="2400" dirty="0">
              <a:latin typeface="Times New Roman Regular" panose="02020603050405020304" charset="0"/>
              <a:cs typeface="Times New Roman Regular" panose="02020603050405020304" charset="0"/>
            </a:endParaRPr>
          </a:p>
        </p:txBody>
      </p:sp>
      <p:sp>
        <p:nvSpPr>
          <p:cNvPr id="6" name="Text Box 5"/>
          <p:cNvSpPr txBox="1"/>
          <p:nvPr/>
        </p:nvSpPr>
        <p:spPr>
          <a:xfrm>
            <a:off x="3656965" y="3820160"/>
            <a:ext cx="5080635" cy="1630045"/>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"button"</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click</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"#div1"</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"#div2"</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"slow"</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"#div3"</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r>
              <a:rPr lang="en-US" sz="2000" b="0">
                <a:solidFill>
                  <a:srgbClr val="098658"/>
                </a:solidFill>
                <a:latin typeface="Menlo" panose="020B0609030804020204" charset="0"/>
                <a:cs typeface="SimSun" charset="0"/>
              </a:rPr>
              <a:t>3000</a:t>
            </a:r>
            <a:r>
              <a:rPr lang="en-US" sz="2000" b="0">
                <a:solidFill>
                  <a:srgbClr val="3B3B3B"/>
                </a:solidFill>
                <a:latin typeface="Menlo" panose="020B0609030804020204" charset="0"/>
                <a:cs typeface="SimSun" charset="0"/>
              </a:rPr>
              <a:t>);</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
        <p:nvSpPr>
          <p:cNvPr id="8" name="Text Box 7"/>
          <p:cNvSpPr txBox="1"/>
          <p:nvPr/>
        </p:nvSpPr>
        <p:spPr>
          <a:xfrm>
            <a:off x="3656965" y="27841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55955" y="404495"/>
            <a:ext cx="10880090" cy="2308324"/>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fadeOut</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видимого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В следующем примере демонстрируется метод </a:t>
            </a:r>
            <a:r>
              <a:rPr lang="ru-RU" altLang="en-US" sz="2400" b="1" dirty="0" err="1">
                <a:latin typeface="Times New Roman Bold" panose="02020603050405020304" charset="0"/>
                <a:cs typeface="Times New Roman Bold" panose="02020603050405020304" charset="0"/>
              </a:rPr>
              <a:t>fadeOut</a:t>
            </a:r>
            <a:r>
              <a:rPr lang="ru-RU" altLang="en-US" sz="2400" b="1" dirty="0">
                <a:latin typeface="Times New Roman Bold" panose="02020603050405020304" charset="0"/>
                <a:cs typeface="Times New Roman Bold" panose="02020603050405020304" charset="0"/>
              </a:rPr>
              <a:t>()</a:t>
            </a:r>
            <a:r>
              <a:rPr lang="ru-RU" altLang="en-US" sz="2400" dirty="0">
                <a:latin typeface="Times New Roman Regular" panose="02020603050405020304" charset="0"/>
                <a:cs typeface="Times New Roman Regular" panose="02020603050405020304" charset="0"/>
              </a:rPr>
              <a:t> с различными параметрами</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方法用于使可见元素淡出。下面的示例演示了使用不同参数的</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a:t>
            </a:r>
            <a:endParaRPr lang="zh-CN" altLang="en-US" sz="2400" dirty="0">
              <a:latin typeface="Times New Roman Regular" panose="02020603050405020304" charset="0"/>
              <a:cs typeface="Times New Roman Regular" panose="02020603050405020304" charset="0"/>
            </a:endParaRPr>
          </a:p>
          <a:p>
            <a:pPr algn="just"/>
            <a:endParaRPr lang="en-US" altLang="ru-RU" sz="2400" dirty="0">
              <a:latin typeface="Times New Roman Regular" panose="02020603050405020304" charset="0"/>
              <a:cs typeface="Times New Roman Regular" panose="02020603050405020304" charset="0"/>
            </a:endParaRPr>
          </a:p>
        </p:txBody>
      </p:sp>
      <p:sp>
        <p:nvSpPr>
          <p:cNvPr id="7" name="Text Box 6"/>
          <p:cNvSpPr txBox="1"/>
          <p:nvPr/>
        </p:nvSpPr>
        <p:spPr>
          <a:xfrm>
            <a:off x="1438275" y="2518410"/>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100" name="Text Box 99"/>
          <p:cNvSpPr txBox="1"/>
          <p:nvPr/>
        </p:nvSpPr>
        <p:spPr>
          <a:xfrm>
            <a:off x="1438275" y="3429635"/>
            <a:ext cx="9315450" cy="3291840"/>
          </a:xfrm>
          <a:prstGeom prst="rect">
            <a:avLst/>
          </a:prstGeom>
          <a:noFill/>
          <a:ln w="9525">
            <a:noFill/>
          </a:ln>
        </p:spPr>
        <p:txBody>
          <a:bodyPr wrap="square">
            <a:spAutoFit/>
          </a:bodyPr>
          <a:lstStyle/>
          <a:p>
            <a:pPr marL="0" indent="0" algn="l"/>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&lt;button&gt;</a:t>
            </a:r>
            <a:r>
              <a:rPr lang="en-US" sz="1600" b="0">
                <a:solidFill>
                  <a:srgbClr val="3B3B3B"/>
                </a:solidFill>
                <a:latin typeface="Menlo" panose="020B0609030804020204" charset="0"/>
                <a:cs typeface="SimSun" charset="0"/>
              </a:rPr>
              <a:t>Click me!</a:t>
            </a:r>
            <a:r>
              <a:rPr lang="en-US" sz="1600" b="0">
                <a:solidFill>
                  <a:srgbClr val="800000"/>
                </a:solidFill>
                <a:latin typeface="Menlo" panose="020B0609030804020204" charset="0"/>
                <a:cs typeface="SimSun" charset="0"/>
              </a:rPr>
              <a:t>&lt;/button&gt;</a:t>
            </a:r>
            <a:endParaRPr lang="en-US" sz="1600" b="0">
              <a:solidFill>
                <a:srgbClr val="3B3B3B"/>
              </a:solidFill>
              <a:latin typeface="Menlo" panose="020B0609030804020204" charset="0"/>
              <a:cs typeface="SimSun" charset="0"/>
            </a:endParaRPr>
          </a:p>
          <a:p>
            <a:pPr marL="0" indent="0" algn="l"/>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"div1"</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First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"div2"</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Second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"div3"</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Third div</a:t>
            </a:r>
            <a:r>
              <a:rPr lang="en-US" sz="1600" b="0">
                <a:solidFill>
                  <a:srgbClr val="800000"/>
                </a:solidFill>
                <a:latin typeface="Menlo" panose="020B0609030804020204" charset="0"/>
                <a:cs typeface="SimSun" charset="0"/>
              </a:rPr>
              <a:t>&lt;/div&gt;</a:t>
            </a:r>
            <a:endParaRPr lang="en-US" sz="1600" b="0">
              <a:latin typeface="Times New Roman" panose="02020603050405020304" charset="0"/>
              <a:cs typeface="SimSun" charset="0"/>
            </a:endParaRPr>
          </a:p>
          <a:p>
            <a:pPr marL="0" indent="0" algn="l"/>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&lt;/html&gt;</a:t>
            </a:r>
            <a:endParaRPr lang="en-US"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501015" y="263239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414020" y="387350"/>
            <a:ext cx="11363325" cy="1938992"/>
          </a:xfrm>
          <a:prstGeom prst="rect">
            <a:avLst/>
          </a:prstGeom>
          <a:noFill/>
        </p:spPr>
        <p:txBody>
          <a:bodyPr wrap="square" rtlCol="0" anchor="t">
            <a:spAutoFit/>
          </a:bodyPr>
          <a:lstStyle/>
          <a:p>
            <a:pPr algn="just"/>
            <a:r>
              <a:rPr lang="en-US"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Метод</a:t>
            </a:r>
            <a:r>
              <a:rPr lang="en-US" sz="2400" dirty="0">
                <a:latin typeface="Times New Roman Regular" panose="02020603050405020304" charset="0"/>
                <a:cs typeface="Times New Roman Regular" panose="02020603050405020304" charset="0"/>
                <a:sym typeface="+mn-ea"/>
              </a:rPr>
              <a:t> jQuery </a:t>
            </a:r>
            <a:r>
              <a:rPr lang="en-US" sz="2400" b="1" dirty="0" err="1">
                <a:latin typeface="Times New Roman Bold" panose="02020603050405020304" charset="0"/>
                <a:cs typeface="Times New Roman Bold" panose="02020603050405020304" charset="0"/>
                <a:sym typeface="+mn-ea"/>
              </a:rPr>
              <a:t>fadeOut</a:t>
            </a:r>
            <a:r>
              <a:rPr lang="en-US" sz="2400" b="1" dirty="0">
                <a:latin typeface="Times New Roman Bold" panose="02020603050405020304" charset="0"/>
                <a:cs typeface="Times New Roman Bold" panose="02020603050405020304" charset="0"/>
                <a:sym typeface="+mn-ea"/>
              </a:rPr>
              <a:t>() </a:t>
            </a:r>
            <a:r>
              <a:rPr lang="en-US" sz="2400" dirty="0" err="1">
                <a:latin typeface="Times New Roman Regular" panose="02020603050405020304" charset="0"/>
                <a:cs typeface="Times New Roman Regular" panose="02020603050405020304" charset="0"/>
                <a:sym typeface="+mn-ea"/>
              </a:rPr>
              <a:t>используется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для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затухания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видимого</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элемента</a:t>
            </a:r>
            <a:r>
              <a:rPr lang="en-US" sz="2400" dirty="0">
                <a:latin typeface="Times New Roman Regular" panose="02020603050405020304" charset="0"/>
                <a:cs typeface="Times New Roman Regular"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В следующем примере демонстрируется метод </a:t>
            </a:r>
            <a:r>
              <a:rPr lang="ru-RU" altLang="en-US" sz="2400" b="1" dirty="0" err="1">
                <a:latin typeface="Times New Roman Bold" panose="02020603050405020304" charset="0"/>
                <a:cs typeface="Times New Roman Bold" panose="02020603050405020304" charset="0"/>
                <a:sym typeface="+mn-ea"/>
              </a:rPr>
              <a:t>fadeOut</a:t>
            </a:r>
            <a:r>
              <a:rPr lang="ru-RU" altLang="en-US" sz="2400" b="1" dirty="0">
                <a:latin typeface="Times New Roman Bold" panose="02020603050405020304" charset="0"/>
                <a:cs typeface="Times New Roman Bold"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с различными параметрами</a:t>
            </a:r>
            <a:r>
              <a:rPr lang="en-US" altLang="ru-RU" sz="2400" dirty="0">
                <a:latin typeface="Times New Roman Regular" panose="02020603050405020304" charset="0"/>
                <a:cs typeface="Times New Roman Regular" panose="02020603050405020304" charset="0"/>
                <a:sym typeface="+mn-ea"/>
              </a:rPr>
              <a:t>.</a:t>
            </a:r>
            <a:endParaRPr lang="en-US" altLang="ru-RU" sz="2400" dirty="0">
              <a:latin typeface="Times New Roman Regular" panose="02020603050405020304" charset="0"/>
              <a:cs typeface="Times New Roman Regular" panose="02020603050405020304" charset="0"/>
              <a:sym typeface="+mn-ea"/>
            </a:endParaRPr>
          </a:p>
          <a:p>
            <a:pPr algn="just"/>
            <a:r>
              <a:rPr lang="en-US" sz="2400" dirty="0"/>
              <a:t>jQuery</a:t>
            </a:r>
            <a:r>
              <a:rPr lang="zh-CN" altLang="en-US" sz="2400" dirty="0"/>
              <a:t>的</a:t>
            </a:r>
            <a:r>
              <a:rPr lang="en-US" sz="2400" dirty="0" err="1"/>
              <a:t>fadeOut</a:t>
            </a:r>
            <a:r>
              <a:rPr lang="en-US" sz="2400" dirty="0"/>
              <a:t>()</a:t>
            </a:r>
            <a:r>
              <a:rPr lang="zh-CN" altLang="en-US" sz="2400" dirty="0"/>
              <a:t>方法用于使可见元素逐渐消失。以下是使用不同参数演示</a:t>
            </a:r>
            <a:r>
              <a:rPr lang="en-US" sz="2400" dirty="0" err="1"/>
              <a:t>fadeOut</a:t>
            </a:r>
            <a:r>
              <a:rPr lang="en-US" sz="2400" dirty="0"/>
              <a:t>()</a:t>
            </a:r>
            <a:r>
              <a:rPr lang="zh-CN" altLang="en-US" sz="2400" dirty="0"/>
              <a:t>方法的示例。</a:t>
            </a:r>
            <a:endParaRPr lang="zh-CN" altLang="en-US" sz="2400" dirty="0"/>
          </a:p>
          <a:p>
            <a:pPr algn="just"/>
            <a:endParaRPr lang="en-US" sz="2400" dirty="0"/>
          </a:p>
        </p:txBody>
      </p:sp>
      <p:sp>
        <p:nvSpPr>
          <p:cNvPr id="100" name="Text Box 99"/>
          <p:cNvSpPr txBox="1"/>
          <p:nvPr/>
        </p:nvSpPr>
        <p:spPr>
          <a:xfrm>
            <a:off x="501015" y="3628390"/>
            <a:ext cx="7798435"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3000</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725805" y="314325"/>
            <a:ext cx="10848975" cy="2677656"/>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a:t>
            </a:r>
            <a:r>
              <a:rPr lang="en-US" sz="2400" b="1" dirty="0">
                <a:latin typeface="Times New Roman Bold" panose="02020603050405020304" charset="0"/>
                <a:cs typeface="Times New Roman Bold"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переключается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методами</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и </a:t>
            </a:r>
            <a:r>
              <a:rPr lang="en-US" sz="2400" b="1" dirty="0" err="1">
                <a:latin typeface="Times New Roman Bold" panose="02020603050405020304" charset="0"/>
                <a:cs typeface="Times New Roman Bold" panose="02020603050405020304" charset="0"/>
              </a:rPr>
              <a:t>fadeOut</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будут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затемнены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удалит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Заменим только </a:t>
            </a:r>
            <a:r>
              <a:rPr lang="en-US" altLang="ru-RU" sz="2400" dirty="0">
                <a:latin typeface="Times New Roman Regular" panose="02020603050405020304" charset="0"/>
                <a:cs typeface="Times New Roman Regular" panose="02020603050405020304" charset="0"/>
              </a:rPr>
              <a:t>JavaScript </a:t>
            </a:r>
            <a:r>
              <a:rPr lang="ru-RU" altLang="en-US" sz="2400" dirty="0">
                <a:latin typeface="Times New Roman Regular" panose="02020603050405020304" charset="0"/>
                <a:cs typeface="Times New Roman Regular" panose="02020603050405020304" charset="0"/>
              </a:rPr>
              <a:t>файл</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fadeIn</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方法之间进行切换。如果元素是淡入状态，</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函数将使它们变得更加透明。如果元素是隐藏的，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函数将使它们逐渐显示出来。只需替换</a:t>
            </a:r>
            <a:r>
              <a:rPr lang="en-US" altLang="ru-RU" sz="2400" dirty="0">
                <a:latin typeface="Times New Roman Regular" panose="02020603050405020304" charset="0"/>
                <a:cs typeface="Times New Roman Regular" panose="02020603050405020304" charset="0"/>
              </a:rPr>
              <a:t>JavaScript</a:t>
            </a:r>
            <a:r>
              <a:rPr lang="zh-CN" altLang="en-US" sz="2400" dirty="0">
                <a:latin typeface="Times New Roman Regular" panose="02020603050405020304" charset="0"/>
                <a:cs typeface="Times New Roman Regular" panose="02020603050405020304" charset="0"/>
              </a:rPr>
              <a:t>文件。</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673350" y="3916680"/>
            <a:ext cx="6953885"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3000</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49275" y="518160"/>
            <a:ext cx="11062335"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fadeTo</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позволяет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изменять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цвет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заданной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непрозрачности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a:t>
            </a:r>
            <a:r>
              <a:rPr lang="en-US" sz="2400" dirty="0">
                <a:latin typeface="Times New Roman Regular" panose="02020603050405020304" charset="0"/>
                <a:cs typeface="Times New Roman Regular" panose="02020603050405020304" charset="0"/>
              </a:rPr>
              <a:t> 0 </a:t>
            </a:r>
            <a:r>
              <a:rPr lang="en-US" sz="2400" dirty="0" err="1">
                <a:latin typeface="Times New Roman Regular" panose="02020603050405020304" charset="0"/>
                <a:cs typeface="Times New Roman Regular" panose="02020603050405020304" charset="0"/>
              </a:rPr>
              <a:t>до</a:t>
            </a:r>
            <a:r>
              <a:rPr lang="en-US" sz="2400" dirty="0">
                <a:latin typeface="Times New Roman Regular" panose="02020603050405020304" charset="0"/>
                <a:cs typeface="Times New Roman Regular" panose="02020603050405020304" charset="0"/>
              </a:rPr>
              <a:t> 1). </a:t>
            </a:r>
            <a:r>
              <a:rPr lang="ru-RU" altLang="en-US" sz="2400" dirty="0">
                <a:latin typeface="Times New Roman Regular" panose="02020603050405020304" charset="0"/>
                <a:cs typeface="Times New Roman Regular" panose="02020603050405020304" charset="0"/>
              </a:rPr>
              <a:t>Добавьте свойство </a:t>
            </a:r>
            <a:r>
              <a:rPr lang="en-US" altLang="ru-RU" sz="2400" dirty="0">
                <a:latin typeface="Times New Roman Regular" panose="02020603050405020304" charset="0"/>
                <a:cs typeface="Times New Roman Regular" panose="02020603050405020304" charset="0"/>
              </a:rPr>
              <a:t>background-color </a:t>
            </a:r>
            <a:r>
              <a:rPr lang="ru-RU" altLang="en-US" sz="2400" dirty="0">
                <a:latin typeface="Times New Roman Regular" panose="02020603050405020304" charset="0"/>
                <a:cs typeface="Times New Roman Regular" panose="02020603050405020304" charset="0"/>
              </a:rPr>
              <a:t>к элементам </a:t>
            </a:r>
            <a:r>
              <a:rPr lang="en-US" altLang="ru-RU" sz="2400" dirty="0">
                <a:latin typeface="Times New Roman Regular" panose="02020603050405020304" charset="0"/>
                <a:cs typeface="Times New Roman Regular" panose="02020603050405020304" charset="0"/>
              </a:rPr>
              <a:t>div </a:t>
            </a:r>
            <a:r>
              <a:rPr lang="ru-RU" altLang="en-US" sz="2400" dirty="0">
                <a:latin typeface="Times New Roman Regular" panose="02020603050405020304" charset="0"/>
                <a:cs typeface="Times New Roman Regular" panose="02020603050405020304" charset="0"/>
              </a:rPr>
              <a:t>для наглядного результата.</a:t>
            </a:r>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err="1">
                <a:latin typeface="Times New Roman Regular" panose="02020603050405020304" charset="0"/>
                <a:cs typeface="Times New Roman Regular" panose="02020603050405020304" charset="0"/>
              </a:rPr>
              <a:t>fadeTo</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方法允许您将颜色逐渐变为指定的不透明度（值介于</a:t>
            </a:r>
            <a:r>
              <a:rPr lang="en-US" altLang="zh-CN" sz="2400" dirty="0">
                <a:latin typeface="Times New Roman Regular" panose="02020603050405020304" charset="0"/>
                <a:cs typeface="Times New Roman Regular" panose="02020603050405020304" charset="0"/>
              </a:rPr>
              <a:t>0</a:t>
            </a:r>
            <a:r>
              <a:rPr lang="zh-CN" altLang="en-US" sz="2400" dirty="0">
                <a:latin typeface="Times New Roman Regular" panose="02020603050405020304" charset="0"/>
                <a:cs typeface="Times New Roman Regular" panose="02020603050405020304" charset="0"/>
              </a:rPr>
              <a:t>到</a:t>
            </a:r>
            <a:r>
              <a:rPr lang="en-US" altLang="zh-CN" sz="2400" dirty="0">
                <a:latin typeface="Times New Roman Regular" panose="02020603050405020304" charset="0"/>
                <a:cs typeface="Times New Roman Regular" panose="02020603050405020304" charset="0"/>
              </a:rPr>
              <a:t>1</a:t>
            </a:r>
            <a:r>
              <a:rPr lang="zh-CN" altLang="en-US" sz="2400" dirty="0">
                <a:latin typeface="Times New Roman Regular" panose="02020603050405020304" charset="0"/>
                <a:cs typeface="Times New Roman Regular" panose="02020603050405020304" charset="0"/>
              </a:rPr>
              <a:t>之间）。为了更直观的效果，将</a:t>
            </a:r>
            <a:r>
              <a:rPr lang="en-US" altLang="zh-CN" sz="2400" dirty="0">
                <a:latin typeface="Times New Roman Regular" panose="02020603050405020304" charset="0"/>
                <a:cs typeface="Times New Roman Regular" panose="02020603050405020304" charset="0"/>
              </a:rPr>
              <a:t>background-color</a:t>
            </a:r>
            <a:r>
              <a:rPr lang="zh-CN" altLang="en-US" sz="2400" dirty="0">
                <a:latin typeface="Times New Roman Regular" panose="02020603050405020304" charset="0"/>
                <a:cs typeface="Times New Roman Regular" panose="02020603050405020304" charset="0"/>
              </a:rPr>
              <a:t>属性添加到</a:t>
            </a:r>
            <a:r>
              <a:rPr lang="en-US" altLang="zh-CN" sz="2400" dirty="0">
                <a:latin typeface="Times New Roman Regular" panose="02020603050405020304" charset="0"/>
                <a:cs typeface="Times New Roman Regular" panose="02020603050405020304" charset="0"/>
              </a:rPr>
              <a:t>div</a:t>
            </a:r>
            <a:r>
              <a:rPr lang="zh-CN" altLang="en-US" sz="2400" dirty="0">
                <a:latin typeface="Times New Roman Regular" panose="02020603050405020304" charset="0"/>
                <a:cs typeface="Times New Roman Regular" panose="02020603050405020304" charset="0"/>
              </a:rPr>
              <a:t>元素。</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60625" y="3899535"/>
            <a:ext cx="723900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0.15</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0.4</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0.7</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5940" y="463550"/>
            <a:ext cx="1107948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方法用于将元素向下移动。以下是</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7" name="Text Box 6"/>
          <p:cNvSpPr txBox="1"/>
          <p:nvPr/>
        </p:nvSpPr>
        <p:spPr>
          <a:xfrm>
            <a:off x="691515" y="1922145"/>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100" name="Text Box 99"/>
          <p:cNvSpPr txBox="1"/>
          <p:nvPr/>
        </p:nvSpPr>
        <p:spPr>
          <a:xfrm>
            <a:off x="691515" y="2752090"/>
            <a:ext cx="9560560" cy="3969385"/>
          </a:xfrm>
          <a:prstGeom prst="rect">
            <a:avLst/>
          </a:prstGeom>
          <a:noFill/>
          <a:ln w="9525">
            <a:noFill/>
          </a:ln>
        </p:spPr>
        <p:txBody>
          <a:bodyPr wrap="square">
            <a:spAutoFit/>
          </a:bodyPr>
          <a:lstStyle/>
          <a:p>
            <a:pPr marL="0" indent="0" algn="l"/>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&lt;button&gt;</a:t>
            </a:r>
            <a:r>
              <a:rPr lang="en-US" b="0">
                <a:solidFill>
                  <a:srgbClr val="3B3B3B"/>
                </a:solidFill>
                <a:latin typeface="Menlo" panose="020B0609030804020204" charset="0"/>
                <a:cs typeface="SimSun" charset="0"/>
              </a:rPr>
              <a:t>Click me!</a:t>
            </a:r>
            <a:r>
              <a:rPr lang="en-US" b="0">
                <a:solidFill>
                  <a:srgbClr val="800000"/>
                </a:solidFill>
                <a:latin typeface="Menlo" panose="020B0609030804020204" charset="0"/>
                <a:cs typeface="SimSun" charset="0"/>
              </a:rPr>
              <a:t>&lt;/button&gt;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"div1"</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First div</a:t>
            </a:r>
            <a:r>
              <a:rPr lang="en-US" b="0">
                <a:solidFill>
                  <a:srgbClr val="800000"/>
                </a:solidFill>
                <a:latin typeface="Menlo" panose="020B0609030804020204" charset="0"/>
                <a:cs typeface="SimSun" charset="0"/>
              </a:rPr>
              <a:t>&lt;/div&gt;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"div2"</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Second div</a:t>
            </a:r>
            <a:r>
              <a:rPr lang="en-US" b="0">
                <a:solidFill>
                  <a:srgbClr val="800000"/>
                </a:solidFill>
                <a:latin typeface="Menlo" panose="020B0609030804020204" charset="0"/>
                <a:cs typeface="SimSun" charset="0"/>
              </a:rPr>
              <a:t>&lt;/div&gt;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"div3"</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Third div</a:t>
            </a:r>
            <a:r>
              <a:rPr lang="en-US" b="0">
                <a:solidFill>
                  <a:srgbClr val="800000"/>
                </a:solidFill>
                <a:latin typeface="Menlo" panose="020B0609030804020204" charset="0"/>
                <a:cs typeface="SimSun" charset="0"/>
              </a:rPr>
              <a:t>&lt;/div&gt;</a:t>
            </a:r>
            <a:endParaRPr lang="en-US" b="0">
              <a:latin typeface="Times New Roman" panose="02020603050405020304" charset="0"/>
              <a:cs typeface="SimSun" charset="0"/>
            </a:endParaRPr>
          </a:p>
          <a:p>
            <a:pPr marL="0" indent="0" algn="l"/>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&lt;/html&gt;</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535940" y="285083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535940" y="463550"/>
            <a:ext cx="1107948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方法用于将元素向下移动。下面是</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535940" y="3898900"/>
            <a:ext cx="779780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99135" y="490855"/>
            <a:ext cx="10916285"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方法用于将元素向上移动。以下是</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786130" y="3064510"/>
            <a:ext cx="9424035" cy="3291840"/>
          </a:xfrm>
          <a:prstGeom prst="rect">
            <a:avLst/>
          </a:prstGeom>
          <a:noFill/>
          <a:ln w="9525">
            <a:noFill/>
          </a:ln>
        </p:spPr>
        <p:txBody>
          <a:bodyPr wrap="square">
            <a:spAutoFit/>
          </a:bodyPr>
          <a:lstStyle/>
          <a:p>
            <a:pPr marL="0" indent="0" algn="l"/>
            <a:r>
              <a:rPr lang="en-US" sz="1600" b="0">
                <a:solidFill>
                  <a:srgbClr val="800000"/>
                </a:solidFill>
                <a:latin typeface="Menlo" panose="020B0609030804020204" charset="0"/>
              </a:rPr>
              <a:t>&lt;!DOCTYPE</a:t>
            </a:r>
            <a:r>
              <a:rPr lang="en-US" sz="1600" b="0">
                <a:solidFill>
                  <a:srgbClr val="3B3B3B"/>
                </a:solidFill>
                <a:latin typeface="Menlo" panose="020B0609030804020204" charset="0"/>
              </a:rPr>
              <a:t> </a:t>
            </a:r>
            <a:r>
              <a:rPr lang="en-US" sz="1600" b="0">
                <a:solidFill>
                  <a:srgbClr val="E50000"/>
                </a:solidFill>
                <a:latin typeface="Menlo" panose="020B0609030804020204" charset="0"/>
              </a:rPr>
              <a:t>HTML</a:t>
            </a:r>
            <a:r>
              <a:rPr lang="en-US" sz="1600" b="0">
                <a:solidFill>
                  <a:srgbClr val="800000"/>
                </a:solidFill>
                <a:latin typeface="Menlo" panose="020B0609030804020204" charset="0"/>
              </a:rPr>
              <a: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&lt;html&gt;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&lt;body&gt;</a:t>
            </a:r>
            <a:r>
              <a:rPr lang="en-US" sz="1600" b="0">
                <a:solidFill>
                  <a:srgbClr val="3B3B3B"/>
                </a:solidFill>
                <a:latin typeface="Menlo" panose="020B0609030804020204"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&lt;button&gt;</a:t>
            </a:r>
            <a:r>
              <a:rPr lang="en-US" sz="1600" b="0">
                <a:solidFill>
                  <a:srgbClr val="3B3B3B"/>
                </a:solidFill>
                <a:latin typeface="Menlo" panose="020B0609030804020204" charset="0"/>
              </a:rPr>
              <a:t>Click me!</a:t>
            </a:r>
            <a:r>
              <a:rPr lang="en-US" sz="1600" b="0">
                <a:solidFill>
                  <a:srgbClr val="800000"/>
                </a:solidFill>
                <a:latin typeface="Menlo" panose="020B0609030804020204" charset="0"/>
              </a:rPr>
              <a:t>&lt;/button&gt;</a:t>
            </a:r>
            <a:endParaRPr lang="en-US" sz="1600" b="0">
              <a:solidFill>
                <a:srgbClr val="3B3B3B"/>
              </a:solidFill>
              <a:latin typeface="Menlo" panose="020B0609030804020204" charset="0"/>
            </a:endParaRPr>
          </a:p>
          <a:p>
            <a:pPr marL="0" indent="0" algn="l"/>
            <a:r>
              <a:rPr lang="en-US" sz="1600" b="0">
                <a:solidFill>
                  <a:srgbClr val="3B3B3B"/>
                </a:solidFill>
                <a:latin typeface="Menlo" panose="020B0609030804020204"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"div1"</a:t>
            </a:r>
            <a:r>
              <a:rPr lang="en-US" sz="1600" b="0">
                <a:solidFill>
                  <a:srgbClr val="800000"/>
                </a:solidFill>
                <a:latin typeface="Menlo" panose="020B0609030804020204" charset="0"/>
              </a:rPr>
              <a:t>&gt;</a:t>
            </a:r>
            <a:r>
              <a:rPr lang="en-US" sz="1600" b="0">
                <a:solidFill>
                  <a:srgbClr val="3B3B3B"/>
                </a:solidFill>
                <a:latin typeface="Menlo" panose="020B0609030804020204" charset="0"/>
              </a:rPr>
              <a:t>First div</a:t>
            </a:r>
            <a:r>
              <a:rPr lang="en-US" sz="1600" b="0">
                <a:solidFill>
                  <a:srgbClr val="800000"/>
                </a:solidFill>
                <a:latin typeface="Menlo" panose="020B0609030804020204" charset="0"/>
              </a:rPr>
              <a:t>&lt;/div&gt;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"div2"</a:t>
            </a:r>
            <a:r>
              <a:rPr lang="en-US" sz="1600" b="0">
                <a:solidFill>
                  <a:srgbClr val="800000"/>
                </a:solidFill>
                <a:latin typeface="Menlo" panose="020B0609030804020204" charset="0"/>
              </a:rPr>
              <a:t>&gt;</a:t>
            </a:r>
            <a:r>
              <a:rPr lang="en-US" sz="1600" b="0">
                <a:solidFill>
                  <a:srgbClr val="3B3B3B"/>
                </a:solidFill>
                <a:latin typeface="Menlo" panose="020B0609030804020204" charset="0"/>
              </a:rPr>
              <a:t>Second div</a:t>
            </a:r>
            <a:r>
              <a:rPr lang="en-US" sz="1600" b="0">
                <a:solidFill>
                  <a:srgbClr val="800000"/>
                </a:solidFill>
                <a:latin typeface="Menlo" panose="020B0609030804020204" charset="0"/>
              </a:rPr>
              <a:t>&lt;/div&gt;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"div3"</a:t>
            </a:r>
            <a:r>
              <a:rPr lang="en-US" sz="1600" b="0">
                <a:solidFill>
                  <a:srgbClr val="800000"/>
                </a:solidFill>
                <a:latin typeface="Menlo" panose="020B0609030804020204" charset="0"/>
              </a:rPr>
              <a:t>&gt;</a:t>
            </a:r>
            <a:r>
              <a:rPr lang="en-US" sz="1600" b="0">
                <a:solidFill>
                  <a:srgbClr val="3B3B3B"/>
                </a:solidFill>
                <a:latin typeface="Menlo" panose="020B0609030804020204" charset="0"/>
              </a:rPr>
              <a:t>Third div</a:t>
            </a:r>
            <a:r>
              <a:rPr lang="en-US" sz="1600" b="0">
                <a:solidFill>
                  <a:srgbClr val="800000"/>
                </a:solidFill>
                <a:latin typeface="Menlo" panose="020B0609030804020204" charset="0"/>
              </a:rPr>
              <a:t>&lt;/div&gt;</a:t>
            </a:r>
            <a:endParaRPr lang="en-US" sz="1600" b="0">
              <a:latin typeface="Calibri" charset="0"/>
            </a:endParaRPr>
          </a:p>
          <a:p>
            <a:pPr marL="0" indent="0" algn="l"/>
            <a:r>
              <a:rPr lang="en-US" sz="1600" b="0">
                <a:latin typeface="Calibri"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&lt;script</a:t>
            </a:r>
            <a:r>
              <a:rPr lang="en-US" sz="1600" b="0">
                <a:solidFill>
                  <a:srgbClr val="000000"/>
                </a:solidFill>
                <a:latin typeface="Menlo" panose="020B0609030804020204" charset="0"/>
              </a:rPr>
              <a:t> </a:t>
            </a:r>
            <a:r>
              <a:rPr lang="en-US" sz="1600" b="0">
                <a:solidFill>
                  <a:srgbClr val="E50000"/>
                </a:solidFill>
                <a:latin typeface="Menlo" panose="020B0609030804020204" charset="0"/>
              </a:rPr>
              <a:t>src</a:t>
            </a:r>
            <a:r>
              <a:rPr lang="en-US" sz="1600" b="0">
                <a:solidFill>
                  <a:srgbClr val="000000"/>
                </a:solidFill>
                <a:latin typeface="Menlo" panose="020B0609030804020204" charset="0"/>
              </a:rPr>
              <a:t>=</a:t>
            </a:r>
            <a:r>
              <a:rPr lang="en-US" sz="1600" b="0">
                <a:solidFill>
                  <a:srgbClr val="0000FF"/>
                </a:solidFill>
                <a:latin typeface="Menlo" panose="020B0609030804020204" charset="0"/>
              </a:rPr>
              <a:t>"https://cdn.bootcss.com/jquery/3.1.1/jquery.min.js"</a:t>
            </a:r>
            <a:r>
              <a:rPr lang="en-US" sz="1600" b="0">
                <a:solidFill>
                  <a:srgbClr val="800000"/>
                </a:solidFill>
                <a:latin typeface="Menlo" panose="020B0609030804020204" charset="0"/>
              </a:rPr>
              <a:t>&gt;&lt;/script&gt;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&lt;script</a:t>
            </a:r>
            <a:r>
              <a:rPr lang="en-US" sz="1600" b="0">
                <a:solidFill>
                  <a:srgbClr val="000000"/>
                </a:solidFill>
                <a:latin typeface="Menlo" panose="020B0609030804020204" charset="0"/>
              </a:rPr>
              <a:t> </a:t>
            </a:r>
            <a:r>
              <a:rPr lang="en-US" sz="1600" b="0">
                <a:solidFill>
                  <a:srgbClr val="E50000"/>
                </a:solidFill>
                <a:latin typeface="Menlo" panose="020B0609030804020204" charset="0"/>
              </a:rPr>
              <a:t>src</a:t>
            </a:r>
            <a:r>
              <a:rPr lang="en-US" sz="1600" b="0">
                <a:solidFill>
                  <a:srgbClr val="000000"/>
                </a:solidFill>
                <a:latin typeface="Menlo" panose="020B0609030804020204" charset="0"/>
              </a:rPr>
              <a:t>=</a:t>
            </a:r>
            <a:r>
              <a:rPr lang="en-US" sz="1600" b="0">
                <a:solidFill>
                  <a:srgbClr val="0000FF"/>
                </a:solidFill>
                <a:latin typeface="Menlo" panose="020B0609030804020204" charset="0"/>
              </a:rPr>
              <a:t>"script.js"</a:t>
            </a:r>
            <a:r>
              <a:rPr lang="en-US" sz="1600" b="0">
                <a:solidFill>
                  <a:srgbClr val="800000"/>
                </a:solidFill>
                <a:latin typeface="Menlo" panose="020B0609030804020204" charset="0"/>
              </a:rPr>
              <a:t>&gt;&lt;/script&gt;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&lt;/body&gt;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&lt;/html&gt;</a:t>
            </a:r>
            <a:endParaRPr lang="en-US" sz="1600"/>
          </a:p>
        </p:txBody>
      </p:sp>
      <p:sp>
        <p:nvSpPr>
          <p:cNvPr id="5" name="Text Box 4"/>
          <p:cNvSpPr txBox="1"/>
          <p:nvPr/>
        </p:nvSpPr>
        <p:spPr>
          <a:xfrm>
            <a:off x="875030" y="2366010"/>
            <a:ext cx="3964940" cy="645160"/>
          </a:xfrm>
          <a:prstGeom prst="rect">
            <a:avLst/>
          </a:prstGeom>
          <a:noFill/>
        </p:spPr>
        <p:txBody>
          <a:bodyPr wrap="square" rtlCol="0" anchor="t">
            <a:spAutoFit/>
          </a:bodyPr>
          <a:lstStyle/>
          <a:p>
            <a:pPr marR="0" indent="0">
              <a:spcBef>
                <a:spcPts val="0"/>
              </a:spcBef>
              <a:spcAft>
                <a:spcPts val="0"/>
              </a:spcAft>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99135" y="3789045"/>
            <a:ext cx="817499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
        <p:nvSpPr>
          <p:cNvPr id="3" name="Text Box 2"/>
          <p:cNvSpPr txBox="1"/>
          <p:nvPr/>
        </p:nvSpPr>
        <p:spPr>
          <a:xfrm>
            <a:off x="699135" y="490855"/>
            <a:ext cx="10916285"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方法用于将元素向上移动。下面是</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8" name="Text Box 7"/>
          <p:cNvSpPr txBox="1"/>
          <p:nvPr/>
        </p:nvSpPr>
        <p:spPr>
          <a:xfrm>
            <a:off x="535940" y="285083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5305" y="368300"/>
            <a:ext cx="11133455" cy="2677656"/>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переключается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методами</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и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сдвинуты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сдвинет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сдвинуты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сдвинет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Изменим только </a:t>
            </a:r>
            <a:r>
              <a:rPr lang="en-US" altLang="ru-RU" sz="2400" dirty="0">
                <a:latin typeface="Times New Roman Regular" panose="02020603050405020304" charset="0"/>
                <a:cs typeface="Times New Roman Regular" panose="02020603050405020304" charset="0"/>
              </a:rPr>
              <a:t>JavaScript </a:t>
            </a:r>
            <a:r>
              <a:rPr lang="ru-RU" altLang="en-US" sz="2400" dirty="0">
                <a:latin typeface="Times New Roman Regular" panose="02020603050405020304" charset="0"/>
                <a:cs typeface="Times New Roman Regular" panose="02020603050405020304" charset="0"/>
              </a:rPr>
              <a:t>файл</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slideDown</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slideUp</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之间切换。如果元素向下滑动，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将使它们向上滑动。如果元素向上滑动，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将使它们向下滑动。我们只需修改</a:t>
            </a:r>
            <a:r>
              <a:rPr lang="en-US" altLang="ru-RU" sz="2400" dirty="0">
                <a:latin typeface="Times New Roman Regular" panose="02020603050405020304" charset="0"/>
                <a:cs typeface="Times New Roman Regular" panose="02020603050405020304" charset="0"/>
              </a:rPr>
              <a:t>JavaScript</a:t>
            </a:r>
            <a:r>
              <a:rPr lang="zh-CN" altLang="en-US" sz="2400" dirty="0">
                <a:latin typeface="Times New Roman Regular" panose="02020603050405020304" charset="0"/>
                <a:cs typeface="Times New Roman Regular" panose="02020603050405020304" charset="0"/>
              </a:rPr>
              <a:t>文件。</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551430" y="3966845"/>
            <a:ext cx="708914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21820</Words>
  <Application>WPS Presentation</Application>
  <PresentationFormat>宽屏</PresentationFormat>
  <Paragraphs>788</Paragraphs>
  <Slides>65</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65</vt:i4>
      </vt:variant>
    </vt:vector>
  </HeadingPairs>
  <TitlesOfParts>
    <vt:vector size="91" baseType="lpstr">
      <vt:lpstr>Arial</vt:lpstr>
      <vt:lpstr>SimSun</vt:lpstr>
      <vt:lpstr>Wingdings</vt:lpstr>
      <vt:lpstr>Calibri</vt:lpstr>
      <vt:lpstr>Arial</vt:lpstr>
      <vt:lpstr>Helvetica Neue</vt:lpstr>
      <vt:lpstr>Times New Roman</vt:lpstr>
      <vt:lpstr>Söhne</vt:lpstr>
      <vt:lpstr>Times New Roman Regular</vt:lpstr>
      <vt:lpstr>Thonburi</vt:lpstr>
      <vt:lpstr>Times New Roman</vt:lpstr>
      <vt:lpstr>Consolas</vt:lpstr>
      <vt:lpstr>苹方-简</vt:lpstr>
      <vt:lpstr>Wingdings</vt:lpstr>
      <vt:lpstr>SimSun</vt:lpstr>
      <vt:lpstr>宋体-简</vt:lpstr>
      <vt:lpstr>Microsoft YaHei</vt:lpstr>
      <vt:lpstr>汉仪旗黑</vt:lpstr>
      <vt:lpstr>Arial Unicode MS</vt:lpstr>
      <vt:lpstr>Calibri Light</vt:lpstr>
      <vt:lpstr>Menlo</vt:lpstr>
      <vt:lpstr>Times New Roman Bold</vt:lpstr>
      <vt:lpstr>Söhne Mono</vt:lpstr>
      <vt:lpstr>Menlo Bold</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Valerie</cp:lastModifiedBy>
  <cp:revision>252</cp:revision>
  <dcterms:created xsi:type="dcterms:W3CDTF">2025-12-15T03:40:17Z</dcterms:created>
  <dcterms:modified xsi:type="dcterms:W3CDTF">2025-12-15T03:40:17Z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76A7D8C2C94B15FCCDC64F679E3E2E87_42</vt:lpwstr>
  </property>
</Properties>
</file>