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56" r:id="rId3"/>
    <p:sldId id="257" r:id="rId5"/>
    <p:sldId id="276" r:id="rId6"/>
    <p:sldId id="277" r:id="rId7"/>
    <p:sldId id="278" r:id="rId8"/>
    <p:sldId id="279" r:id="rId9"/>
    <p:sldId id="280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70" r:id="rId18"/>
    <p:sldId id="271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8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87;p1"/>
          <p:cNvSpPr txBox="1"/>
          <p:nvPr/>
        </p:nvSpPr>
        <p:spPr>
          <a:xfrm>
            <a:off x="635" y="1649730"/>
            <a:ext cx="12191365" cy="249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Разработка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веб-интерфейсного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скрипта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»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前端脚本开发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”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Google Shape;88;p1"/>
          <p:cNvSpPr txBox="1"/>
          <p:nvPr/>
        </p:nvSpPr>
        <p:spPr>
          <a:xfrm>
            <a:off x="7366000" y="5497830"/>
            <a:ext cx="467677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endParaRPr lang="ru-RU" altLang="en-US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786890" y="3260725"/>
            <a:ext cx="909447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sz="3200">
                <a:latin typeface="Times New Roman Regular" panose="02020603050405020304" charset="0"/>
                <a:cs typeface="Times New Roman Regular" panose="02020603050405020304" charset="0"/>
              </a:rPr>
              <a:t>Анимация с помощью jQuery</a:t>
            </a:r>
            <a:endParaRPr sz="3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28065" y="1908175"/>
            <a:ext cx="44811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jQuery предоставляет простые методы для создания анимации на веб-страницах. Эти методы позволяют изменять CSS-свойства элементов с плавными переходами.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784340" y="1908175"/>
            <a:ext cx="44811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jQuery 提供了简单的方法来为网页创建动画。这些方法允许通过平滑过渡更改元素的 CSS 属性。</a:t>
            </a:r>
            <a:endParaRPr lang="en-US" sz="2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75030" y="1101725"/>
            <a:ext cx="44507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jQuery делает процесс создания анимаций интуитивно понятным благодаря понятному синтаксису. Методы, такие как fadeIn(), slideUp() или animate(), легко применять даже начинающим разработчикам.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918200" y="1101725"/>
            <a:ext cx="49193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jQuery 提供直观的语法，使创建动画的过程非常简单。像 fadeIn()、slideUp() 和 animate() 这样的方法，即使是初学者也可以轻松使用。</a:t>
            </a:r>
            <a:endParaRPr 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906780" y="1417955"/>
            <a:ext cx="48374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jQuery автоматически обрабатывает различия в работе анимаций в разных браузерах, что позволяет разработчикам не беспокоиться о совместимости</a:t>
            </a:r>
            <a:r>
              <a:rPr lang="en-US"/>
              <a:t>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192520" y="1417955"/>
            <a:ext cx="47053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jQuery 自动处理不同浏览器中动画的差异，开发者无需担心兼容性问题。</a:t>
            </a:r>
            <a:endParaRPr 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140460" y="1755140"/>
            <a:ext cx="47980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Для выполнения сложных анимаций требуется меньше строк кода по сравнению с чистым JavaScript или CSS.</a:t>
            </a:r>
            <a:endParaRPr lang="en-US" sz="2400"/>
          </a:p>
        </p:txBody>
      </p:sp>
      <p:sp>
        <p:nvSpPr>
          <p:cNvPr id="3" name="Text Box 2"/>
          <p:cNvSpPr txBox="1"/>
          <p:nvPr/>
        </p:nvSpPr>
        <p:spPr>
          <a:xfrm>
            <a:off x="6304915" y="1755140"/>
            <a:ext cx="47980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相比原生 JavaScript 或 CSS，实现复杂动画所需的代码更少。</a:t>
            </a:r>
            <a:endParaRPr 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06780" y="1540510"/>
            <a:ext cx="478726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jQuery обрабатывает анимации последовательно. При необходимости можно остановить текущую анимацию с помощью метода stop() или очистить очередь.</a:t>
            </a:r>
            <a:endParaRPr lang="en-US" sz="2000"/>
          </a:p>
        </p:txBody>
      </p:sp>
      <p:sp>
        <p:nvSpPr>
          <p:cNvPr id="6" name="Text Box 5"/>
          <p:cNvSpPr txBox="1"/>
          <p:nvPr/>
        </p:nvSpPr>
        <p:spPr>
          <a:xfrm>
            <a:off x="6121400" y="1540510"/>
            <a:ext cx="478726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jQuery 顺序处理动画。如果需要，可以使用 stop() 方法停止当前动画或清除动画队列。</a:t>
            </a:r>
            <a:endParaRPr lang="en-U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85190" y="876935"/>
            <a:ext cx="4766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jQuery позволяет задавать функции, которые выполняются по завершении анимации, что удобно для управления сложными сценариями.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100445" y="1019810"/>
            <a:ext cx="4766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jQuery 允许在动画完成后执行指定函数，方便管理复杂场景。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494790" y="3058160"/>
            <a:ext cx="9208135" cy="153289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"#box"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animate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({ 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left: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"200px"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}, </a:t>
            </a:r>
            <a:r>
              <a:rPr sz="20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1000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20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20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alert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"Анимация завершена / 动画完成"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20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});</a:t>
            </a:r>
            <a:endParaRPr sz="20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defTabSz="266700">
              <a:spcAft>
                <a:spcPct val="0"/>
              </a:spcAft>
            </a:pPr>
            <a:r>
              <a:rPr sz="2000">
                <a:latin typeface="Calibri" panose="020F0502020204030204"/>
                <a:ea typeface="SimSun"/>
              </a:rPr>
              <a:t> </a:t>
            </a:r>
            <a:endParaRPr sz="2000">
              <a:latin typeface="Calibri" panose="020F0502020204030204"/>
              <a:ea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95985" y="1417955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Query предоставляет простые методы для управления видимостью элементов, такие как:</a:t>
            </a:r>
            <a:endParaRPr lang="en-US"/>
          </a:p>
          <a:p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Методы show() и hide()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Методы fadeIn() и fadeOut()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Методы slideDown(), slideUp(), slideToggle()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569710" y="149987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jQuery 提供了简单的方法来管理元素的可见性，例如：</a:t>
            </a:r>
            <a:endParaRPr lang="en-US"/>
          </a:p>
          <a:p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方法 show() 和 hide()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方法 fadeIn() 和 fadeOut()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方法 slideDown()、slideUp() 和 slideToggle()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52475" y="693420"/>
            <a:ext cx="50622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animate()</a:t>
            </a:r>
            <a:endParaRPr lang="en-US"/>
          </a:p>
          <a:p>
            <a:endParaRPr lang="en-US"/>
          </a:p>
          <a:p>
            <a:r>
              <a:rPr lang="en-US"/>
              <a:t>Позволяет изменять значения CSS-свойств с анимацией.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139950" y="3152775"/>
            <a:ext cx="7983220" cy="321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selector</a:t>
            </a:r>
            <a:r>
              <a:rPr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animate</a:t>
            </a:r>
            <a:r>
              <a:rPr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({</a:t>
            </a:r>
            <a:r>
              <a:rPr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properties</a:t>
            </a:r>
            <a:r>
              <a:rPr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}, </a:t>
            </a:r>
            <a:r>
              <a:rPr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duration</a:t>
            </a:r>
            <a:r>
              <a:rPr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callback</a:t>
            </a:r>
            <a:r>
              <a:rPr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967855" y="6934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animate()</a:t>
            </a:r>
            <a:endParaRPr lang="en-US"/>
          </a:p>
          <a:p>
            <a:endParaRPr lang="en-US"/>
          </a:p>
          <a:p>
            <a:r>
              <a:rPr lang="en-US"/>
              <a:t>用于以动画的形式更改 CSS 属性值。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524000" y="4081780"/>
            <a:ext cx="9144635" cy="321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selector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animate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({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properties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}, 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duration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callback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72795" y="581025"/>
            <a:ext cx="484314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properties — объект, описывающий изменяемые свойства (например, width, height, opacity).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duration — длительность анимации (в миллисекундах или ключевые слова: "slow", "fast").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callback (необязательно) — функция, вызываемая после завершения анимации.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927215" y="58102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properties — 一个对象，描述需要更改的属性（例如 width，height，opacity）。</a:t>
            </a:r>
            <a:endParaRPr lang="en-US"/>
          </a:p>
          <a:p>
            <a:r>
              <a:rPr lang="en-US"/>
              <a:t>duration — 动画的持续时间（毫秒或关键字："slow"、"fast"）。</a:t>
            </a:r>
            <a:endParaRPr lang="en-US"/>
          </a:p>
          <a:p>
            <a:r>
              <a:rPr lang="en-US"/>
              <a:t>callback （可选）— 动画完成后调用的函数。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52475" y="2346325"/>
            <a:ext cx="10777220" cy="286131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&lt;head&gt;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&lt;meta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charset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"UTF-8"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src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"https://code.jquery.com/jquery-3.7.1.js"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&gt;&lt;/script&gt;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&lt;/head&gt;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&lt;body&gt;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&lt;div</a:t>
            </a:r>
            <a:r>
              <a:rPr lang="en-US"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"box"</a:t>
            </a:r>
            <a:r>
              <a:rPr lang="en-US"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style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"width:100px; height:100px; background:red;"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&gt;&lt;/div&gt;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"#box"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click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 indent="457200">
              <a:lnSpc>
                <a:spcPts val="1800"/>
              </a:lnSpc>
            </a:pP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this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animate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({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width: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"200px"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height: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"200px"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opacity:</a:t>
            </a:r>
            <a:r>
              <a:rPr sz="16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0.5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}, </a:t>
            </a:r>
            <a:r>
              <a:rPr sz="16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1000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});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&lt;/body&gt;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52475" y="693420"/>
            <a:ext cx="50520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animate()</a:t>
            </a:r>
            <a:endParaRPr lang="en-US"/>
          </a:p>
          <a:p>
            <a:endParaRPr lang="en-US"/>
          </a:p>
          <a:p>
            <a:r>
              <a:rPr lang="en-US"/>
              <a:t>Позволяет изменять значения CSS-свойств с анимацией.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967855" y="6934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animate()</a:t>
            </a:r>
            <a:endParaRPr lang="en-US"/>
          </a:p>
          <a:p>
            <a:endParaRPr lang="en-US"/>
          </a:p>
          <a:p>
            <a:r>
              <a:rPr lang="en-US"/>
              <a:t>用于以动画的形式更改 CSS 属性值。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80085" y="401637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fadeIn() и fadeOut()</a:t>
            </a:r>
            <a:endParaRPr sz="1600"/>
          </a:p>
          <a:p>
            <a:endParaRPr sz="1600"/>
          </a:p>
          <a:p>
            <a:r>
              <a:rPr sz="1600"/>
              <a:t>Управляют прозрачностью элементов, создавая эффект появления и исчезновения.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680085" y="2066290"/>
            <a:ext cx="10788015" cy="31076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&lt;head&gt;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&lt;meta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charset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"UTF-8"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src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"https://code.jquery.com/jquery-3.7.1.js"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&lt;/head&gt;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&lt;body&gt;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&lt;div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"element"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style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"width:100px; height:100px; background:red; display: none; 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&gt;&lt;/div&gt;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"#element"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fadeIn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3000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7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Плавное появление за 1 секунду</a:t>
            </a:r>
            <a:endParaRPr sz="17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"#element"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fadeOut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"slow"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7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Плавное исчезновение</a:t>
            </a:r>
            <a:endParaRPr sz="17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&lt;/body&gt;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defTabSz="266700">
              <a:spcAft>
                <a:spcPct val="0"/>
              </a:spcAft>
            </a:pPr>
            <a:r>
              <a:rPr sz="1600">
                <a:latin typeface="Calibri" panose="020F0502020204030204"/>
                <a:ea typeface="SimSun"/>
              </a:rPr>
              <a:t> </a:t>
            </a:r>
            <a:endParaRPr sz="1600">
              <a:latin typeface="Calibri" panose="020F0502020204030204"/>
              <a:ea typeface="SimSun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021070" y="401320"/>
            <a:ext cx="54089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fadeIn() 和 fadeOut()</a:t>
            </a:r>
            <a:endParaRPr lang="en-US"/>
          </a:p>
          <a:p>
            <a:endParaRPr lang="en-US"/>
          </a:p>
          <a:p>
            <a:r>
              <a:rPr lang="en-US"/>
              <a:t>用于设置元素的透明度，创建淡入和淡出效果。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34010" y="469265"/>
            <a:ext cx="53721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slideDown() и slideUp()</a:t>
            </a:r>
            <a:endParaRPr lang="en-US"/>
          </a:p>
          <a:p>
            <a:r>
              <a:rPr lang="en-US"/>
              <a:t>Раскрытие или сворачивание элемента вертикально.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4010" y="2087245"/>
            <a:ext cx="10887075" cy="31076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&lt;head&gt;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&lt;meta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charset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"UTF-8"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src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"https://code.jquery.com/jquery-3.7.1.js"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&lt;/head&gt;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&lt;body&gt;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&lt;div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"element"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style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"width:100px; height:100px; background:red; display: none; 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&gt;&lt;/div&gt;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"#element"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slideDown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500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7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Плавное появление за 1 секунду</a:t>
            </a:r>
            <a:endParaRPr sz="17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"#element"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slideUp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"fast"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7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Плавное исчезновение</a:t>
            </a:r>
            <a:endParaRPr sz="17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&lt;/body&gt;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defTabSz="266700">
              <a:spcAft>
                <a:spcPct val="0"/>
              </a:spcAft>
            </a:pPr>
            <a:r>
              <a:rPr sz="1600">
                <a:latin typeface="Calibri" panose="020F0502020204030204"/>
                <a:ea typeface="SimSun"/>
              </a:rPr>
              <a:t> </a:t>
            </a:r>
            <a:endParaRPr sz="1600">
              <a:latin typeface="Calibri" panose="020F0502020204030204"/>
              <a:ea typeface="SimSun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305040" y="469265"/>
            <a:ext cx="4389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slideDown() 和 slideUp()</a:t>
            </a:r>
            <a:endParaRPr lang="en-US"/>
          </a:p>
          <a:p>
            <a:r>
              <a:rPr lang="en-US"/>
              <a:t>纵向展开或收起元素。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025130" y="218440"/>
            <a:ext cx="3663315" cy="20612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stop()</a:t>
            </a:r>
            <a:endParaRPr sz="1600"/>
          </a:p>
          <a:p>
            <a:endParaRPr sz="1600"/>
          </a:p>
          <a:p>
            <a:r>
              <a:rPr sz="1600"/>
              <a:t>Останавливает текущую анимацию элемента.</a:t>
            </a:r>
            <a:br>
              <a:rPr sz="1600"/>
            </a:br>
            <a:br>
              <a:rPr sz="1600"/>
            </a:br>
            <a:r>
              <a:rPr sz="1600"/>
              <a:t>stop()</a:t>
            </a:r>
            <a:endParaRPr sz="1600"/>
          </a:p>
          <a:p>
            <a:endParaRPr sz="1600"/>
          </a:p>
          <a:p>
            <a:r>
              <a:rPr sz="1600"/>
              <a:t>停止当前正在运行的动画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342265" y="83185"/>
            <a:ext cx="10692130" cy="63239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&lt;head&gt;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&lt;meta</a:t>
            </a: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charset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"UTF-8"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</a:t>
            </a: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src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"https://code.jquery.com/jquery-3.6.0.min.js"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&gt;&lt;/script&gt;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&lt;style&gt;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#box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{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width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: </a:t>
            </a:r>
            <a:r>
              <a:rPr sz="12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100px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height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: </a:t>
            </a:r>
            <a:r>
              <a:rPr sz="12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100px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background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: </a:t>
            </a:r>
            <a:r>
              <a:rPr sz="1200" b="0">
                <a:solidFill>
                  <a:srgbClr val="0451A5"/>
                </a:solidFill>
                <a:latin typeface="Menlo" panose="020B0609030804020204"/>
                <a:ea typeface="Menlo" panose="020B0609030804020204"/>
              </a:rPr>
              <a:t>blue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margin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: </a:t>
            </a:r>
            <a:r>
              <a:rPr sz="12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20px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}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&lt;/style&gt;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&lt;/head&gt;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&lt;body&gt;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indent="457200"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&lt;button</a:t>
            </a:r>
            <a:r>
              <a:rPr lang="en-US"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"animate"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Анимировать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&lt;/button&gt;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indent="457200"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&lt;button</a:t>
            </a:r>
            <a:r>
              <a:rPr lang="en-US"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"stop"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Остановить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&lt;/button&gt;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indent="457200"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&lt;div</a:t>
            </a:r>
            <a:r>
              <a:rPr lang="en-US"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"box"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&gt;&lt;/div&gt;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indent="457200"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lvl="2">
              <a:lnSpc>
                <a:spcPts val="1800"/>
              </a:lnSpc>
            </a:pP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ready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3">
              <a:lnSpc>
                <a:spcPts val="1800"/>
              </a:lnSpc>
            </a:pP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"#animate"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click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4" indent="457200">
              <a:lnSpc>
                <a:spcPts val="1800"/>
              </a:lnSpc>
            </a:pP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"#box"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animate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({ 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width: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"300px"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height: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"300px"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opacity:</a:t>
            </a:r>
            <a:r>
              <a:rPr sz="12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0.3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}, </a:t>
            </a:r>
            <a:r>
              <a:rPr sz="12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2000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4">
              <a:lnSpc>
                <a:spcPts val="1800"/>
              </a:lnSpc>
            </a:pP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});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4">
              <a:lnSpc>
                <a:spcPts val="1800"/>
              </a:lnSpc>
            </a:pP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"#stop"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click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4" indent="457200">
              <a:lnSpc>
                <a:spcPts val="1800"/>
              </a:lnSpc>
            </a:pP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"#box"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stop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3">
              <a:lnSpc>
                <a:spcPts val="1800"/>
              </a:lnSpc>
            </a:pP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	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});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2">
              <a:lnSpc>
                <a:spcPts val="1800"/>
              </a:lnSpc>
            </a:pP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});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&lt;/body&gt;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81355" y="540385"/>
            <a:ext cx="5415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Переключение видимости блока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50570" y="2244725"/>
            <a:ext cx="99250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Создадим </a:t>
            </a:r>
            <a:r>
              <a:rPr lang="en-US"/>
              <a:t>блок и кнопку. </a:t>
            </a:r>
            <a:r>
              <a:rPr lang="ru-RU" altLang="en-US"/>
              <a:t>Сделаем </a:t>
            </a:r>
            <a:r>
              <a:rPr lang="en-US"/>
              <a:t>так, чтобы при клике на кнопку блок сначала плавно исчезал, а при повторном клике появлялся.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81355" y="540385"/>
            <a:ext cx="5415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Переключение видимости блока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1355" y="1075055"/>
            <a:ext cx="10886440" cy="51847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&lt;head&gt;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&lt;meta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charset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"UTF-8"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src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"https://code.jquery.com/jquery-3.6.0.min.js"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&lt;style&gt;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#box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{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width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: </a:t>
            </a:r>
            <a:r>
              <a:rPr sz="17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100px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height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: </a:t>
            </a:r>
            <a:r>
              <a:rPr sz="17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100px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background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: </a:t>
            </a:r>
            <a:r>
              <a:rPr sz="1700" b="0">
                <a:solidFill>
                  <a:srgbClr val="0451A5"/>
                </a:solidFill>
                <a:latin typeface="Menlo" panose="020B0609030804020204"/>
                <a:ea typeface="Menlo" panose="020B0609030804020204"/>
              </a:rPr>
              <a:t>green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&lt;/style&gt;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&lt;/head&gt;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&lt;body&gt;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&lt;button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"toggle"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Переключить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&lt;/button&gt;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&lt;div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"box"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&gt;&lt;/div&gt;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"#toggle"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click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"#box"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fadeToggle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1000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});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&lt;/body&gt;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defTabSz="266700">
              <a:spcAft>
                <a:spcPct val="0"/>
              </a:spcAft>
            </a:pPr>
            <a:r>
              <a:rPr sz="1600">
                <a:latin typeface="Calibri" panose="020F0502020204030204"/>
                <a:ea typeface="SimSun"/>
              </a:rPr>
              <a:t> </a:t>
            </a:r>
            <a:endParaRPr sz="1600">
              <a:latin typeface="Calibri" panose="020F0502020204030204"/>
              <a:ea typeface="SimSu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4736</Words>
  <Application>WPS Presentation</Application>
  <PresentationFormat>Widescreen</PresentationFormat>
  <Paragraphs>237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Arial</vt:lpstr>
      <vt:lpstr>Helvetica Neue</vt:lpstr>
      <vt:lpstr>Times New Roman</vt:lpstr>
      <vt:lpstr>Times New Roman Regular</vt:lpstr>
      <vt:lpstr>Menlo</vt:lpstr>
      <vt:lpstr>SimSun</vt:lpstr>
      <vt:lpstr>SimSun</vt:lpstr>
      <vt:lpstr>宋体-简</vt:lpstr>
      <vt:lpstr>Microsoft YaHei</vt:lpstr>
      <vt:lpstr>汉仪旗黑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Valerie</cp:lastModifiedBy>
  <cp:revision>24</cp:revision>
  <dcterms:created xsi:type="dcterms:W3CDTF">2025-12-15T05:48:47Z</dcterms:created>
  <dcterms:modified xsi:type="dcterms:W3CDTF">2025-12-15T05:48:47Z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077535E5AA7A9CBC2505426700EBC2DD_41</vt:lpwstr>
  </property>
  <property fmtid="{D5CDD505-2E9C-101B-9397-08002B2CF9AE}" pid="3" name="KSOProductBuildVer">
    <vt:lpwstr>1033-12.1.23152.23152</vt:lpwstr>
  </property>
</Properties>
</file>