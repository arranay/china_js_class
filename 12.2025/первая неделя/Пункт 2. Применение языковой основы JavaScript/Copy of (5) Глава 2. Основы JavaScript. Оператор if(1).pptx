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8"/>
  </p:notesMasterIdLst>
  <p:sldIdLst>
    <p:sldId id="256" r:id="rId3"/>
    <p:sldId id="292" r:id="rId4"/>
    <p:sldId id="293" r:id="rId5"/>
    <p:sldId id="302" r:id="rId6"/>
    <p:sldId id="304" r:id="rId7"/>
    <p:sldId id="287" r:id="rId8"/>
    <p:sldId id="288" r:id="rId9"/>
    <p:sldId id="257" r:id="rId10"/>
    <p:sldId id="258" r:id="rId11"/>
    <p:sldId id="298" r:id="rId12"/>
    <p:sldId id="299" r:id="rId13"/>
    <p:sldId id="300" r:id="rId14"/>
    <p:sldId id="262" r:id="rId15"/>
    <p:sldId id="263" r:id="rId16"/>
    <p:sldId id="264" r:id="rId17"/>
    <p:sldId id="265" r:id="rId18"/>
    <p:sldId id="266" r:id="rId19"/>
    <p:sldId id="294" r:id="rId20"/>
    <p:sldId id="269" r:id="rId21"/>
    <p:sldId id="270" r:id="rId22"/>
    <p:sldId id="295" r:id="rId23"/>
    <p:sldId id="271" r:id="rId24"/>
    <p:sldId id="296" r:id="rId25"/>
    <p:sldId id="272" r:id="rId26"/>
    <p:sldId id="297" r:id="rId27"/>
    <p:sldId id="301" r:id="rId28"/>
    <p:sldId id="305" r:id="rId29"/>
    <p:sldId id="306" r:id="rId30"/>
    <p:sldId id="307" r:id="rId31"/>
    <p:sldId id="308" r:id="rId32"/>
    <p:sldId id="309" r:id="rId33"/>
    <p:sldId id="310" r:id="rId34"/>
    <p:sldId id="290" r:id="rId35"/>
    <p:sldId id="291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/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/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/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"/>
          <p:cNvSpPr txBox="1"/>
          <p:nvPr/>
        </p:nvSpPr>
        <p:spPr>
          <a:xfrm>
            <a:off x="763905" y="1649730"/>
            <a:ext cx="10947400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«Разработка веб-интерфейсного скрипта»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前端脚本开发”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Основы JavaScript. </a:t>
            </a:r>
            <a:r>
              <a:rPr lang="ru-RU" alt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Оператор </a:t>
            </a:r>
            <a:r>
              <a:rPr lang="en-US" altLang="ru-RU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</a:t>
            </a:r>
            <a:endParaRPr lang="en-US" sz="3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JavaScript基础。if条件语句</a:t>
            </a:r>
            <a:endParaRPr lang="en-US" sz="3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Google Shape;88;p1"/>
          <p:cNvSpPr txBox="1"/>
          <p:nvPr/>
        </p:nvSpPr>
        <p:spPr>
          <a:xfrm>
            <a:off x="7090410" y="5497830"/>
            <a:ext cx="495236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09650" y="901065"/>
            <a:ext cx="10173335" cy="435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ru-RU" altLang="en-US" sz="2800">
                <a:latin typeface="Times New Roman" panose="02020603050405020304"/>
                <a:cs typeface="Times New Roman" panose="02020603050405020304"/>
                <a:sym typeface="+mn-ea"/>
              </a:rPr>
              <a:t>Цель </a:t>
            </a:r>
            <a:endParaRPr lang="ru-RU" altLang="en-US" sz="280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just"/>
            <a:endParaRPr lang="ru-RU" altLang="en-US" sz="28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r>
              <a:rPr lang="ru-RU" altLang="en-US" sz="28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Разобрать подробнее </a:t>
            </a:r>
            <a:r>
              <a:rPr lang="en-US" sz="28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тип </a:t>
            </a:r>
            <a:r>
              <a:rPr lang="en-US" sz="2800" i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Boolean;</a:t>
            </a:r>
            <a:r>
              <a:rPr lang="ru-RU" altLang="en-US" sz="2800" i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altLang="ru-RU" sz="2800" i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详细了解boolean</a:t>
            </a:r>
            <a:r>
              <a:rPr lang="ru-RU" altLang="en-US" sz="2800" i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类型；</a:t>
            </a:r>
            <a:endParaRPr lang="ru-RU" altLang="en-US" sz="2800" i="1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endParaRPr lang="ru-RU" altLang="en-US" sz="2800" i="1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r>
              <a:rPr lang="en-US" sz="2800">
                <a:latin typeface="Times New Roman" panose="02020603050405020304"/>
                <a:cs typeface="Times New Roman" panose="02020603050405020304"/>
                <a:sym typeface="+mn-ea"/>
              </a:rPr>
              <a:t>Изучить что такое логические операции и для чего логические операции используются;了解什么是逻辑运算以及逻辑运算的用途。</a:t>
            </a:r>
            <a:endParaRPr lang="en-US" sz="280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endParaRPr lang="en-US" sz="280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r>
              <a:rPr lang="en-US" sz="2800">
                <a:latin typeface="Times New Roman" panose="02020603050405020304"/>
                <a:cs typeface="Times New Roman" panose="02020603050405020304"/>
                <a:sym typeface="+mn-ea"/>
              </a:rPr>
              <a:t>Познакомиться с условным оператором;熟悉条件运算符；</a:t>
            </a:r>
            <a:endParaRPr lang="en-US" sz="280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just"/>
            <a:endParaRPr lang="en-US" sz="280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09575" y="791210"/>
            <a:ext cx="1094359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8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Т</a:t>
            </a:r>
            <a:r>
              <a:rPr lang="en-US" sz="28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ип Boolean</a:t>
            </a:r>
            <a:endParaRPr lang="en-US" sz="28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endParaRPr lang="en-US" sz="28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r>
              <a:rPr lang="en-US" altLang="en-US" sz="28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В JavaScript Boolean — это примитивный логический тип, который может быть true или false. Получить значение типа Boolean можно несколькими способами</a:t>
            </a:r>
            <a:endParaRPr lang="en-US" altLang="en-US" sz="28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endParaRPr lang="en-US" altLang="en-US" sz="28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r>
              <a:rPr lang="en-US" altLang="en-US" sz="28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在 JavaScript 中，布尔值是一种基本逻辑类型，其值只能是真或假。获取布尔值的方法有很多种。</a:t>
            </a:r>
            <a:endParaRPr lang="en-US" altLang="en-US" sz="28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24205" y="501333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r>
              <a:rPr lang="ru-RU" altLang="en-US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Т</a:t>
            </a:r>
            <a:r>
              <a:rPr lang="en-US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ип Boolean </a:t>
            </a:r>
            <a:endParaRPr lang="en-US" sz="24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endParaRPr lang="en-US" sz="24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r>
              <a:rPr sz="2400">
                <a:latin typeface="Times New Roman" panose="02020603050405020304"/>
                <a:cs typeface="Times New Roman" panose="02020603050405020304"/>
              </a:rPr>
              <a:t>Прямое присваивание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r>
              <a:rPr sz="2400">
                <a:latin typeface="Times New Roman" panose="02020603050405020304"/>
                <a:cs typeface="Times New Roman" panose="02020603050405020304"/>
              </a:rPr>
              <a:t>直接分配</a:t>
            </a:r>
            <a:r>
              <a:rPr lang="zh-CN" sz="2400">
                <a:latin typeface="Times New Roman" panose="02020603050405020304"/>
                <a:cs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  <a:cs typeface="Times New Roman" panose="02020603050405020304"/>
              </a:rPr>
              <a:t>赋予</a:t>
            </a:r>
            <a:endParaRPr lang="en-US" altLang="zh-CN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530600" y="2497773"/>
            <a:ext cx="5080000" cy="101473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ts val="1800"/>
              </a:lnSpc>
            </a:pPr>
            <a:r>
              <a:rPr sz="24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let</a:t>
            </a:r>
            <a:r>
              <a:rPr lang="en-US" sz="24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flag</a:t>
            </a:r>
            <a:r>
              <a:rPr sz="24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24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true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flag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24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24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24205" y="501650"/>
            <a:ext cx="6073775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ru-RU" altLang="en-US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Т</a:t>
            </a:r>
            <a:r>
              <a:rPr lang="en-US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ип Boolean </a:t>
            </a:r>
            <a:endParaRPr lang="en-US" sz="24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endParaRPr lang="en-US" altLang="en-US" sz="240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Через конструктор Boolean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通过布尔构造函数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602230" y="2514600"/>
            <a:ext cx="7656830" cy="238188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"hello"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false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0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false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5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null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false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311785" y="382905"/>
            <a:ext cx="11568430" cy="60928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540385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С типом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Boolean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 мы можем использовать конструкцию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if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, так называемое условное ветвление. Для этого используется ключевое слово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if,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далее в скобочках обозначается условие, которое возвращает тип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 Boolean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, если условие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 true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– то выполняется первый блок операций, иначе (ключевое слово</a:t>
            </a:r>
            <a:r>
              <a:rPr lang="en-US" sz="2400" b="0">
                <a:latin typeface="Calibri"/>
              </a:rPr>
              <a:t>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else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) выполняется второй блок операций. Рассмотрим пример.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540385" algn="just">
              <a:lnSpc>
                <a:spcPct val="150000"/>
              </a:lnSpc>
            </a:pPr>
            <a:endParaRPr lang="en-US" sz="28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/>
              <a:t>对于</a:t>
            </a:r>
            <a:r>
              <a:rPr lang="en-US" sz="2800" i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Boolean</a:t>
            </a:r>
            <a:r>
              <a:rPr lang="en-US" sz="2800"/>
              <a:t>类型，  我们可以使用 if 构造，即所谓的条件分支。 为此，请使用 if 关键字，然后返回</a:t>
            </a:r>
            <a:r>
              <a:rPr lang="en-US" sz="2800" i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Boolean</a:t>
            </a:r>
            <a:r>
              <a:rPr lang="en-US" sz="2800"/>
              <a:t>类型的条件在括号中表示，如果条件为 true，则执行第一个操作块，否则（else 关键字）执行第二个操作块。 让我们看一个例子。</a:t>
            </a:r>
            <a:endParaRPr lang="en-US" sz="2800"/>
          </a:p>
        </p:txBody>
      </p:sp>
      <p:sp>
        <p:nvSpPr>
          <p:cNvPr id="2" name="Slide Number Placeholder 1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797560" y="2725420"/>
            <a:ext cx="10889615" cy="1630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Эту запись мы можем сократить, используя условный (тернарный) оператор ?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indent="0"/>
            <a:r>
              <a:rPr lang="zh-CN" sz="2800">
                <a:solidFill>
                  <a:srgbClr val="000000"/>
                </a:solidFill>
                <a:cs typeface="Times New Roman" panose="02020603050405020304"/>
                <a:sym typeface="+mn-ea"/>
              </a:rPr>
              <a:t>我们可以使用条件（三元）运算符来缩写此表示法？</a:t>
            </a:r>
            <a:endParaRPr lang="zh-CN" sz="2800">
              <a:solidFill>
                <a:srgbClr val="000000"/>
              </a:solidFill>
              <a:cs typeface="Times New Roman" panose="02020603050405020304"/>
              <a:sym typeface="+mn-ea"/>
            </a:endParaRPr>
          </a:p>
          <a:p>
            <a:pPr indent="0"/>
            <a:endParaRPr lang="en-US" sz="2400" b="0" i="1">
              <a:solidFill>
                <a:srgbClr val="000000"/>
              </a:solidFill>
              <a:latin typeface="Times New Roman" panose="02020603050405020304"/>
            </a:endParaRPr>
          </a:p>
          <a:p>
            <a:pPr indent="0"/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let result = условие ? значение1 : значение2;</a:t>
            </a: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3391535" y="4792980"/>
            <a:ext cx="73818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confirm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'Do you like JS?'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?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'It is great!'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: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'Very sad :('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 </a:t>
            </a:r>
            <a:endParaRPr lang="en-US" sz="2000"/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91535" y="289243"/>
            <a:ext cx="5080000" cy="22453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 algn="just">
              <a:lnSpc>
                <a:spcPct val="100000"/>
              </a:lnSpc>
            </a:pPr>
            <a:r>
              <a:rPr lang="en-US" sz="20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confirm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'Do you like JS?'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 </a:t>
            </a:r>
            <a:r>
              <a:rPr lang="en-US" sz="2000" b="0">
                <a:solidFill>
                  <a:srgbClr val="AF00DB"/>
                </a:solidFill>
                <a:latin typeface="Consolas" charset="0"/>
              </a:rPr>
              <a:t>if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(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 { // result =</a:t>
            </a:r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= true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  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'It is great!'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} </a:t>
            </a:r>
            <a:r>
              <a:rPr lang="en-US" sz="2000" b="0">
                <a:solidFill>
                  <a:srgbClr val="AF00DB"/>
                </a:solidFill>
                <a:latin typeface="Consolas" charset="0"/>
              </a:rPr>
              <a:t>else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{ // result == false  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'Very sad :('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}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29590" y="622935"/>
            <a:ext cx="5080000" cy="172656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000" b="1"/>
              <a:t>Основное использование оператора if</a:t>
            </a:r>
            <a:endParaRPr sz="2000" b="1"/>
          </a:p>
          <a:p>
            <a:r>
              <a:t>Оператор if в JavaScript используется для выполнения блока кода, если указанное условие истинно. Это условие — выражение, которое возвращает true или false.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6195060" y="702310"/>
            <a:ext cx="5080000" cy="164719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if语句的基本用法</a:t>
            </a:r>
            <a:endParaRPr sz="2400" b="1"/>
          </a:p>
          <a:p>
            <a:r>
              <a:rPr sz="2000"/>
              <a:t>在JavaScript中，if语句用于在条件为真时执行一段代码。条件是一个返回 true 或 false 的表达式。</a:t>
            </a:r>
            <a:endParaRPr sz="2000"/>
          </a:p>
        </p:txBody>
      </p:sp>
      <p:sp>
        <p:nvSpPr>
          <p:cNvPr id="5" name="Text Box 4"/>
          <p:cNvSpPr txBox="1"/>
          <p:nvPr/>
        </p:nvSpPr>
        <p:spPr>
          <a:xfrm>
            <a:off x="1749425" y="3429000"/>
            <a:ext cx="879348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Aft>
                <a:spcPct val="0"/>
              </a:spcAft>
            </a:pPr>
            <a:r>
              <a:rPr sz="2400" b="1">
                <a:solidFill>
                  <a:srgbClr val="000080"/>
                </a:solidFill>
                <a:latin typeface="monospace"/>
                <a:ea typeface="monospace"/>
              </a:rPr>
              <a:t>if </a:t>
            </a:r>
            <a:r>
              <a:rPr sz="2400">
                <a:solidFill>
                  <a:srgbClr val="000000"/>
                </a:solidFill>
                <a:latin typeface="monospace"/>
                <a:ea typeface="monospace"/>
              </a:rPr>
              <a:t>(условие) {</a:t>
            </a:r>
            <a:endParaRPr sz="24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400">
                <a:solidFill>
                  <a:srgbClr val="000000"/>
                </a:solidFill>
                <a:latin typeface="monospace"/>
                <a:ea typeface="monospace"/>
              </a:rPr>
              <a:t>  </a:t>
            </a:r>
            <a:r>
              <a:rPr sz="2400" i="1">
                <a:solidFill>
                  <a:srgbClr val="808080"/>
                </a:solidFill>
                <a:latin typeface="monospace"/>
                <a:ea typeface="monospace"/>
              </a:rPr>
              <a:t>// Код для выполнения, если условие истинно</a:t>
            </a:r>
            <a:endParaRPr sz="2400" i="1">
              <a:solidFill>
                <a:srgbClr val="80808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400">
                <a:solidFill>
                  <a:srgbClr val="000000"/>
                </a:solidFill>
                <a:latin typeface="monospace"/>
                <a:ea typeface="monospace"/>
              </a:rPr>
              <a:t>}</a:t>
            </a:r>
            <a:endParaRPr sz="24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defTabSz="266700">
              <a:spcAft>
                <a:spcPct val="0"/>
              </a:spcAft>
            </a:pPr>
            <a:r>
              <a:rPr sz="2400">
                <a:latin typeface="Calibri"/>
                <a:ea typeface="SimSun"/>
              </a:rPr>
              <a:t> </a:t>
            </a:r>
            <a:endParaRPr sz="2400">
              <a:latin typeface="Calibri"/>
              <a:ea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86130" y="715010"/>
            <a:ext cx="5080000" cy="133985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Пример простого условия</a:t>
            </a:r>
            <a:endParaRPr sz="2400" b="1"/>
          </a:p>
          <a:p>
            <a:r>
              <a:rPr sz="2000"/>
              <a:t>Например, проверим, является ли переменная x больше 10:</a:t>
            </a:r>
            <a:endParaRPr sz="2000"/>
          </a:p>
        </p:txBody>
      </p:sp>
      <p:sp>
        <p:nvSpPr>
          <p:cNvPr id="7" name="Text Box 6"/>
          <p:cNvSpPr txBox="1"/>
          <p:nvPr/>
        </p:nvSpPr>
        <p:spPr>
          <a:xfrm>
            <a:off x="2674620" y="3216910"/>
            <a:ext cx="654431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/>
              <a:t>let x = 15;</a:t>
            </a:r>
            <a:endParaRPr lang="en-US" sz="2400"/>
          </a:p>
          <a:p>
            <a:r>
              <a:rPr lang="en-US" sz="2400"/>
              <a:t>if (x &gt; 10) {</a:t>
            </a:r>
            <a:endParaRPr lang="en-US" sz="2400"/>
          </a:p>
          <a:p>
            <a:r>
              <a:rPr lang="en-US" sz="2400"/>
              <a:t>    console.log("x больше 10");</a:t>
            </a:r>
            <a:endParaRPr lang="en-US" sz="2400"/>
          </a:p>
          <a:p>
            <a:r>
              <a:rPr lang="en-US" sz="2400"/>
              <a:t>}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6085205" y="715010"/>
            <a:ext cx="5080000" cy="9975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简单条件示例</a:t>
            </a:r>
            <a:endParaRPr sz="2400" b="1"/>
          </a:p>
          <a:p>
            <a:r>
              <a:rPr sz="2000"/>
              <a:t>例如，检查变量 x 是否大于10：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90550" y="572135"/>
            <a:ext cx="5080000" cy="13309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Использование else</a:t>
            </a:r>
            <a:endParaRPr sz="1900" b="1"/>
          </a:p>
          <a:p>
            <a:r>
              <a:rPr sz="1600"/>
              <a:t>Оператор else добавляется после if, если нужно выполнить другой блок кода, когда условие ложно.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3048000" y="255206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let age = 16;</a:t>
            </a:r>
            <a:endParaRPr lang="en-US"/>
          </a:p>
          <a:p>
            <a:r>
              <a:rPr lang="en-US"/>
              <a:t>if (age &gt;= 18) {</a:t>
            </a:r>
            <a:endParaRPr lang="en-US"/>
          </a:p>
          <a:p>
            <a:r>
              <a:rPr lang="en-US"/>
              <a:t>    console.log("Вход разрешён");</a:t>
            </a:r>
            <a:endParaRPr lang="en-US"/>
          </a:p>
          <a:p>
            <a:r>
              <a:rPr lang="en-US"/>
              <a:t>} else {</a:t>
            </a:r>
            <a:endParaRPr lang="en-US"/>
          </a:p>
          <a:p>
            <a:r>
              <a:rPr lang="en-US"/>
              <a:t>    console.log("Вход запрещён");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174740" y="571818"/>
            <a:ext cx="5080000" cy="83883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使用else</a:t>
            </a:r>
            <a:endParaRPr sz="1900" b="1"/>
          </a:p>
          <a:p>
            <a:r>
              <a:rPr sz="1600"/>
              <a:t>else用于当条件为假时执行另一段代码。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41985" y="562927"/>
            <a:ext cx="5080000" cy="108521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Использование else if</a:t>
            </a:r>
            <a:endParaRPr sz="1900" b="1"/>
          </a:p>
          <a:p>
            <a:r>
              <a:rPr sz="1600"/>
              <a:t>Можно проверить несколько условий с помощью else if.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048000" y="227520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let score = 75;</a:t>
            </a:r>
            <a:endParaRPr lang="en-US"/>
          </a:p>
          <a:p>
            <a:r>
              <a:rPr lang="en-US"/>
              <a:t>if (score &gt;= 90) {</a:t>
            </a:r>
            <a:endParaRPr lang="en-US"/>
          </a:p>
          <a:p>
            <a:r>
              <a:rPr lang="en-US"/>
              <a:t>    console.log("Отлично");</a:t>
            </a:r>
            <a:endParaRPr lang="en-US"/>
          </a:p>
          <a:p>
            <a:r>
              <a:rPr lang="en-US"/>
              <a:t>} else if (score &gt;= 70) {</a:t>
            </a:r>
            <a:endParaRPr lang="en-US"/>
          </a:p>
          <a:p>
            <a:r>
              <a:rPr lang="en-US"/>
              <a:t>    console.log("Хорошо");</a:t>
            </a:r>
            <a:endParaRPr lang="en-US"/>
          </a:p>
          <a:p>
            <a:r>
              <a:rPr lang="en-US"/>
              <a:t>} else {</a:t>
            </a:r>
            <a:endParaRPr lang="en-US"/>
          </a:p>
          <a:p>
            <a:r>
              <a:rPr lang="en-US"/>
              <a:t>    console.log("Постарайтесь ещё раз");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429375" y="562293"/>
            <a:ext cx="5080000" cy="83883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使用else if</a:t>
            </a:r>
            <a:endParaRPr sz="1900" b="1"/>
          </a:p>
          <a:p>
            <a:r>
              <a:rPr sz="1600"/>
              <a:t>可以使用else if来检查多个条件。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11505" y="490855"/>
            <a:ext cx="5080000" cy="13309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Вложенные операторы if</a:t>
            </a:r>
            <a:endParaRPr sz="1900" b="1"/>
          </a:p>
          <a:p>
            <a:r>
              <a:rPr sz="1600"/>
              <a:t>Операторы if могут быть вложены друг в друга, но это нужно использовать осторожно, чтобы избежать сложностей в понимании кода.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048000" y="274383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let number = 5;</a:t>
            </a:r>
            <a:endParaRPr lang="en-US"/>
          </a:p>
          <a:p>
            <a:r>
              <a:rPr lang="en-US"/>
              <a:t>if (number &gt; 0) {</a:t>
            </a:r>
            <a:endParaRPr lang="en-US"/>
          </a:p>
          <a:p>
            <a:r>
              <a:rPr lang="en-US"/>
              <a:t>    if (number % 2 === 0) {</a:t>
            </a:r>
            <a:endParaRPr lang="en-US"/>
          </a:p>
          <a:p>
            <a:r>
              <a:rPr lang="en-US"/>
              <a:t>        console.log("Чётное положительное число");</a:t>
            </a:r>
            <a:endParaRPr lang="en-US"/>
          </a:p>
          <a:p>
            <a:r>
              <a:rPr lang="en-US"/>
              <a:t>    } else {</a:t>
            </a:r>
            <a:endParaRPr lang="en-US"/>
          </a:p>
          <a:p>
            <a:r>
              <a:rPr lang="en-US"/>
              <a:t>        console.log("Нечётное положительное число");</a:t>
            </a:r>
            <a:endParaRPr lang="en-US"/>
          </a:p>
          <a:p>
            <a:r>
              <a:rPr lang="en-US"/>
              <a:t>    }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195060" y="490538"/>
            <a:ext cx="5080000" cy="83883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嵌套if语句</a:t>
            </a:r>
            <a:endParaRPr sz="1900" b="1"/>
          </a:p>
          <a:p>
            <a:r>
              <a:rPr sz="1600"/>
              <a:t>if语句可以嵌套，但应谨慎使用，以避免代码难以理解。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396875" y="414655"/>
            <a:ext cx="5824220" cy="19551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 b="1"/>
              <a:t>Основные операторы сравнения</a:t>
            </a:r>
            <a:endParaRPr sz="2400" b="1"/>
          </a:p>
          <a:p>
            <a:r>
              <a:rPr sz="2000"/>
              <a:t>В JavaScript операторы сравнения используются для сравнения двух значений. Они возвращают логическое значение: true или false.</a:t>
            </a:r>
            <a:endParaRPr sz="2000"/>
          </a:p>
        </p:txBody>
      </p:sp>
      <p:graphicFrame>
        <p:nvGraphicFramePr>
          <p:cNvPr id="50" name="Table 49"/>
          <p:cNvGraphicFramePr/>
          <p:nvPr/>
        </p:nvGraphicFramePr>
        <p:xfrm>
          <a:off x="1981200" y="2912110"/>
          <a:ext cx="8534400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Оператор</a:t>
                      </a:r>
                      <a:r>
                        <a:rPr lang="ru-RU" sz="1100">
                          <a:solidFill>
                            <a:schemeClr val="tx1"/>
                          </a:solidFill>
                        </a:rPr>
                        <a:t> 运算符</a:t>
                      </a:r>
                      <a:endParaRPr lang="ru-RU" sz="11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Описание</a:t>
                      </a:r>
                      <a:r>
                        <a:rPr lang="ru-RU" sz="1100">
                          <a:solidFill>
                            <a:schemeClr val="tx1"/>
                          </a:solidFill>
                        </a:rPr>
                        <a:t> 描述</a:t>
                      </a:r>
                      <a:endParaRPr lang="ru-RU" sz="11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Пример</a:t>
                      </a:r>
                      <a:r>
                        <a:rPr lang="ru-RU" sz="1100">
                          <a:solidFill>
                            <a:schemeClr val="tx1"/>
                          </a:solidFill>
                        </a:rPr>
                        <a:t> 示例</a:t>
                      </a:r>
                      <a:endParaRPr lang="ru-RU" sz="11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Результат</a:t>
                      </a:r>
                      <a:r>
                        <a:rPr lang="ru-RU" sz="1100">
                          <a:solidFill>
                            <a:schemeClr val="tx1"/>
                          </a:solidFill>
                        </a:rPr>
                        <a:t> 结果</a:t>
                      </a:r>
                      <a:endParaRPr lang="ru-RU" sz="11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==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Равенство</a:t>
                      </a:r>
                      <a:r>
                        <a:rPr lang="ru-RU" sz="1100"/>
                        <a:t> 相等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== "5"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true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===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Строгое равенство</a:t>
                      </a:r>
                      <a:r>
                        <a:rPr lang="ru-RU" sz="1100"/>
                        <a:t> 严格相等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=== "5"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false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!=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Неравенство</a:t>
                      </a:r>
                      <a:r>
                        <a:rPr lang="ru-RU" sz="1100"/>
                        <a:t> 不相等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!= "5"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false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!==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Строгое неравенство</a:t>
                      </a:r>
                      <a:r>
                        <a:rPr lang="ru-RU" sz="1100"/>
                        <a:t> 严格不相等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!== "5"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true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&gt;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Больше</a:t>
                      </a:r>
                      <a:r>
                        <a:rPr lang="ru-RU" sz="1100"/>
                        <a:t> 大于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&gt; 3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true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&lt;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Меньше</a:t>
                      </a:r>
                      <a:r>
                        <a:rPr lang="ru-RU" sz="1100"/>
                        <a:t> 小于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&lt; 3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false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&gt;=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Больше или равно</a:t>
                      </a:r>
                      <a:r>
                        <a:rPr lang="ru-RU" sz="1100"/>
                        <a:t> 大于或等于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&gt;= 5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true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&lt;=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Меньше или равно</a:t>
                      </a:r>
                      <a:r>
                        <a:rPr lang="ru-RU" sz="1100"/>
                        <a:t> 小于或等于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&lt;= 4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false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3" name="Text Box 102"/>
          <p:cNvSpPr txBox="1"/>
          <p:nvPr/>
        </p:nvSpPr>
        <p:spPr>
          <a:xfrm>
            <a:off x="6430010" y="414338"/>
            <a:ext cx="5080000" cy="13055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基本比较运算符</a:t>
            </a:r>
            <a:endParaRPr sz="2400" b="1"/>
          </a:p>
          <a:p>
            <a:r>
              <a:rPr sz="2000"/>
              <a:t>在JavaScript中，比较运算符用于比较两个值，返回布尔值true或false。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24790" y="2530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600" b="1"/>
              <a:t>Равенство (==) и строгое равенство (===)</a:t>
            </a:r>
            <a:endParaRPr sz="1600" b="1"/>
          </a:p>
        </p:txBody>
      </p:sp>
      <p:sp>
        <p:nvSpPr>
          <p:cNvPr id="7" name="Text Box 6"/>
          <p:cNvSpPr txBox="1"/>
          <p:nvPr/>
        </p:nvSpPr>
        <p:spPr>
          <a:xfrm>
            <a:off x="224790" y="781685"/>
            <a:ext cx="531050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== проверяет значения, игнорируя типы данных. Например, 5 == "5" вернёт true.</a:t>
            </a:r>
            <a:endParaRPr lang="en-US"/>
          </a:p>
          <a:p>
            <a:r>
              <a:rPr lang="en-US"/>
              <a:t>=== проверяет как значения, так и типы данных. Например, 5 === "5" вернёт false, так как один из операндов — число, а другой — строка.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3048000" y="3661410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/>
              <a:t>let a = 10;</a:t>
            </a:r>
            <a:endParaRPr lang="en-US" sz="2400"/>
          </a:p>
          <a:p>
            <a:r>
              <a:rPr lang="en-US" sz="2400"/>
              <a:t>let b = "10";</a:t>
            </a:r>
            <a:endParaRPr lang="en-US" sz="2400"/>
          </a:p>
          <a:p>
            <a:r>
              <a:rPr lang="en-US" sz="2400"/>
              <a:t>console.log(a == b);  // true</a:t>
            </a:r>
            <a:endParaRPr lang="en-US" sz="2400"/>
          </a:p>
          <a:p>
            <a:r>
              <a:rPr lang="en-US" sz="2400"/>
              <a:t>console.log(a === b); // false</a:t>
            </a:r>
            <a:endParaRPr lang="en-US" sz="2400"/>
          </a:p>
        </p:txBody>
      </p:sp>
      <p:sp>
        <p:nvSpPr>
          <p:cNvPr id="9" name="Text Box 8"/>
          <p:cNvSpPr txBox="1"/>
          <p:nvPr/>
        </p:nvSpPr>
        <p:spPr>
          <a:xfrm>
            <a:off x="5735955" y="2530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600" b="1"/>
              <a:t>相等 (==) 与 严格相等 (===)</a:t>
            </a:r>
            <a:endParaRPr sz="1600" b="1"/>
          </a:p>
        </p:txBody>
      </p:sp>
      <p:sp>
        <p:nvSpPr>
          <p:cNvPr id="10" name="Text Box 9"/>
          <p:cNvSpPr txBox="1"/>
          <p:nvPr/>
        </p:nvSpPr>
        <p:spPr>
          <a:xfrm>
            <a:off x="5735955" y="78232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== 忽略数据类型，只比较值。例如，5 == "5"返回true。</a:t>
            </a:r>
            <a:endParaRPr lang="en-US"/>
          </a:p>
          <a:p>
            <a:r>
              <a:rPr lang="en-US"/>
              <a:t>=== 比较值和数据类型。例如，5 === "5"返回false，因为一个是数字，一个是字符串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39750" y="4175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600" b="1"/>
              <a:t>Неравенство (!=) и строгое неравенство (!==)</a:t>
            </a:r>
            <a:endParaRPr sz="1600" b="1"/>
          </a:p>
        </p:txBody>
      </p:sp>
      <p:sp>
        <p:nvSpPr>
          <p:cNvPr id="3" name="Text Box 2"/>
          <p:cNvSpPr txBox="1"/>
          <p:nvPr/>
        </p:nvSpPr>
        <p:spPr>
          <a:xfrm>
            <a:off x="539750" y="113792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!= проверяет, что значения не равны, игнорируя типы данных.</a:t>
            </a:r>
            <a:endParaRPr lang="en-US"/>
          </a:p>
          <a:p>
            <a:r>
              <a:rPr lang="en-US"/>
              <a:t>!== проверяет, что значения и типы данных не совпадают.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150235" y="3429000"/>
            <a:ext cx="609600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/>
              <a:t>let x = 20;</a:t>
            </a:r>
            <a:endParaRPr lang="en-US" sz="2800"/>
          </a:p>
          <a:p>
            <a:r>
              <a:rPr lang="en-US" sz="2800"/>
              <a:t>let y = "20";</a:t>
            </a:r>
            <a:endParaRPr lang="en-US" sz="2800"/>
          </a:p>
          <a:p>
            <a:r>
              <a:rPr lang="en-US" sz="2800"/>
              <a:t>console.log(x != y);  // false</a:t>
            </a:r>
            <a:endParaRPr lang="en-US" sz="2800"/>
          </a:p>
          <a:p>
            <a:r>
              <a:rPr lang="en-US" sz="2800"/>
              <a:t>console.log(x !== y); // true</a:t>
            </a:r>
            <a:endParaRPr 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6501130" y="4175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600" b="1"/>
              <a:t>不相等 (!=) 与 严格不相等 (!==)</a:t>
            </a:r>
            <a:endParaRPr sz="1600" b="1"/>
          </a:p>
        </p:txBody>
      </p:sp>
      <p:sp>
        <p:nvSpPr>
          <p:cNvPr id="7" name="Text Box 6"/>
          <p:cNvSpPr txBox="1"/>
          <p:nvPr/>
        </p:nvSpPr>
        <p:spPr>
          <a:xfrm>
            <a:off x="7033895" y="1137920"/>
            <a:ext cx="45472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!= 忽略数据类型，只判断值不相等。</a:t>
            </a:r>
            <a:endParaRPr lang="en-US"/>
          </a:p>
          <a:p>
            <a:r>
              <a:rPr lang="en-US"/>
              <a:t>!== 判断值和数据类型均不相等。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437515" y="474027"/>
            <a:ext cx="5080000" cy="191579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Операторы больше (&gt;) и меньше (&lt;), больше или равно (&gt;=) и меньше или равно (&lt;=)</a:t>
            </a:r>
            <a:endParaRPr sz="1900" b="1"/>
          </a:p>
          <a:p>
            <a:r>
              <a:rPr sz="1600"/>
              <a:t>Эти операторы используются для чисел и строк (сравнение по алфавиту). Сравнение строк основывается на их лексикографическом порядке.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048000" y="3100705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/>
              <a:t>let score = 85;</a:t>
            </a:r>
            <a:endParaRPr lang="en-US" sz="2000"/>
          </a:p>
          <a:p>
            <a:r>
              <a:rPr lang="en-US" sz="2000"/>
              <a:t>if (score &gt;= 90) {</a:t>
            </a:r>
            <a:endParaRPr lang="en-US" sz="2000"/>
          </a:p>
          <a:p>
            <a:r>
              <a:rPr lang="en-US" sz="2000"/>
              <a:t>    console.log("Отлично");</a:t>
            </a:r>
            <a:endParaRPr lang="en-US" sz="2000"/>
          </a:p>
          <a:p>
            <a:r>
              <a:rPr lang="en-US" sz="2000"/>
              <a:t>} else if (score &gt;= 70) {</a:t>
            </a:r>
            <a:endParaRPr lang="en-US" sz="2000"/>
          </a:p>
          <a:p>
            <a:r>
              <a:rPr lang="en-US" sz="2000"/>
              <a:t>    console.log("Хорошо");</a:t>
            </a:r>
            <a:endParaRPr lang="en-US" sz="2000"/>
          </a:p>
          <a:p>
            <a:r>
              <a:rPr lang="en-US" sz="2000"/>
              <a:t>} else {</a:t>
            </a:r>
            <a:endParaRPr lang="en-US" sz="2000"/>
          </a:p>
          <a:p>
            <a:r>
              <a:rPr lang="en-US" sz="2000"/>
              <a:t>    console.log("Постарайтесь ещё раз");</a:t>
            </a:r>
            <a:endParaRPr lang="en-US" sz="2000"/>
          </a:p>
          <a:p>
            <a:r>
              <a:rPr lang="en-US" sz="2000"/>
              <a:t>}</a:t>
            </a:r>
            <a:endParaRPr lang="en-US" sz="2000"/>
          </a:p>
        </p:txBody>
      </p:sp>
      <p:sp>
        <p:nvSpPr>
          <p:cNvPr id="7" name="Text Box 6"/>
          <p:cNvSpPr txBox="1"/>
          <p:nvPr/>
        </p:nvSpPr>
        <p:spPr>
          <a:xfrm>
            <a:off x="6093460" y="474027"/>
            <a:ext cx="5080000" cy="17087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大于 (&gt;) 和小于 (&lt;)、大于等于 (&gt;=) 和小于等于 (&lt;=)</a:t>
            </a:r>
            <a:endParaRPr sz="2400" b="1"/>
          </a:p>
          <a:p>
            <a:r>
              <a:rPr sz="2000"/>
              <a:t>这些运算符适用于数字和字符串（按字母顺序比较），字符串比较基于字母顺序。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49910" y="416242"/>
            <a:ext cx="5080000" cy="162369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Вложенные условия и комбинирование операторов</a:t>
            </a:r>
            <a:endParaRPr sz="1900" b="1"/>
          </a:p>
          <a:p>
            <a:r>
              <a:rPr sz="1600"/>
              <a:t>Операторы сравнения могут быть объединены с помощью логических операторов &amp;&amp; (и) и || (или) для более сложных условий.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2261870" y="3013075"/>
            <a:ext cx="752475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/>
              <a:t>let age = 25;</a:t>
            </a:r>
            <a:endParaRPr lang="en-US" sz="2400"/>
          </a:p>
          <a:p>
            <a:r>
              <a:rPr lang="en-US" sz="2400"/>
              <a:t>if (age &gt;= 18 &amp;&amp; age &lt;= 30) {</a:t>
            </a:r>
            <a:endParaRPr lang="en-US" sz="2400"/>
          </a:p>
          <a:p>
            <a:r>
              <a:rPr lang="en-US" sz="2400"/>
              <a:t>    console.log("Возраст в пределах 18-30");</a:t>
            </a:r>
            <a:endParaRPr lang="en-US" sz="2400"/>
          </a:p>
          <a:p>
            <a:r>
              <a:rPr lang="en-US" sz="2400"/>
              <a:t>}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5991860" y="415608"/>
            <a:ext cx="5080000" cy="13055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嵌套条件和运算符组合</a:t>
            </a:r>
            <a:endParaRPr sz="2400" b="1"/>
          </a:p>
          <a:p>
            <a:r>
              <a:rPr sz="2000"/>
              <a:t>可以使用逻辑运算符&amp;&amp;（与）和||（或）组合多个条件，构建更复杂的判断逻辑。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35025" y="1115695"/>
            <a:ext cx="1051877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Логические операции в JavaScript — это операции, которые позволяют комбинировать логические значения (true/false) и управлять выполнением кода. Они играют важную роль в условиях, циклах, проверках данных, обработке ошибок.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indent="457200"/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indent="457200"/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JavaScript 中的逻辑运算符是允许您组合逻辑值（真/假）并控制代码执行的操作。它们在条件语句、循环语句、数据检查和错误处理中发挥着重要作用。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582930" y="640715"/>
            <a:ext cx="11025505" cy="4799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altLang="en-US" sz="2400">
                <a:sym typeface="+mn-ea"/>
              </a:rPr>
              <a:t>В JavaScript есть три основных логических оператора</a:t>
            </a:r>
            <a:r>
              <a:rPr lang="ru-RU" altLang="en-US" sz="2400">
                <a:sym typeface="+mn-ea"/>
              </a:rPr>
              <a:t>:</a:t>
            </a:r>
            <a:endParaRPr lang="zh-CN" sz="2400" b="0">
              <a:solidFill>
                <a:srgbClr val="000000"/>
              </a:solidFill>
              <a:cs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endParaRPr lang="zh-CN" sz="2400" b="0">
              <a:solidFill>
                <a:srgbClr val="000000"/>
              </a:solidFill>
              <a:cs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400" b="0">
                <a:solidFill>
                  <a:srgbClr val="000000"/>
                </a:solidFill>
                <a:cs typeface="Times New Roman" panose="02020603050405020304"/>
              </a:rPr>
              <a:t>一.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 Логическое И &amp;&amp; - если ВСЕ условия true;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 i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Boolean</a:t>
            </a:r>
            <a:r>
              <a:rPr lang="zh-CN" sz="2800" b="0">
                <a:solidFill>
                  <a:srgbClr val="000000"/>
                </a:solidFill>
                <a:cs typeface="Times New Roman" panose="02020603050405020304"/>
              </a:rPr>
              <a:t> AND &amp;&amp; - 如果 ALL 条件都为真;</a:t>
            </a:r>
            <a:r>
              <a:rPr lang="zh-CN" sz="2400" b="0">
                <a:solidFill>
                  <a:srgbClr val="000000"/>
                </a:solidFill>
                <a:cs typeface="Times New Roman" panose="02020603050405020304"/>
              </a:rPr>
              <a:t>二.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 Логическое ИЛИ || - если ОДНО из условий true;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/>
              </a:rPr>
              <a:t>逻辑 OR ||- 如果其中一个条件为真;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三.Логическое НЕ ! или двойное НЕ !!.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 b="0">
                <a:solidFill>
                  <a:srgbClr val="000000"/>
                </a:solidFill>
                <a:latin typeface="Times New Roman" panose="02020603050405020304"/>
              </a:rPr>
              <a:t>合乎逻辑的不是！或双 DO NOT ！。</a:t>
            </a:r>
            <a:endParaRPr lang="en-US" sz="2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Slide Number Placeholder 1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96900" y="583565"/>
            <a:ext cx="834898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lnSpc>
                <a:spcPct val="150000"/>
              </a:lnSpc>
            </a:pPr>
            <a:r>
              <a:rPr lang="zh-CN" sz="2400">
                <a:solidFill>
                  <a:srgbClr val="000000"/>
                </a:solidFill>
                <a:cs typeface="Times New Roman" panose="02020603050405020304"/>
                <a:sym typeface="+mn-ea"/>
              </a:rPr>
              <a:t>一.</a:t>
            </a:r>
            <a:r>
              <a:rPr lang="en-US" sz="2400">
                <a:solidFill>
                  <a:srgbClr val="000000"/>
                </a:solidFill>
                <a:latin typeface="Times New Roman" panose="02020603050405020304"/>
                <a:sym typeface="+mn-ea"/>
              </a:rPr>
              <a:t> Логическое И &amp;&amp; - если ВСЕ условия true;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 i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Boolean</a:t>
            </a:r>
            <a:r>
              <a:rPr lang="zh-CN" sz="2800">
                <a:solidFill>
                  <a:srgbClr val="000000"/>
                </a:solidFill>
                <a:cs typeface="Times New Roman" panose="02020603050405020304"/>
                <a:sym typeface="+mn-ea"/>
              </a:rPr>
              <a:t> AND &amp;&amp; - 如果 ALL 条件都为真;</a:t>
            </a:r>
            <a:endParaRPr 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3236595" y="3081973"/>
            <a:ext cx="5080000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&amp;&amp; 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 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&amp;&amp; 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&amp;&amp; 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&amp;&amp; 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false</a:t>
            </a:r>
            <a:endParaRPr lang="en-US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19735" y="1167765"/>
            <a:ext cx="620712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Оператор И (&amp;&amp;)</a:t>
            </a:r>
            <a:endParaRPr lang="en-US" altLang="en-US" sz="2400"/>
          </a:p>
          <a:p>
            <a:r>
              <a:rPr lang="en-US" altLang="en-US" sz="2400"/>
              <a:t>Пример: запуск робота-пылесоса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Робот включится только если:</a:t>
            </a:r>
            <a:endParaRPr lang="en-US" altLang="en-US" sz="2400"/>
          </a:p>
          <a:p>
            <a:r>
              <a:rPr lang="en-US" altLang="en-US" sz="2400"/>
              <a:t>— батарея заряжена</a:t>
            </a:r>
            <a:endParaRPr lang="en-US" altLang="en-US" sz="2400"/>
          </a:p>
          <a:p>
            <a:r>
              <a:rPr lang="ru-RU" altLang="en-US" sz="2400" b="1"/>
              <a:t>И</a:t>
            </a:r>
            <a:endParaRPr lang="en-US" altLang="en-US" sz="2400" b="1"/>
          </a:p>
          <a:p>
            <a:r>
              <a:rPr lang="en-US" altLang="en-US" sz="2400"/>
              <a:t>— </a:t>
            </a:r>
            <a:r>
              <a:rPr lang="ru-RU" altLang="en-US" sz="2400"/>
              <a:t>контейнер для пыли вставлен</a:t>
            </a:r>
            <a:endParaRPr lang="ru-RU" altLang="en-US" sz="2400"/>
          </a:p>
          <a:p>
            <a:endParaRPr lang="ru-RU" altLang="en-US" sz="2400"/>
          </a:p>
          <a:p>
            <a:r>
              <a:rPr lang="en-US" altLang="en-US" sz="2400"/>
              <a:t>Если оба условия выполнены — работа начинается.</a:t>
            </a:r>
            <a:endParaRPr lang="en-US" altLang="en-US" sz="2400"/>
          </a:p>
          <a:p>
            <a:r>
              <a:rPr lang="en-US" altLang="en-US" sz="2400"/>
              <a:t>Если одно из них — нет, робот отдыхает.</a:t>
            </a:r>
            <a:endParaRPr lang="en-US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6699885" y="1542415"/>
            <a:ext cx="4840605" cy="275717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运算符 AND (&amp;&amp;) 示例：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启动扫地机器人 机器人只有在以下情况下才会启动： 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- 电池已充满电 且 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- 集尘盒已插入 如果两个条件都满足，机器人开始工作。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如果其中一个条件不满足，机器人将停止工作。</a:t>
            </a:r>
            <a:endParaRPr lang="zh-CN" altLang="en-US" sz="2400"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96900" y="583565"/>
            <a:ext cx="834898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lnSpc>
                <a:spcPct val="150000"/>
              </a:lnSpc>
            </a:pPr>
            <a:r>
              <a:rPr lang="zh-CN" sz="2400">
                <a:solidFill>
                  <a:srgbClr val="000000"/>
                </a:solidFill>
                <a:cs typeface="Times New Roman" panose="02020603050405020304"/>
                <a:sym typeface="+mn-ea"/>
              </a:rPr>
              <a:t>二.</a:t>
            </a:r>
            <a:r>
              <a:rPr lang="en-US" sz="2400">
                <a:solidFill>
                  <a:srgbClr val="000000"/>
                </a:solidFill>
                <a:latin typeface="Times New Roman" panose="02020603050405020304"/>
                <a:sym typeface="+mn-ea"/>
              </a:rPr>
              <a:t> Логическое ИЛИ || - если ОДНО из условий true;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>
                <a:solidFill>
                  <a:srgbClr val="000000"/>
                </a:solidFill>
                <a:cs typeface="Times New Roman" panose="02020603050405020304"/>
                <a:sym typeface="+mn-ea"/>
              </a:rPr>
              <a:t>逻辑 OR ||- 如果其中一个条件为真;</a:t>
            </a:r>
            <a:endParaRPr 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3236595" y="3081973"/>
            <a:ext cx="5080000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000">
                <a:solidFill>
                  <a:srgbClr val="001080"/>
                </a:solidFill>
                <a:latin typeface="Consolas" charset="0"/>
                <a:sym typeface="+mn-ea"/>
              </a:rPr>
              <a:t>console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charset="0"/>
                <a:sym typeface="+mn-ea"/>
              </a:rPr>
              <a:t>log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 charset="0"/>
                <a:sym typeface="+mn-ea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 || </a:t>
            </a:r>
            <a:r>
              <a:rPr lang="en-US" sz="2000">
                <a:solidFill>
                  <a:srgbClr val="0000FF"/>
                </a:solidFill>
                <a:latin typeface="Consolas" charset="0"/>
                <a:sym typeface="+mn-ea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);   </a:t>
            </a:r>
            <a:r>
              <a:rPr lang="en-US" sz="2000">
                <a:solidFill>
                  <a:srgbClr val="008000"/>
                </a:solidFill>
                <a:latin typeface="Consolas" charset="0"/>
                <a:sym typeface="+mn-ea"/>
              </a:rPr>
              <a:t>// true</a:t>
            </a:r>
            <a:r>
              <a:rPr lang="en-US" sz="2000">
                <a:solidFill>
                  <a:srgbClr val="001080"/>
                </a:solidFill>
                <a:latin typeface="Consolas" charset="0"/>
                <a:sym typeface="+mn-ea"/>
              </a:rPr>
              <a:t>console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charset="0"/>
                <a:sym typeface="+mn-ea"/>
              </a:rPr>
              <a:t>log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(false || </a:t>
            </a:r>
            <a:r>
              <a:rPr lang="en-US" sz="2000">
                <a:solidFill>
                  <a:srgbClr val="0000FF"/>
                </a:solidFill>
                <a:latin typeface="Consolas" charset="0"/>
                <a:sym typeface="+mn-ea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);  </a:t>
            </a:r>
            <a:r>
              <a:rPr lang="en-US" sz="2000">
                <a:solidFill>
                  <a:srgbClr val="008000"/>
                </a:solidFill>
                <a:latin typeface="Consolas" charset="0"/>
                <a:sym typeface="+mn-ea"/>
              </a:rPr>
              <a:t>// true</a:t>
            </a:r>
            <a:r>
              <a:rPr lang="en-US" sz="2000">
                <a:solidFill>
                  <a:srgbClr val="001080"/>
                </a:solidFill>
                <a:latin typeface="Consolas" charset="0"/>
                <a:sym typeface="+mn-ea"/>
              </a:rPr>
              <a:t>console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charset="0"/>
                <a:sym typeface="+mn-ea"/>
              </a:rPr>
              <a:t>log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(true || </a:t>
            </a:r>
            <a:r>
              <a:rPr lang="en-US" sz="2000">
                <a:solidFill>
                  <a:srgbClr val="0000FF"/>
                </a:solidFill>
                <a:latin typeface="Consolas" charset="0"/>
                <a:sym typeface="+mn-ea"/>
              </a:rPr>
              <a:t>false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);  </a:t>
            </a:r>
            <a:r>
              <a:rPr lang="en-US" sz="2000">
                <a:solidFill>
                  <a:srgbClr val="008000"/>
                </a:solidFill>
                <a:latin typeface="Consolas" charset="0"/>
                <a:sym typeface="+mn-ea"/>
              </a:rPr>
              <a:t>// true</a:t>
            </a:r>
            <a:r>
              <a:rPr lang="en-US" sz="2000">
                <a:solidFill>
                  <a:srgbClr val="001080"/>
                </a:solidFill>
                <a:latin typeface="Consolas" charset="0"/>
                <a:sym typeface="+mn-ea"/>
              </a:rPr>
              <a:t>console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charset="0"/>
                <a:sym typeface="+mn-ea"/>
              </a:rPr>
              <a:t>log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(false || </a:t>
            </a:r>
            <a:r>
              <a:rPr lang="en-US" sz="2000">
                <a:solidFill>
                  <a:srgbClr val="0000FF"/>
                </a:solidFill>
                <a:latin typeface="Consolas" charset="0"/>
                <a:sym typeface="+mn-ea"/>
              </a:rPr>
              <a:t>false</a:t>
            </a:r>
            <a:r>
              <a:rPr lang="en-US" sz="2000">
                <a:solidFill>
                  <a:srgbClr val="000000"/>
                </a:solidFill>
                <a:latin typeface="Consolas" charset="0"/>
                <a:sym typeface="+mn-ea"/>
              </a:rPr>
              <a:t>); </a:t>
            </a:r>
            <a:r>
              <a:rPr lang="en-US" sz="2000">
                <a:solidFill>
                  <a:srgbClr val="008000"/>
                </a:solidFill>
                <a:latin typeface="Consolas" charset="0"/>
                <a:sym typeface="+mn-ea"/>
              </a:rPr>
              <a:t>// false</a:t>
            </a:r>
            <a:endParaRPr 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21385" y="1122045"/>
            <a:ext cx="53111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Оператор ИЛИ (||)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Пример: запуск игры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ru-RU" altLang="en-US" sz="2400">
                <a:latin typeface="Times New Roman" panose="02020603050405020304"/>
                <a:cs typeface="Times New Roman" panose="02020603050405020304"/>
              </a:rPr>
              <a:t>Вы 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може</a:t>
            </a:r>
            <a:r>
              <a:rPr lang="ru-RU" altLang="en-US" sz="2400">
                <a:latin typeface="Times New Roman" panose="02020603050405020304"/>
                <a:cs typeface="Times New Roman" panose="02020603050405020304"/>
              </a:rPr>
              <a:t>те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 сыграть в игру, если у тебя есть: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— приставка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или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— компьютер.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ru-RU" altLang="en-US" sz="2400">
                <a:latin typeface="Times New Roman" panose="02020603050405020304"/>
                <a:cs typeface="Times New Roman" panose="02020603050405020304"/>
              </a:rPr>
              <a:t>Если у вас есть хотя бы один приибор для иггр - то у вас есть возможность сыгрть.</a:t>
            </a:r>
            <a:endParaRPr lang="ru-RU" alt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0060" y="1356995"/>
            <a:ext cx="4592955" cy="29114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或运算符 (||) 示例：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开始游戏 如果您拥有以下设备，即可玩游戏：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- 游戏机或 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- 电脑。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如果您至少拥有一台游戏设备，那么您就有机会玩游戏。</a:t>
            </a:r>
            <a:endParaRPr lang="zh-CN" altLang="en-US" sz="2400"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96900" y="583565"/>
            <a:ext cx="834898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Times New Roman" panose="02020603050405020304"/>
                <a:sym typeface="+mn-ea"/>
              </a:rPr>
              <a:t>三.Логическое НЕ ! или двойное НЕ !!.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sym typeface="+mn-ea"/>
              </a:rPr>
              <a:t>合乎逻辑的不是！或双 DO NOT ！。</a:t>
            </a:r>
            <a:endParaRPr lang="en-US" sz="2800">
              <a:solidFill>
                <a:srgbClr val="000000"/>
              </a:solidFill>
              <a:latin typeface="Times New Roman" panose="02020603050405020304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98855" y="2887980"/>
            <a:ext cx="5080000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'текст'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true</a:t>
            </a:r>
            <a:endParaRPr lang="en-US" sz="2000"/>
          </a:p>
        </p:txBody>
      </p:sp>
      <p:sp>
        <p:nvSpPr>
          <p:cNvPr id="7" name="Text Box 6"/>
          <p:cNvSpPr txBox="1"/>
          <p:nvPr/>
        </p:nvSpPr>
        <p:spPr>
          <a:xfrm>
            <a:off x="6414770" y="2887980"/>
            <a:ext cx="5080000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 algn="just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(!!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(!!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(!!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'текст'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(!!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(!!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false</a:t>
            </a:r>
            <a:endParaRPr lang="en-US" sz="2000" b="0">
              <a:solidFill>
                <a:srgbClr val="008000"/>
              </a:solidFill>
              <a:latin typeface="Consolas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0240" y="979805"/>
            <a:ext cx="558292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Оператор НЕ (!)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Пример: проверка на дождь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Если не идёт дождь — можно идти гулять.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Двойное НЕ (!!)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Пример: есть ли заряд в телефоне?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Заряд как число → в логическое значение.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2965" y="1068070"/>
            <a:ext cx="5481955" cy="24593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非运算符 (!) 例如：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检查是否下雨。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如果不下雨，就可以去散步。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双非运算符 (!!) 例如：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手机是否有电？</a:t>
            </a: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电量（数值）→ 转换为逻辑值。</a:t>
            </a:r>
            <a:endParaRPr lang="zh-CN" altLang="en-US" sz="2400"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563370" y="405130"/>
            <a:ext cx="9420860" cy="5577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Вместе if + логические операторы дают программе «интеллект»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Они позволяют: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реагировать на разные ситуации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проверять множество условий сразу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принимать решения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выполнять разные действия в зависимости от данных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создавать умное поведение (игры, сайты, приложения)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Без них код выполнялся бы линейно, без возможности выбора.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if + 逻辑运算符共同赋予程序“智能”。它们使程序能够：响应不同的情况、同时检查多个条件、做出决策、根据数据执行不同的操作，以及创建智能行为（例如游戏、网站、应用程序）。如果没有它们，代码将线性执行，无法进行选择。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70865" y="55784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r>
              <a:rPr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ru-RU">
                <a:latin typeface="Times New Roman" panose="02020603050405020304"/>
                <a:cs typeface="Times New Roman" panose="02020603050405020304"/>
              </a:rPr>
              <a:t>О</a:t>
            </a:r>
            <a:r>
              <a:rPr>
                <a:latin typeface="Times New Roman" panose="02020603050405020304"/>
                <a:cs typeface="Times New Roman" panose="02020603050405020304"/>
              </a:rPr>
              <a:t>ператор switch в JavaScript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r>
              <a:rPr>
                <a:latin typeface="Times New Roman" panose="02020603050405020304"/>
                <a:cs typeface="Times New Roman" panose="02020603050405020304"/>
              </a:rPr>
              <a:t>JavaScript 中的 switch 语句</a:t>
            </a:r>
            <a:endParaRPr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70865" y="1495425"/>
            <a:ext cx="10949940" cy="265176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sz="240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400">
                <a:latin typeface="Times New Roman" panose="02020603050405020304"/>
                <a:cs typeface="Times New Roman" panose="02020603050405020304"/>
              </a:rPr>
              <a:t>witch — это альтернативная конструкция ветвления, которая позволяет сравнивать одно выражение с множеством возможных значений.Switch 是一种替代分支结构，它允许您将单个表达式与多个可能的值进行比较。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sz="2400">
                <a:latin typeface="Times New Roman" panose="02020603050405020304"/>
                <a:cs typeface="Times New Roman" panose="02020603050405020304"/>
              </a:rPr>
              <a:t>Его удобно использовать, когда есть много вариантов выбора, и if...else становится громоздким.当有很多选项可供选择，而 if...else 语句变得繁琐时，它就很有用。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69900" y="436563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r>
              <a:rPr sz="2000">
                <a:latin typeface="Times New Roman" panose="02020603050405020304"/>
                <a:cs typeface="Times New Roman" panose="02020603050405020304"/>
              </a:rPr>
              <a:t>Общий синтаксис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r>
              <a:rPr sz="2000">
                <a:latin typeface="Times New Roman" panose="02020603050405020304"/>
                <a:cs typeface="Times New Roman" panose="02020603050405020304"/>
              </a:rPr>
              <a:t>通用语法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16000" y="2168525"/>
            <a:ext cx="9244965" cy="31692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switch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 (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expression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 {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lang="en-US"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value1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Код, если expression === value1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break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lang="en-US"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value2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Код, если expression === value2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break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default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Код, если ни один case не подошёл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</a:pP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69900" y="43656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sz="2000">
                <a:latin typeface="Times New Roman" panose="02020603050405020304"/>
                <a:cs typeface="Times New Roman" panose="02020603050405020304"/>
              </a:rPr>
              <a:t>Общий синтаксис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0" y="2120265"/>
            <a:ext cx="10883900" cy="192024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00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>
                <a:latin typeface="Times New Roman" panose="02020603050405020304"/>
                <a:cs typeface="Times New Roman" panose="02020603050405020304"/>
              </a:rPr>
              <a:t>xpression сравнивается со значением case с помощью строгого сравнения (===).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endParaRPr sz="2000"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000">
                <a:latin typeface="Times New Roman" panose="02020603050405020304"/>
                <a:cs typeface="Times New Roman" panose="02020603050405020304"/>
              </a:rPr>
              <a:t>reak нужен, чтобы выйти из switch.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>
                <a:latin typeface="Times New Roman" panose="02020603050405020304"/>
                <a:cs typeface="Times New Roman" panose="02020603050405020304"/>
              </a:rPr>
              <a:t>Если его нет — произойдёт проваливание (fall-through).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endParaRPr sz="2000">
              <a:latin typeface="Times New Roman" panose="02020603050405020304"/>
              <a:cs typeface="Times New Roman" panose="02020603050405020304"/>
            </a:endParaRPr>
          </a:p>
          <a:p>
            <a:r>
              <a:rPr sz="2000">
                <a:latin typeface="Times New Roman" panose="02020603050405020304"/>
                <a:cs typeface="Times New Roman" panose="02020603050405020304"/>
              </a:rPr>
              <a:t>表达式与 case 值使用严格比较 (===) 进行比较。必须使用 break 语句才能退出 switch 语句。如果缺少 break 语句，则会发生 fallthrough 操作。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58520" y="447040"/>
            <a:ext cx="4406900" cy="3749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Что такое "проваливание" (fall-through)?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Если убрать break, то выполнение просто продолжится до следующего break.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什么是“向下传递”？如果你移除中断，程序将继续执行，直到遇到下一个中​​断为止。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240" y="447040"/>
            <a:ext cx="6011545" cy="498284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76580" y="473710"/>
            <a:ext cx="4064000" cy="94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Times New Roman" panose="02020603050405020304"/>
                <a:cs typeface="Times New Roman" panose="02020603050405020304"/>
              </a:rPr>
              <a:t>Группировка вариантов选项分组</a:t>
            </a:r>
            <a:endParaRPr lang="en-US" altLang="en-US"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05815" y="2534285"/>
            <a:ext cx="10644505" cy="31692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sz="20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let</a:t>
            </a:r>
            <a:r>
              <a:rPr lang="en-US" sz="20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fruit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"apple"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switch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 (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fruit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 {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"apple"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r>
              <a:rPr lang="en-US"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 // if (fruit === ‘apple’ || </a:t>
            </a:r>
            <a:r>
              <a:rPr lang="en-US" sz="2000">
                <a:solidFill>
                  <a:srgbClr val="3B3B3B"/>
                </a:solidFill>
                <a:latin typeface="Menlo" panose="020B0609030804020204"/>
                <a:ea typeface="Menlo" panose="020B0609030804020204"/>
                <a:sym typeface="+mn-ea"/>
              </a:rPr>
              <a:t>fruit === </a:t>
            </a:r>
            <a:r>
              <a:rPr sz="2000">
                <a:solidFill>
                  <a:srgbClr val="A31515"/>
                </a:solidFill>
                <a:latin typeface="Menlo" panose="020B0609030804020204"/>
                <a:ea typeface="Menlo" panose="020B0609030804020204"/>
                <a:sym typeface="+mn-ea"/>
              </a:rPr>
              <a:t>"pear"</a:t>
            </a:r>
            <a:r>
              <a:rPr lang="en-US"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"pear"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"plum"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2">
              <a:lnSpc>
                <a:spcPct val="1000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"Это фрукт из косточковых"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2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break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default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ct val="1000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"Другой фрукт"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</a:pP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487045" y="1170305"/>
            <a:ext cx="11217275" cy="4946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Times New Roman" panose="02020603050405020304"/>
                <a:cs typeface="Times New Roman" panose="02020603050405020304"/>
              </a:rPr>
              <a:t>Когда лучше использовать switch, а когда if?</a:t>
            </a:r>
            <a:endParaRPr lang="en-US" altLang="en-US" sz="2800">
              <a:latin typeface="Times New Roman" panose="02020603050405020304"/>
              <a:cs typeface="Times New Roman" panose="02020603050405020304"/>
            </a:endParaRPr>
          </a:p>
          <a:p>
            <a:endParaRPr lang="en-US" altLang="en-US" sz="28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spcAft>
                <a:spcPct val="60000"/>
              </a:spcAft>
              <a:buFont typeface="Arial" panose="020B0704020202020204" pitchFamily="34" charset="0"/>
              <a:buChar char="•"/>
            </a:pPr>
            <a:r>
              <a:rPr sz="2800">
                <a:latin typeface="Times New Roman" panose="02020603050405020304"/>
                <a:cs typeface="Times New Roman" panose="02020603050405020304"/>
                <a:sym typeface="+mn-ea"/>
              </a:rPr>
              <a:t>Используйте switch, когда:</a:t>
            </a:r>
            <a:r>
              <a:rPr lang="ru-RU" sz="280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>
                <a:latin typeface="Times New Roman" panose="02020603050405020304"/>
                <a:cs typeface="Times New Roman" panose="02020603050405020304"/>
                <a:sym typeface="+mn-ea"/>
              </a:rPr>
              <a:t>есть много вариантов одного значения переменной</a:t>
            </a:r>
            <a:r>
              <a:rPr lang="ru-RU" sz="280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>
                <a:latin typeface="Times New Roman" panose="02020603050405020304"/>
                <a:cs typeface="Times New Roman" panose="02020603050405020304"/>
                <a:sym typeface="+mn-ea"/>
              </a:rPr>
              <a:t>(напр. меню, обработка команд, обработка "дней недели")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spcAft>
                <a:spcPct val="60000"/>
              </a:spcAft>
              <a:buFont typeface="Arial" panose="020B0704020202020204" pitchFamily="34" charset="0"/>
              <a:buChar char="•"/>
            </a:pPr>
            <a:r>
              <a:rPr sz="2800">
                <a:latin typeface="Times New Roman" panose="02020603050405020304"/>
                <a:cs typeface="Times New Roman" panose="02020603050405020304"/>
                <a:sym typeface="+mn-ea"/>
              </a:rPr>
              <a:t>Используйте if, когда</a:t>
            </a:r>
            <a:r>
              <a:rPr lang="ru-RU" sz="280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>
                <a:latin typeface="Times New Roman" panose="02020603050405020304"/>
                <a:cs typeface="Times New Roman" panose="02020603050405020304"/>
                <a:sym typeface="+mn-ea"/>
              </a:rPr>
              <a:t>проверяется не одно значение, а выражения разного тип</a:t>
            </a:r>
            <a:r>
              <a:rPr lang="ru-RU" sz="2800">
                <a:latin typeface="Times New Roman" panose="02020603050405020304"/>
                <a:cs typeface="Times New Roman" panose="02020603050405020304"/>
                <a:sym typeface="+mn-ea"/>
              </a:rPr>
              <a:t>а или </a:t>
            </a:r>
            <a:r>
              <a:rPr sz="2800">
                <a:latin typeface="Times New Roman" panose="02020603050405020304"/>
                <a:cs typeface="Times New Roman" panose="02020603050405020304"/>
                <a:sym typeface="+mn-ea"/>
              </a:rPr>
              <a:t>нужна гибкая логика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800">
                <a:latin typeface="Times New Roman" panose="02020603050405020304"/>
                <a:cs typeface="Times New Roman" panose="02020603050405020304"/>
              </a:rPr>
              <a:t>何时应该使用 switch 语句，何时应该使用 if 语句？当一个变量值对应多个选项时（例如菜单、命令处理、“星期几”的处理），应使用 switch 语句。当需要检查的并非单个值，而是不同类型的表达式，或者需要灵活的逻辑时，应使用 if 语句。</a:t>
            </a:r>
            <a:endParaRPr lang="en-US" altLang="en-US"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374015" y="981075"/>
            <a:ext cx="11443970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0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	Давайте закрепим материал на примере следующей программы: пользователь вводит в первое диалоговое окно свой логин, во второе диалоговое окно свой пароль. Если логин заканчивается на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@yandex.ru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 и в логине присутствует последовательность символов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admin,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а пароль содержит последовательность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 2023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, то пользователь должен увидеть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сообщение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 «You have successfully logged in.»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, иначе пользователь видит сообщение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/>
              </a:rPr>
              <a:t>«Invalid data»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/>
              </a:rPr>
              <a:t>.</a:t>
            </a:r>
            <a:endParaRPr lang="en-US" sz="2400" b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 algn="just">
              <a:lnSpc>
                <a:spcPct val="10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indent="0" algn="just">
              <a:lnSpc>
                <a:spcPct val="10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/>
              </a:rPr>
              <a:t>让我们以以下程序为例：用户在第一个对话框中输入登录名，在第二个对话框中输入密码。如果登录名以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/>
              </a:rPr>
              <a:t>@yandex.ru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/>
              </a:rPr>
              <a:t>登录名中有一系列字符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/>
              </a:rPr>
              <a:t>管理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/>
              </a:rPr>
              <a:t>密码包含序列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/>
              </a:rPr>
              <a:t> 2023</a:t>
            </a:r>
            <a:r>
              <a:rPr lang="zh-CN" sz="2800" b="0">
                <a:solidFill>
                  <a:srgbClr val="000000"/>
                </a:solidFill>
                <a:cs typeface="Times New Roman" panose="02020603050405020304"/>
              </a:rPr>
              <a:t>时，用户应会看到以下消息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/>
              </a:rPr>
              <a:t> «您已成功登录。”</a:t>
            </a:r>
            <a:r>
              <a:rPr lang="zh-CN" sz="2800" b="0">
                <a:solidFill>
                  <a:srgbClr val="000000"/>
                </a:solidFill>
                <a:cs typeface="Times New Roman" panose="02020603050405020304"/>
              </a:rPr>
              <a:t>，否则用户将看到以下消息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/>
              </a:rPr>
              <a:t>«无效数据»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/>
              </a:rPr>
              <a:t>.</a:t>
            </a:r>
            <a:endParaRPr lang="en-US"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074420" y="1229360"/>
            <a:ext cx="10043160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login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prompt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'Login:'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password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prompt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'Password:'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 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isLoginValid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login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endsWith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'@yandex.ru'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 &amp;&amp;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login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includes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'admin'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isPasswordValid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password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includes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2023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 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success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'You have successfully logged in.'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;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unsuccess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'Invalid data'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; </a:t>
            </a:r>
            <a:r>
              <a:rPr lang="en-US" sz="2000" b="0">
                <a:solidFill>
                  <a:srgbClr val="AF00DB"/>
                </a:solidFill>
                <a:latin typeface="Consolas" charset="0"/>
              </a:rPr>
              <a:t>if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(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isLoginValid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&amp;&amp;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isPasswordValid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 {  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success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} </a:t>
            </a:r>
            <a:r>
              <a:rPr lang="en-US" sz="2000" b="0">
                <a:solidFill>
                  <a:srgbClr val="AF00DB"/>
                </a:solidFill>
                <a:latin typeface="Consolas" charset="0"/>
              </a:rPr>
              <a:t>else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{  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unsuccess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}</a:t>
            </a:r>
            <a:endParaRPr lang="en-U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10207</Words>
  <Application>WPS Presentation</Application>
  <PresentationFormat>Widescreen</PresentationFormat>
  <Paragraphs>532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Arial</vt:lpstr>
      <vt:lpstr>SimSun</vt:lpstr>
      <vt:lpstr>Wingdings</vt:lpstr>
      <vt:lpstr>Calibri</vt:lpstr>
      <vt:lpstr>Helvetica Neue</vt:lpstr>
      <vt:lpstr>Times New Roman</vt:lpstr>
      <vt:lpstr>Menlo</vt:lpstr>
      <vt:lpstr>Consolas</vt:lpstr>
      <vt:lpstr>苹方-简</vt:lpstr>
      <vt:lpstr>monospace</vt:lpstr>
      <vt:lpstr>Thonburi</vt:lpstr>
      <vt:lpstr>SimSun</vt:lpstr>
      <vt:lpstr>SimSun</vt:lpstr>
      <vt:lpstr>宋体-简</vt:lpstr>
      <vt:lpstr>Microsoft YaHei</vt:lpstr>
      <vt:lpstr>汉仪旗黑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Valerie</cp:lastModifiedBy>
  <cp:revision>41</cp:revision>
  <dcterms:created xsi:type="dcterms:W3CDTF">2025-12-04T06:20:30Z</dcterms:created>
  <dcterms:modified xsi:type="dcterms:W3CDTF">2025-12-04T06:20:30Z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2DD2A6A2D42253D72E2831696ADDEDC8_43</vt:lpwstr>
  </property>
  <property fmtid="{D5CDD505-2E9C-101B-9397-08002B2CF9AE}" pid="3" name="KSOProductBuildVer">
    <vt:lpwstr>1033-12.1.23152.23152</vt:lpwstr>
  </property>
</Properties>
</file>