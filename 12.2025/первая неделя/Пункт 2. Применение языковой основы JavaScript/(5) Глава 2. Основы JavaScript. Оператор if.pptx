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38"/>
  </p:notesMasterIdLst>
  <p:sldIdLst>
    <p:sldId id="256" r:id="rId3"/>
    <p:sldId id="292" r:id="rId4"/>
    <p:sldId id="293" r:id="rId5"/>
    <p:sldId id="302" r:id="rId6"/>
    <p:sldId id="304" r:id="rId7"/>
    <p:sldId id="287" r:id="rId8"/>
    <p:sldId id="288" r:id="rId9"/>
    <p:sldId id="257" r:id="rId10"/>
    <p:sldId id="258" r:id="rId11"/>
    <p:sldId id="298" r:id="rId12"/>
    <p:sldId id="299" r:id="rId13"/>
    <p:sldId id="300" r:id="rId14"/>
    <p:sldId id="262" r:id="rId15"/>
    <p:sldId id="263" r:id="rId16"/>
    <p:sldId id="264" r:id="rId17"/>
    <p:sldId id="265" r:id="rId18"/>
    <p:sldId id="266" r:id="rId19"/>
    <p:sldId id="294" r:id="rId20"/>
    <p:sldId id="269" r:id="rId21"/>
    <p:sldId id="270" r:id="rId22"/>
    <p:sldId id="295" r:id="rId23"/>
    <p:sldId id="271" r:id="rId24"/>
    <p:sldId id="296" r:id="rId25"/>
    <p:sldId id="272" r:id="rId26"/>
    <p:sldId id="297" r:id="rId27"/>
    <p:sldId id="301" r:id="rId28"/>
    <p:sldId id="305" r:id="rId29"/>
    <p:sldId id="306" r:id="rId30"/>
    <p:sldId id="307" r:id="rId31"/>
    <p:sldId id="308" r:id="rId32"/>
    <p:sldId id="309" r:id="rId33"/>
    <p:sldId id="310" r:id="rId34"/>
    <p:sldId id="290" r:id="rId35"/>
    <p:sldId id="291" r:id="rId36"/>
    <p:sldId id="286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1" Type="http://schemas.openxmlformats.org/officeDocument/2006/relationships/tableStyles" Target="tableStyles.xml"/><Relationship Id="rId40" Type="http://schemas.openxmlformats.org/officeDocument/2006/relationships/viewProps" Target="viewProps.xml"/><Relationship Id="rId4" Type="http://schemas.openxmlformats.org/officeDocument/2006/relationships/slide" Target="slides/slide2.xml"/><Relationship Id="rId39" Type="http://schemas.openxmlformats.org/officeDocument/2006/relationships/presProps" Target="presProps.xml"/><Relationship Id="rId38" Type="http://schemas.openxmlformats.org/officeDocument/2006/relationships/notesMaster" Target="notesMasters/notesMaster1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Google Shape;84;p1"/>
          <p:cNvSpPr/>
          <p:nvPr/>
        </p:nvSpPr>
        <p:spPr>
          <a:xfrm>
            <a:off x="0" y="316603"/>
            <a:ext cx="12192000" cy="898525"/>
          </a:xfrm>
          <a:prstGeom prst="rect">
            <a:avLst/>
          </a:prstGeom>
          <a:solidFill>
            <a:schemeClr val="accent1">
              <a:alpha val="45882"/>
            </a:schemeClr>
          </a:solidFill>
          <a:ln w="12700" cap="flat" cmpd="sng">
            <a:solidFill>
              <a:srgbClr val="3A5F8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" name="Google Shape;85;p1"/>
          <p:cNvSpPr/>
          <p:nvPr/>
        </p:nvSpPr>
        <p:spPr>
          <a:xfrm>
            <a:off x="260985" y="438700"/>
            <a:ext cx="10276727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p>
            <a:pPr marL="0" marR="0" lvl="0" indent="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rPr>
              <a:t>ВЛАДИМИРСКИЙ ГОСУДАРСТВЕННЫЙ УНИВЕРСИТЕТ</a:t>
            </a:r>
            <a:r>
              <a:rPr lang="en-US" sz="1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lang="en-US" sz="1400" b="1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rPr>
              <a:t>ИМЕНИ 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rPr>
              <a:t>АЛЕКСАНДРА ГРИГОРЬЕВИЧА И НИКОЛАЯ ГРИГОРЬЕВИЧА СТОЛЕТОВЫХ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6" name="Google Shape;86;p1" descr="Владимирский государственный университет имени Александра Григорьевича и  Николая Григорьевича Столетовых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0443603" y="77207"/>
            <a:ext cx="1381125" cy="137731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87;p1"/>
          <p:cNvSpPr txBox="1"/>
          <p:nvPr/>
        </p:nvSpPr>
        <p:spPr>
          <a:xfrm>
            <a:off x="763905" y="1649730"/>
            <a:ext cx="10947400" cy="3413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«Разработка веб-интерфейсного скрипта»</a:t>
            </a:r>
            <a:endParaRPr lang="en-US" sz="24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“Web 前端脚本开发”</a:t>
            </a:r>
            <a:endParaRPr lang="en-US" sz="24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4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Основы JavaScript. </a:t>
            </a:r>
            <a:r>
              <a:rPr lang="ru-RU" altLang="en-US" sz="36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Оператор </a:t>
            </a:r>
            <a:r>
              <a:rPr lang="en-US" altLang="ru-RU" sz="36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if</a:t>
            </a:r>
            <a:endParaRPr lang="en-US" sz="36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JavaScript基础。if条件语句</a:t>
            </a:r>
            <a:endParaRPr lang="en-US" sz="360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8" name="Google Shape;88;p1"/>
          <p:cNvSpPr txBox="1"/>
          <p:nvPr/>
        </p:nvSpPr>
        <p:spPr>
          <a:xfrm>
            <a:off x="7090410" y="5497830"/>
            <a:ext cx="4952365" cy="920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Преподаватель кафедры </a:t>
            </a:r>
            <a:r>
              <a:rPr lang="ru-RU" altLang="en-US"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информационных систем и программной инженерии </a:t>
            </a:r>
            <a:endParaRPr lang="ru-RU" altLang="en-US" sz="18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Хлызова Валерия Григорьевна.</a:t>
            </a: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1009650" y="901065"/>
            <a:ext cx="10173335" cy="39693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/>
            <a:r>
              <a:rPr lang="ru-RU" altLang="en-US"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Цель </a:t>
            </a:r>
            <a:endParaRPr lang="ru-RU" altLang="en-US" sz="28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algn="just"/>
            <a:endParaRPr lang="ru-RU" altLang="en-US" sz="2800">
              <a:solidFill>
                <a:srgbClr val="00000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457200" indent="-457200" algn="just">
              <a:buFont typeface="Arial" panose="020B0704020202020204" pitchFamily="34" charset="0"/>
              <a:buChar char="•"/>
            </a:pPr>
            <a:r>
              <a:rPr lang="ru-RU" altLang="en-US" sz="280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Разобрать подробнее </a:t>
            </a:r>
            <a:r>
              <a:rPr lang="en-US" sz="280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тип </a:t>
            </a:r>
            <a:r>
              <a:rPr lang="en-US" sz="2800" i="1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Boolean;</a:t>
            </a:r>
            <a:r>
              <a:rPr lang="ru-RU" altLang="en-US" sz="2800" i="1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endParaRPr lang="ru-RU" altLang="en-US" sz="2800" i="1">
              <a:solidFill>
                <a:srgbClr val="00000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457200" indent="-457200" algn="just">
              <a:buFont typeface="Arial" panose="020B0704020202020204" pitchFamily="34" charset="0"/>
              <a:buChar char="•"/>
            </a:pPr>
            <a:endParaRPr lang="ru-RU" altLang="en-US" sz="2800" i="1">
              <a:solidFill>
                <a:srgbClr val="00000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457200" indent="-457200" algn="just">
              <a:buFont typeface="Arial" panose="020B0704020202020204" pitchFamily="34" charset="0"/>
              <a:buChar char="•"/>
            </a:pPr>
            <a:r>
              <a:rPr lang="en-US"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Изучить что такое логические операции и для чего логические операции используются;</a:t>
            </a:r>
            <a:endParaRPr lang="en-US" sz="28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457200" indent="-457200" algn="just">
              <a:buFont typeface="Arial" panose="020B0704020202020204" pitchFamily="34" charset="0"/>
              <a:buChar char="•"/>
            </a:pPr>
            <a:endParaRPr lang="en-US" sz="28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457200" indent="-457200" algn="just">
              <a:buFont typeface="Arial" panose="020B0704020202020204" pitchFamily="34" charset="0"/>
              <a:buChar char="•"/>
            </a:pPr>
            <a:r>
              <a:rPr lang="en-US"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Познакомиться с условным оператором;</a:t>
            </a:r>
            <a:endParaRPr lang="en-US" sz="28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algn="just"/>
            <a:endParaRPr lang="en-US" sz="28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409575" y="791210"/>
            <a:ext cx="5944235" cy="31076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ru-RU" altLang="en-US" sz="280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Т</a:t>
            </a:r>
            <a:r>
              <a:rPr lang="en-US" sz="280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ип Boolean</a:t>
            </a:r>
            <a:endParaRPr lang="en-US" sz="2800">
              <a:solidFill>
                <a:srgbClr val="00000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endParaRPr lang="en-US" sz="2800">
              <a:solidFill>
                <a:srgbClr val="00000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lang="en-US" altLang="en-US" sz="280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В JavaScript Boolean — это примитивный логический тип, который может быть true или false. Получить значение типа Boolean можно несколькими способами</a:t>
            </a:r>
            <a:endParaRPr lang="en-US" altLang="en-US" sz="2800">
              <a:solidFill>
                <a:srgbClr val="00000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624205" y="501333"/>
            <a:ext cx="5080000" cy="1198880"/>
          </a:xfrm>
          <a:prstGeom prst="rect">
            <a:avLst/>
          </a:prstGeom>
        </p:spPr>
        <p:txBody>
          <a:bodyPr>
            <a:spAutoFit/>
          </a:bodyPr>
          <a:p>
            <a:r>
              <a:rPr lang="ru-RU" altLang="en-US" sz="240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Т</a:t>
            </a:r>
            <a:r>
              <a:rPr lang="en-US" sz="240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ип Boolean </a:t>
            </a:r>
            <a:endParaRPr lang="en-US" sz="2400">
              <a:solidFill>
                <a:srgbClr val="00000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endParaRPr lang="en-US" sz="2400">
              <a:solidFill>
                <a:srgbClr val="00000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sz="2400">
                <a:latin typeface="Times New Roman" panose="02020603050405020304" charset="0"/>
                <a:cs typeface="Times New Roman" panose="02020603050405020304" charset="0"/>
              </a:rPr>
              <a:t>Прямое присваивание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3530600" y="2497773"/>
            <a:ext cx="5080000" cy="1014730"/>
          </a:xfrm>
          <a:prstGeom prst="rect">
            <a:avLst/>
          </a:prstGeom>
        </p:spPr>
        <p:txBody>
          <a:bodyPr>
            <a:spAutoFit/>
          </a:bodyPr>
          <a:p>
            <a:pPr>
              <a:lnSpc>
                <a:spcPts val="1800"/>
              </a:lnSpc>
            </a:pPr>
            <a:r>
              <a:rPr sz="2400" b="0">
                <a:solidFill>
                  <a:srgbClr val="0000FF"/>
                </a:solidFill>
                <a:latin typeface="Menlo" panose="020B0609030804020204"/>
                <a:ea typeface="Menlo" panose="020B0609030804020204"/>
              </a:rPr>
              <a:t>let</a:t>
            </a:r>
            <a:r>
              <a:rPr lang="en-US" sz="2400" b="0">
                <a:solidFill>
                  <a:srgbClr val="0000FF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2400" b="0">
                <a:solidFill>
                  <a:srgbClr val="001080"/>
                </a:solidFill>
                <a:latin typeface="Menlo" panose="020B0609030804020204"/>
                <a:ea typeface="Menlo" panose="020B0609030804020204"/>
              </a:rPr>
              <a:t>flag</a:t>
            </a:r>
            <a:r>
              <a:rPr sz="24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=</a:t>
            </a:r>
            <a:r>
              <a:rPr sz="2400" b="0">
                <a:solidFill>
                  <a:srgbClr val="0000FF"/>
                </a:solidFill>
                <a:latin typeface="Menlo" panose="020B0609030804020204"/>
                <a:ea typeface="Menlo" panose="020B0609030804020204"/>
              </a:rPr>
              <a:t>true</a:t>
            </a:r>
            <a:r>
              <a:rPr sz="24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;</a:t>
            </a:r>
            <a:endParaRPr sz="2400" b="0">
              <a:solidFill>
                <a:srgbClr val="3B3B3B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ts val="1800"/>
              </a:lnSpc>
            </a:pPr>
            <a:endParaRPr sz="2400" b="0">
              <a:solidFill>
                <a:srgbClr val="3B3B3B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ts val="1800"/>
              </a:lnSpc>
            </a:pPr>
            <a:endParaRPr sz="2400" b="0">
              <a:solidFill>
                <a:srgbClr val="3B3B3B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ts val="1800"/>
              </a:lnSpc>
            </a:pPr>
            <a:r>
              <a:rPr sz="2400" b="0">
                <a:solidFill>
                  <a:srgbClr val="001080"/>
                </a:solidFill>
                <a:latin typeface="Menlo" panose="020B0609030804020204"/>
                <a:ea typeface="Menlo" panose="020B0609030804020204"/>
              </a:rPr>
              <a:t>console</a:t>
            </a:r>
            <a:r>
              <a:rPr sz="24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.</a:t>
            </a:r>
            <a:r>
              <a:rPr sz="2400" b="0">
                <a:solidFill>
                  <a:srgbClr val="795E26"/>
                </a:solidFill>
                <a:latin typeface="Menlo" panose="020B0609030804020204"/>
                <a:ea typeface="Menlo" panose="020B0609030804020204"/>
              </a:rPr>
              <a:t>log</a:t>
            </a:r>
            <a:r>
              <a:rPr sz="24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(</a:t>
            </a:r>
            <a:r>
              <a:rPr sz="2400" b="0">
                <a:solidFill>
                  <a:srgbClr val="001080"/>
                </a:solidFill>
                <a:latin typeface="Menlo" panose="020B0609030804020204"/>
                <a:ea typeface="Menlo" panose="020B0609030804020204"/>
              </a:rPr>
              <a:t>flag</a:t>
            </a:r>
            <a:r>
              <a:rPr sz="24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); </a:t>
            </a:r>
            <a:r>
              <a:rPr sz="2400" b="0">
                <a:solidFill>
                  <a:srgbClr val="008000"/>
                </a:solidFill>
                <a:latin typeface="Menlo" panose="020B0609030804020204"/>
                <a:ea typeface="Menlo" panose="020B0609030804020204"/>
              </a:rPr>
              <a:t>// true</a:t>
            </a:r>
            <a:endParaRPr sz="2400" b="0">
              <a:solidFill>
                <a:srgbClr val="008000"/>
              </a:solidFill>
              <a:latin typeface="Menlo" panose="020B0609030804020204"/>
              <a:ea typeface="Menlo" panose="020B060903080402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624205" y="501650"/>
            <a:ext cx="6073775" cy="119888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ru-RU" altLang="en-US" sz="240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Т</a:t>
            </a:r>
            <a:r>
              <a:rPr lang="en-US" sz="240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ип Boolean </a:t>
            </a:r>
            <a:endParaRPr lang="en-US" sz="2400">
              <a:solidFill>
                <a:srgbClr val="00000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endParaRPr lang="en-US" altLang="en-US" sz="2400">
              <a:solidFill>
                <a:srgbClr val="00000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Через конструктор Boolean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2602230" y="2514600"/>
            <a:ext cx="7656830" cy="2381885"/>
          </a:xfrm>
          <a:prstGeom prst="rect">
            <a:avLst/>
          </a:prstGeom>
        </p:spPr>
        <p:txBody>
          <a:bodyPr>
            <a:noAutofit/>
          </a:bodyPr>
          <a:p>
            <a:pPr>
              <a:lnSpc>
                <a:spcPts val="1800"/>
              </a:lnSpc>
            </a:pPr>
            <a:r>
              <a:rPr sz="2000" b="0">
                <a:solidFill>
                  <a:srgbClr val="001080"/>
                </a:solidFill>
                <a:latin typeface="Menlo" panose="020B0609030804020204"/>
                <a:ea typeface="Menlo" panose="020B0609030804020204"/>
              </a:rPr>
              <a:t>console</a:t>
            </a:r>
            <a:r>
              <a:rPr sz="20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.</a:t>
            </a:r>
            <a:r>
              <a:rPr sz="2000" b="0">
                <a:solidFill>
                  <a:srgbClr val="795E26"/>
                </a:solidFill>
                <a:latin typeface="Menlo" panose="020B0609030804020204"/>
                <a:ea typeface="Menlo" panose="020B0609030804020204"/>
              </a:rPr>
              <a:t>log</a:t>
            </a:r>
            <a:r>
              <a:rPr sz="20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(</a:t>
            </a:r>
            <a:r>
              <a:rPr sz="2000" b="0">
                <a:solidFill>
                  <a:srgbClr val="267F99"/>
                </a:solidFill>
                <a:latin typeface="Menlo" panose="020B0609030804020204"/>
                <a:ea typeface="Menlo" panose="020B0609030804020204"/>
              </a:rPr>
              <a:t>Boolean</a:t>
            </a:r>
            <a:r>
              <a:rPr sz="20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(</a:t>
            </a:r>
            <a:r>
              <a:rPr sz="2000" b="0">
                <a:solidFill>
                  <a:srgbClr val="A31515"/>
                </a:solidFill>
                <a:latin typeface="Menlo" panose="020B0609030804020204"/>
                <a:ea typeface="Menlo" panose="020B0609030804020204"/>
              </a:rPr>
              <a:t>"hello"</a:t>
            </a:r>
            <a:r>
              <a:rPr sz="20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)); </a:t>
            </a:r>
            <a:r>
              <a:rPr sz="2000" b="0">
                <a:solidFill>
                  <a:srgbClr val="008000"/>
                </a:solidFill>
                <a:latin typeface="Menlo" panose="020B0609030804020204"/>
                <a:ea typeface="Menlo" panose="020B0609030804020204"/>
              </a:rPr>
              <a:t>// true</a:t>
            </a:r>
            <a:endParaRPr sz="2000" b="0">
              <a:solidFill>
                <a:srgbClr val="008000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ts val="1800"/>
              </a:lnSpc>
            </a:pPr>
            <a:endParaRPr sz="2000" b="0">
              <a:solidFill>
                <a:srgbClr val="008000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ts val="1800"/>
              </a:lnSpc>
            </a:pPr>
            <a:r>
              <a:rPr sz="2000" b="0">
                <a:solidFill>
                  <a:srgbClr val="001080"/>
                </a:solidFill>
                <a:latin typeface="Menlo" panose="020B0609030804020204"/>
                <a:ea typeface="Menlo" panose="020B0609030804020204"/>
              </a:rPr>
              <a:t>console</a:t>
            </a:r>
            <a:r>
              <a:rPr sz="20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.</a:t>
            </a:r>
            <a:r>
              <a:rPr sz="2000" b="0">
                <a:solidFill>
                  <a:srgbClr val="795E26"/>
                </a:solidFill>
                <a:latin typeface="Menlo" panose="020B0609030804020204"/>
                <a:ea typeface="Menlo" panose="020B0609030804020204"/>
              </a:rPr>
              <a:t>log</a:t>
            </a:r>
            <a:r>
              <a:rPr sz="20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(</a:t>
            </a:r>
            <a:r>
              <a:rPr sz="2000" b="0">
                <a:solidFill>
                  <a:srgbClr val="267F99"/>
                </a:solidFill>
                <a:latin typeface="Menlo" panose="020B0609030804020204"/>
                <a:ea typeface="Menlo" panose="020B0609030804020204"/>
              </a:rPr>
              <a:t>Boolean</a:t>
            </a:r>
            <a:r>
              <a:rPr sz="20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(</a:t>
            </a:r>
            <a:r>
              <a:rPr sz="2000" b="0">
                <a:solidFill>
                  <a:srgbClr val="A31515"/>
                </a:solidFill>
                <a:latin typeface="Menlo" panose="020B0609030804020204"/>
                <a:ea typeface="Menlo" panose="020B0609030804020204"/>
              </a:rPr>
              <a:t>""</a:t>
            </a:r>
            <a:r>
              <a:rPr sz="20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)); </a:t>
            </a:r>
            <a:r>
              <a:rPr sz="2000" b="0">
                <a:solidFill>
                  <a:srgbClr val="008000"/>
                </a:solidFill>
                <a:latin typeface="Menlo" panose="020B0609030804020204"/>
                <a:ea typeface="Menlo" panose="020B0609030804020204"/>
              </a:rPr>
              <a:t>// false</a:t>
            </a:r>
            <a:endParaRPr sz="2000" b="0">
              <a:solidFill>
                <a:srgbClr val="008000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ts val="1800"/>
              </a:lnSpc>
            </a:pPr>
            <a:endParaRPr sz="2000" b="0">
              <a:solidFill>
                <a:srgbClr val="008000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ts val="1800"/>
              </a:lnSpc>
            </a:pPr>
            <a:r>
              <a:rPr sz="2000" b="0">
                <a:solidFill>
                  <a:srgbClr val="001080"/>
                </a:solidFill>
                <a:latin typeface="Menlo" panose="020B0609030804020204"/>
                <a:ea typeface="Menlo" panose="020B0609030804020204"/>
              </a:rPr>
              <a:t>console</a:t>
            </a:r>
            <a:r>
              <a:rPr sz="20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.</a:t>
            </a:r>
            <a:r>
              <a:rPr sz="2000" b="0">
                <a:solidFill>
                  <a:srgbClr val="795E26"/>
                </a:solidFill>
                <a:latin typeface="Menlo" panose="020B0609030804020204"/>
                <a:ea typeface="Menlo" panose="020B0609030804020204"/>
              </a:rPr>
              <a:t>log</a:t>
            </a:r>
            <a:r>
              <a:rPr sz="20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(</a:t>
            </a:r>
            <a:r>
              <a:rPr sz="2000" b="0">
                <a:solidFill>
                  <a:srgbClr val="267F99"/>
                </a:solidFill>
                <a:latin typeface="Menlo" panose="020B0609030804020204"/>
                <a:ea typeface="Menlo" panose="020B0609030804020204"/>
              </a:rPr>
              <a:t>Boolean</a:t>
            </a:r>
            <a:r>
              <a:rPr sz="20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(</a:t>
            </a:r>
            <a:r>
              <a:rPr sz="2000" b="0">
                <a:solidFill>
                  <a:srgbClr val="098658"/>
                </a:solidFill>
                <a:latin typeface="Menlo" panose="020B0609030804020204"/>
                <a:ea typeface="Menlo" panose="020B0609030804020204"/>
              </a:rPr>
              <a:t>0</a:t>
            </a:r>
            <a:r>
              <a:rPr sz="20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)); </a:t>
            </a:r>
            <a:r>
              <a:rPr sz="2000" b="0">
                <a:solidFill>
                  <a:srgbClr val="008000"/>
                </a:solidFill>
                <a:latin typeface="Menlo" panose="020B0609030804020204"/>
                <a:ea typeface="Menlo" panose="020B0609030804020204"/>
              </a:rPr>
              <a:t>// false</a:t>
            </a:r>
            <a:endParaRPr sz="2000" b="0">
              <a:solidFill>
                <a:srgbClr val="008000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ts val="1800"/>
              </a:lnSpc>
            </a:pPr>
            <a:endParaRPr sz="2000" b="0">
              <a:solidFill>
                <a:srgbClr val="008000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ts val="1800"/>
              </a:lnSpc>
            </a:pPr>
            <a:r>
              <a:rPr sz="2000" b="0">
                <a:solidFill>
                  <a:srgbClr val="001080"/>
                </a:solidFill>
                <a:latin typeface="Menlo" panose="020B0609030804020204"/>
                <a:ea typeface="Menlo" panose="020B0609030804020204"/>
              </a:rPr>
              <a:t>console</a:t>
            </a:r>
            <a:r>
              <a:rPr sz="20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.</a:t>
            </a:r>
            <a:r>
              <a:rPr sz="2000" b="0">
                <a:solidFill>
                  <a:srgbClr val="795E26"/>
                </a:solidFill>
                <a:latin typeface="Menlo" panose="020B0609030804020204"/>
                <a:ea typeface="Menlo" panose="020B0609030804020204"/>
              </a:rPr>
              <a:t>log</a:t>
            </a:r>
            <a:r>
              <a:rPr sz="20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(</a:t>
            </a:r>
            <a:r>
              <a:rPr sz="2000" b="0">
                <a:solidFill>
                  <a:srgbClr val="267F99"/>
                </a:solidFill>
                <a:latin typeface="Menlo" panose="020B0609030804020204"/>
                <a:ea typeface="Menlo" panose="020B0609030804020204"/>
              </a:rPr>
              <a:t>Boolean</a:t>
            </a:r>
            <a:r>
              <a:rPr sz="20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(</a:t>
            </a:r>
            <a:r>
              <a:rPr sz="2000" b="0">
                <a:solidFill>
                  <a:srgbClr val="098658"/>
                </a:solidFill>
                <a:latin typeface="Menlo" panose="020B0609030804020204"/>
                <a:ea typeface="Menlo" panose="020B0609030804020204"/>
              </a:rPr>
              <a:t>5</a:t>
            </a:r>
            <a:r>
              <a:rPr sz="20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)); </a:t>
            </a:r>
            <a:r>
              <a:rPr sz="2000" b="0">
                <a:solidFill>
                  <a:srgbClr val="008000"/>
                </a:solidFill>
                <a:latin typeface="Menlo" panose="020B0609030804020204"/>
                <a:ea typeface="Menlo" panose="020B0609030804020204"/>
              </a:rPr>
              <a:t>// true</a:t>
            </a:r>
            <a:endParaRPr sz="2000" b="0">
              <a:solidFill>
                <a:srgbClr val="008000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ts val="1800"/>
              </a:lnSpc>
            </a:pPr>
            <a:endParaRPr sz="2000" b="0">
              <a:solidFill>
                <a:srgbClr val="008000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ts val="1800"/>
              </a:lnSpc>
            </a:pPr>
            <a:r>
              <a:rPr sz="2000" b="0">
                <a:solidFill>
                  <a:srgbClr val="001080"/>
                </a:solidFill>
                <a:latin typeface="Menlo" panose="020B0609030804020204"/>
                <a:ea typeface="Menlo" panose="020B0609030804020204"/>
              </a:rPr>
              <a:t>console</a:t>
            </a:r>
            <a:r>
              <a:rPr sz="20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.</a:t>
            </a:r>
            <a:r>
              <a:rPr sz="2000" b="0">
                <a:solidFill>
                  <a:srgbClr val="795E26"/>
                </a:solidFill>
                <a:latin typeface="Menlo" panose="020B0609030804020204"/>
                <a:ea typeface="Menlo" panose="020B0609030804020204"/>
              </a:rPr>
              <a:t>log</a:t>
            </a:r>
            <a:r>
              <a:rPr sz="20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(</a:t>
            </a:r>
            <a:r>
              <a:rPr sz="2000" b="0">
                <a:solidFill>
                  <a:srgbClr val="267F99"/>
                </a:solidFill>
                <a:latin typeface="Menlo" panose="020B0609030804020204"/>
                <a:ea typeface="Menlo" panose="020B0609030804020204"/>
              </a:rPr>
              <a:t>Boolean</a:t>
            </a:r>
            <a:r>
              <a:rPr sz="20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(</a:t>
            </a:r>
            <a:r>
              <a:rPr sz="2000" b="0">
                <a:solidFill>
                  <a:srgbClr val="0000FF"/>
                </a:solidFill>
                <a:latin typeface="Menlo" panose="020B0609030804020204"/>
                <a:ea typeface="Menlo" panose="020B0609030804020204"/>
              </a:rPr>
              <a:t>null</a:t>
            </a:r>
            <a:r>
              <a:rPr sz="20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)); </a:t>
            </a:r>
            <a:r>
              <a:rPr sz="2000" b="0">
                <a:solidFill>
                  <a:srgbClr val="008000"/>
                </a:solidFill>
                <a:latin typeface="Menlo" panose="020B0609030804020204"/>
                <a:ea typeface="Menlo" panose="020B0609030804020204"/>
              </a:rPr>
              <a:t>// false</a:t>
            </a:r>
            <a:endParaRPr sz="2000" b="0">
              <a:solidFill>
                <a:srgbClr val="008000"/>
              </a:solidFill>
              <a:latin typeface="Menlo" panose="020B0609030804020204"/>
              <a:ea typeface="Menlo" panose="020B060903080402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" name="Text Box 99"/>
          <p:cNvSpPr txBox="1"/>
          <p:nvPr/>
        </p:nvSpPr>
        <p:spPr>
          <a:xfrm>
            <a:off x="311785" y="382905"/>
            <a:ext cx="11568430" cy="609282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0" indent="540385" algn="just">
              <a:lnSpc>
                <a:spcPct val="150000"/>
              </a:lnSpc>
            </a:pPr>
            <a:r>
              <a:rPr lang="en-US" sz="2400" b="0">
                <a:solidFill>
                  <a:srgbClr val="000000"/>
                </a:solidFill>
                <a:latin typeface="Times New Roman" panose="02020603050405020304" charset="0"/>
              </a:rPr>
              <a:t>С типом </a:t>
            </a:r>
            <a:r>
              <a:rPr lang="en-US" sz="2400" b="0" i="1">
                <a:solidFill>
                  <a:srgbClr val="000000"/>
                </a:solidFill>
                <a:latin typeface="Times New Roman" panose="02020603050405020304" charset="0"/>
              </a:rPr>
              <a:t>Boolean</a:t>
            </a:r>
            <a:r>
              <a:rPr lang="en-US" sz="2400" b="0">
                <a:solidFill>
                  <a:srgbClr val="000000"/>
                </a:solidFill>
                <a:latin typeface="Times New Roman" panose="02020603050405020304" charset="0"/>
              </a:rPr>
              <a:t> мы можем использовать конструкцию </a:t>
            </a:r>
            <a:r>
              <a:rPr lang="en-US" sz="2400" b="0" i="1">
                <a:solidFill>
                  <a:srgbClr val="000000"/>
                </a:solidFill>
                <a:latin typeface="Times New Roman" panose="02020603050405020304" charset="0"/>
              </a:rPr>
              <a:t>if</a:t>
            </a:r>
            <a:r>
              <a:rPr lang="en-US" sz="2400" b="0">
                <a:solidFill>
                  <a:srgbClr val="000000"/>
                </a:solidFill>
                <a:latin typeface="Times New Roman" panose="02020603050405020304" charset="0"/>
              </a:rPr>
              <a:t>, так называемое условное ветвление. Для этого используется ключевое слово </a:t>
            </a:r>
            <a:r>
              <a:rPr lang="en-US" sz="2400" b="0" i="1">
                <a:solidFill>
                  <a:srgbClr val="000000"/>
                </a:solidFill>
                <a:latin typeface="Times New Roman" panose="02020603050405020304" charset="0"/>
              </a:rPr>
              <a:t>if, </a:t>
            </a:r>
            <a:r>
              <a:rPr lang="en-US" sz="2400" b="0">
                <a:solidFill>
                  <a:srgbClr val="000000"/>
                </a:solidFill>
                <a:latin typeface="Times New Roman" panose="02020603050405020304" charset="0"/>
              </a:rPr>
              <a:t>далее в скобочках обозначается условие, которое возвращает тип</a:t>
            </a:r>
            <a:r>
              <a:rPr lang="en-US" sz="2400" b="0" i="1">
                <a:solidFill>
                  <a:srgbClr val="000000"/>
                </a:solidFill>
                <a:latin typeface="Times New Roman" panose="02020603050405020304" charset="0"/>
              </a:rPr>
              <a:t> Boolean</a:t>
            </a:r>
            <a:r>
              <a:rPr lang="en-US" sz="2400" b="0">
                <a:solidFill>
                  <a:srgbClr val="000000"/>
                </a:solidFill>
                <a:latin typeface="Times New Roman" panose="02020603050405020304" charset="0"/>
              </a:rPr>
              <a:t>, если условие</a:t>
            </a:r>
            <a:r>
              <a:rPr lang="en-US" sz="2400" b="0" i="1">
                <a:solidFill>
                  <a:srgbClr val="000000"/>
                </a:solidFill>
                <a:latin typeface="Times New Roman" panose="02020603050405020304" charset="0"/>
              </a:rPr>
              <a:t> true </a:t>
            </a:r>
            <a:r>
              <a:rPr lang="en-US" sz="2400" b="0">
                <a:solidFill>
                  <a:srgbClr val="000000"/>
                </a:solidFill>
                <a:latin typeface="Times New Roman" panose="02020603050405020304" charset="0"/>
              </a:rPr>
              <a:t>– то выполняется первый блок операций, иначе (ключевое слово</a:t>
            </a:r>
            <a:r>
              <a:rPr lang="en-US" sz="2400" b="0">
                <a:latin typeface="Calibri" panose="020F0502020204030204" charset="0"/>
              </a:rPr>
              <a:t> </a:t>
            </a:r>
            <a:r>
              <a:rPr lang="en-US" sz="2400" b="0" i="1">
                <a:solidFill>
                  <a:srgbClr val="000000"/>
                </a:solidFill>
                <a:latin typeface="Times New Roman" panose="02020603050405020304" charset="0"/>
              </a:rPr>
              <a:t>else</a:t>
            </a:r>
            <a:r>
              <a:rPr lang="en-US" sz="2400" b="0">
                <a:solidFill>
                  <a:srgbClr val="000000"/>
                </a:solidFill>
                <a:latin typeface="Times New Roman" panose="02020603050405020304" charset="0"/>
              </a:rPr>
              <a:t>) выполняется второй блок операций. Рассмотрим пример.</a:t>
            </a:r>
            <a:endParaRPr lang="en-US" sz="2400" b="0">
              <a:solidFill>
                <a:srgbClr val="000000"/>
              </a:solidFill>
              <a:latin typeface="Times New Roman" panose="02020603050405020304" charset="0"/>
            </a:endParaRPr>
          </a:p>
          <a:p>
            <a:pPr marL="0" indent="540385" algn="just">
              <a:lnSpc>
                <a:spcPct val="150000"/>
              </a:lnSpc>
            </a:pPr>
            <a:endParaRPr lang="en-US" sz="2800" b="0">
              <a:solidFill>
                <a:srgbClr val="000000"/>
              </a:solidFill>
              <a:latin typeface="Times New Roman" panose="02020603050405020304" charset="0"/>
            </a:endParaRPr>
          </a:p>
          <a:p>
            <a:pPr marL="0" indent="0" algn="just">
              <a:lnSpc>
                <a:spcPct val="150000"/>
              </a:lnSpc>
            </a:pPr>
            <a:r>
              <a:rPr lang="en-US" sz="2800"/>
              <a:t>对于</a:t>
            </a:r>
            <a:r>
              <a:rPr lang="en-US" sz="2800" i="1">
                <a:solidFill>
                  <a:srgbClr val="000000"/>
                </a:solidFill>
                <a:latin typeface="Times New Roman" panose="02020603050405020304" charset="0"/>
                <a:sym typeface="+mn-ea"/>
              </a:rPr>
              <a:t>Boolean</a:t>
            </a:r>
            <a:r>
              <a:rPr lang="en-US" sz="2800"/>
              <a:t>类型，  我们可以使用 if 构造，即所谓的条件分支。 为此，请使用 if 关键字，然后返回</a:t>
            </a:r>
            <a:r>
              <a:rPr lang="en-US" sz="2800" i="1">
                <a:solidFill>
                  <a:srgbClr val="000000"/>
                </a:solidFill>
                <a:latin typeface="Times New Roman" panose="02020603050405020304" charset="0"/>
                <a:sym typeface="+mn-ea"/>
              </a:rPr>
              <a:t>Boolean</a:t>
            </a:r>
            <a:r>
              <a:rPr lang="en-US" sz="2800"/>
              <a:t>类型的条件在括号中表示，如果条件为 true，则执行第一个操作块，否则（else 关键字）执行第二个操作块。 让我们看一个例子。</a:t>
            </a:r>
            <a:endParaRPr lang="en-US" sz="280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" name="Text Box 99"/>
          <p:cNvSpPr txBox="1"/>
          <p:nvPr/>
        </p:nvSpPr>
        <p:spPr>
          <a:xfrm>
            <a:off x="797560" y="2725420"/>
            <a:ext cx="10889615" cy="16300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en-US" sz="2400" b="0">
                <a:solidFill>
                  <a:srgbClr val="000000"/>
                </a:solidFill>
                <a:latin typeface="Times New Roman" panose="02020603050405020304" charset="0"/>
              </a:rPr>
              <a:t>Эту запись мы можем сократить, используя условный (тернарный) оператор ?</a:t>
            </a:r>
            <a:endParaRPr lang="en-US" sz="2400" b="0">
              <a:solidFill>
                <a:srgbClr val="000000"/>
              </a:solidFill>
              <a:latin typeface="Times New Roman" panose="02020603050405020304" charset="0"/>
            </a:endParaRPr>
          </a:p>
          <a:p>
            <a:pPr indent="0"/>
            <a:r>
              <a:rPr lang="zh-CN" sz="2800">
                <a:solidFill>
                  <a:srgbClr val="000000"/>
                </a:solidFill>
                <a:cs typeface="Times New Roman" panose="02020603050405020304" charset="0"/>
                <a:sym typeface="+mn-ea"/>
              </a:rPr>
              <a:t>我们可以使用条件（三元）运算符来缩写此表示法？</a:t>
            </a:r>
            <a:endParaRPr lang="zh-CN" sz="2800">
              <a:solidFill>
                <a:srgbClr val="000000"/>
              </a:solidFill>
              <a:cs typeface="Times New Roman" panose="02020603050405020304" charset="0"/>
              <a:sym typeface="+mn-ea"/>
            </a:endParaRPr>
          </a:p>
          <a:p>
            <a:pPr indent="0"/>
            <a:endParaRPr lang="en-US" sz="2400" b="0" i="1">
              <a:solidFill>
                <a:srgbClr val="000000"/>
              </a:solidFill>
              <a:latin typeface="Times New Roman" panose="02020603050405020304" charset="0"/>
            </a:endParaRPr>
          </a:p>
          <a:p>
            <a:pPr indent="0"/>
            <a:r>
              <a:rPr lang="en-US" sz="2400" b="0" i="1">
                <a:solidFill>
                  <a:srgbClr val="000000"/>
                </a:solidFill>
                <a:latin typeface="Times New Roman" panose="02020603050405020304" charset="0"/>
              </a:rPr>
              <a:t>let result = условие ? значение1 : значение2;</a:t>
            </a:r>
            <a:endParaRPr lang="en-US" sz="2400"/>
          </a:p>
        </p:txBody>
      </p:sp>
      <p:sp>
        <p:nvSpPr>
          <p:cNvPr id="2" name="Text Box 1"/>
          <p:cNvSpPr txBox="1"/>
          <p:nvPr/>
        </p:nvSpPr>
        <p:spPr>
          <a:xfrm>
            <a:off x="3391535" y="4792980"/>
            <a:ext cx="7381875" cy="1014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0" indent="0"/>
            <a:r>
              <a:rPr lang="en-US" sz="2000" b="0">
                <a:solidFill>
                  <a:srgbClr val="0000FF"/>
                </a:solidFill>
                <a:latin typeface="Consolas" panose="020B0609020204030204" charset="0"/>
              </a:rPr>
              <a:t>const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 </a:t>
            </a:r>
            <a:r>
              <a:rPr lang="en-US" sz="2000" b="0">
                <a:solidFill>
                  <a:srgbClr val="0070C1"/>
                </a:solidFill>
                <a:latin typeface="Consolas" panose="020B0609020204030204" charset="0"/>
              </a:rPr>
              <a:t>result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 = </a:t>
            </a:r>
            <a:r>
              <a:rPr lang="en-US" sz="2000" b="0">
                <a:solidFill>
                  <a:srgbClr val="795E26"/>
                </a:solidFill>
                <a:latin typeface="Consolas" panose="020B0609020204030204" charset="0"/>
              </a:rPr>
              <a:t>confirm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(</a:t>
            </a:r>
            <a:r>
              <a:rPr lang="en-US" sz="2000" b="0">
                <a:solidFill>
                  <a:srgbClr val="A31515"/>
                </a:solidFill>
                <a:latin typeface="Consolas" panose="020B0609020204030204" charset="0"/>
              </a:rPr>
              <a:t>'Do you like JS?'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);</a:t>
            </a:r>
            <a:r>
              <a:rPr lang="en-US" sz="2000" b="0">
                <a:solidFill>
                  <a:srgbClr val="795E26"/>
                </a:solidFill>
                <a:latin typeface="Consolas" panose="020B0609020204030204" charset="0"/>
              </a:rPr>
              <a:t>alert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(</a:t>
            </a:r>
            <a:r>
              <a:rPr lang="en-US" sz="2000" b="0">
                <a:solidFill>
                  <a:srgbClr val="0070C1"/>
                </a:solidFill>
                <a:latin typeface="Consolas" panose="020B0609020204030204" charset="0"/>
              </a:rPr>
              <a:t>result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 ? </a:t>
            </a:r>
            <a:r>
              <a:rPr lang="en-US" sz="2000" b="0">
                <a:solidFill>
                  <a:srgbClr val="A31515"/>
                </a:solidFill>
                <a:latin typeface="Consolas" panose="020B0609020204030204" charset="0"/>
              </a:rPr>
              <a:t>'It is great!'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 : </a:t>
            </a:r>
            <a:r>
              <a:rPr lang="en-US" sz="2000" b="0">
                <a:solidFill>
                  <a:srgbClr val="A31515"/>
                </a:solidFill>
                <a:latin typeface="Consolas" panose="020B0609020204030204" charset="0"/>
              </a:rPr>
              <a:t>'Very sad :('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); </a:t>
            </a:r>
            <a:endParaRPr lang="en-US" sz="200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3391535" y="289243"/>
            <a:ext cx="5080000" cy="22453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0" indent="0" algn="just">
              <a:lnSpc>
                <a:spcPct val="100000"/>
              </a:lnSpc>
            </a:pPr>
            <a:r>
              <a:rPr lang="en-US" sz="2000" b="0">
                <a:solidFill>
                  <a:srgbClr val="0000FF"/>
                </a:solidFill>
                <a:latin typeface="Consolas" panose="020B0609020204030204" charset="0"/>
              </a:rPr>
              <a:t>const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 </a:t>
            </a:r>
            <a:r>
              <a:rPr lang="en-US" sz="2000" b="0">
                <a:solidFill>
                  <a:srgbClr val="0070C1"/>
                </a:solidFill>
                <a:latin typeface="Consolas" panose="020B0609020204030204" charset="0"/>
              </a:rPr>
              <a:t>result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 = </a:t>
            </a:r>
            <a:r>
              <a:rPr lang="en-US" sz="2000" b="0">
                <a:solidFill>
                  <a:srgbClr val="795E26"/>
                </a:solidFill>
                <a:latin typeface="Consolas" panose="020B0609020204030204" charset="0"/>
              </a:rPr>
              <a:t>confirm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(</a:t>
            </a:r>
            <a:r>
              <a:rPr lang="en-US" sz="2000" b="0">
                <a:solidFill>
                  <a:srgbClr val="A31515"/>
                </a:solidFill>
                <a:latin typeface="Consolas" panose="020B0609020204030204" charset="0"/>
              </a:rPr>
              <a:t>'Do you like JS?'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); </a:t>
            </a:r>
            <a:r>
              <a:rPr lang="en-US" sz="2000" b="0">
                <a:solidFill>
                  <a:srgbClr val="AF00DB"/>
                </a:solidFill>
                <a:latin typeface="Consolas" panose="020B0609020204030204" charset="0"/>
              </a:rPr>
              <a:t>if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 (</a:t>
            </a:r>
            <a:r>
              <a:rPr lang="en-US" sz="2000" b="0">
                <a:solidFill>
                  <a:srgbClr val="0070C1"/>
                </a:solidFill>
                <a:latin typeface="Consolas" panose="020B0609020204030204" charset="0"/>
              </a:rPr>
              <a:t>result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) {  </a:t>
            </a:r>
            <a:r>
              <a:rPr lang="en-US" sz="2000" b="0">
                <a:solidFill>
                  <a:srgbClr val="795E26"/>
                </a:solidFill>
                <a:latin typeface="Consolas" panose="020B0609020204030204" charset="0"/>
              </a:rPr>
              <a:t>alert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(</a:t>
            </a:r>
            <a:r>
              <a:rPr lang="en-US" sz="2000" b="0">
                <a:solidFill>
                  <a:srgbClr val="A31515"/>
                </a:solidFill>
                <a:latin typeface="Consolas" panose="020B0609020204030204" charset="0"/>
              </a:rPr>
              <a:t>'It is great!'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);} </a:t>
            </a:r>
            <a:r>
              <a:rPr lang="en-US" sz="2000" b="0">
                <a:solidFill>
                  <a:srgbClr val="AF00DB"/>
                </a:solidFill>
                <a:latin typeface="Consolas" panose="020B0609020204030204" charset="0"/>
              </a:rPr>
              <a:t>else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 {  </a:t>
            </a:r>
            <a:r>
              <a:rPr lang="en-US" sz="2000" b="0">
                <a:solidFill>
                  <a:srgbClr val="795E26"/>
                </a:solidFill>
                <a:latin typeface="Consolas" panose="020B0609020204030204" charset="0"/>
              </a:rPr>
              <a:t>alert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(</a:t>
            </a:r>
            <a:r>
              <a:rPr lang="en-US" sz="2000" b="0">
                <a:solidFill>
                  <a:srgbClr val="A31515"/>
                </a:solidFill>
                <a:latin typeface="Consolas" panose="020B0609020204030204" charset="0"/>
              </a:rPr>
              <a:t>'Very sad :('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);}</a:t>
            </a:r>
            <a:endParaRPr lang="en-US" sz="2000" b="0">
              <a:solidFill>
                <a:srgbClr val="000000"/>
              </a:solidFill>
              <a:latin typeface="Consolas" panose="020B060902020403020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7" name="Text Box 6"/>
          <p:cNvSpPr txBox="1"/>
          <p:nvPr/>
        </p:nvSpPr>
        <p:spPr>
          <a:xfrm>
            <a:off x="529590" y="622935"/>
            <a:ext cx="5080000" cy="1726565"/>
          </a:xfrm>
          <a:prstGeom prst="rect">
            <a:avLst/>
          </a:prstGeom>
        </p:spPr>
        <p:txBody>
          <a:bodyPr>
            <a:spAutoFit/>
          </a:bodyPr>
          <a:p>
            <a:pPr>
              <a:spcAft>
                <a:spcPct val="60000"/>
              </a:spcAft>
            </a:pPr>
            <a:r>
              <a:rPr sz="2000" b="1"/>
              <a:t>Основное использование оператора if</a:t>
            </a:r>
            <a:endParaRPr sz="2000" b="1"/>
          </a:p>
          <a:p>
            <a:r>
              <a:t>Оператор if в JavaScript используется для выполнения блока кода, если указанное условие истинно. Это условие — выражение, которое возвращает true или false.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6195060" y="702310"/>
            <a:ext cx="5080000" cy="1647190"/>
          </a:xfrm>
          <a:prstGeom prst="rect">
            <a:avLst/>
          </a:prstGeom>
        </p:spPr>
        <p:txBody>
          <a:bodyPr>
            <a:spAutoFit/>
          </a:bodyPr>
          <a:p>
            <a:pPr>
              <a:spcAft>
                <a:spcPct val="60000"/>
              </a:spcAft>
            </a:pPr>
            <a:r>
              <a:rPr sz="2400" b="1"/>
              <a:t>if语句的基本用法</a:t>
            </a:r>
            <a:endParaRPr sz="2400" b="1"/>
          </a:p>
          <a:p>
            <a:r>
              <a:rPr sz="2000"/>
              <a:t>在JavaScript中，if语句用于在条件为真时执行一段代码。条件是一个返回 true 或 false 的表达式。</a:t>
            </a:r>
            <a:endParaRPr sz="2000"/>
          </a:p>
        </p:txBody>
      </p:sp>
      <p:sp>
        <p:nvSpPr>
          <p:cNvPr id="5" name="Text Box 4"/>
          <p:cNvSpPr txBox="1"/>
          <p:nvPr/>
        </p:nvSpPr>
        <p:spPr>
          <a:xfrm>
            <a:off x="1749425" y="3429000"/>
            <a:ext cx="8793480" cy="156845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266700">
              <a:spcAft>
                <a:spcPct val="0"/>
              </a:spcAft>
            </a:pPr>
            <a:r>
              <a:rPr sz="2400" b="1">
                <a:solidFill>
                  <a:srgbClr val="000080"/>
                </a:solidFill>
                <a:latin typeface="monospace"/>
                <a:ea typeface="monospace"/>
              </a:rPr>
              <a:t>if </a:t>
            </a:r>
            <a:r>
              <a:rPr sz="2400">
                <a:solidFill>
                  <a:srgbClr val="000000"/>
                </a:solidFill>
                <a:latin typeface="monospace"/>
                <a:ea typeface="monospace"/>
              </a:rPr>
              <a:t>(условие) {</a:t>
            </a:r>
            <a:endParaRPr sz="2400">
              <a:solidFill>
                <a:srgbClr val="000000"/>
              </a:solidFill>
              <a:latin typeface="monospace"/>
              <a:ea typeface="monospace"/>
            </a:endParaRPr>
          </a:p>
          <a:p>
            <a:pPr marL="0" indent="0" algn="l" defTabSz="266700">
              <a:spcAft>
                <a:spcPct val="0"/>
              </a:spcAft>
            </a:pPr>
            <a:r>
              <a:rPr sz="2400">
                <a:solidFill>
                  <a:srgbClr val="000000"/>
                </a:solidFill>
                <a:latin typeface="monospace"/>
                <a:ea typeface="monospace"/>
              </a:rPr>
              <a:t>  </a:t>
            </a:r>
            <a:r>
              <a:rPr sz="2400" i="1">
                <a:solidFill>
                  <a:srgbClr val="808080"/>
                </a:solidFill>
                <a:latin typeface="monospace"/>
                <a:ea typeface="monospace"/>
              </a:rPr>
              <a:t>// Код для выполнения, если условие истинно</a:t>
            </a:r>
            <a:endParaRPr sz="2400" i="1">
              <a:solidFill>
                <a:srgbClr val="808080"/>
              </a:solidFill>
              <a:latin typeface="monospace"/>
              <a:ea typeface="monospace"/>
            </a:endParaRPr>
          </a:p>
          <a:p>
            <a:pPr marL="0" indent="0" algn="l" defTabSz="266700">
              <a:spcAft>
                <a:spcPct val="0"/>
              </a:spcAft>
            </a:pPr>
            <a:r>
              <a:rPr sz="2400">
                <a:solidFill>
                  <a:srgbClr val="000000"/>
                </a:solidFill>
                <a:latin typeface="monospace"/>
                <a:ea typeface="monospace"/>
              </a:rPr>
              <a:t>}</a:t>
            </a:r>
            <a:endParaRPr sz="2400">
              <a:solidFill>
                <a:srgbClr val="000000"/>
              </a:solidFill>
              <a:latin typeface="monospace"/>
              <a:ea typeface="monospace"/>
            </a:endParaRPr>
          </a:p>
          <a:p>
            <a:pPr marL="0" indent="0" defTabSz="266700">
              <a:spcAft>
                <a:spcPct val="0"/>
              </a:spcAft>
            </a:pPr>
            <a:r>
              <a:rPr sz="2400">
                <a:latin typeface="Calibri" panose="020F0502020204030204"/>
                <a:ea typeface="SimSun"/>
              </a:rPr>
              <a:t> </a:t>
            </a:r>
            <a:endParaRPr sz="2400">
              <a:latin typeface="Calibri" panose="020F0502020204030204"/>
              <a:ea typeface="SimSu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6" name="Text Box 5"/>
          <p:cNvSpPr txBox="1"/>
          <p:nvPr/>
        </p:nvSpPr>
        <p:spPr>
          <a:xfrm>
            <a:off x="786130" y="715010"/>
            <a:ext cx="5080000" cy="1339850"/>
          </a:xfrm>
          <a:prstGeom prst="rect">
            <a:avLst/>
          </a:prstGeom>
        </p:spPr>
        <p:txBody>
          <a:bodyPr>
            <a:spAutoFit/>
          </a:bodyPr>
          <a:p>
            <a:pPr>
              <a:spcAft>
                <a:spcPct val="60000"/>
              </a:spcAft>
            </a:pPr>
            <a:r>
              <a:rPr sz="2400" b="1"/>
              <a:t>Пример простого условия</a:t>
            </a:r>
            <a:endParaRPr sz="2400" b="1"/>
          </a:p>
          <a:p>
            <a:r>
              <a:rPr sz="2000"/>
              <a:t>Например, проверим, является ли переменная x больше 10:</a:t>
            </a:r>
            <a:endParaRPr sz="2000"/>
          </a:p>
        </p:txBody>
      </p:sp>
      <p:sp>
        <p:nvSpPr>
          <p:cNvPr id="7" name="Text Box 6"/>
          <p:cNvSpPr txBox="1"/>
          <p:nvPr/>
        </p:nvSpPr>
        <p:spPr>
          <a:xfrm>
            <a:off x="2674620" y="3216910"/>
            <a:ext cx="6544310" cy="1568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400"/>
              <a:t>let x = 15;</a:t>
            </a:r>
            <a:endParaRPr lang="en-US" sz="2400"/>
          </a:p>
          <a:p>
            <a:r>
              <a:rPr lang="en-US" sz="2400"/>
              <a:t>if (x &gt; 10) {</a:t>
            </a:r>
            <a:endParaRPr lang="en-US" sz="2400"/>
          </a:p>
          <a:p>
            <a:r>
              <a:rPr lang="en-US" sz="2400"/>
              <a:t>    console.log("x больше 10");</a:t>
            </a:r>
            <a:endParaRPr lang="en-US" sz="2400"/>
          </a:p>
          <a:p>
            <a:r>
              <a:rPr lang="en-US" sz="2400"/>
              <a:t>}</a:t>
            </a:r>
            <a:endParaRPr lang="en-US" sz="2400"/>
          </a:p>
        </p:txBody>
      </p:sp>
      <p:sp>
        <p:nvSpPr>
          <p:cNvPr id="8" name="Text Box 7"/>
          <p:cNvSpPr txBox="1"/>
          <p:nvPr/>
        </p:nvSpPr>
        <p:spPr>
          <a:xfrm>
            <a:off x="6085205" y="715010"/>
            <a:ext cx="5080000" cy="997585"/>
          </a:xfrm>
          <a:prstGeom prst="rect">
            <a:avLst/>
          </a:prstGeom>
        </p:spPr>
        <p:txBody>
          <a:bodyPr>
            <a:spAutoFit/>
          </a:bodyPr>
          <a:p>
            <a:pPr>
              <a:spcAft>
                <a:spcPct val="60000"/>
              </a:spcAft>
            </a:pPr>
            <a:r>
              <a:rPr sz="2400" b="1"/>
              <a:t>简单条件示例</a:t>
            </a:r>
            <a:endParaRPr sz="2400" b="1"/>
          </a:p>
          <a:p>
            <a:r>
              <a:rPr sz="2000"/>
              <a:t>例如，检查变量 x 是否大于10：</a:t>
            </a:r>
            <a:endParaRPr sz="2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2" name="Text Box 1"/>
          <p:cNvSpPr txBox="1"/>
          <p:nvPr/>
        </p:nvSpPr>
        <p:spPr>
          <a:xfrm>
            <a:off x="590550" y="572135"/>
            <a:ext cx="5080000" cy="1330960"/>
          </a:xfrm>
          <a:prstGeom prst="rect">
            <a:avLst/>
          </a:prstGeom>
        </p:spPr>
        <p:txBody>
          <a:bodyPr>
            <a:spAutoFit/>
          </a:bodyPr>
          <a:p>
            <a:pPr>
              <a:spcAft>
                <a:spcPct val="60000"/>
              </a:spcAft>
            </a:pPr>
            <a:r>
              <a:rPr sz="1900" b="1"/>
              <a:t>Использование else</a:t>
            </a:r>
            <a:endParaRPr sz="1900" b="1"/>
          </a:p>
          <a:p>
            <a:r>
              <a:rPr sz="1600"/>
              <a:t>Оператор else добавляется после if, если нужно выполнить другой блок кода, когда условие ложно.</a:t>
            </a:r>
            <a:endParaRPr sz="1600"/>
          </a:p>
        </p:txBody>
      </p:sp>
      <p:sp>
        <p:nvSpPr>
          <p:cNvPr id="5" name="Text Box 4"/>
          <p:cNvSpPr txBox="1"/>
          <p:nvPr/>
        </p:nvSpPr>
        <p:spPr>
          <a:xfrm>
            <a:off x="3048000" y="2552065"/>
            <a:ext cx="6096000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/>
              <a:t>let age = 16;</a:t>
            </a:r>
            <a:endParaRPr lang="en-US"/>
          </a:p>
          <a:p>
            <a:r>
              <a:rPr lang="en-US"/>
              <a:t>if (age &gt;= 18) {</a:t>
            </a:r>
            <a:endParaRPr lang="en-US"/>
          </a:p>
          <a:p>
            <a:r>
              <a:rPr lang="en-US"/>
              <a:t>    console.log("Вход разрешён");</a:t>
            </a:r>
            <a:endParaRPr lang="en-US"/>
          </a:p>
          <a:p>
            <a:r>
              <a:rPr lang="en-US"/>
              <a:t>} else {</a:t>
            </a:r>
            <a:endParaRPr lang="en-US"/>
          </a:p>
          <a:p>
            <a:r>
              <a:rPr lang="en-US"/>
              <a:t>    console.log("Вход запрещён");</a:t>
            </a:r>
            <a:endParaRPr lang="en-US"/>
          </a:p>
          <a:p>
            <a:r>
              <a:rPr lang="en-US"/>
              <a:t>}</a:t>
            </a:r>
            <a:endParaRPr lang="en-US"/>
          </a:p>
        </p:txBody>
      </p:sp>
      <p:sp>
        <p:nvSpPr>
          <p:cNvPr id="6" name="Text Box 5"/>
          <p:cNvSpPr txBox="1"/>
          <p:nvPr/>
        </p:nvSpPr>
        <p:spPr>
          <a:xfrm>
            <a:off x="6174740" y="571818"/>
            <a:ext cx="5080000" cy="838835"/>
          </a:xfrm>
          <a:prstGeom prst="rect">
            <a:avLst/>
          </a:prstGeom>
        </p:spPr>
        <p:txBody>
          <a:bodyPr>
            <a:spAutoFit/>
          </a:bodyPr>
          <a:p>
            <a:pPr>
              <a:spcAft>
                <a:spcPct val="60000"/>
              </a:spcAft>
            </a:pPr>
            <a:r>
              <a:rPr sz="1900" b="1"/>
              <a:t>使用else</a:t>
            </a:r>
            <a:endParaRPr sz="1900" b="1"/>
          </a:p>
          <a:p>
            <a:r>
              <a:rPr sz="1600"/>
              <a:t>else用于当条件为假时执行另一段代码。</a:t>
            </a:r>
            <a:endParaRPr sz="16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2" name="Text Box 1"/>
          <p:cNvSpPr txBox="1"/>
          <p:nvPr/>
        </p:nvSpPr>
        <p:spPr>
          <a:xfrm>
            <a:off x="641985" y="562927"/>
            <a:ext cx="5080000" cy="1085215"/>
          </a:xfrm>
          <a:prstGeom prst="rect">
            <a:avLst/>
          </a:prstGeom>
        </p:spPr>
        <p:txBody>
          <a:bodyPr>
            <a:spAutoFit/>
          </a:bodyPr>
          <a:p>
            <a:pPr>
              <a:spcAft>
                <a:spcPct val="60000"/>
              </a:spcAft>
            </a:pPr>
            <a:r>
              <a:rPr sz="1900" b="1"/>
              <a:t>Использование else if</a:t>
            </a:r>
            <a:endParaRPr sz="1900" b="1"/>
          </a:p>
          <a:p>
            <a:r>
              <a:rPr sz="1600"/>
              <a:t>Можно проверить несколько условий с помощью else if.</a:t>
            </a:r>
            <a:endParaRPr sz="1600"/>
          </a:p>
        </p:txBody>
      </p:sp>
      <p:sp>
        <p:nvSpPr>
          <p:cNvPr id="3" name="Text Box 2"/>
          <p:cNvSpPr txBox="1"/>
          <p:nvPr/>
        </p:nvSpPr>
        <p:spPr>
          <a:xfrm>
            <a:off x="3048000" y="2275205"/>
            <a:ext cx="6096000" cy="2306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/>
              <a:t>let score = 75;</a:t>
            </a:r>
            <a:endParaRPr lang="en-US"/>
          </a:p>
          <a:p>
            <a:r>
              <a:rPr lang="en-US"/>
              <a:t>if (score &gt;= 90) {</a:t>
            </a:r>
            <a:endParaRPr lang="en-US"/>
          </a:p>
          <a:p>
            <a:r>
              <a:rPr lang="en-US"/>
              <a:t>    console.log("Отлично");</a:t>
            </a:r>
            <a:endParaRPr lang="en-US"/>
          </a:p>
          <a:p>
            <a:r>
              <a:rPr lang="en-US"/>
              <a:t>} else if (score &gt;= 70) {</a:t>
            </a:r>
            <a:endParaRPr lang="en-US"/>
          </a:p>
          <a:p>
            <a:r>
              <a:rPr lang="en-US"/>
              <a:t>    console.log("Хорошо");</a:t>
            </a:r>
            <a:endParaRPr lang="en-US"/>
          </a:p>
          <a:p>
            <a:r>
              <a:rPr lang="en-US"/>
              <a:t>} else {</a:t>
            </a:r>
            <a:endParaRPr lang="en-US"/>
          </a:p>
          <a:p>
            <a:r>
              <a:rPr lang="en-US"/>
              <a:t>    console.log("Постарайтесь ещё раз");</a:t>
            </a:r>
            <a:endParaRPr lang="en-US"/>
          </a:p>
          <a:p>
            <a:r>
              <a:rPr lang="en-US"/>
              <a:t>}</a:t>
            </a:r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6429375" y="562293"/>
            <a:ext cx="5080000" cy="838835"/>
          </a:xfrm>
          <a:prstGeom prst="rect">
            <a:avLst/>
          </a:prstGeom>
        </p:spPr>
        <p:txBody>
          <a:bodyPr>
            <a:spAutoFit/>
          </a:bodyPr>
          <a:p>
            <a:pPr>
              <a:spcAft>
                <a:spcPct val="60000"/>
              </a:spcAft>
            </a:pPr>
            <a:r>
              <a:rPr sz="1900" b="1"/>
              <a:t>使用else if</a:t>
            </a:r>
            <a:endParaRPr sz="1900" b="1"/>
          </a:p>
          <a:p>
            <a:r>
              <a:rPr sz="1600"/>
              <a:t>可以使用else if来检查多个条件。</a:t>
            </a:r>
            <a:endParaRPr sz="16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2" name="Text Box 1"/>
          <p:cNvSpPr txBox="1"/>
          <p:nvPr/>
        </p:nvSpPr>
        <p:spPr>
          <a:xfrm>
            <a:off x="611505" y="490855"/>
            <a:ext cx="5080000" cy="1330960"/>
          </a:xfrm>
          <a:prstGeom prst="rect">
            <a:avLst/>
          </a:prstGeom>
        </p:spPr>
        <p:txBody>
          <a:bodyPr>
            <a:spAutoFit/>
          </a:bodyPr>
          <a:p>
            <a:pPr>
              <a:spcAft>
                <a:spcPct val="60000"/>
              </a:spcAft>
            </a:pPr>
            <a:r>
              <a:rPr sz="1900" b="1"/>
              <a:t>Вложенные операторы if</a:t>
            </a:r>
            <a:endParaRPr sz="1900" b="1"/>
          </a:p>
          <a:p>
            <a:r>
              <a:rPr sz="1600"/>
              <a:t>Операторы if могут быть вложены друг в друга, но это нужно использовать осторожно, чтобы избежать сложностей в понимании кода.</a:t>
            </a:r>
            <a:endParaRPr sz="1600"/>
          </a:p>
        </p:txBody>
      </p:sp>
      <p:sp>
        <p:nvSpPr>
          <p:cNvPr id="3" name="Text Box 2"/>
          <p:cNvSpPr txBox="1"/>
          <p:nvPr/>
        </p:nvSpPr>
        <p:spPr>
          <a:xfrm>
            <a:off x="3048000" y="2743835"/>
            <a:ext cx="6096000" cy="2306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/>
              <a:t>let number = 5;</a:t>
            </a:r>
            <a:endParaRPr lang="en-US"/>
          </a:p>
          <a:p>
            <a:r>
              <a:rPr lang="en-US"/>
              <a:t>if (number &gt; 0) {</a:t>
            </a:r>
            <a:endParaRPr lang="en-US"/>
          </a:p>
          <a:p>
            <a:r>
              <a:rPr lang="en-US"/>
              <a:t>    if (number % 2 === 0) {</a:t>
            </a:r>
            <a:endParaRPr lang="en-US"/>
          </a:p>
          <a:p>
            <a:r>
              <a:rPr lang="en-US"/>
              <a:t>        console.log("Чётное положительное число");</a:t>
            </a:r>
            <a:endParaRPr lang="en-US"/>
          </a:p>
          <a:p>
            <a:r>
              <a:rPr lang="en-US"/>
              <a:t>    } else {</a:t>
            </a:r>
            <a:endParaRPr lang="en-US"/>
          </a:p>
          <a:p>
            <a:r>
              <a:rPr lang="en-US"/>
              <a:t>        console.log("Нечётное положительное число");</a:t>
            </a:r>
            <a:endParaRPr lang="en-US"/>
          </a:p>
          <a:p>
            <a:r>
              <a:rPr lang="en-US"/>
              <a:t>    }</a:t>
            </a:r>
            <a:endParaRPr lang="en-US"/>
          </a:p>
          <a:p>
            <a:r>
              <a:rPr lang="en-US"/>
              <a:t>}</a:t>
            </a:r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6195060" y="490538"/>
            <a:ext cx="5080000" cy="838835"/>
          </a:xfrm>
          <a:prstGeom prst="rect">
            <a:avLst/>
          </a:prstGeom>
        </p:spPr>
        <p:txBody>
          <a:bodyPr>
            <a:spAutoFit/>
          </a:bodyPr>
          <a:p>
            <a:pPr>
              <a:spcAft>
                <a:spcPct val="60000"/>
              </a:spcAft>
            </a:pPr>
            <a:r>
              <a:rPr sz="1900" b="1"/>
              <a:t>嵌套if语句</a:t>
            </a:r>
            <a:endParaRPr sz="1900" b="1"/>
          </a:p>
          <a:p>
            <a:r>
              <a:rPr sz="1600"/>
              <a:t>if语句可以嵌套，但应谨慎使用，以避免代码难以理解。</a:t>
            </a:r>
            <a:endParaRPr sz="16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2" name="Text Box 1"/>
          <p:cNvSpPr txBox="1"/>
          <p:nvPr/>
        </p:nvSpPr>
        <p:spPr>
          <a:xfrm>
            <a:off x="396875" y="414655"/>
            <a:ext cx="5824220" cy="195516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spcAft>
                <a:spcPct val="60000"/>
              </a:spcAft>
            </a:pPr>
            <a:r>
              <a:rPr sz="2400" b="1"/>
              <a:t>Основные операторы сравнения</a:t>
            </a:r>
            <a:endParaRPr sz="2400" b="1"/>
          </a:p>
          <a:p>
            <a:r>
              <a:rPr sz="2000"/>
              <a:t>В JavaScript операторы сравнения используются для сравнения двух значений. Они возвращают логическое значение: true или false.</a:t>
            </a:r>
            <a:endParaRPr sz="2000"/>
          </a:p>
        </p:txBody>
      </p:sp>
      <p:graphicFrame>
        <p:nvGraphicFramePr>
          <p:cNvPr id="50" name="Table 49"/>
          <p:cNvGraphicFramePr/>
          <p:nvPr/>
        </p:nvGraphicFramePr>
        <p:xfrm>
          <a:off x="1981200" y="2912110"/>
          <a:ext cx="8534400" cy="3444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0"/>
                <a:gridCol w="2133600"/>
                <a:gridCol w="2133600"/>
                <a:gridCol w="2133600"/>
              </a:tblGrid>
              <a:tr h="0">
                <a:tc>
                  <a:txBody>
                    <a:bodyPr/>
                    <a:p>
                      <a:r>
                        <a:rPr sz="1100">
                          <a:solidFill>
                            <a:schemeClr val="tx1"/>
                          </a:solidFill>
                        </a:rPr>
                        <a:t>Оператор</a:t>
                      </a:r>
                      <a:r>
                        <a:rPr lang="ru-RU" sz="1100">
                          <a:solidFill>
                            <a:schemeClr val="tx1"/>
                          </a:solidFill>
                        </a:rPr>
                        <a:t> 运算符</a:t>
                      </a:r>
                      <a:endParaRPr lang="ru-RU" sz="1100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100">
                          <a:solidFill>
                            <a:schemeClr val="tx1"/>
                          </a:solidFill>
                        </a:rPr>
                        <a:t>Описание</a:t>
                      </a:r>
                      <a:r>
                        <a:rPr lang="ru-RU" sz="1100">
                          <a:solidFill>
                            <a:schemeClr val="tx1"/>
                          </a:solidFill>
                        </a:rPr>
                        <a:t> 描述</a:t>
                      </a:r>
                      <a:endParaRPr lang="ru-RU" sz="1100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100">
                          <a:solidFill>
                            <a:schemeClr val="tx1"/>
                          </a:solidFill>
                        </a:rPr>
                        <a:t>Пример</a:t>
                      </a:r>
                      <a:r>
                        <a:rPr lang="ru-RU" sz="1100">
                          <a:solidFill>
                            <a:schemeClr val="tx1"/>
                          </a:solidFill>
                        </a:rPr>
                        <a:t> 示例</a:t>
                      </a:r>
                      <a:endParaRPr lang="ru-RU" sz="1100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100">
                          <a:solidFill>
                            <a:schemeClr val="tx1"/>
                          </a:solidFill>
                        </a:rPr>
                        <a:t>Результат</a:t>
                      </a:r>
                      <a:r>
                        <a:rPr lang="ru-RU" sz="1100">
                          <a:solidFill>
                            <a:schemeClr val="tx1"/>
                          </a:solidFill>
                        </a:rPr>
                        <a:t> 结果</a:t>
                      </a:r>
                      <a:endParaRPr lang="ru-RU" sz="1100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81000">
                <a:tc>
                  <a:txBody>
                    <a:bodyPr/>
                    <a:p>
                      <a:r>
                        <a:rPr sz="1100"/>
                        <a:t>==</a:t>
                      </a:r>
                      <a:endParaRPr sz="1100"/>
                    </a:p>
                  </a:txBody>
                  <a:tcPr anchor="ctr" anchorCtr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100"/>
                        <a:t>Равенство</a:t>
                      </a:r>
                      <a:r>
                        <a:rPr lang="ru-RU" sz="1100"/>
                        <a:t> 相等</a:t>
                      </a:r>
                      <a:endParaRPr lang="ru-RU" sz="1100"/>
                    </a:p>
                  </a:txBody>
                  <a:tcPr anchor="ctr" anchorCtr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100"/>
                        <a:t>5 == "5"</a:t>
                      </a:r>
                      <a:endParaRPr sz="1100"/>
                    </a:p>
                  </a:txBody>
                  <a:tcPr anchor="ctr" anchorCtr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100"/>
                        <a:t>true</a:t>
                      </a:r>
                      <a:endParaRPr sz="1100"/>
                    </a:p>
                  </a:txBody>
                  <a:tcPr anchor="ctr" anchorCtr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81000">
                <a:tc>
                  <a:txBody>
                    <a:bodyPr/>
                    <a:p>
                      <a:r>
                        <a:rPr sz="1100"/>
                        <a:t>===</a:t>
                      </a:r>
                      <a:endParaRPr sz="1100"/>
                    </a:p>
                  </a:txBody>
                  <a:tcPr anchor="ctr" anchorCtr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100"/>
                        <a:t>Строгое равенство</a:t>
                      </a:r>
                      <a:r>
                        <a:rPr lang="ru-RU" sz="1100"/>
                        <a:t> 严格相等</a:t>
                      </a:r>
                      <a:endParaRPr lang="ru-RU" sz="1100"/>
                    </a:p>
                  </a:txBody>
                  <a:tcPr anchor="ctr" anchorCtr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100"/>
                        <a:t>5 === "5"</a:t>
                      </a:r>
                      <a:endParaRPr sz="1100"/>
                    </a:p>
                  </a:txBody>
                  <a:tcPr anchor="ctr" anchorCtr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100"/>
                        <a:t>false</a:t>
                      </a:r>
                      <a:endParaRPr sz="1100"/>
                    </a:p>
                  </a:txBody>
                  <a:tcPr anchor="ctr" anchorCtr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81000">
                <a:tc>
                  <a:txBody>
                    <a:bodyPr/>
                    <a:p>
                      <a:r>
                        <a:rPr sz="1100"/>
                        <a:t>!=</a:t>
                      </a:r>
                      <a:endParaRPr sz="1100"/>
                    </a:p>
                  </a:txBody>
                  <a:tcPr anchor="ctr" anchorCtr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100"/>
                        <a:t>Неравенство</a:t>
                      </a:r>
                      <a:r>
                        <a:rPr lang="ru-RU" sz="1100"/>
                        <a:t> 不相等</a:t>
                      </a:r>
                      <a:endParaRPr lang="ru-RU" sz="1100"/>
                    </a:p>
                  </a:txBody>
                  <a:tcPr anchor="ctr" anchorCtr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100"/>
                        <a:t>5 != "5"</a:t>
                      </a:r>
                      <a:endParaRPr sz="1100"/>
                    </a:p>
                  </a:txBody>
                  <a:tcPr anchor="ctr" anchorCtr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100"/>
                        <a:t>false</a:t>
                      </a:r>
                      <a:endParaRPr sz="1100"/>
                    </a:p>
                  </a:txBody>
                  <a:tcPr anchor="ctr" anchorCtr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81000">
                <a:tc>
                  <a:txBody>
                    <a:bodyPr/>
                    <a:p>
                      <a:r>
                        <a:rPr sz="1100"/>
                        <a:t>!==</a:t>
                      </a:r>
                      <a:endParaRPr sz="1100"/>
                    </a:p>
                  </a:txBody>
                  <a:tcPr anchor="ctr" anchorCtr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100"/>
                        <a:t>Строгое неравенство</a:t>
                      </a:r>
                      <a:r>
                        <a:rPr lang="ru-RU" sz="1100"/>
                        <a:t> 严格不相等</a:t>
                      </a:r>
                      <a:endParaRPr lang="ru-RU" sz="1100"/>
                    </a:p>
                  </a:txBody>
                  <a:tcPr anchor="ctr" anchorCtr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100"/>
                        <a:t>5 !== "5"</a:t>
                      </a:r>
                      <a:endParaRPr sz="1100"/>
                    </a:p>
                  </a:txBody>
                  <a:tcPr anchor="ctr" anchorCtr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100"/>
                        <a:t>true</a:t>
                      </a:r>
                      <a:endParaRPr sz="1100"/>
                    </a:p>
                  </a:txBody>
                  <a:tcPr anchor="ctr" anchorCtr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81000">
                <a:tc>
                  <a:txBody>
                    <a:bodyPr/>
                    <a:p>
                      <a:r>
                        <a:rPr sz="1100"/>
                        <a:t>&gt;</a:t>
                      </a:r>
                      <a:endParaRPr sz="1100"/>
                    </a:p>
                  </a:txBody>
                  <a:tcPr anchor="ctr" anchorCtr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100"/>
                        <a:t>Больше</a:t>
                      </a:r>
                      <a:r>
                        <a:rPr lang="ru-RU" sz="1100"/>
                        <a:t> 大于</a:t>
                      </a:r>
                      <a:endParaRPr lang="ru-RU" sz="1100"/>
                    </a:p>
                  </a:txBody>
                  <a:tcPr anchor="ctr" anchorCtr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100"/>
                        <a:t>5 &gt; 3</a:t>
                      </a:r>
                      <a:endParaRPr sz="1100"/>
                    </a:p>
                  </a:txBody>
                  <a:tcPr anchor="ctr" anchorCtr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100"/>
                        <a:t>true</a:t>
                      </a:r>
                      <a:endParaRPr sz="1100"/>
                    </a:p>
                  </a:txBody>
                  <a:tcPr anchor="ctr" anchorCtr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81000">
                <a:tc>
                  <a:txBody>
                    <a:bodyPr/>
                    <a:p>
                      <a:r>
                        <a:rPr sz="1100"/>
                        <a:t>&lt;</a:t>
                      </a:r>
                      <a:endParaRPr sz="1100"/>
                    </a:p>
                  </a:txBody>
                  <a:tcPr anchor="ctr" anchorCtr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100"/>
                        <a:t>Меньше</a:t>
                      </a:r>
                      <a:r>
                        <a:rPr lang="ru-RU" sz="1100"/>
                        <a:t> 小于</a:t>
                      </a:r>
                      <a:endParaRPr lang="ru-RU" sz="1100"/>
                    </a:p>
                  </a:txBody>
                  <a:tcPr anchor="ctr" anchorCtr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100"/>
                        <a:t>5 &lt; 3</a:t>
                      </a:r>
                      <a:endParaRPr sz="1100"/>
                    </a:p>
                  </a:txBody>
                  <a:tcPr anchor="ctr" anchorCtr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100"/>
                        <a:t>false</a:t>
                      </a:r>
                      <a:endParaRPr sz="1100"/>
                    </a:p>
                  </a:txBody>
                  <a:tcPr anchor="ctr" anchorCtr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81000">
                <a:tc>
                  <a:txBody>
                    <a:bodyPr/>
                    <a:p>
                      <a:r>
                        <a:rPr sz="1100"/>
                        <a:t>&gt;=</a:t>
                      </a:r>
                      <a:endParaRPr sz="1100"/>
                    </a:p>
                  </a:txBody>
                  <a:tcPr anchor="ctr" anchorCtr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100"/>
                        <a:t>Больше или равно</a:t>
                      </a:r>
                      <a:r>
                        <a:rPr lang="ru-RU" sz="1100"/>
                        <a:t> 大于或等于</a:t>
                      </a:r>
                      <a:endParaRPr lang="ru-RU" sz="1100"/>
                    </a:p>
                  </a:txBody>
                  <a:tcPr anchor="ctr" anchorCtr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100"/>
                        <a:t>5 &gt;= 5</a:t>
                      </a:r>
                      <a:endParaRPr sz="1100"/>
                    </a:p>
                  </a:txBody>
                  <a:tcPr anchor="ctr" anchorCtr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100"/>
                        <a:t>true</a:t>
                      </a:r>
                      <a:endParaRPr sz="1100"/>
                    </a:p>
                  </a:txBody>
                  <a:tcPr anchor="ctr" anchorCtr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81000">
                <a:tc>
                  <a:txBody>
                    <a:bodyPr/>
                    <a:p>
                      <a:r>
                        <a:rPr sz="1100"/>
                        <a:t>&lt;=</a:t>
                      </a:r>
                      <a:endParaRPr sz="1100"/>
                    </a:p>
                  </a:txBody>
                  <a:tcPr anchor="ctr" anchorCtr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100"/>
                        <a:t>Меньше или равно</a:t>
                      </a:r>
                      <a:r>
                        <a:rPr lang="ru-RU" sz="1100"/>
                        <a:t> 小于或等于</a:t>
                      </a:r>
                      <a:endParaRPr lang="ru-RU" sz="1100"/>
                    </a:p>
                  </a:txBody>
                  <a:tcPr anchor="ctr" anchorCtr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100"/>
                        <a:t>5 &lt;= 4</a:t>
                      </a:r>
                      <a:endParaRPr sz="1100"/>
                    </a:p>
                  </a:txBody>
                  <a:tcPr anchor="ctr" anchorCtr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100"/>
                        <a:t>false</a:t>
                      </a:r>
                      <a:endParaRPr sz="1100"/>
                    </a:p>
                  </a:txBody>
                  <a:tcPr anchor="ctr" anchorCtr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03" name="Text Box 102"/>
          <p:cNvSpPr txBox="1"/>
          <p:nvPr/>
        </p:nvSpPr>
        <p:spPr>
          <a:xfrm>
            <a:off x="6430010" y="414338"/>
            <a:ext cx="5080000" cy="1305560"/>
          </a:xfrm>
          <a:prstGeom prst="rect">
            <a:avLst/>
          </a:prstGeom>
        </p:spPr>
        <p:txBody>
          <a:bodyPr>
            <a:spAutoFit/>
          </a:bodyPr>
          <a:p>
            <a:pPr>
              <a:spcAft>
                <a:spcPct val="60000"/>
              </a:spcAft>
            </a:pPr>
            <a:r>
              <a:rPr sz="2400" b="1"/>
              <a:t>基本比较运算符</a:t>
            </a:r>
            <a:endParaRPr sz="2400" b="1"/>
          </a:p>
          <a:p>
            <a:r>
              <a:rPr sz="2000"/>
              <a:t>在JavaScript中，比较运算符用于比较两个值，返回布尔值true或false。</a:t>
            </a:r>
            <a:endParaRPr sz="2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224790" y="25304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>
              <a:spcAft>
                <a:spcPct val="60000"/>
              </a:spcAft>
            </a:pPr>
            <a:r>
              <a:rPr sz="1600" b="1"/>
              <a:t>Равенство (==) и строгое равенство (===)</a:t>
            </a:r>
            <a:endParaRPr sz="1600" b="1"/>
          </a:p>
        </p:txBody>
      </p:sp>
      <p:sp>
        <p:nvSpPr>
          <p:cNvPr id="7" name="Text Box 6"/>
          <p:cNvSpPr txBox="1"/>
          <p:nvPr/>
        </p:nvSpPr>
        <p:spPr>
          <a:xfrm>
            <a:off x="224790" y="782320"/>
            <a:ext cx="5310505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/>
              <a:t>== проверяет значения, игнорируя типы данных. Например, 5 == "5" вернёт true.</a:t>
            </a:r>
            <a:endParaRPr lang="en-US"/>
          </a:p>
          <a:p>
            <a:r>
              <a:rPr lang="en-US"/>
              <a:t>=== проверяет как значения, так и типы данных. Например, 5 === "5" вернёт false, так как один из операндов — число, а другой — строка.</a:t>
            </a:r>
            <a:endParaRPr lang="en-US"/>
          </a:p>
        </p:txBody>
      </p:sp>
      <p:sp>
        <p:nvSpPr>
          <p:cNvPr id="8" name="Text Box 7"/>
          <p:cNvSpPr txBox="1"/>
          <p:nvPr/>
        </p:nvSpPr>
        <p:spPr>
          <a:xfrm>
            <a:off x="3048000" y="3661410"/>
            <a:ext cx="6096000" cy="1568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400"/>
              <a:t>let a = 10;</a:t>
            </a:r>
            <a:endParaRPr lang="en-US" sz="2400"/>
          </a:p>
          <a:p>
            <a:r>
              <a:rPr lang="en-US" sz="2400"/>
              <a:t>let b = "10";</a:t>
            </a:r>
            <a:endParaRPr lang="en-US" sz="2400"/>
          </a:p>
          <a:p>
            <a:r>
              <a:rPr lang="en-US" sz="2400"/>
              <a:t>console.log(a == b);  // true</a:t>
            </a:r>
            <a:endParaRPr lang="en-US" sz="2400"/>
          </a:p>
          <a:p>
            <a:r>
              <a:rPr lang="en-US" sz="2400"/>
              <a:t>console.log(a === b); // false</a:t>
            </a:r>
            <a:endParaRPr lang="en-US" sz="2400"/>
          </a:p>
        </p:txBody>
      </p:sp>
      <p:sp>
        <p:nvSpPr>
          <p:cNvPr id="9" name="Text Box 8"/>
          <p:cNvSpPr txBox="1"/>
          <p:nvPr/>
        </p:nvSpPr>
        <p:spPr>
          <a:xfrm>
            <a:off x="5735955" y="25304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>
              <a:spcAft>
                <a:spcPct val="60000"/>
              </a:spcAft>
            </a:pPr>
            <a:r>
              <a:rPr sz="1600" b="1"/>
              <a:t>相等 (==) 与 严格相等 (===)</a:t>
            </a:r>
            <a:endParaRPr sz="1600" b="1"/>
          </a:p>
        </p:txBody>
      </p:sp>
      <p:sp>
        <p:nvSpPr>
          <p:cNvPr id="10" name="Text Box 9"/>
          <p:cNvSpPr txBox="1"/>
          <p:nvPr/>
        </p:nvSpPr>
        <p:spPr>
          <a:xfrm>
            <a:off x="5735955" y="782320"/>
            <a:ext cx="609600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/>
              <a:t>== 忽略数据类型，只比较值。例如，5 == "5"返回true。</a:t>
            </a:r>
            <a:endParaRPr lang="en-US"/>
          </a:p>
          <a:p>
            <a:r>
              <a:rPr lang="en-US"/>
              <a:t>=== 比较值和数据类型。例如，5 === "5"返回false，因为一个是数字，一个是字符串</a:t>
            </a:r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2" name="Text Box 1"/>
          <p:cNvSpPr txBox="1"/>
          <p:nvPr/>
        </p:nvSpPr>
        <p:spPr>
          <a:xfrm>
            <a:off x="539750" y="417513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>
              <a:spcAft>
                <a:spcPct val="60000"/>
              </a:spcAft>
            </a:pPr>
            <a:r>
              <a:rPr sz="1600" b="1"/>
              <a:t>Неравенство (!=) и строгое неравенство (!==)</a:t>
            </a:r>
            <a:endParaRPr sz="1600" b="1"/>
          </a:p>
        </p:txBody>
      </p:sp>
      <p:sp>
        <p:nvSpPr>
          <p:cNvPr id="3" name="Text Box 2"/>
          <p:cNvSpPr txBox="1"/>
          <p:nvPr/>
        </p:nvSpPr>
        <p:spPr>
          <a:xfrm>
            <a:off x="539750" y="1137920"/>
            <a:ext cx="609600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/>
              <a:t>!= проверяет, что значения не равны, игнорируя типы данных.</a:t>
            </a:r>
            <a:endParaRPr lang="en-US"/>
          </a:p>
          <a:p>
            <a:r>
              <a:rPr lang="en-US"/>
              <a:t>!== проверяет, что значения и типы данных не совпадают.</a:t>
            </a:r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3150235" y="3429000"/>
            <a:ext cx="6096000" cy="18148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800"/>
              <a:t>let x = 20;</a:t>
            </a:r>
            <a:endParaRPr lang="en-US" sz="2800"/>
          </a:p>
          <a:p>
            <a:r>
              <a:rPr lang="en-US" sz="2800"/>
              <a:t>let y = "20";</a:t>
            </a:r>
            <a:endParaRPr lang="en-US" sz="2800"/>
          </a:p>
          <a:p>
            <a:r>
              <a:rPr lang="en-US" sz="2800"/>
              <a:t>console.log(x != y);  // false</a:t>
            </a:r>
            <a:endParaRPr lang="en-US" sz="2800"/>
          </a:p>
          <a:p>
            <a:r>
              <a:rPr lang="en-US" sz="2800"/>
              <a:t>console.log(x !== y); // true</a:t>
            </a:r>
            <a:endParaRPr lang="en-US" sz="2800"/>
          </a:p>
        </p:txBody>
      </p:sp>
      <p:sp>
        <p:nvSpPr>
          <p:cNvPr id="6" name="Text Box 5"/>
          <p:cNvSpPr txBox="1"/>
          <p:nvPr/>
        </p:nvSpPr>
        <p:spPr>
          <a:xfrm>
            <a:off x="6501130" y="417513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>
              <a:spcAft>
                <a:spcPct val="60000"/>
              </a:spcAft>
            </a:pPr>
            <a:r>
              <a:rPr sz="1600" b="1"/>
              <a:t>不相等 (!=) 与 严格不相等 (!==)</a:t>
            </a:r>
            <a:endParaRPr sz="1600" b="1"/>
          </a:p>
        </p:txBody>
      </p:sp>
      <p:sp>
        <p:nvSpPr>
          <p:cNvPr id="7" name="Text Box 6"/>
          <p:cNvSpPr txBox="1"/>
          <p:nvPr/>
        </p:nvSpPr>
        <p:spPr>
          <a:xfrm>
            <a:off x="7033895" y="1137920"/>
            <a:ext cx="454723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/>
              <a:t>!= 忽略数据类型，只判断值不相等。</a:t>
            </a:r>
            <a:endParaRPr lang="en-US"/>
          </a:p>
          <a:p>
            <a:r>
              <a:rPr lang="en-US"/>
              <a:t>!== 判断值和数据类型均不相等。</a:t>
            </a:r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2" name="Text Box 1"/>
          <p:cNvSpPr txBox="1"/>
          <p:nvPr/>
        </p:nvSpPr>
        <p:spPr>
          <a:xfrm>
            <a:off x="437515" y="474027"/>
            <a:ext cx="5080000" cy="1915795"/>
          </a:xfrm>
          <a:prstGeom prst="rect">
            <a:avLst/>
          </a:prstGeom>
        </p:spPr>
        <p:txBody>
          <a:bodyPr>
            <a:spAutoFit/>
          </a:bodyPr>
          <a:p>
            <a:pPr>
              <a:spcAft>
                <a:spcPct val="60000"/>
              </a:spcAft>
            </a:pPr>
            <a:r>
              <a:rPr sz="1900" b="1"/>
              <a:t>Операторы больше (&gt;) и меньше (&lt;), больше или равно (&gt;=) и меньше или равно (&lt;=)</a:t>
            </a:r>
            <a:endParaRPr sz="1900" b="1"/>
          </a:p>
          <a:p>
            <a:r>
              <a:rPr sz="1600"/>
              <a:t>Эти операторы используются для чисел и строк (сравнение по алфавиту). Сравнение строк основывается на их лексикографическом порядке.</a:t>
            </a:r>
            <a:endParaRPr sz="1600"/>
          </a:p>
        </p:txBody>
      </p:sp>
      <p:sp>
        <p:nvSpPr>
          <p:cNvPr id="3" name="Text Box 2"/>
          <p:cNvSpPr txBox="1"/>
          <p:nvPr/>
        </p:nvSpPr>
        <p:spPr>
          <a:xfrm>
            <a:off x="3048000" y="3100705"/>
            <a:ext cx="6096000" cy="25533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000"/>
              <a:t>let score = 85;</a:t>
            </a:r>
            <a:endParaRPr lang="en-US" sz="2000"/>
          </a:p>
          <a:p>
            <a:r>
              <a:rPr lang="en-US" sz="2000"/>
              <a:t>if (score &gt;= 90) {</a:t>
            </a:r>
            <a:endParaRPr lang="en-US" sz="2000"/>
          </a:p>
          <a:p>
            <a:r>
              <a:rPr lang="en-US" sz="2000"/>
              <a:t>    console.log("Отлично");</a:t>
            </a:r>
            <a:endParaRPr lang="en-US" sz="2000"/>
          </a:p>
          <a:p>
            <a:r>
              <a:rPr lang="en-US" sz="2000"/>
              <a:t>} else if (score &gt;= 70) {</a:t>
            </a:r>
            <a:endParaRPr lang="en-US" sz="2000"/>
          </a:p>
          <a:p>
            <a:r>
              <a:rPr lang="en-US" sz="2000"/>
              <a:t>    console.log("Хорошо");</a:t>
            </a:r>
            <a:endParaRPr lang="en-US" sz="2000"/>
          </a:p>
          <a:p>
            <a:r>
              <a:rPr lang="en-US" sz="2000"/>
              <a:t>} else {</a:t>
            </a:r>
            <a:endParaRPr lang="en-US" sz="2000"/>
          </a:p>
          <a:p>
            <a:r>
              <a:rPr lang="en-US" sz="2000"/>
              <a:t>    console.log("Постарайтесь ещё раз");</a:t>
            </a:r>
            <a:endParaRPr lang="en-US" sz="2000"/>
          </a:p>
          <a:p>
            <a:r>
              <a:rPr lang="en-US" sz="2000"/>
              <a:t>}</a:t>
            </a:r>
            <a:endParaRPr lang="en-US" sz="2000"/>
          </a:p>
        </p:txBody>
      </p:sp>
      <p:sp>
        <p:nvSpPr>
          <p:cNvPr id="7" name="Text Box 6"/>
          <p:cNvSpPr txBox="1"/>
          <p:nvPr/>
        </p:nvSpPr>
        <p:spPr>
          <a:xfrm>
            <a:off x="6093460" y="474027"/>
            <a:ext cx="5080000" cy="1708785"/>
          </a:xfrm>
          <a:prstGeom prst="rect">
            <a:avLst/>
          </a:prstGeom>
        </p:spPr>
        <p:txBody>
          <a:bodyPr>
            <a:spAutoFit/>
          </a:bodyPr>
          <a:p>
            <a:pPr>
              <a:spcAft>
                <a:spcPct val="60000"/>
              </a:spcAft>
            </a:pPr>
            <a:r>
              <a:rPr sz="2400" b="1"/>
              <a:t>大于 (&gt;) 和小于 (&lt;)、大于等于 (&gt;=) 和小于等于 (&lt;=)</a:t>
            </a:r>
            <a:endParaRPr sz="2400" b="1"/>
          </a:p>
          <a:p>
            <a:r>
              <a:rPr sz="2000"/>
              <a:t>这些运算符适用于数字和字符串（按字母顺序比较），字符串比较基于字母顺序。</a:t>
            </a:r>
            <a:endParaRPr sz="20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2" name="Text Box 1"/>
          <p:cNvSpPr txBox="1"/>
          <p:nvPr/>
        </p:nvSpPr>
        <p:spPr>
          <a:xfrm>
            <a:off x="549910" y="416242"/>
            <a:ext cx="5080000" cy="1623695"/>
          </a:xfrm>
          <a:prstGeom prst="rect">
            <a:avLst/>
          </a:prstGeom>
        </p:spPr>
        <p:txBody>
          <a:bodyPr>
            <a:spAutoFit/>
          </a:bodyPr>
          <a:p>
            <a:pPr>
              <a:spcAft>
                <a:spcPct val="60000"/>
              </a:spcAft>
            </a:pPr>
            <a:r>
              <a:rPr sz="1900" b="1"/>
              <a:t>Вложенные условия и комбинирование операторов</a:t>
            </a:r>
            <a:endParaRPr sz="1900" b="1"/>
          </a:p>
          <a:p>
            <a:r>
              <a:rPr sz="1600"/>
              <a:t>Операторы сравнения могут быть объединены с помощью логических операторов &amp;&amp; (и) и || (или) для более сложных условий.</a:t>
            </a:r>
            <a:endParaRPr sz="1600"/>
          </a:p>
        </p:txBody>
      </p:sp>
      <p:sp>
        <p:nvSpPr>
          <p:cNvPr id="3" name="Text Box 2"/>
          <p:cNvSpPr txBox="1"/>
          <p:nvPr/>
        </p:nvSpPr>
        <p:spPr>
          <a:xfrm>
            <a:off x="2261870" y="3013075"/>
            <a:ext cx="7524750" cy="1568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400"/>
              <a:t>let age = 25;</a:t>
            </a:r>
            <a:endParaRPr lang="en-US" sz="2400"/>
          </a:p>
          <a:p>
            <a:r>
              <a:rPr lang="en-US" sz="2400"/>
              <a:t>if (age &gt;= 18 &amp;&amp; age &lt;= 30) {</a:t>
            </a:r>
            <a:endParaRPr lang="en-US" sz="2400"/>
          </a:p>
          <a:p>
            <a:r>
              <a:rPr lang="en-US" sz="2400"/>
              <a:t>    console.log("Возраст в пределах 18-30");</a:t>
            </a:r>
            <a:endParaRPr lang="en-US" sz="2400"/>
          </a:p>
          <a:p>
            <a:r>
              <a:rPr lang="en-US" sz="2400"/>
              <a:t>}</a:t>
            </a:r>
            <a:endParaRPr lang="en-US" sz="2400"/>
          </a:p>
        </p:txBody>
      </p:sp>
      <p:sp>
        <p:nvSpPr>
          <p:cNvPr id="5" name="Text Box 4"/>
          <p:cNvSpPr txBox="1"/>
          <p:nvPr/>
        </p:nvSpPr>
        <p:spPr>
          <a:xfrm>
            <a:off x="5991860" y="415608"/>
            <a:ext cx="5080000" cy="1305560"/>
          </a:xfrm>
          <a:prstGeom prst="rect">
            <a:avLst/>
          </a:prstGeom>
        </p:spPr>
        <p:txBody>
          <a:bodyPr>
            <a:spAutoFit/>
          </a:bodyPr>
          <a:p>
            <a:pPr>
              <a:spcAft>
                <a:spcPct val="60000"/>
              </a:spcAft>
            </a:pPr>
            <a:r>
              <a:rPr sz="2400" b="1"/>
              <a:t>嵌套条件和运算符组合</a:t>
            </a:r>
            <a:endParaRPr sz="2400" b="1"/>
          </a:p>
          <a:p>
            <a:r>
              <a:rPr sz="2000"/>
              <a:t>可以使用逻辑运算符&amp;&amp;（与）和||（或）组合多个条件，构建更复杂的判断逻辑。</a:t>
            </a:r>
            <a:endParaRPr sz="20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835025" y="1115695"/>
            <a:ext cx="10518775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/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Логические операции в JavaScript — это операции, которые позволяют комбинировать логические значения (true/false) и управлять выполнением кода. Они играют важную роль в условиях, циклах, проверках данных, обработке ошибок.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" name="Text Box 99"/>
          <p:cNvSpPr txBox="1"/>
          <p:nvPr/>
        </p:nvSpPr>
        <p:spPr>
          <a:xfrm>
            <a:off x="582930" y="640715"/>
            <a:ext cx="11025505" cy="47999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0" indent="0" algn="just">
              <a:lnSpc>
                <a:spcPct val="150000"/>
              </a:lnSpc>
            </a:pPr>
            <a:r>
              <a:rPr lang="en-US" altLang="en-US" sz="2400">
                <a:sym typeface="+mn-ea"/>
              </a:rPr>
              <a:t>В JavaScript есть три основных логических оператора</a:t>
            </a:r>
            <a:r>
              <a:rPr lang="ru-RU" altLang="en-US" sz="2400">
                <a:sym typeface="+mn-ea"/>
              </a:rPr>
              <a:t>:</a:t>
            </a:r>
            <a:endParaRPr lang="zh-CN" sz="2400" b="0">
              <a:solidFill>
                <a:srgbClr val="000000"/>
              </a:solidFill>
              <a:cs typeface="Times New Roman" panose="02020603050405020304" charset="0"/>
            </a:endParaRPr>
          </a:p>
          <a:p>
            <a:pPr marL="0" indent="0" algn="just">
              <a:lnSpc>
                <a:spcPct val="150000"/>
              </a:lnSpc>
            </a:pPr>
            <a:endParaRPr lang="zh-CN" sz="2400" b="0">
              <a:solidFill>
                <a:srgbClr val="000000"/>
              </a:solidFill>
              <a:cs typeface="Times New Roman" panose="02020603050405020304" charset="0"/>
            </a:endParaRPr>
          </a:p>
          <a:p>
            <a:pPr marL="0" indent="0" algn="just">
              <a:lnSpc>
                <a:spcPct val="150000"/>
              </a:lnSpc>
            </a:pPr>
            <a:r>
              <a:rPr lang="zh-CN" sz="2400" b="0">
                <a:solidFill>
                  <a:srgbClr val="000000"/>
                </a:solidFill>
                <a:cs typeface="Times New Roman" panose="02020603050405020304" charset="0"/>
              </a:rPr>
              <a:t>一.</a:t>
            </a:r>
            <a:r>
              <a:rPr lang="en-US" sz="2400" b="0">
                <a:solidFill>
                  <a:srgbClr val="000000"/>
                </a:solidFill>
                <a:latin typeface="Times New Roman" panose="02020603050405020304" charset="0"/>
              </a:rPr>
              <a:t> Логическое И &amp;&amp; - если ВСЕ условия true;</a:t>
            </a:r>
            <a:endParaRPr lang="en-US" sz="2400" b="0">
              <a:solidFill>
                <a:srgbClr val="000000"/>
              </a:solidFill>
              <a:latin typeface="Times New Roman" panose="02020603050405020304" charset="0"/>
            </a:endParaRPr>
          </a:p>
          <a:p>
            <a:pPr marL="0" indent="0" algn="just">
              <a:lnSpc>
                <a:spcPct val="150000"/>
              </a:lnSpc>
            </a:pPr>
            <a:r>
              <a:rPr lang="en-US" sz="2800" i="1">
                <a:solidFill>
                  <a:srgbClr val="000000"/>
                </a:solidFill>
                <a:latin typeface="Times New Roman" panose="02020603050405020304" charset="0"/>
                <a:sym typeface="+mn-ea"/>
              </a:rPr>
              <a:t>Boolean</a:t>
            </a:r>
            <a:r>
              <a:rPr lang="zh-CN" sz="2800" b="0">
                <a:solidFill>
                  <a:srgbClr val="000000"/>
                </a:solidFill>
                <a:cs typeface="Times New Roman" panose="02020603050405020304" charset="0"/>
              </a:rPr>
              <a:t> AND &amp;&amp; - 如果 ALL 条件都为真;</a:t>
            </a:r>
            <a:r>
              <a:rPr lang="zh-CN" sz="2400" b="0">
                <a:solidFill>
                  <a:srgbClr val="000000"/>
                </a:solidFill>
                <a:cs typeface="Times New Roman" panose="02020603050405020304" charset="0"/>
              </a:rPr>
              <a:t>二.</a:t>
            </a:r>
            <a:r>
              <a:rPr lang="en-US" sz="2400" b="0">
                <a:solidFill>
                  <a:srgbClr val="000000"/>
                </a:solidFill>
                <a:latin typeface="Times New Roman" panose="02020603050405020304" charset="0"/>
              </a:rPr>
              <a:t> Логическое ИЛИ || - если ОДНО из условий true;</a:t>
            </a:r>
            <a:endParaRPr lang="en-US" sz="2400" b="0">
              <a:solidFill>
                <a:srgbClr val="000000"/>
              </a:solidFill>
              <a:latin typeface="Times New Roman" panose="02020603050405020304" charset="0"/>
            </a:endParaRPr>
          </a:p>
          <a:p>
            <a:pPr marL="0" indent="0" algn="just">
              <a:lnSpc>
                <a:spcPct val="150000"/>
              </a:lnSpc>
            </a:pPr>
            <a:r>
              <a:rPr lang="zh-CN" sz="2800" b="0">
                <a:solidFill>
                  <a:srgbClr val="000000"/>
                </a:solidFill>
                <a:cs typeface="Times New Roman" panose="02020603050405020304" charset="0"/>
              </a:rPr>
              <a:t>逻辑 OR ||- 如果其中一个条件为真;</a:t>
            </a:r>
            <a:endParaRPr lang="en-US" sz="2400" b="0">
              <a:solidFill>
                <a:srgbClr val="000000"/>
              </a:solidFill>
              <a:latin typeface="Times New Roman" panose="02020603050405020304" charset="0"/>
            </a:endParaRPr>
          </a:p>
          <a:p>
            <a:pPr marL="0" indent="0" algn="just">
              <a:lnSpc>
                <a:spcPct val="150000"/>
              </a:lnSpc>
            </a:pPr>
            <a:r>
              <a:rPr lang="en-US" sz="2400" b="0">
                <a:solidFill>
                  <a:srgbClr val="000000"/>
                </a:solidFill>
                <a:latin typeface="Times New Roman" panose="02020603050405020304" charset="0"/>
              </a:rPr>
              <a:t>三.Логическое НЕ ! или двойное НЕ !!.</a:t>
            </a:r>
            <a:endParaRPr lang="en-US" sz="2400" b="0">
              <a:solidFill>
                <a:srgbClr val="000000"/>
              </a:solidFill>
              <a:latin typeface="Times New Roman" panose="02020603050405020304" charset="0"/>
            </a:endParaRPr>
          </a:p>
          <a:p>
            <a:pPr marL="0" indent="0" algn="just">
              <a:lnSpc>
                <a:spcPct val="150000"/>
              </a:lnSpc>
            </a:pPr>
            <a:r>
              <a:rPr lang="en-US" sz="2800" b="0">
                <a:solidFill>
                  <a:srgbClr val="000000"/>
                </a:solidFill>
                <a:latin typeface="Times New Roman" panose="02020603050405020304" charset="0"/>
              </a:rPr>
              <a:t>合乎逻辑的不是！或双 DO NOT ！。</a:t>
            </a:r>
            <a:endParaRPr lang="en-US" sz="2800" b="0">
              <a:solidFill>
                <a:srgbClr val="000000"/>
              </a:solidFill>
              <a:latin typeface="Times New Roman" panose="0202060305040502030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596900" y="583565"/>
            <a:ext cx="8348980" cy="1291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just">
              <a:lnSpc>
                <a:spcPct val="150000"/>
              </a:lnSpc>
            </a:pPr>
            <a:r>
              <a:rPr lang="zh-CN" sz="2400">
                <a:solidFill>
                  <a:srgbClr val="000000"/>
                </a:solidFill>
                <a:cs typeface="Times New Roman" panose="02020603050405020304" charset="0"/>
                <a:sym typeface="+mn-ea"/>
              </a:rPr>
              <a:t>一.</a:t>
            </a:r>
            <a:r>
              <a:rPr lang="en-US" sz="2400">
                <a:solidFill>
                  <a:srgbClr val="000000"/>
                </a:solidFill>
                <a:latin typeface="Times New Roman" panose="02020603050405020304" charset="0"/>
                <a:sym typeface="+mn-ea"/>
              </a:rPr>
              <a:t> Логическое И &amp;&amp; - если ВСЕ условия true;</a:t>
            </a:r>
            <a:endParaRPr lang="en-US" sz="2400" b="0">
              <a:solidFill>
                <a:srgbClr val="000000"/>
              </a:solidFill>
              <a:latin typeface="Times New Roman" panose="02020603050405020304" charset="0"/>
            </a:endParaRPr>
          </a:p>
          <a:p>
            <a:pPr marL="0" indent="0" algn="just">
              <a:lnSpc>
                <a:spcPct val="150000"/>
              </a:lnSpc>
            </a:pPr>
            <a:r>
              <a:rPr lang="en-US" sz="2800" i="1">
                <a:solidFill>
                  <a:srgbClr val="000000"/>
                </a:solidFill>
                <a:latin typeface="Times New Roman" panose="02020603050405020304" charset="0"/>
                <a:sym typeface="+mn-ea"/>
              </a:rPr>
              <a:t>Boolean</a:t>
            </a:r>
            <a:r>
              <a:rPr lang="zh-CN" sz="2800">
                <a:solidFill>
                  <a:srgbClr val="000000"/>
                </a:solidFill>
                <a:cs typeface="Times New Roman" panose="02020603050405020304" charset="0"/>
                <a:sym typeface="+mn-ea"/>
              </a:rPr>
              <a:t> AND &amp;&amp; - 如果 ALL 条件都为真;</a:t>
            </a:r>
            <a:endParaRPr lang="en-US" sz="2800"/>
          </a:p>
        </p:txBody>
      </p:sp>
      <p:sp>
        <p:nvSpPr>
          <p:cNvPr id="6" name="Text Box 5"/>
          <p:cNvSpPr txBox="1"/>
          <p:nvPr/>
        </p:nvSpPr>
        <p:spPr>
          <a:xfrm>
            <a:off x="3236595" y="3081973"/>
            <a:ext cx="5080000" cy="13220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0"/>
            <a:r>
              <a:rPr lang="en-US" sz="2000" b="0">
                <a:solidFill>
                  <a:srgbClr val="001080"/>
                </a:solidFill>
                <a:latin typeface="Consolas" panose="020B0609020204030204" charset="0"/>
              </a:rPr>
              <a:t>console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.</a:t>
            </a:r>
            <a:r>
              <a:rPr lang="en-US" sz="2000" b="0">
                <a:solidFill>
                  <a:srgbClr val="795E26"/>
                </a:solidFill>
                <a:latin typeface="Consolas" panose="020B0609020204030204" charset="0"/>
              </a:rPr>
              <a:t>log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(</a:t>
            </a:r>
            <a:r>
              <a:rPr lang="en-US" sz="2000" b="0">
                <a:solidFill>
                  <a:srgbClr val="0000FF"/>
                </a:solidFill>
                <a:latin typeface="Consolas" panose="020B0609020204030204" charset="0"/>
              </a:rPr>
              <a:t>true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 &amp;&amp; </a:t>
            </a:r>
            <a:r>
              <a:rPr lang="en-US" sz="2000" b="0">
                <a:solidFill>
                  <a:srgbClr val="0000FF"/>
                </a:solidFill>
                <a:latin typeface="Consolas" panose="020B0609020204030204" charset="0"/>
              </a:rPr>
              <a:t>true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);   </a:t>
            </a:r>
            <a:r>
              <a:rPr lang="en-US" sz="2000" b="0">
                <a:solidFill>
                  <a:srgbClr val="008000"/>
                </a:solidFill>
                <a:latin typeface="Consolas" panose="020B0609020204030204" charset="0"/>
              </a:rPr>
              <a:t>// true</a:t>
            </a:r>
            <a:r>
              <a:rPr lang="en-US" sz="2000" b="0">
                <a:solidFill>
                  <a:srgbClr val="001080"/>
                </a:solidFill>
                <a:latin typeface="Consolas" panose="020B0609020204030204" charset="0"/>
              </a:rPr>
              <a:t>console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.</a:t>
            </a:r>
            <a:r>
              <a:rPr lang="en-US" sz="2000" b="0">
                <a:solidFill>
                  <a:srgbClr val="795E26"/>
                </a:solidFill>
                <a:latin typeface="Consolas" panose="020B0609020204030204" charset="0"/>
              </a:rPr>
              <a:t>log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(</a:t>
            </a:r>
            <a:r>
              <a:rPr lang="en-US" sz="2000" b="0">
                <a:solidFill>
                  <a:srgbClr val="0000FF"/>
                </a:solidFill>
                <a:latin typeface="Consolas" panose="020B0609020204030204" charset="0"/>
              </a:rPr>
              <a:t>false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 &amp;&amp; </a:t>
            </a:r>
            <a:r>
              <a:rPr lang="en-US" sz="2000" b="0">
                <a:solidFill>
                  <a:srgbClr val="0000FF"/>
                </a:solidFill>
                <a:latin typeface="Consolas" panose="020B0609020204030204" charset="0"/>
              </a:rPr>
              <a:t>true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);  </a:t>
            </a:r>
            <a:r>
              <a:rPr lang="en-US" sz="2000" b="0">
                <a:solidFill>
                  <a:srgbClr val="008000"/>
                </a:solidFill>
                <a:latin typeface="Consolas" panose="020B0609020204030204" charset="0"/>
              </a:rPr>
              <a:t>// false</a:t>
            </a:r>
            <a:r>
              <a:rPr lang="en-US" sz="2000" b="0">
                <a:solidFill>
                  <a:srgbClr val="001080"/>
                </a:solidFill>
                <a:latin typeface="Consolas" panose="020B0609020204030204" charset="0"/>
              </a:rPr>
              <a:t>console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.</a:t>
            </a:r>
            <a:r>
              <a:rPr lang="en-US" sz="2000" b="0">
                <a:solidFill>
                  <a:srgbClr val="795E26"/>
                </a:solidFill>
                <a:latin typeface="Consolas" panose="020B0609020204030204" charset="0"/>
              </a:rPr>
              <a:t>log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(</a:t>
            </a:r>
            <a:r>
              <a:rPr lang="en-US" sz="2000" b="0">
                <a:solidFill>
                  <a:srgbClr val="0000FF"/>
                </a:solidFill>
                <a:latin typeface="Consolas" panose="020B0609020204030204" charset="0"/>
              </a:rPr>
              <a:t>true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 &amp;&amp; </a:t>
            </a:r>
            <a:r>
              <a:rPr lang="en-US" sz="2000" b="0">
                <a:solidFill>
                  <a:srgbClr val="0000FF"/>
                </a:solidFill>
                <a:latin typeface="Consolas" panose="020B0609020204030204" charset="0"/>
              </a:rPr>
              <a:t>false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);  </a:t>
            </a:r>
            <a:r>
              <a:rPr lang="en-US" sz="2000" b="0">
                <a:solidFill>
                  <a:srgbClr val="008000"/>
                </a:solidFill>
                <a:latin typeface="Consolas" panose="020B0609020204030204" charset="0"/>
              </a:rPr>
              <a:t>// false</a:t>
            </a:r>
            <a:r>
              <a:rPr lang="en-US" sz="2000" b="0">
                <a:solidFill>
                  <a:srgbClr val="001080"/>
                </a:solidFill>
                <a:latin typeface="Consolas" panose="020B0609020204030204" charset="0"/>
              </a:rPr>
              <a:t>console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.</a:t>
            </a:r>
            <a:r>
              <a:rPr lang="en-US" sz="2000" b="0">
                <a:solidFill>
                  <a:srgbClr val="795E26"/>
                </a:solidFill>
                <a:latin typeface="Consolas" panose="020B0609020204030204" charset="0"/>
              </a:rPr>
              <a:t>log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(</a:t>
            </a:r>
            <a:r>
              <a:rPr lang="en-US" sz="2000" b="0">
                <a:solidFill>
                  <a:srgbClr val="0000FF"/>
                </a:solidFill>
                <a:latin typeface="Consolas" panose="020B0609020204030204" charset="0"/>
              </a:rPr>
              <a:t>false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 &amp;&amp; </a:t>
            </a:r>
            <a:r>
              <a:rPr lang="en-US" sz="2000" b="0">
                <a:solidFill>
                  <a:srgbClr val="0000FF"/>
                </a:solidFill>
                <a:latin typeface="Consolas" panose="020B0609020204030204" charset="0"/>
              </a:rPr>
              <a:t>false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); </a:t>
            </a:r>
            <a:r>
              <a:rPr lang="en-US" sz="2000" b="0">
                <a:solidFill>
                  <a:srgbClr val="008000"/>
                </a:solidFill>
                <a:latin typeface="Consolas" panose="020B0609020204030204" charset="0"/>
              </a:rPr>
              <a:t>// false</a:t>
            </a:r>
            <a:endParaRPr lang="en-US" sz="20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419735" y="1167765"/>
            <a:ext cx="6207125" cy="4154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400"/>
              <a:t>Оператор И (&amp;&amp;)</a:t>
            </a:r>
            <a:endParaRPr lang="en-US" altLang="en-US" sz="2400"/>
          </a:p>
          <a:p>
            <a:r>
              <a:rPr lang="en-US" altLang="en-US" sz="2400"/>
              <a:t>Пример: запуск робота-пылесоса</a:t>
            </a:r>
            <a:endParaRPr lang="en-US" altLang="en-US" sz="2400"/>
          </a:p>
          <a:p>
            <a:endParaRPr lang="en-US" altLang="en-US" sz="2400"/>
          </a:p>
          <a:p>
            <a:r>
              <a:rPr lang="en-US" altLang="en-US" sz="2400"/>
              <a:t>Робот включится только если:</a:t>
            </a:r>
            <a:endParaRPr lang="en-US" altLang="en-US" sz="2400"/>
          </a:p>
          <a:p>
            <a:r>
              <a:rPr lang="en-US" altLang="en-US" sz="2400"/>
              <a:t>— батарея заряжена</a:t>
            </a:r>
            <a:endParaRPr lang="en-US" altLang="en-US" sz="2400"/>
          </a:p>
          <a:p>
            <a:r>
              <a:rPr lang="ru-RU" altLang="en-US" sz="2400" b="1"/>
              <a:t>И</a:t>
            </a:r>
            <a:endParaRPr lang="en-US" altLang="en-US" sz="2400" b="1"/>
          </a:p>
          <a:p>
            <a:r>
              <a:rPr lang="en-US" altLang="en-US" sz="2400"/>
              <a:t>— </a:t>
            </a:r>
            <a:r>
              <a:rPr lang="ru-RU" altLang="en-US" sz="2400"/>
              <a:t>контейнер для пыли вставлен</a:t>
            </a:r>
            <a:endParaRPr lang="ru-RU" altLang="en-US" sz="2400"/>
          </a:p>
          <a:p>
            <a:endParaRPr lang="ru-RU" altLang="en-US" sz="2400"/>
          </a:p>
          <a:p>
            <a:r>
              <a:rPr lang="en-US" altLang="en-US" sz="2400"/>
              <a:t>Если оба условия выполнены — работа начинается.</a:t>
            </a:r>
            <a:endParaRPr lang="en-US" altLang="en-US" sz="2400"/>
          </a:p>
          <a:p>
            <a:r>
              <a:rPr lang="en-US" altLang="en-US" sz="2400"/>
              <a:t>Если одно из них — нет, робот отдыхает.</a:t>
            </a:r>
            <a:endParaRPr lang="en-US" altLang="en-US" sz="24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596900" y="583565"/>
            <a:ext cx="8348980" cy="1291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just">
              <a:lnSpc>
                <a:spcPct val="150000"/>
              </a:lnSpc>
            </a:pPr>
            <a:r>
              <a:rPr lang="zh-CN" sz="2400">
                <a:solidFill>
                  <a:srgbClr val="000000"/>
                </a:solidFill>
                <a:cs typeface="Times New Roman" panose="02020603050405020304" charset="0"/>
                <a:sym typeface="+mn-ea"/>
              </a:rPr>
              <a:t>二.</a:t>
            </a:r>
            <a:r>
              <a:rPr lang="en-US" sz="2400">
                <a:solidFill>
                  <a:srgbClr val="000000"/>
                </a:solidFill>
                <a:latin typeface="Times New Roman" panose="02020603050405020304" charset="0"/>
                <a:sym typeface="+mn-ea"/>
              </a:rPr>
              <a:t> Логическое ИЛИ || - если ОДНО из условий true;</a:t>
            </a:r>
            <a:endParaRPr lang="en-US" sz="2400" b="0">
              <a:solidFill>
                <a:srgbClr val="000000"/>
              </a:solidFill>
              <a:latin typeface="Times New Roman" panose="02020603050405020304" charset="0"/>
            </a:endParaRPr>
          </a:p>
          <a:p>
            <a:pPr marL="0" indent="0" algn="just">
              <a:lnSpc>
                <a:spcPct val="150000"/>
              </a:lnSpc>
            </a:pPr>
            <a:r>
              <a:rPr lang="zh-CN" sz="2800">
                <a:solidFill>
                  <a:srgbClr val="000000"/>
                </a:solidFill>
                <a:cs typeface="Times New Roman" panose="02020603050405020304" charset="0"/>
                <a:sym typeface="+mn-ea"/>
              </a:rPr>
              <a:t>逻辑 OR ||- 如果其中一个条件为真;</a:t>
            </a:r>
            <a:endParaRPr lang="en-US" sz="2800"/>
          </a:p>
        </p:txBody>
      </p:sp>
      <p:sp>
        <p:nvSpPr>
          <p:cNvPr id="6" name="Text Box 5"/>
          <p:cNvSpPr txBox="1"/>
          <p:nvPr/>
        </p:nvSpPr>
        <p:spPr>
          <a:xfrm>
            <a:off x="3236595" y="3081973"/>
            <a:ext cx="5080000" cy="13220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0"/>
            <a:r>
              <a:rPr lang="en-US" sz="2000">
                <a:solidFill>
                  <a:srgbClr val="001080"/>
                </a:solidFill>
                <a:latin typeface="Consolas" panose="020B0609020204030204" charset="0"/>
                <a:sym typeface="+mn-ea"/>
              </a:rPr>
              <a:t>console</a:t>
            </a:r>
            <a:r>
              <a:rPr lang="en-US" sz="2000">
                <a:solidFill>
                  <a:srgbClr val="000000"/>
                </a:solidFill>
                <a:latin typeface="Consolas" panose="020B0609020204030204" charset="0"/>
                <a:sym typeface="+mn-ea"/>
              </a:rPr>
              <a:t>.</a:t>
            </a:r>
            <a:r>
              <a:rPr lang="en-US" sz="2000">
                <a:solidFill>
                  <a:srgbClr val="795E26"/>
                </a:solidFill>
                <a:latin typeface="Consolas" panose="020B0609020204030204" charset="0"/>
                <a:sym typeface="+mn-ea"/>
              </a:rPr>
              <a:t>log</a:t>
            </a:r>
            <a:r>
              <a:rPr lang="en-US" sz="2000">
                <a:solidFill>
                  <a:srgbClr val="000000"/>
                </a:solidFill>
                <a:latin typeface="Consolas" panose="020B0609020204030204" charset="0"/>
                <a:sym typeface="+mn-ea"/>
              </a:rPr>
              <a:t>(</a:t>
            </a:r>
            <a:r>
              <a:rPr lang="en-US" sz="2000">
                <a:solidFill>
                  <a:srgbClr val="0000FF"/>
                </a:solidFill>
                <a:latin typeface="Consolas" panose="020B0609020204030204" charset="0"/>
                <a:sym typeface="+mn-ea"/>
              </a:rPr>
              <a:t>true</a:t>
            </a:r>
            <a:r>
              <a:rPr lang="en-US" sz="2000">
                <a:solidFill>
                  <a:srgbClr val="000000"/>
                </a:solidFill>
                <a:latin typeface="Consolas" panose="020B0609020204030204" charset="0"/>
                <a:sym typeface="+mn-ea"/>
              </a:rPr>
              <a:t> || </a:t>
            </a:r>
            <a:r>
              <a:rPr lang="en-US" sz="2000">
                <a:solidFill>
                  <a:srgbClr val="0000FF"/>
                </a:solidFill>
                <a:latin typeface="Consolas" panose="020B0609020204030204" charset="0"/>
                <a:sym typeface="+mn-ea"/>
              </a:rPr>
              <a:t>true</a:t>
            </a:r>
            <a:r>
              <a:rPr lang="en-US" sz="2000">
                <a:solidFill>
                  <a:srgbClr val="000000"/>
                </a:solidFill>
                <a:latin typeface="Consolas" panose="020B0609020204030204" charset="0"/>
                <a:sym typeface="+mn-ea"/>
              </a:rPr>
              <a:t>);   </a:t>
            </a:r>
            <a:r>
              <a:rPr lang="en-US" sz="2000">
                <a:solidFill>
                  <a:srgbClr val="008000"/>
                </a:solidFill>
                <a:latin typeface="Consolas" panose="020B0609020204030204" charset="0"/>
                <a:sym typeface="+mn-ea"/>
              </a:rPr>
              <a:t>// true</a:t>
            </a:r>
            <a:r>
              <a:rPr lang="en-US" sz="2000">
                <a:solidFill>
                  <a:srgbClr val="001080"/>
                </a:solidFill>
                <a:latin typeface="Consolas" panose="020B0609020204030204" charset="0"/>
                <a:sym typeface="+mn-ea"/>
              </a:rPr>
              <a:t>console</a:t>
            </a:r>
            <a:r>
              <a:rPr lang="en-US" sz="2000">
                <a:solidFill>
                  <a:srgbClr val="000000"/>
                </a:solidFill>
                <a:latin typeface="Consolas" panose="020B0609020204030204" charset="0"/>
                <a:sym typeface="+mn-ea"/>
              </a:rPr>
              <a:t>.</a:t>
            </a:r>
            <a:r>
              <a:rPr lang="en-US" sz="2000">
                <a:solidFill>
                  <a:srgbClr val="795E26"/>
                </a:solidFill>
                <a:latin typeface="Consolas" panose="020B0609020204030204" charset="0"/>
                <a:sym typeface="+mn-ea"/>
              </a:rPr>
              <a:t>log</a:t>
            </a:r>
            <a:r>
              <a:rPr lang="en-US" sz="2000">
                <a:solidFill>
                  <a:srgbClr val="000000"/>
                </a:solidFill>
                <a:latin typeface="Consolas" panose="020B0609020204030204" charset="0"/>
                <a:sym typeface="+mn-ea"/>
              </a:rPr>
              <a:t>(false || </a:t>
            </a:r>
            <a:r>
              <a:rPr lang="en-US" sz="2000">
                <a:solidFill>
                  <a:srgbClr val="0000FF"/>
                </a:solidFill>
                <a:latin typeface="Consolas" panose="020B0609020204030204" charset="0"/>
                <a:sym typeface="+mn-ea"/>
              </a:rPr>
              <a:t>true</a:t>
            </a:r>
            <a:r>
              <a:rPr lang="en-US" sz="2000">
                <a:solidFill>
                  <a:srgbClr val="000000"/>
                </a:solidFill>
                <a:latin typeface="Consolas" panose="020B0609020204030204" charset="0"/>
                <a:sym typeface="+mn-ea"/>
              </a:rPr>
              <a:t>);  </a:t>
            </a:r>
            <a:r>
              <a:rPr lang="en-US" sz="2000">
                <a:solidFill>
                  <a:srgbClr val="008000"/>
                </a:solidFill>
                <a:latin typeface="Consolas" panose="020B0609020204030204" charset="0"/>
                <a:sym typeface="+mn-ea"/>
              </a:rPr>
              <a:t>// true</a:t>
            </a:r>
            <a:r>
              <a:rPr lang="en-US" sz="2000">
                <a:solidFill>
                  <a:srgbClr val="001080"/>
                </a:solidFill>
                <a:latin typeface="Consolas" panose="020B0609020204030204" charset="0"/>
                <a:sym typeface="+mn-ea"/>
              </a:rPr>
              <a:t>console</a:t>
            </a:r>
            <a:r>
              <a:rPr lang="en-US" sz="2000">
                <a:solidFill>
                  <a:srgbClr val="000000"/>
                </a:solidFill>
                <a:latin typeface="Consolas" panose="020B0609020204030204" charset="0"/>
                <a:sym typeface="+mn-ea"/>
              </a:rPr>
              <a:t>.</a:t>
            </a:r>
            <a:r>
              <a:rPr lang="en-US" sz="2000">
                <a:solidFill>
                  <a:srgbClr val="795E26"/>
                </a:solidFill>
                <a:latin typeface="Consolas" panose="020B0609020204030204" charset="0"/>
                <a:sym typeface="+mn-ea"/>
              </a:rPr>
              <a:t>log</a:t>
            </a:r>
            <a:r>
              <a:rPr lang="en-US" sz="2000">
                <a:solidFill>
                  <a:srgbClr val="000000"/>
                </a:solidFill>
                <a:latin typeface="Consolas" panose="020B0609020204030204" charset="0"/>
                <a:sym typeface="+mn-ea"/>
              </a:rPr>
              <a:t>(true || </a:t>
            </a:r>
            <a:r>
              <a:rPr lang="en-US" sz="2000">
                <a:solidFill>
                  <a:srgbClr val="0000FF"/>
                </a:solidFill>
                <a:latin typeface="Consolas" panose="020B0609020204030204" charset="0"/>
                <a:sym typeface="+mn-ea"/>
              </a:rPr>
              <a:t>false</a:t>
            </a:r>
            <a:r>
              <a:rPr lang="en-US" sz="2000">
                <a:solidFill>
                  <a:srgbClr val="000000"/>
                </a:solidFill>
                <a:latin typeface="Consolas" panose="020B0609020204030204" charset="0"/>
                <a:sym typeface="+mn-ea"/>
              </a:rPr>
              <a:t>);  </a:t>
            </a:r>
            <a:r>
              <a:rPr lang="en-US" sz="2000">
                <a:solidFill>
                  <a:srgbClr val="008000"/>
                </a:solidFill>
                <a:latin typeface="Consolas" panose="020B0609020204030204" charset="0"/>
                <a:sym typeface="+mn-ea"/>
              </a:rPr>
              <a:t>// true</a:t>
            </a:r>
            <a:r>
              <a:rPr lang="en-US" sz="2000">
                <a:solidFill>
                  <a:srgbClr val="001080"/>
                </a:solidFill>
                <a:latin typeface="Consolas" panose="020B0609020204030204" charset="0"/>
                <a:sym typeface="+mn-ea"/>
              </a:rPr>
              <a:t>console</a:t>
            </a:r>
            <a:r>
              <a:rPr lang="en-US" sz="2000">
                <a:solidFill>
                  <a:srgbClr val="000000"/>
                </a:solidFill>
                <a:latin typeface="Consolas" panose="020B0609020204030204" charset="0"/>
                <a:sym typeface="+mn-ea"/>
              </a:rPr>
              <a:t>.</a:t>
            </a:r>
            <a:r>
              <a:rPr lang="en-US" sz="2000">
                <a:solidFill>
                  <a:srgbClr val="795E26"/>
                </a:solidFill>
                <a:latin typeface="Consolas" panose="020B0609020204030204" charset="0"/>
                <a:sym typeface="+mn-ea"/>
              </a:rPr>
              <a:t>log</a:t>
            </a:r>
            <a:r>
              <a:rPr lang="en-US" sz="2000">
                <a:solidFill>
                  <a:srgbClr val="000000"/>
                </a:solidFill>
                <a:latin typeface="Consolas" panose="020B0609020204030204" charset="0"/>
                <a:sym typeface="+mn-ea"/>
              </a:rPr>
              <a:t>(false || </a:t>
            </a:r>
            <a:r>
              <a:rPr lang="en-US" sz="2000">
                <a:solidFill>
                  <a:srgbClr val="0000FF"/>
                </a:solidFill>
                <a:latin typeface="Consolas" panose="020B0609020204030204" charset="0"/>
                <a:sym typeface="+mn-ea"/>
              </a:rPr>
              <a:t>false</a:t>
            </a:r>
            <a:r>
              <a:rPr lang="en-US" sz="2000">
                <a:solidFill>
                  <a:srgbClr val="000000"/>
                </a:solidFill>
                <a:latin typeface="Consolas" panose="020B0609020204030204" charset="0"/>
                <a:sym typeface="+mn-ea"/>
              </a:rPr>
              <a:t>); </a:t>
            </a:r>
            <a:r>
              <a:rPr lang="en-US" sz="2000">
                <a:solidFill>
                  <a:srgbClr val="008000"/>
                </a:solidFill>
                <a:latin typeface="Consolas" panose="020B0609020204030204" charset="0"/>
                <a:sym typeface="+mn-ea"/>
              </a:rPr>
              <a:t>// false</a:t>
            </a:r>
            <a:endParaRPr lang="en-US" sz="20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921385" y="1122045"/>
            <a:ext cx="5311140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Оператор ИЛИ (||)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Пример: запуск игры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ru-RU" altLang="en-US" sz="2400">
                <a:latin typeface="Times New Roman" panose="02020603050405020304" charset="0"/>
                <a:cs typeface="Times New Roman" panose="02020603050405020304" charset="0"/>
              </a:rPr>
              <a:t>Вы </a:t>
            </a: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може</a:t>
            </a:r>
            <a:r>
              <a:rPr lang="ru-RU" altLang="en-US" sz="2400">
                <a:latin typeface="Times New Roman" panose="02020603050405020304" charset="0"/>
                <a:cs typeface="Times New Roman" panose="02020603050405020304" charset="0"/>
              </a:rPr>
              <a:t>те</a:t>
            </a: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 сыграть в игру, если у тебя есть: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— приставка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или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— компьютер.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ru-RU" altLang="en-US" sz="2400">
                <a:latin typeface="Times New Roman" panose="02020603050405020304" charset="0"/>
                <a:cs typeface="Times New Roman" panose="02020603050405020304" charset="0"/>
              </a:rPr>
              <a:t>Если у вас есть хотя бы один приибор для иггр - то у вас есть возможность сыгрть.</a:t>
            </a:r>
            <a:endParaRPr lang="ru-RU" altLang="en-US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596900" y="583565"/>
            <a:ext cx="8348980" cy="1291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just">
              <a:lnSpc>
                <a:spcPct val="150000"/>
              </a:lnSpc>
            </a:pPr>
            <a:r>
              <a:rPr lang="en-US" sz="2400">
                <a:solidFill>
                  <a:srgbClr val="000000"/>
                </a:solidFill>
                <a:latin typeface="Times New Roman" panose="02020603050405020304" charset="0"/>
                <a:sym typeface="+mn-ea"/>
              </a:rPr>
              <a:t>三.Логическое НЕ ! или двойное НЕ !!.</a:t>
            </a:r>
            <a:endParaRPr lang="en-US" sz="2400" b="0">
              <a:solidFill>
                <a:srgbClr val="000000"/>
              </a:solidFill>
              <a:latin typeface="Times New Roman" panose="02020603050405020304" charset="0"/>
            </a:endParaRPr>
          </a:p>
          <a:p>
            <a:pPr marL="0" indent="0" algn="just">
              <a:lnSpc>
                <a:spcPct val="150000"/>
              </a:lnSpc>
            </a:pPr>
            <a:r>
              <a:rPr lang="en-US" sz="2800">
                <a:solidFill>
                  <a:srgbClr val="000000"/>
                </a:solidFill>
                <a:latin typeface="Times New Roman" panose="02020603050405020304" charset="0"/>
                <a:sym typeface="+mn-ea"/>
              </a:rPr>
              <a:t>合乎逻辑的不是！或双 DO NOT ！。</a:t>
            </a:r>
            <a:endParaRPr lang="en-US" sz="2800">
              <a:solidFill>
                <a:srgbClr val="000000"/>
              </a:solidFill>
              <a:latin typeface="Times New Roman" panose="02020603050405020304" charset="0"/>
              <a:sym typeface="+mn-ea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998855" y="2887980"/>
            <a:ext cx="5080000" cy="163004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0"/>
            <a:r>
              <a:rPr lang="en-US" sz="2000" b="0">
                <a:solidFill>
                  <a:srgbClr val="001080"/>
                </a:solidFill>
                <a:latin typeface="Consolas" panose="020B0609020204030204" charset="0"/>
              </a:rPr>
              <a:t>console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.</a:t>
            </a:r>
            <a:r>
              <a:rPr lang="en-US" sz="2000" b="0">
                <a:solidFill>
                  <a:srgbClr val="795E26"/>
                </a:solidFill>
                <a:latin typeface="Consolas" panose="020B0609020204030204" charset="0"/>
              </a:rPr>
              <a:t>log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(!</a:t>
            </a:r>
            <a:r>
              <a:rPr lang="en-US" sz="2000" b="0">
                <a:solidFill>
                  <a:srgbClr val="0000FF"/>
                </a:solidFill>
                <a:latin typeface="Consolas" panose="020B0609020204030204" charset="0"/>
              </a:rPr>
              <a:t>true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); </a:t>
            </a:r>
            <a:r>
              <a:rPr lang="en-US" sz="2000" b="0">
                <a:solidFill>
                  <a:srgbClr val="008000"/>
                </a:solidFill>
                <a:latin typeface="Consolas" panose="020B0609020204030204" charset="0"/>
              </a:rPr>
              <a:t>// false</a:t>
            </a:r>
            <a:r>
              <a:rPr lang="en-US" sz="2000" b="0">
                <a:solidFill>
                  <a:srgbClr val="001080"/>
                </a:solidFill>
                <a:latin typeface="Consolas" panose="020B0609020204030204" charset="0"/>
              </a:rPr>
              <a:t>console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.</a:t>
            </a:r>
            <a:r>
              <a:rPr lang="en-US" sz="2000" b="0">
                <a:solidFill>
                  <a:srgbClr val="795E26"/>
                </a:solidFill>
                <a:latin typeface="Consolas" panose="020B0609020204030204" charset="0"/>
              </a:rPr>
              <a:t>log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(!</a:t>
            </a:r>
            <a:r>
              <a:rPr lang="en-US" sz="2000" b="0">
                <a:solidFill>
                  <a:srgbClr val="0000FF"/>
                </a:solidFill>
                <a:latin typeface="Consolas" panose="020B0609020204030204" charset="0"/>
              </a:rPr>
              <a:t>false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); </a:t>
            </a:r>
            <a:r>
              <a:rPr lang="en-US" sz="2000" b="0">
                <a:solidFill>
                  <a:srgbClr val="008000"/>
                </a:solidFill>
                <a:latin typeface="Consolas" panose="020B0609020204030204" charset="0"/>
              </a:rPr>
              <a:t>// true</a:t>
            </a:r>
            <a:r>
              <a:rPr lang="en-US" sz="2000" b="0">
                <a:solidFill>
                  <a:srgbClr val="001080"/>
                </a:solidFill>
                <a:latin typeface="Consolas" panose="020B0609020204030204" charset="0"/>
              </a:rPr>
              <a:t>console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.</a:t>
            </a:r>
            <a:r>
              <a:rPr lang="en-US" sz="2000" b="0">
                <a:solidFill>
                  <a:srgbClr val="795E26"/>
                </a:solidFill>
                <a:latin typeface="Consolas" panose="020B0609020204030204" charset="0"/>
              </a:rPr>
              <a:t>log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(!</a:t>
            </a:r>
            <a:r>
              <a:rPr lang="en-US" sz="2000" b="0">
                <a:solidFill>
                  <a:srgbClr val="A31515"/>
                </a:solidFill>
                <a:latin typeface="Consolas" panose="020B0609020204030204" charset="0"/>
              </a:rPr>
              <a:t>'текст'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); </a:t>
            </a:r>
            <a:r>
              <a:rPr lang="en-US" sz="2000" b="0">
                <a:solidFill>
                  <a:srgbClr val="008000"/>
                </a:solidFill>
                <a:latin typeface="Consolas" panose="020B0609020204030204" charset="0"/>
              </a:rPr>
              <a:t>// false</a:t>
            </a:r>
            <a:r>
              <a:rPr lang="en-US" sz="2000" b="0">
                <a:solidFill>
                  <a:srgbClr val="001080"/>
                </a:solidFill>
                <a:latin typeface="Consolas" panose="020B0609020204030204" charset="0"/>
              </a:rPr>
              <a:t>console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.</a:t>
            </a:r>
            <a:r>
              <a:rPr lang="en-US" sz="2000" b="0">
                <a:solidFill>
                  <a:srgbClr val="795E26"/>
                </a:solidFill>
                <a:latin typeface="Consolas" panose="020B0609020204030204" charset="0"/>
              </a:rPr>
              <a:t>log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(!</a:t>
            </a:r>
            <a:r>
              <a:rPr lang="en-US" sz="2000" b="0">
                <a:solidFill>
                  <a:srgbClr val="098658"/>
                </a:solidFill>
                <a:latin typeface="Consolas" panose="020B0609020204030204" charset="0"/>
              </a:rPr>
              <a:t>5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); </a:t>
            </a:r>
            <a:r>
              <a:rPr lang="en-US" sz="2000" b="0">
                <a:solidFill>
                  <a:srgbClr val="008000"/>
                </a:solidFill>
                <a:latin typeface="Consolas" panose="020B0609020204030204" charset="0"/>
              </a:rPr>
              <a:t>// false</a:t>
            </a:r>
            <a:r>
              <a:rPr lang="en-US" sz="2000" b="0">
                <a:solidFill>
                  <a:srgbClr val="001080"/>
                </a:solidFill>
                <a:latin typeface="Consolas" panose="020B0609020204030204" charset="0"/>
              </a:rPr>
              <a:t>console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.</a:t>
            </a:r>
            <a:r>
              <a:rPr lang="en-US" sz="2000" b="0">
                <a:solidFill>
                  <a:srgbClr val="795E26"/>
                </a:solidFill>
                <a:latin typeface="Consolas" panose="020B0609020204030204" charset="0"/>
              </a:rPr>
              <a:t>log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(!</a:t>
            </a:r>
            <a:r>
              <a:rPr lang="en-US" sz="2000" b="0">
                <a:solidFill>
                  <a:srgbClr val="098658"/>
                </a:solidFill>
                <a:latin typeface="Consolas" panose="020B0609020204030204" charset="0"/>
              </a:rPr>
              <a:t>0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); </a:t>
            </a:r>
            <a:r>
              <a:rPr lang="en-US" sz="2000" b="0">
                <a:solidFill>
                  <a:srgbClr val="008000"/>
                </a:solidFill>
                <a:latin typeface="Consolas" panose="020B0609020204030204" charset="0"/>
              </a:rPr>
              <a:t>// true</a:t>
            </a:r>
            <a:endParaRPr lang="en-US" sz="2000"/>
          </a:p>
        </p:txBody>
      </p:sp>
      <p:sp>
        <p:nvSpPr>
          <p:cNvPr id="7" name="Text Box 6"/>
          <p:cNvSpPr txBox="1"/>
          <p:nvPr/>
        </p:nvSpPr>
        <p:spPr>
          <a:xfrm>
            <a:off x="6414770" y="2887980"/>
            <a:ext cx="5080000" cy="163004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0" indent="0" algn="just"/>
            <a:r>
              <a:rPr lang="en-US" sz="2000" b="0">
                <a:solidFill>
                  <a:srgbClr val="001080"/>
                </a:solidFill>
                <a:latin typeface="Consolas" panose="020B0609020204030204" charset="0"/>
              </a:rPr>
              <a:t>console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.</a:t>
            </a:r>
            <a:r>
              <a:rPr lang="en-US" sz="2000" b="0">
                <a:solidFill>
                  <a:srgbClr val="795E26"/>
                </a:solidFill>
                <a:latin typeface="Consolas" panose="020B0609020204030204" charset="0"/>
              </a:rPr>
              <a:t>log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(!!</a:t>
            </a:r>
            <a:r>
              <a:rPr lang="en-US" sz="2000" b="0">
                <a:solidFill>
                  <a:srgbClr val="0000FF"/>
                </a:solidFill>
                <a:latin typeface="Consolas" panose="020B0609020204030204" charset="0"/>
              </a:rPr>
              <a:t>true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); </a:t>
            </a:r>
            <a:r>
              <a:rPr lang="en-US" sz="2000" b="0">
                <a:solidFill>
                  <a:srgbClr val="008000"/>
                </a:solidFill>
                <a:latin typeface="Consolas" panose="020B0609020204030204" charset="0"/>
              </a:rPr>
              <a:t>// true</a:t>
            </a:r>
            <a:r>
              <a:rPr lang="en-US" sz="2000" b="0">
                <a:solidFill>
                  <a:srgbClr val="001080"/>
                </a:solidFill>
                <a:latin typeface="Consolas" panose="020B0609020204030204" charset="0"/>
              </a:rPr>
              <a:t>console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.</a:t>
            </a:r>
            <a:r>
              <a:rPr lang="en-US" sz="2000" b="0">
                <a:solidFill>
                  <a:srgbClr val="795E26"/>
                </a:solidFill>
                <a:latin typeface="Consolas" panose="020B0609020204030204" charset="0"/>
              </a:rPr>
              <a:t>log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(!!</a:t>
            </a:r>
            <a:r>
              <a:rPr lang="en-US" sz="2000" b="0">
                <a:solidFill>
                  <a:srgbClr val="0000FF"/>
                </a:solidFill>
                <a:latin typeface="Consolas" panose="020B0609020204030204" charset="0"/>
              </a:rPr>
              <a:t>false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); </a:t>
            </a:r>
            <a:r>
              <a:rPr lang="en-US" sz="2000" b="0">
                <a:solidFill>
                  <a:srgbClr val="008000"/>
                </a:solidFill>
                <a:latin typeface="Consolas" panose="020B0609020204030204" charset="0"/>
              </a:rPr>
              <a:t>// false</a:t>
            </a:r>
            <a:r>
              <a:rPr lang="en-US" sz="2000" b="0">
                <a:solidFill>
                  <a:srgbClr val="001080"/>
                </a:solidFill>
                <a:latin typeface="Consolas" panose="020B0609020204030204" charset="0"/>
              </a:rPr>
              <a:t>console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.</a:t>
            </a:r>
            <a:r>
              <a:rPr lang="en-US" sz="2000" b="0">
                <a:solidFill>
                  <a:srgbClr val="795E26"/>
                </a:solidFill>
                <a:latin typeface="Consolas" panose="020B0609020204030204" charset="0"/>
              </a:rPr>
              <a:t>log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(!!</a:t>
            </a:r>
            <a:r>
              <a:rPr lang="en-US" sz="2000" b="0">
                <a:solidFill>
                  <a:srgbClr val="A31515"/>
                </a:solidFill>
                <a:latin typeface="Consolas" panose="020B0609020204030204" charset="0"/>
              </a:rPr>
              <a:t>'текст'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); </a:t>
            </a:r>
            <a:r>
              <a:rPr lang="en-US" sz="2000" b="0">
                <a:solidFill>
                  <a:srgbClr val="008000"/>
                </a:solidFill>
                <a:latin typeface="Consolas" panose="020B0609020204030204" charset="0"/>
              </a:rPr>
              <a:t>// true</a:t>
            </a:r>
            <a:r>
              <a:rPr lang="en-US" sz="2000" b="0">
                <a:solidFill>
                  <a:srgbClr val="001080"/>
                </a:solidFill>
                <a:latin typeface="Consolas" panose="020B0609020204030204" charset="0"/>
              </a:rPr>
              <a:t>console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.</a:t>
            </a:r>
            <a:r>
              <a:rPr lang="en-US" sz="2000" b="0">
                <a:solidFill>
                  <a:srgbClr val="795E26"/>
                </a:solidFill>
                <a:latin typeface="Consolas" panose="020B0609020204030204" charset="0"/>
              </a:rPr>
              <a:t>log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(!!</a:t>
            </a:r>
            <a:r>
              <a:rPr lang="en-US" sz="2000" b="0">
                <a:solidFill>
                  <a:srgbClr val="098658"/>
                </a:solidFill>
                <a:latin typeface="Consolas" panose="020B0609020204030204" charset="0"/>
              </a:rPr>
              <a:t>5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); </a:t>
            </a:r>
            <a:r>
              <a:rPr lang="en-US" sz="2000" b="0">
                <a:solidFill>
                  <a:srgbClr val="008000"/>
                </a:solidFill>
                <a:latin typeface="Consolas" panose="020B0609020204030204" charset="0"/>
              </a:rPr>
              <a:t>// true</a:t>
            </a:r>
            <a:r>
              <a:rPr lang="en-US" sz="2000" b="0">
                <a:solidFill>
                  <a:srgbClr val="001080"/>
                </a:solidFill>
                <a:latin typeface="Consolas" panose="020B0609020204030204" charset="0"/>
              </a:rPr>
              <a:t>console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.</a:t>
            </a:r>
            <a:r>
              <a:rPr lang="en-US" sz="2000" b="0">
                <a:solidFill>
                  <a:srgbClr val="795E26"/>
                </a:solidFill>
                <a:latin typeface="Consolas" panose="020B0609020204030204" charset="0"/>
              </a:rPr>
              <a:t>log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(!!</a:t>
            </a:r>
            <a:r>
              <a:rPr lang="en-US" sz="2000" b="0">
                <a:solidFill>
                  <a:srgbClr val="098658"/>
                </a:solidFill>
                <a:latin typeface="Consolas" panose="020B0609020204030204" charset="0"/>
              </a:rPr>
              <a:t>0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); </a:t>
            </a:r>
            <a:r>
              <a:rPr lang="en-US" sz="2000" b="0">
                <a:solidFill>
                  <a:srgbClr val="008000"/>
                </a:solidFill>
                <a:latin typeface="Consolas" panose="020B0609020204030204" charset="0"/>
              </a:rPr>
              <a:t>// false</a:t>
            </a:r>
            <a:endParaRPr lang="en-US" sz="2000" b="0">
              <a:solidFill>
                <a:srgbClr val="008000"/>
              </a:solidFill>
              <a:latin typeface="Consolas" panose="020B0609020204030204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650240" y="979805"/>
            <a:ext cx="5582920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Оператор НЕ (!)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Пример: проверка на дождь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Если не идёт дождь — можно идти гулять.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Двойное НЕ (!!)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Пример: есть ли заряд в телефоне?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Заряд как число → в логическое значение.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1274445" y="1061720"/>
            <a:ext cx="9420860" cy="4154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Вместе if + логические операторы дают программе </a:t>
            </a: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«</a:t>
            </a: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интеллект</a:t>
            </a: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»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Они позволяют: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реагировать на разные ситуации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проверять множество условий сразу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принимать решения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выполнять разные действия в зависимости от данных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создавать умное поведение (игры, сайты, приложения)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Без них код выполнялся бы линейно, без возможности выбора.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570865" y="557848"/>
            <a:ext cx="5080000" cy="368300"/>
          </a:xfrm>
          <a:prstGeom prst="rect">
            <a:avLst/>
          </a:prstGeom>
        </p:spPr>
        <p:txBody>
          <a:bodyPr>
            <a:spAutoFit/>
          </a:bodyPr>
          <a:p>
            <a:r>
              <a:rPr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ru-RU">
                <a:latin typeface="Times New Roman" panose="02020603050405020304" charset="0"/>
                <a:cs typeface="Times New Roman" panose="02020603050405020304" charset="0"/>
              </a:rPr>
              <a:t>О</a:t>
            </a:r>
            <a:r>
              <a:rPr>
                <a:latin typeface="Times New Roman" panose="02020603050405020304" charset="0"/>
                <a:cs typeface="Times New Roman" panose="02020603050405020304" charset="0"/>
              </a:rPr>
              <a:t>ператор switch в JavaScript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570865" y="1495425"/>
            <a:ext cx="10949940" cy="2306955"/>
          </a:xfrm>
          <a:prstGeom prst="rect">
            <a:avLst/>
          </a:prstGeom>
        </p:spPr>
        <p:txBody>
          <a:bodyPr wrap="square">
            <a:spAutoFit/>
          </a:bodyPr>
          <a:p>
            <a:pPr algn="just"/>
            <a:r>
              <a:rPr lang="en-US" sz="2400">
                <a:latin typeface="Times New Roman" panose="02020603050405020304" charset="0"/>
                <a:cs typeface="Times New Roman" panose="02020603050405020304" charset="0"/>
              </a:rPr>
              <a:t>S</a:t>
            </a:r>
            <a:r>
              <a:rPr sz="2400">
                <a:latin typeface="Times New Roman" panose="02020603050405020304" charset="0"/>
                <a:cs typeface="Times New Roman" panose="02020603050405020304" charset="0"/>
              </a:rPr>
              <a:t>witch — это альтернативная конструкция ветвления, которая позволяет сравнивать одно выражение с множеством возможных значений.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endParaRPr sz="240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endParaRPr sz="240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r>
              <a:rPr sz="2400">
                <a:latin typeface="Times New Roman" panose="02020603050405020304" charset="0"/>
                <a:cs typeface="Times New Roman" panose="02020603050405020304" charset="0"/>
              </a:rPr>
              <a:t>Его удобно использовать, когда есть много вариантов выбора, и if...else становится громоздким.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469900" y="436563"/>
            <a:ext cx="5080000" cy="398780"/>
          </a:xfrm>
          <a:prstGeom prst="rect">
            <a:avLst/>
          </a:prstGeom>
        </p:spPr>
        <p:txBody>
          <a:bodyPr>
            <a:spAutoFit/>
          </a:bodyPr>
          <a:p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Общий синтаксис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1016000" y="2168525"/>
            <a:ext cx="9244965" cy="316928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00000"/>
              </a:lnSpc>
            </a:pPr>
            <a:r>
              <a:rPr sz="2000" b="0">
                <a:solidFill>
                  <a:srgbClr val="AF00DB"/>
                </a:solidFill>
                <a:latin typeface="Menlo" panose="020B0609030804020204"/>
                <a:ea typeface="Menlo" panose="020B0609030804020204"/>
              </a:rPr>
              <a:t>switch</a:t>
            </a:r>
            <a:r>
              <a:rPr sz="20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 (</a:t>
            </a:r>
            <a:r>
              <a:rPr sz="2000" b="0">
                <a:solidFill>
                  <a:srgbClr val="001080"/>
                </a:solidFill>
                <a:latin typeface="Menlo" panose="020B0609030804020204"/>
                <a:ea typeface="Menlo" panose="020B0609030804020204"/>
              </a:rPr>
              <a:t>expression</a:t>
            </a:r>
            <a:r>
              <a:rPr sz="20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) {</a:t>
            </a:r>
            <a:endParaRPr sz="2000" b="0">
              <a:solidFill>
                <a:srgbClr val="3B3B3B"/>
              </a:solidFill>
              <a:latin typeface="Menlo" panose="020B0609030804020204"/>
              <a:ea typeface="Menlo" panose="020B0609030804020204"/>
            </a:endParaRPr>
          </a:p>
          <a:p>
            <a:pPr lvl="1">
              <a:lnSpc>
                <a:spcPct val="100000"/>
              </a:lnSpc>
            </a:pPr>
            <a:r>
              <a:rPr sz="2000" b="0">
                <a:solidFill>
                  <a:srgbClr val="AF00DB"/>
                </a:solidFill>
                <a:latin typeface="Menlo" panose="020B0609030804020204"/>
                <a:ea typeface="Menlo" panose="020B0609030804020204"/>
              </a:rPr>
              <a:t>case</a:t>
            </a:r>
            <a:r>
              <a:rPr lang="en-US" sz="2000" b="0">
                <a:solidFill>
                  <a:srgbClr val="AF00DB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2000" b="0">
                <a:solidFill>
                  <a:srgbClr val="001080"/>
                </a:solidFill>
                <a:latin typeface="Menlo" panose="020B0609030804020204"/>
                <a:ea typeface="Menlo" panose="020B0609030804020204"/>
              </a:rPr>
              <a:t>value1</a:t>
            </a:r>
            <a:r>
              <a:rPr sz="20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:</a:t>
            </a:r>
            <a:endParaRPr sz="2000" b="0">
              <a:solidFill>
                <a:srgbClr val="3B3B3B"/>
              </a:solidFill>
              <a:latin typeface="Menlo" panose="020B0609030804020204"/>
              <a:ea typeface="Menlo" panose="020B0609030804020204"/>
            </a:endParaRPr>
          </a:p>
          <a:p>
            <a:pPr lvl="1" indent="457200">
              <a:lnSpc>
                <a:spcPct val="100000"/>
              </a:lnSpc>
            </a:pPr>
            <a:r>
              <a:rPr sz="2000" b="0">
                <a:solidFill>
                  <a:srgbClr val="008000"/>
                </a:solidFill>
                <a:latin typeface="Menlo" panose="020B0609030804020204"/>
                <a:ea typeface="Menlo" panose="020B0609030804020204"/>
              </a:rPr>
              <a:t>// Код, если expression === value1</a:t>
            </a:r>
            <a:endParaRPr sz="2000" b="0">
              <a:solidFill>
                <a:srgbClr val="008000"/>
              </a:solidFill>
              <a:latin typeface="Menlo" panose="020B0609030804020204"/>
              <a:ea typeface="Menlo" panose="020B0609030804020204"/>
            </a:endParaRPr>
          </a:p>
          <a:p>
            <a:pPr lvl="1" indent="457200">
              <a:lnSpc>
                <a:spcPct val="100000"/>
              </a:lnSpc>
            </a:pPr>
            <a:r>
              <a:rPr sz="2000" b="0">
                <a:solidFill>
                  <a:srgbClr val="AF00DB"/>
                </a:solidFill>
                <a:latin typeface="Menlo" panose="020B0609030804020204"/>
                <a:ea typeface="Menlo" panose="020B0609030804020204"/>
              </a:rPr>
              <a:t>break</a:t>
            </a:r>
            <a:r>
              <a:rPr sz="20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;</a:t>
            </a:r>
            <a:endParaRPr sz="2000" b="0">
              <a:solidFill>
                <a:srgbClr val="3B3B3B"/>
              </a:solidFill>
              <a:latin typeface="Menlo" panose="020B0609030804020204"/>
              <a:ea typeface="Menlo" panose="020B0609030804020204"/>
            </a:endParaRPr>
          </a:p>
          <a:p>
            <a:pPr lvl="1">
              <a:lnSpc>
                <a:spcPct val="100000"/>
              </a:lnSpc>
            </a:pPr>
            <a:r>
              <a:rPr sz="2000" b="0">
                <a:solidFill>
                  <a:srgbClr val="AF00DB"/>
                </a:solidFill>
                <a:latin typeface="Menlo" panose="020B0609030804020204"/>
                <a:ea typeface="Menlo" panose="020B0609030804020204"/>
              </a:rPr>
              <a:t>case</a:t>
            </a:r>
            <a:r>
              <a:rPr lang="en-US" sz="2000" b="0">
                <a:solidFill>
                  <a:srgbClr val="AF00DB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2000" b="0">
                <a:solidFill>
                  <a:srgbClr val="001080"/>
                </a:solidFill>
                <a:latin typeface="Menlo" panose="020B0609030804020204"/>
                <a:ea typeface="Menlo" panose="020B0609030804020204"/>
              </a:rPr>
              <a:t>value2</a:t>
            </a:r>
            <a:r>
              <a:rPr sz="20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:</a:t>
            </a:r>
            <a:endParaRPr sz="2000" b="0">
              <a:solidFill>
                <a:srgbClr val="3B3B3B"/>
              </a:solidFill>
              <a:latin typeface="Menlo" panose="020B0609030804020204"/>
              <a:ea typeface="Menlo" panose="020B0609030804020204"/>
            </a:endParaRPr>
          </a:p>
          <a:p>
            <a:pPr lvl="1" indent="457200">
              <a:lnSpc>
                <a:spcPct val="100000"/>
              </a:lnSpc>
            </a:pPr>
            <a:r>
              <a:rPr sz="2000" b="0">
                <a:solidFill>
                  <a:srgbClr val="008000"/>
                </a:solidFill>
                <a:latin typeface="Menlo" panose="020B0609030804020204"/>
                <a:ea typeface="Menlo" panose="020B0609030804020204"/>
              </a:rPr>
              <a:t>// Код, если expression === value2</a:t>
            </a:r>
            <a:endParaRPr sz="2000" b="0">
              <a:solidFill>
                <a:srgbClr val="008000"/>
              </a:solidFill>
              <a:latin typeface="Menlo" panose="020B0609030804020204"/>
              <a:ea typeface="Menlo" panose="020B0609030804020204"/>
            </a:endParaRPr>
          </a:p>
          <a:p>
            <a:pPr lvl="1" indent="457200">
              <a:lnSpc>
                <a:spcPct val="100000"/>
              </a:lnSpc>
            </a:pPr>
            <a:r>
              <a:rPr sz="2000" b="0">
                <a:solidFill>
                  <a:srgbClr val="AF00DB"/>
                </a:solidFill>
                <a:latin typeface="Menlo" panose="020B0609030804020204"/>
                <a:ea typeface="Menlo" panose="020B0609030804020204"/>
              </a:rPr>
              <a:t>break</a:t>
            </a:r>
            <a:r>
              <a:rPr sz="20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;</a:t>
            </a:r>
            <a:endParaRPr sz="2000" b="0">
              <a:solidFill>
                <a:srgbClr val="3B3B3B"/>
              </a:solidFill>
              <a:latin typeface="Menlo" panose="020B0609030804020204"/>
              <a:ea typeface="Menlo" panose="020B0609030804020204"/>
            </a:endParaRPr>
          </a:p>
          <a:p>
            <a:pPr lvl="1">
              <a:lnSpc>
                <a:spcPct val="100000"/>
              </a:lnSpc>
            </a:pPr>
            <a:r>
              <a:rPr sz="2000" b="0">
                <a:solidFill>
                  <a:srgbClr val="AF00DB"/>
                </a:solidFill>
                <a:latin typeface="Menlo" panose="020B0609030804020204"/>
                <a:ea typeface="Menlo" panose="020B0609030804020204"/>
              </a:rPr>
              <a:t>default</a:t>
            </a:r>
            <a:r>
              <a:rPr sz="20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:</a:t>
            </a:r>
            <a:endParaRPr sz="2000" b="0">
              <a:solidFill>
                <a:srgbClr val="3B3B3B"/>
              </a:solidFill>
              <a:latin typeface="Menlo" panose="020B0609030804020204"/>
              <a:ea typeface="Menlo" panose="020B0609030804020204"/>
            </a:endParaRPr>
          </a:p>
          <a:p>
            <a:pPr lvl="1" indent="457200">
              <a:lnSpc>
                <a:spcPct val="100000"/>
              </a:lnSpc>
            </a:pPr>
            <a:r>
              <a:rPr sz="2000" b="0">
                <a:solidFill>
                  <a:srgbClr val="008000"/>
                </a:solidFill>
                <a:latin typeface="Menlo" panose="020B0609030804020204"/>
                <a:ea typeface="Menlo" panose="020B0609030804020204"/>
              </a:rPr>
              <a:t>// Код, если ни один case не подошёл</a:t>
            </a:r>
            <a:endParaRPr sz="2000" b="0">
              <a:solidFill>
                <a:srgbClr val="008000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ct val="100000"/>
              </a:lnSpc>
            </a:pPr>
            <a:r>
              <a:rPr sz="20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}</a:t>
            </a:r>
            <a:endParaRPr sz="2000" b="0">
              <a:solidFill>
                <a:srgbClr val="3B3B3B"/>
              </a:solidFill>
              <a:latin typeface="Menlo" panose="020B0609030804020204"/>
              <a:ea typeface="Menlo" panose="020B0609030804020204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469900" y="436563"/>
            <a:ext cx="5080000" cy="398780"/>
          </a:xfrm>
          <a:prstGeom prst="rect">
            <a:avLst/>
          </a:prstGeom>
        </p:spPr>
        <p:txBody>
          <a:bodyPr>
            <a:spAutoFit/>
          </a:bodyPr>
          <a:p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Общий синтаксис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469900" y="2120265"/>
            <a:ext cx="10883900" cy="101473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sz="2000">
                <a:latin typeface="Times New Roman" panose="02020603050405020304" charset="0"/>
                <a:cs typeface="Times New Roman" panose="02020603050405020304" charset="0"/>
              </a:rPr>
              <a:t>E</a:t>
            </a: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xpression сравнивается со значением case с помощью строгого сравнения (===).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2000">
                <a:latin typeface="Times New Roman" panose="02020603050405020304" charset="0"/>
                <a:cs typeface="Times New Roman" panose="02020603050405020304" charset="0"/>
              </a:rPr>
              <a:t>B</a:t>
            </a: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reak нужен, чтобы выйти из switch.</a:t>
            </a:r>
            <a:r>
              <a:rPr lang="en-US" sz="20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Если его нет — произойдёт проваливание (fall-through).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858520" y="447040"/>
            <a:ext cx="4406900" cy="2676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Что такое "проваливание" (fall-through)?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Если убрать break, то выполнение просто продолжится до следующего break.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7240" y="447040"/>
            <a:ext cx="6011545" cy="4982845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2" name="Text Box 1"/>
          <p:cNvSpPr txBox="1"/>
          <p:nvPr/>
        </p:nvSpPr>
        <p:spPr>
          <a:xfrm>
            <a:off x="576580" y="473710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800">
                <a:latin typeface="Times New Roman" panose="02020603050405020304" charset="0"/>
                <a:cs typeface="Times New Roman" panose="02020603050405020304" charset="0"/>
              </a:rPr>
              <a:t>Группировка вариантов</a:t>
            </a: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2383155" y="2534285"/>
            <a:ext cx="7425690" cy="316928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00000"/>
              </a:lnSpc>
            </a:pPr>
            <a:r>
              <a:rPr sz="2000" b="0">
                <a:solidFill>
                  <a:srgbClr val="0000FF"/>
                </a:solidFill>
                <a:latin typeface="Menlo" panose="020B0609030804020204"/>
                <a:ea typeface="Menlo" panose="020B0609030804020204"/>
              </a:rPr>
              <a:t>let</a:t>
            </a:r>
            <a:r>
              <a:rPr sz="2000" b="0">
                <a:solidFill>
                  <a:srgbClr val="001080"/>
                </a:solidFill>
                <a:latin typeface="Menlo" panose="020B0609030804020204"/>
                <a:ea typeface="Menlo" panose="020B0609030804020204"/>
              </a:rPr>
              <a:t>fruit</a:t>
            </a:r>
            <a:r>
              <a:rPr sz="20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=</a:t>
            </a:r>
            <a:r>
              <a:rPr sz="2000" b="0">
                <a:solidFill>
                  <a:srgbClr val="A31515"/>
                </a:solidFill>
                <a:latin typeface="Menlo" panose="020B0609030804020204"/>
                <a:ea typeface="Menlo" panose="020B0609030804020204"/>
              </a:rPr>
              <a:t>"apple"</a:t>
            </a:r>
            <a:r>
              <a:rPr sz="20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;</a:t>
            </a:r>
            <a:endParaRPr sz="2000" b="0">
              <a:solidFill>
                <a:srgbClr val="3B3B3B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ct val="100000"/>
              </a:lnSpc>
            </a:pPr>
            <a:r>
              <a:rPr sz="2000" b="0">
                <a:solidFill>
                  <a:srgbClr val="AF00DB"/>
                </a:solidFill>
                <a:latin typeface="Menlo" panose="020B0609030804020204"/>
                <a:ea typeface="Menlo" panose="020B0609030804020204"/>
              </a:rPr>
              <a:t>switch</a:t>
            </a:r>
            <a:r>
              <a:rPr sz="20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 (</a:t>
            </a:r>
            <a:r>
              <a:rPr sz="2000" b="0">
                <a:solidFill>
                  <a:srgbClr val="001080"/>
                </a:solidFill>
                <a:latin typeface="Menlo" panose="020B0609030804020204"/>
                <a:ea typeface="Menlo" panose="020B0609030804020204"/>
              </a:rPr>
              <a:t>fruit</a:t>
            </a:r>
            <a:r>
              <a:rPr sz="20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) {</a:t>
            </a:r>
            <a:endParaRPr sz="2000" b="0">
              <a:solidFill>
                <a:srgbClr val="3B3B3B"/>
              </a:solidFill>
              <a:latin typeface="Menlo" panose="020B0609030804020204"/>
              <a:ea typeface="Menlo" panose="020B0609030804020204"/>
            </a:endParaRPr>
          </a:p>
          <a:p>
            <a:pPr lvl="1">
              <a:lnSpc>
                <a:spcPct val="100000"/>
              </a:lnSpc>
            </a:pPr>
            <a:r>
              <a:rPr sz="2000" b="0">
                <a:solidFill>
                  <a:srgbClr val="AF00DB"/>
                </a:solidFill>
                <a:latin typeface="Menlo" panose="020B0609030804020204"/>
                <a:ea typeface="Menlo" panose="020B0609030804020204"/>
              </a:rPr>
              <a:t>case</a:t>
            </a:r>
            <a:r>
              <a:rPr sz="2000" b="0">
                <a:solidFill>
                  <a:srgbClr val="A31515"/>
                </a:solidFill>
                <a:latin typeface="Menlo" panose="020B0609030804020204"/>
                <a:ea typeface="Menlo" panose="020B0609030804020204"/>
              </a:rPr>
              <a:t>"apple"</a:t>
            </a:r>
            <a:r>
              <a:rPr sz="20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:</a:t>
            </a:r>
            <a:endParaRPr sz="2000" b="0">
              <a:solidFill>
                <a:srgbClr val="3B3B3B"/>
              </a:solidFill>
              <a:latin typeface="Menlo" panose="020B0609030804020204"/>
              <a:ea typeface="Menlo" panose="020B0609030804020204"/>
            </a:endParaRPr>
          </a:p>
          <a:p>
            <a:pPr lvl="1">
              <a:lnSpc>
                <a:spcPct val="100000"/>
              </a:lnSpc>
            </a:pPr>
            <a:r>
              <a:rPr sz="2000" b="0">
                <a:solidFill>
                  <a:srgbClr val="AF00DB"/>
                </a:solidFill>
                <a:latin typeface="Menlo" panose="020B0609030804020204"/>
                <a:ea typeface="Menlo" panose="020B0609030804020204"/>
              </a:rPr>
              <a:t>case</a:t>
            </a:r>
            <a:r>
              <a:rPr sz="2000" b="0">
                <a:solidFill>
                  <a:srgbClr val="A31515"/>
                </a:solidFill>
                <a:latin typeface="Menlo" panose="020B0609030804020204"/>
                <a:ea typeface="Menlo" panose="020B0609030804020204"/>
              </a:rPr>
              <a:t>"pear"</a:t>
            </a:r>
            <a:r>
              <a:rPr sz="20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:</a:t>
            </a:r>
            <a:endParaRPr sz="2000" b="0">
              <a:solidFill>
                <a:srgbClr val="3B3B3B"/>
              </a:solidFill>
              <a:latin typeface="Menlo" panose="020B0609030804020204"/>
              <a:ea typeface="Menlo" panose="020B0609030804020204"/>
            </a:endParaRPr>
          </a:p>
          <a:p>
            <a:pPr lvl="1">
              <a:lnSpc>
                <a:spcPct val="100000"/>
              </a:lnSpc>
            </a:pPr>
            <a:r>
              <a:rPr sz="2000" b="0">
                <a:solidFill>
                  <a:srgbClr val="AF00DB"/>
                </a:solidFill>
                <a:latin typeface="Menlo" panose="020B0609030804020204"/>
                <a:ea typeface="Menlo" panose="020B0609030804020204"/>
              </a:rPr>
              <a:t>case</a:t>
            </a:r>
            <a:r>
              <a:rPr sz="2000" b="0">
                <a:solidFill>
                  <a:srgbClr val="A31515"/>
                </a:solidFill>
                <a:latin typeface="Menlo" panose="020B0609030804020204"/>
                <a:ea typeface="Menlo" panose="020B0609030804020204"/>
              </a:rPr>
              <a:t>"plum"</a:t>
            </a:r>
            <a:r>
              <a:rPr sz="20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:</a:t>
            </a:r>
            <a:endParaRPr sz="2000" b="0">
              <a:solidFill>
                <a:srgbClr val="3B3B3B"/>
              </a:solidFill>
              <a:latin typeface="Menlo" panose="020B0609030804020204"/>
              <a:ea typeface="Menlo" panose="020B0609030804020204"/>
            </a:endParaRPr>
          </a:p>
          <a:p>
            <a:pPr lvl="2">
              <a:lnSpc>
                <a:spcPct val="100000"/>
              </a:lnSpc>
            </a:pPr>
            <a:r>
              <a:rPr sz="2000" b="0">
                <a:solidFill>
                  <a:srgbClr val="001080"/>
                </a:solidFill>
                <a:latin typeface="Menlo" panose="020B0609030804020204"/>
                <a:ea typeface="Menlo" panose="020B0609030804020204"/>
              </a:rPr>
              <a:t>console</a:t>
            </a:r>
            <a:r>
              <a:rPr sz="20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.</a:t>
            </a:r>
            <a:r>
              <a:rPr sz="2000" b="0">
                <a:solidFill>
                  <a:srgbClr val="795E26"/>
                </a:solidFill>
                <a:latin typeface="Menlo" panose="020B0609030804020204"/>
                <a:ea typeface="Menlo" panose="020B0609030804020204"/>
              </a:rPr>
              <a:t>log</a:t>
            </a:r>
            <a:r>
              <a:rPr sz="20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(</a:t>
            </a:r>
            <a:r>
              <a:rPr sz="2000" b="0">
                <a:solidFill>
                  <a:srgbClr val="A31515"/>
                </a:solidFill>
                <a:latin typeface="Menlo" panose="020B0609030804020204"/>
                <a:ea typeface="Menlo" panose="020B0609030804020204"/>
              </a:rPr>
              <a:t>"Это фрукт из косточковых"</a:t>
            </a:r>
            <a:r>
              <a:rPr sz="20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);</a:t>
            </a:r>
            <a:endParaRPr sz="2000" b="0">
              <a:solidFill>
                <a:srgbClr val="3B3B3B"/>
              </a:solidFill>
              <a:latin typeface="Menlo" panose="020B0609030804020204"/>
              <a:ea typeface="Menlo" panose="020B0609030804020204"/>
            </a:endParaRPr>
          </a:p>
          <a:p>
            <a:pPr lvl="2">
              <a:lnSpc>
                <a:spcPct val="100000"/>
              </a:lnSpc>
            </a:pPr>
            <a:r>
              <a:rPr sz="2000" b="0">
                <a:solidFill>
                  <a:srgbClr val="AF00DB"/>
                </a:solidFill>
                <a:latin typeface="Menlo" panose="020B0609030804020204"/>
                <a:ea typeface="Menlo" panose="020B0609030804020204"/>
              </a:rPr>
              <a:t>break</a:t>
            </a:r>
            <a:r>
              <a:rPr sz="20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;</a:t>
            </a:r>
            <a:endParaRPr sz="2000" b="0">
              <a:solidFill>
                <a:srgbClr val="3B3B3B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ct val="100000"/>
              </a:lnSpc>
            </a:pPr>
            <a:r>
              <a:rPr sz="2000" b="0">
                <a:solidFill>
                  <a:srgbClr val="AF00DB"/>
                </a:solidFill>
                <a:latin typeface="Menlo" panose="020B0609030804020204"/>
                <a:ea typeface="Menlo" panose="020B0609030804020204"/>
              </a:rPr>
              <a:t>default</a:t>
            </a:r>
            <a:r>
              <a:rPr sz="20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:</a:t>
            </a:r>
            <a:endParaRPr sz="2000" b="0">
              <a:solidFill>
                <a:srgbClr val="3B3B3B"/>
              </a:solidFill>
              <a:latin typeface="Menlo" panose="020B0609030804020204"/>
              <a:ea typeface="Menlo" panose="020B0609030804020204"/>
            </a:endParaRPr>
          </a:p>
          <a:p>
            <a:pPr indent="457200">
              <a:lnSpc>
                <a:spcPct val="100000"/>
              </a:lnSpc>
            </a:pPr>
            <a:r>
              <a:rPr sz="2000" b="0">
                <a:solidFill>
                  <a:srgbClr val="001080"/>
                </a:solidFill>
                <a:latin typeface="Menlo" panose="020B0609030804020204"/>
                <a:ea typeface="Menlo" panose="020B0609030804020204"/>
              </a:rPr>
              <a:t>console</a:t>
            </a:r>
            <a:r>
              <a:rPr sz="20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.</a:t>
            </a:r>
            <a:r>
              <a:rPr sz="2000" b="0">
                <a:solidFill>
                  <a:srgbClr val="795E26"/>
                </a:solidFill>
                <a:latin typeface="Menlo" panose="020B0609030804020204"/>
                <a:ea typeface="Menlo" panose="020B0609030804020204"/>
              </a:rPr>
              <a:t>log</a:t>
            </a:r>
            <a:r>
              <a:rPr sz="20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(</a:t>
            </a:r>
            <a:r>
              <a:rPr sz="2000" b="0">
                <a:solidFill>
                  <a:srgbClr val="A31515"/>
                </a:solidFill>
                <a:latin typeface="Menlo" panose="020B0609030804020204"/>
                <a:ea typeface="Menlo" panose="020B0609030804020204"/>
              </a:rPr>
              <a:t>"Другой фрукт"</a:t>
            </a:r>
            <a:r>
              <a:rPr sz="20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);</a:t>
            </a:r>
            <a:endParaRPr sz="2000" b="0">
              <a:solidFill>
                <a:srgbClr val="3B3B3B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ct val="100000"/>
              </a:lnSpc>
            </a:pPr>
            <a:r>
              <a:rPr sz="20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}</a:t>
            </a:r>
            <a:endParaRPr sz="2000" b="0">
              <a:solidFill>
                <a:srgbClr val="3B3B3B"/>
              </a:solidFill>
              <a:latin typeface="Menlo" panose="020B0609030804020204"/>
              <a:ea typeface="Menlo" panose="020B0609030804020204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2" name="Text Box 1"/>
          <p:cNvSpPr txBox="1"/>
          <p:nvPr/>
        </p:nvSpPr>
        <p:spPr>
          <a:xfrm>
            <a:off x="487045" y="1170305"/>
            <a:ext cx="11217275" cy="41103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800">
                <a:latin typeface="Times New Roman" panose="02020603050405020304" charset="0"/>
                <a:cs typeface="Times New Roman" panose="02020603050405020304" charset="0"/>
              </a:rPr>
              <a:t>Когда лучше использовать switch, а когда if?</a:t>
            </a: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spcAft>
                <a:spcPct val="60000"/>
              </a:spcAft>
              <a:buFont typeface="Arial" panose="020B0704020202020204" pitchFamily="34" charset="0"/>
              <a:buChar char="•"/>
            </a:pPr>
            <a:r>
              <a:rPr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Используйте switch, когда:</a:t>
            </a:r>
            <a:r>
              <a:rPr lang="ru-RU"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есть много вариантов одного значения переменной</a:t>
            </a:r>
            <a:r>
              <a:rPr lang="ru-RU"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(напр. меню, обработка команд, обработка "дней недели")</a:t>
            </a:r>
            <a:endParaRPr sz="280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spcAft>
                <a:spcPct val="60000"/>
              </a:spcAft>
              <a:buFont typeface="Arial" panose="020B0704020202020204" pitchFamily="34" charset="0"/>
              <a:buChar char="•"/>
            </a:pPr>
            <a:r>
              <a:rPr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Используйте if, когда</a:t>
            </a:r>
            <a:r>
              <a:rPr lang="ru-RU"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проверяется не одно значение, а выражения разного тип</a:t>
            </a:r>
            <a:r>
              <a:rPr lang="ru-RU"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а или </a:t>
            </a:r>
            <a:r>
              <a:rPr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нужна гибкая логика</a:t>
            </a:r>
            <a:endParaRPr sz="28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100" name="Text Box 99"/>
          <p:cNvSpPr txBox="1"/>
          <p:nvPr/>
        </p:nvSpPr>
        <p:spPr>
          <a:xfrm>
            <a:off x="374015" y="981075"/>
            <a:ext cx="11443970" cy="439991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0" indent="0" algn="just">
              <a:lnSpc>
                <a:spcPct val="100000"/>
              </a:lnSpc>
            </a:pPr>
            <a:r>
              <a:rPr lang="en-US" sz="2400" b="0">
                <a:solidFill>
                  <a:srgbClr val="000000"/>
                </a:solidFill>
                <a:latin typeface="Times New Roman" panose="02020603050405020304" charset="0"/>
              </a:rPr>
              <a:t>	Давайте закрепим материал на примере следующей программы: пользователь вводит в первое диалоговое окно свой логин, во второе диалоговое окно свой пароль. Если логин заканчивается на </a:t>
            </a:r>
            <a:r>
              <a:rPr lang="en-US" sz="2400" b="0" i="1">
                <a:solidFill>
                  <a:srgbClr val="000000"/>
                </a:solidFill>
                <a:latin typeface="Times New Roman" panose="02020603050405020304" charset="0"/>
              </a:rPr>
              <a:t>@yandex.ru</a:t>
            </a:r>
            <a:r>
              <a:rPr lang="en-US" sz="2400" b="0">
                <a:solidFill>
                  <a:srgbClr val="000000"/>
                </a:solidFill>
                <a:latin typeface="Times New Roman" panose="02020603050405020304" charset="0"/>
              </a:rPr>
              <a:t> и в логине присутствует последовательность символов </a:t>
            </a:r>
            <a:r>
              <a:rPr lang="en-US" sz="2400" b="0" i="1">
                <a:solidFill>
                  <a:srgbClr val="000000"/>
                </a:solidFill>
                <a:latin typeface="Times New Roman" panose="02020603050405020304" charset="0"/>
              </a:rPr>
              <a:t>admin, </a:t>
            </a:r>
            <a:r>
              <a:rPr lang="en-US" sz="2400" b="0">
                <a:solidFill>
                  <a:srgbClr val="000000"/>
                </a:solidFill>
                <a:latin typeface="Times New Roman" panose="02020603050405020304" charset="0"/>
              </a:rPr>
              <a:t>а пароль содержит последовательность</a:t>
            </a:r>
            <a:r>
              <a:rPr lang="en-US" sz="2400" b="0" i="1">
                <a:solidFill>
                  <a:srgbClr val="000000"/>
                </a:solidFill>
                <a:latin typeface="Times New Roman" panose="02020603050405020304" charset="0"/>
              </a:rPr>
              <a:t> 2023</a:t>
            </a:r>
            <a:r>
              <a:rPr lang="en-US" sz="2400" b="0">
                <a:solidFill>
                  <a:srgbClr val="000000"/>
                </a:solidFill>
                <a:latin typeface="Times New Roman" panose="02020603050405020304" charset="0"/>
              </a:rPr>
              <a:t>, то пользователь должен увидеть</a:t>
            </a:r>
            <a:r>
              <a:rPr lang="en-US" sz="2400" b="0" i="1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sz="2400" b="0">
                <a:solidFill>
                  <a:srgbClr val="000000"/>
                </a:solidFill>
                <a:latin typeface="Times New Roman" panose="02020603050405020304" charset="0"/>
              </a:rPr>
              <a:t>сообщение</a:t>
            </a:r>
            <a:r>
              <a:rPr lang="en-US" sz="2400" b="0" i="1">
                <a:solidFill>
                  <a:srgbClr val="000000"/>
                </a:solidFill>
                <a:latin typeface="Times New Roman" panose="02020603050405020304" charset="0"/>
              </a:rPr>
              <a:t> «You have successfully logged in.»</a:t>
            </a:r>
            <a:r>
              <a:rPr lang="en-US" sz="2400" b="0">
                <a:solidFill>
                  <a:srgbClr val="000000"/>
                </a:solidFill>
                <a:latin typeface="Times New Roman" panose="02020603050405020304" charset="0"/>
              </a:rPr>
              <a:t>, иначе пользователь видит сообщение </a:t>
            </a:r>
            <a:r>
              <a:rPr lang="en-US" sz="2400" b="0" i="1">
                <a:solidFill>
                  <a:srgbClr val="000000"/>
                </a:solidFill>
                <a:latin typeface="Times New Roman" panose="02020603050405020304" charset="0"/>
              </a:rPr>
              <a:t>«Invalid data»</a:t>
            </a:r>
            <a:r>
              <a:rPr lang="en-US" sz="2400" b="0">
                <a:solidFill>
                  <a:srgbClr val="000000"/>
                </a:solidFill>
                <a:latin typeface="Times New Roman" panose="02020603050405020304" charset="0"/>
              </a:rPr>
              <a:t>.</a:t>
            </a:r>
            <a:endParaRPr lang="en-US" sz="2400" b="0">
              <a:solidFill>
                <a:srgbClr val="000000"/>
              </a:solidFill>
              <a:latin typeface="Times New Roman" panose="02020603050405020304" charset="0"/>
            </a:endParaRPr>
          </a:p>
          <a:p>
            <a:pPr marL="0" indent="0" algn="just">
              <a:lnSpc>
                <a:spcPct val="100000"/>
              </a:lnSpc>
            </a:pPr>
            <a:endParaRPr lang="en-US" sz="2400" b="0">
              <a:solidFill>
                <a:srgbClr val="00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just">
              <a:lnSpc>
                <a:spcPct val="100000"/>
              </a:lnSpc>
            </a:pPr>
            <a:r>
              <a:rPr lang="zh-CN" sz="2800" b="0">
                <a:solidFill>
                  <a:srgbClr val="000000"/>
                </a:solidFill>
                <a:cs typeface="Times New Roman" panose="02020603050405020304" charset="0"/>
              </a:rPr>
              <a:t>让我们以以下程序为例：用户在第一个对话框中输入登录名，在第二个对话框中输入密码。如果登录名以</a:t>
            </a:r>
            <a:r>
              <a:rPr lang="en-US" sz="2800" b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sz="2800" b="0" i="1">
                <a:solidFill>
                  <a:srgbClr val="000000"/>
                </a:solidFill>
                <a:latin typeface="Times New Roman" panose="02020603050405020304" charset="0"/>
              </a:rPr>
              <a:t>@yandex.ru</a:t>
            </a:r>
            <a:r>
              <a:rPr lang="en-US" sz="2800" b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zh-CN" sz="2800" b="0">
                <a:solidFill>
                  <a:srgbClr val="000000"/>
                </a:solidFill>
                <a:cs typeface="Times New Roman" panose="02020603050405020304" charset="0"/>
              </a:rPr>
              <a:t>登录名中有一系列字符</a:t>
            </a:r>
            <a:r>
              <a:rPr lang="en-US" sz="2800" b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zh-CN" sz="2800" b="0" i="1">
                <a:solidFill>
                  <a:srgbClr val="000000"/>
                </a:solidFill>
                <a:cs typeface="Times New Roman" panose="02020603050405020304" charset="0"/>
              </a:rPr>
              <a:t>管理</a:t>
            </a:r>
            <a:r>
              <a:rPr lang="en-US" sz="2800" b="0" i="1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zh-CN" sz="2800" b="0">
                <a:solidFill>
                  <a:srgbClr val="000000"/>
                </a:solidFill>
                <a:cs typeface="Times New Roman" panose="02020603050405020304" charset="0"/>
              </a:rPr>
              <a:t>密码包含序列</a:t>
            </a:r>
            <a:r>
              <a:rPr lang="en-US" sz="2800" b="0" i="1">
                <a:solidFill>
                  <a:srgbClr val="000000"/>
                </a:solidFill>
                <a:latin typeface="Times New Roman" panose="02020603050405020304" charset="0"/>
              </a:rPr>
              <a:t> 2023</a:t>
            </a:r>
            <a:r>
              <a:rPr lang="zh-CN" sz="2800" b="0">
                <a:solidFill>
                  <a:srgbClr val="000000"/>
                </a:solidFill>
                <a:cs typeface="Times New Roman" panose="02020603050405020304" charset="0"/>
              </a:rPr>
              <a:t>时，用户应会看到以下消息</a:t>
            </a:r>
            <a:r>
              <a:rPr lang="zh-CN" sz="2800" b="0" i="1">
                <a:solidFill>
                  <a:srgbClr val="000000"/>
                </a:solidFill>
                <a:cs typeface="Times New Roman" panose="02020603050405020304" charset="0"/>
              </a:rPr>
              <a:t> «您已成功登录。”</a:t>
            </a:r>
            <a:r>
              <a:rPr lang="zh-CN" sz="2800" b="0">
                <a:solidFill>
                  <a:srgbClr val="000000"/>
                </a:solidFill>
                <a:cs typeface="Times New Roman" panose="02020603050405020304" charset="0"/>
              </a:rPr>
              <a:t>，否则用户将看到以下消息</a:t>
            </a:r>
            <a:r>
              <a:rPr lang="en-US" sz="2800" b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zh-CN" sz="2800" b="0" i="1">
                <a:solidFill>
                  <a:srgbClr val="000000"/>
                </a:solidFill>
                <a:cs typeface="Times New Roman" panose="02020603050405020304" charset="0"/>
              </a:rPr>
              <a:t>«无效数据»</a:t>
            </a:r>
            <a:r>
              <a:rPr lang="en-US" sz="2800" b="0">
                <a:solidFill>
                  <a:srgbClr val="000000"/>
                </a:solidFill>
                <a:latin typeface="Times New Roman" panose="02020603050405020304" charset="0"/>
              </a:rPr>
              <a:t>.</a:t>
            </a:r>
            <a:endParaRPr lang="en-US" sz="28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100" name="Text Box 99"/>
          <p:cNvSpPr txBox="1"/>
          <p:nvPr/>
        </p:nvSpPr>
        <p:spPr>
          <a:xfrm>
            <a:off x="1074420" y="1229360"/>
            <a:ext cx="10043160" cy="439991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0" indent="0"/>
            <a:r>
              <a:rPr lang="en-US" sz="2000" b="0">
                <a:solidFill>
                  <a:srgbClr val="0000FF"/>
                </a:solidFill>
                <a:latin typeface="Consolas" panose="020B0609020204030204" charset="0"/>
              </a:rPr>
              <a:t>const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 </a:t>
            </a:r>
            <a:r>
              <a:rPr lang="en-US" sz="2000" b="0">
                <a:solidFill>
                  <a:srgbClr val="0070C1"/>
                </a:solidFill>
                <a:latin typeface="Consolas" panose="020B0609020204030204" charset="0"/>
              </a:rPr>
              <a:t>login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 = </a:t>
            </a:r>
            <a:r>
              <a:rPr lang="en-US" sz="2000" b="0">
                <a:solidFill>
                  <a:srgbClr val="795E26"/>
                </a:solidFill>
                <a:latin typeface="Consolas" panose="020B0609020204030204" charset="0"/>
              </a:rPr>
              <a:t>prompt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(</a:t>
            </a:r>
            <a:r>
              <a:rPr lang="en-US" sz="2000" b="0">
                <a:solidFill>
                  <a:srgbClr val="A31515"/>
                </a:solidFill>
                <a:latin typeface="Consolas" panose="020B0609020204030204" charset="0"/>
              </a:rPr>
              <a:t>'Login:'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);</a:t>
            </a:r>
            <a:r>
              <a:rPr lang="en-US" sz="2000" b="0">
                <a:solidFill>
                  <a:srgbClr val="0000FF"/>
                </a:solidFill>
                <a:latin typeface="Consolas" panose="020B0609020204030204" charset="0"/>
              </a:rPr>
              <a:t>const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 </a:t>
            </a:r>
            <a:r>
              <a:rPr lang="en-US" sz="2000" b="0">
                <a:solidFill>
                  <a:srgbClr val="0070C1"/>
                </a:solidFill>
                <a:latin typeface="Consolas" panose="020B0609020204030204" charset="0"/>
              </a:rPr>
              <a:t>password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 = </a:t>
            </a:r>
            <a:r>
              <a:rPr lang="en-US" sz="2000" b="0">
                <a:solidFill>
                  <a:srgbClr val="795E26"/>
                </a:solidFill>
                <a:latin typeface="Consolas" panose="020B0609020204030204" charset="0"/>
              </a:rPr>
              <a:t>prompt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(</a:t>
            </a:r>
            <a:r>
              <a:rPr lang="en-US" sz="2000" b="0">
                <a:solidFill>
                  <a:srgbClr val="A31515"/>
                </a:solidFill>
                <a:latin typeface="Consolas" panose="020B0609020204030204" charset="0"/>
              </a:rPr>
              <a:t>'Password:'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); </a:t>
            </a:r>
            <a:r>
              <a:rPr lang="en-US" sz="2000" b="0">
                <a:solidFill>
                  <a:srgbClr val="0000FF"/>
                </a:solidFill>
                <a:latin typeface="Consolas" panose="020B0609020204030204" charset="0"/>
              </a:rPr>
              <a:t>const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 </a:t>
            </a:r>
            <a:r>
              <a:rPr lang="en-US" sz="2000" b="0">
                <a:solidFill>
                  <a:srgbClr val="0070C1"/>
                </a:solidFill>
                <a:latin typeface="Consolas" panose="020B0609020204030204" charset="0"/>
              </a:rPr>
              <a:t>isLoginValid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 = </a:t>
            </a:r>
            <a:r>
              <a:rPr lang="en-US" sz="2000" b="0">
                <a:solidFill>
                  <a:srgbClr val="0070C1"/>
                </a:solidFill>
                <a:latin typeface="Consolas" panose="020B0609020204030204" charset="0"/>
              </a:rPr>
              <a:t>login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.</a:t>
            </a:r>
            <a:r>
              <a:rPr lang="en-US" sz="2000" b="0">
                <a:solidFill>
                  <a:srgbClr val="795E26"/>
                </a:solidFill>
                <a:latin typeface="Consolas" panose="020B0609020204030204" charset="0"/>
              </a:rPr>
              <a:t>endsWith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(</a:t>
            </a:r>
            <a:r>
              <a:rPr lang="en-US" sz="2000" b="0">
                <a:solidFill>
                  <a:srgbClr val="A31515"/>
                </a:solidFill>
                <a:latin typeface="Consolas" panose="020B0609020204030204" charset="0"/>
              </a:rPr>
              <a:t>'@yandex.ru'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) &amp;&amp; </a:t>
            </a:r>
            <a:r>
              <a:rPr lang="en-US" sz="2000" b="0">
                <a:solidFill>
                  <a:srgbClr val="0070C1"/>
                </a:solidFill>
                <a:latin typeface="Consolas" panose="020B0609020204030204" charset="0"/>
              </a:rPr>
              <a:t>login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.</a:t>
            </a:r>
            <a:r>
              <a:rPr lang="en-US" sz="2000" b="0">
                <a:solidFill>
                  <a:srgbClr val="795E26"/>
                </a:solidFill>
                <a:latin typeface="Consolas" panose="020B0609020204030204" charset="0"/>
              </a:rPr>
              <a:t>includes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(</a:t>
            </a:r>
            <a:r>
              <a:rPr lang="en-US" sz="2000" b="0">
                <a:solidFill>
                  <a:srgbClr val="A31515"/>
                </a:solidFill>
                <a:latin typeface="Consolas" panose="020B0609020204030204" charset="0"/>
              </a:rPr>
              <a:t>'admin'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);</a:t>
            </a:r>
            <a:r>
              <a:rPr lang="en-US" sz="2000" b="0">
                <a:solidFill>
                  <a:srgbClr val="0000FF"/>
                </a:solidFill>
                <a:latin typeface="Consolas" panose="020B0609020204030204" charset="0"/>
              </a:rPr>
              <a:t>const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 </a:t>
            </a:r>
            <a:r>
              <a:rPr lang="en-US" sz="2000" b="0">
                <a:solidFill>
                  <a:srgbClr val="0070C1"/>
                </a:solidFill>
                <a:latin typeface="Consolas" panose="020B0609020204030204" charset="0"/>
              </a:rPr>
              <a:t>isPasswordValid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 = </a:t>
            </a:r>
            <a:r>
              <a:rPr lang="en-US" sz="2000" b="0">
                <a:solidFill>
                  <a:srgbClr val="0070C1"/>
                </a:solidFill>
                <a:latin typeface="Consolas" panose="020B0609020204030204" charset="0"/>
              </a:rPr>
              <a:t>password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.</a:t>
            </a:r>
            <a:r>
              <a:rPr lang="en-US" sz="2000" b="0">
                <a:solidFill>
                  <a:srgbClr val="795E26"/>
                </a:solidFill>
                <a:latin typeface="Consolas" panose="020B0609020204030204" charset="0"/>
              </a:rPr>
              <a:t>includes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(</a:t>
            </a:r>
            <a:r>
              <a:rPr lang="en-US" sz="2000" b="0">
                <a:solidFill>
                  <a:srgbClr val="098658"/>
                </a:solidFill>
                <a:latin typeface="Consolas" panose="020B0609020204030204" charset="0"/>
              </a:rPr>
              <a:t>2023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); </a:t>
            </a:r>
            <a:r>
              <a:rPr lang="en-US" sz="2000" b="0">
                <a:solidFill>
                  <a:srgbClr val="0000FF"/>
                </a:solidFill>
                <a:latin typeface="Consolas" panose="020B0609020204030204" charset="0"/>
              </a:rPr>
              <a:t>const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 </a:t>
            </a:r>
            <a:r>
              <a:rPr lang="en-US" sz="2000" b="0">
                <a:solidFill>
                  <a:srgbClr val="0070C1"/>
                </a:solidFill>
                <a:latin typeface="Consolas" panose="020B0609020204030204" charset="0"/>
              </a:rPr>
              <a:t>success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 = </a:t>
            </a:r>
            <a:r>
              <a:rPr lang="en-US" sz="2000" b="0">
                <a:solidFill>
                  <a:srgbClr val="A31515"/>
                </a:solidFill>
                <a:latin typeface="Consolas" panose="020B0609020204030204" charset="0"/>
              </a:rPr>
              <a:t>'You have successfully logged in.'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;</a:t>
            </a:r>
            <a:r>
              <a:rPr lang="en-US" sz="2000" b="0">
                <a:solidFill>
                  <a:srgbClr val="0000FF"/>
                </a:solidFill>
                <a:latin typeface="Consolas" panose="020B0609020204030204" charset="0"/>
              </a:rPr>
              <a:t>const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 </a:t>
            </a:r>
            <a:r>
              <a:rPr lang="en-US" sz="2000" b="0">
                <a:solidFill>
                  <a:srgbClr val="0070C1"/>
                </a:solidFill>
                <a:latin typeface="Consolas" panose="020B0609020204030204" charset="0"/>
              </a:rPr>
              <a:t>unsuccess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 = </a:t>
            </a:r>
            <a:r>
              <a:rPr lang="en-US" sz="2000" b="0">
                <a:solidFill>
                  <a:srgbClr val="A31515"/>
                </a:solidFill>
                <a:latin typeface="Consolas" panose="020B0609020204030204" charset="0"/>
              </a:rPr>
              <a:t>'Invalid data'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; </a:t>
            </a:r>
            <a:r>
              <a:rPr lang="en-US" sz="2000" b="0">
                <a:solidFill>
                  <a:srgbClr val="AF00DB"/>
                </a:solidFill>
                <a:latin typeface="Consolas" panose="020B0609020204030204" charset="0"/>
              </a:rPr>
              <a:t>if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 (</a:t>
            </a:r>
            <a:r>
              <a:rPr lang="en-US" sz="2000" b="0">
                <a:solidFill>
                  <a:srgbClr val="0070C1"/>
                </a:solidFill>
                <a:latin typeface="Consolas" panose="020B0609020204030204" charset="0"/>
              </a:rPr>
              <a:t>isLoginValid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 &amp;&amp; </a:t>
            </a:r>
            <a:r>
              <a:rPr lang="en-US" sz="2000" b="0">
                <a:solidFill>
                  <a:srgbClr val="0070C1"/>
                </a:solidFill>
                <a:latin typeface="Consolas" panose="020B0609020204030204" charset="0"/>
              </a:rPr>
              <a:t>isPasswordValid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) {  </a:t>
            </a:r>
            <a:r>
              <a:rPr lang="en-US" sz="2000" b="0">
                <a:solidFill>
                  <a:srgbClr val="795E26"/>
                </a:solidFill>
                <a:latin typeface="Consolas" panose="020B0609020204030204" charset="0"/>
              </a:rPr>
              <a:t>alert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(</a:t>
            </a:r>
            <a:r>
              <a:rPr lang="en-US" sz="2000" b="0">
                <a:solidFill>
                  <a:srgbClr val="0070C1"/>
                </a:solidFill>
                <a:latin typeface="Consolas" panose="020B0609020204030204" charset="0"/>
              </a:rPr>
              <a:t>success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);} </a:t>
            </a:r>
            <a:r>
              <a:rPr lang="en-US" sz="2000" b="0">
                <a:solidFill>
                  <a:srgbClr val="AF00DB"/>
                </a:solidFill>
                <a:latin typeface="Consolas" panose="020B0609020204030204" charset="0"/>
              </a:rPr>
              <a:t>else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 {  </a:t>
            </a:r>
            <a:r>
              <a:rPr lang="en-US" sz="2000" b="0">
                <a:solidFill>
                  <a:srgbClr val="795E26"/>
                </a:solidFill>
                <a:latin typeface="Consolas" panose="020B0609020204030204" charset="0"/>
              </a:rPr>
              <a:t>alert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(</a:t>
            </a:r>
            <a:r>
              <a:rPr lang="en-US" sz="2000" b="0">
                <a:solidFill>
                  <a:srgbClr val="0070C1"/>
                </a:solidFill>
                <a:latin typeface="Consolas" panose="020B0609020204030204" charset="0"/>
              </a:rPr>
              <a:t>unsuccess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);}</a:t>
            </a:r>
            <a:endParaRPr lang="en-US" sz="20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9236</Words>
  <Application>WPS Presentation</Application>
  <PresentationFormat>Widescreen</PresentationFormat>
  <Paragraphs>490</Paragraphs>
  <Slides>35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35</vt:i4>
      </vt:variant>
    </vt:vector>
  </HeadingPairs>
  <TitlesOfParts>
    <vt:vector size="57" baseType="lpstr">
      <vt:lpstr>Arial</vt:lpstr>
      <vt:lpstr>SimSun</vt:lpstr>
      <vt:lpstr>Wingdings</vt:lpstr>
      <vt:lpstr>Calibri</vt:lpstr>
      <vt:lpstr>Arial</vt:lpstr>
      <vt:lpstr>Helvetica Neue</vt:lpstr>
      <vt:lpstr>Times New Roman</vt:lpstr>
      <vt:lpstr>Times New Roman</vt:lpstr>
      <vt:lpstr>Menlo</vt:lpstr>
      <vt:lpstr>Calibri</vt:lpstr>
      <vt:lpstr>Consolas</vt:lpstr>
      <vt:lpstr>苹方-简</vt:lpstr>
      <vt:lpstr>monospace</vt:lpstr>
      <vt:lpstr>Thonburi</vt:lpstr>
      <vt:lpstr>SimSun</vt:lpstr>
      <vt:lpstr>SimSun</vt:lpstr>
      <vt:lpstr>宋体-简</vt:lpstr>
      <vt:lpstr>Microsoft YaHei</vt:lpstr>
      <vt:lpstr>汉仪旗黑</vt:lpstr>
      <vt:lpstr>Arial Unicode MS</vt:lpstr>
      <vt:lpstr>Calibri Light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valeriakhlyzoa</dc:creator>
  <cp:lastModifiedBy>Valerie</cp:lastModifiedBy>
  <cp:revision>40</cp:revision>
  <dcterms:created xsi:type="dcterms:W3CDTF">2025-12-01T12:50:57Z</dcterms:created>
  <dcterms:modified xsi:type="dcterms:W3CDTF">2025-12-01T12:50:57Z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2894E89F433A27529D5C2B6727F093EA_43</vt:lpwstr>
  </property>
  <property fmtid="{D5CDD505-2E9C-101B-9397-08002B2CF9AE}" pid="3" name="KSOProductBuildVer">
    <vt:lpwstr>1033-12.1.23152.23152</vt:lpwstr>
  </property>
</Properties>
</file>