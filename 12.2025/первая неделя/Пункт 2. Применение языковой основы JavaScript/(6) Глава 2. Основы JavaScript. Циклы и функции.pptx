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handoutMasterIdLst>
    <p:handoutMasterId r:id="rId90"/>
  </p:handoutMasterIdLst>
  <p:sldIdLst>
    <p:sldId id="256" r:id="rId3"/>
    <p:sldId id="257" r:id="rId4"/>
    <p:sldId id="258" r:id="rId5"/>
    <p:sldId id="259" r:id="rId6"/>
    <p:sldId id="260" r:id="rId7"/>
    <p:sldId id="262" r:id="rId8"/>
    <p:sldId id="263" r:id="rId9"/>
    <p:sldId id="264" r:id="rId10"/>
    <p:sldId id="265" r:id="rId11"/>
    <p:sldId id="266" r:id="rId12"/>
    <p:sldId id="267" r:id="rId13"/>
    <p:sldId id="340" r:id="rId14"/>
    <p:sldId id="338" r:id="rId15"/>
    <p:sldId id="342" r:id="rId16"/>
    <p:sldId id="341" r:id="rId17"/>
    <p:sldId id="343" r:id="rId18"/>
    <p:sldId id="344" r:id="rId19"/>
    <p:sldId id="268" r:id="rId20"/>
    <p:sldId id="269" r:id="rId21"/>
    <p:sldId id="270" r:id="rId22"/>
    <p:sldId id="271" r:id="rId23"/>
    <p:sldId id="272" r:id="rId24"/>
    <p:sldId id="273" r:id="rId25"/>
    <p:sldId id="407" r:id="rId26"/>
    <p:sldId id="408" r:id="rId27"/>
    <p:sldId id="464" r:id="rId28"/>
    <p:sldId id="465" r:id="rId29"/>
    <p:sldId id="466" r:id="rId30"/>
    <p:sldId id="467" r:id="rId31"/>
    <p:sldId id="468" r:id="rId32"/>
    <p:sldId id="471"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2"/>
    <p:sldId id="293" r:id="rId53"/>
    <p:sldId id="294" r:id="rId54"/>
    <p:sldId id="328"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30" r:id="rId69"/>
    <p:sldId id="308" r:id="rId70"/>
    <p:sldId id="329" r:id="rId71"/>
    <p:sldId id="309" r:id="rId72"/>
    <p:sldId id="310" r:id="rId73"/>
    <p:sldId id="311" r:id="rId74"/>
    <p:sldId id="312" r:id="rId75"/>
    <p:sldId id="313" r:id="rId76"/>
    <p:sldId id="314" r:id="rId77"/>
    <p:sldId id="315" r:id="rId78"/>
    <p:sldId id="316" r:id="rId79"/>
    <p:sldId id="317" r:id="rId80"/>
    <p:sldId id="318" r:id="rId81"/>
    <p:sldId id="319" r:id="rId82"/>
    <p:sldId id="320" r:id="rId83"/>
    <p:sldId id="331" r:id="rId84"/>
    <p:sldId id="332" r:id="rId85"/>
    <p:sldId id="334" r:id="rId86"/>
    <p:sldId id="472" r:id="rId87"/>
    <p:sldId id="335" r:id="rId88"/>
    <p:sldId id="337" r:id="rId89"/>
  </p:sldIdLst>
  <p:sldSz cx="12192000" cy="6858000"/>
  <p:notesSz cx="6858000" cy="9144000"/>
  <p:custDataLst>
    <p:tags r:id="rId9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4" Type="http://schemas.openxmlformats.org/officeDocument/2006/relationships/tags" Target="tags/tag2.xml"/><Relationship Id="rId93" Type="http://schemas.openxmlformats.org/officeDocument/2006/relationships/tableStyles" Target="tableStyles.xml"/><Relationship Id="rId92" Type="http://schemas.openxmlformats.org/officeDocument/2006/relationships/viewProps" Target="viewProps.xml"/><Relationship Id="rId91" Type="http://schemas.openxmlformats.org/officeDocument/2006/relationships/presProps" Target="presProps.xml"/><Relationship Id="rId90" Type="http://schemas.openxmlformats.org/officeDocument/2006/relationships/handoutMaster" Target="handoutMasters/handoutMaster1.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Google Shape;84;p1"/>
          <p:cNvSpPr/>
          <p:nvPr/>
        </p:nvSpPr>
        <p:spPr>
          <a:xfrm>
            <a:off x="0" y="316603"/>
            <a:ext cx="12192000" cy="898525"/>
          </a:xfrm>
          <a:prstGeom prst="rect">
            <a:avLst/>
          </a:prstGeom>
          <a:solidFill>
            <a:schemeClr val="accent1">
              <a:alpha val="45882"/>
            </a:schemeClr>
          </a:solidFill>
          <a:ln w="12700" cap="flat" cmpd="sng">
            <a:solidFill>
              <a:srgbClr val="3A5F8B"/>
            </a:solidFill>
            <a:prstDash val="solid"/>
            <a:round/>
            <a:headEnd type="none" w="sm" len="sm"/>
            <a:tailEnd type="none" w="sm" len="sm"/>
          </a:ln>
        </p:spPr>
        <p:txBody>
          <a:bodyPr spcFirstLastPara="1" wrap="square" lIns="91425" tIns="45700" rIns="91425" bIns="45700" anchor="t" anchorCtr="0">
            <a:noAutofit/>
          </a:bodyPr>
          <a:p>
            <a:pPr marL="0" marR="0" lvl="0" indent="0" algn="l"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85;p1"/>
          <p:cNvSpPr/>
          <p:nvPr/>
        </p:nvSpPr>
        <p:spPr>
          <a:xfrm>
            <a:off x="260985" y="438700"/>
            <a:ext cx="10276727" cy="942975"/>
          </a:xfrm>
          <a:prstGeom prst="rect">
            <a:avLst/>
          </a:prstGeom>
          <a:noFill/>
          <a:ln>
            <a:noFill/>
          </a:ln>
        </p:spPr>
        <p:txBody>
          <a:bodyPr spcFirstLastPara="1" wrap="square" lIns="90000" tIns="45000" rIns="90000" bIns="45000" anchor="t" anchorCtr="0">
            <a:noAutofit/>
          </a:bodyPr>
          <a:p>
            <a:pPr marL="0" marR="0" lvl="0" indent="0" algn="l" rtl="0">
              <a:lnSpc>
                <a:spcPct val="107000"/>
              </a:lnSpc>
              <a:spcBef>
                <a:spcPts val="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ВЛАДИМИРСКИЙ ГОСУДАРСТВЕННЫЙ УНИВЕРСИТЕТ</a:t>
            </a:r>
            <a:r>
              <a:rPr lang="en-US" sz="14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ИМЕНИ </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7000"/>
              </a:lnSpc>
              <a:spcBef>
                <a:spcPts val="80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АЛЕКСАНДРА ГРИГОРЬЕВИЧА И НИКОЛАЯ ГРИГОРЬЕВИЧА СТОЛЕТОВЫХ</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1" name="Google Shape;86;p1" descr="Владимирский государственный университет имени Александра Григорьевича и  Николая Григорьевича Столетовых"/>
          <p:cNvPicPr preferRelativeResize="0"/>
          <p:nvPr/>
        </p:nvPicPr>
        <p:blipFill rotWithShape="1">
          <a:blip r:embed="rId1"/>
          <a:srcRect/>
          <a:stretch>
            <a:fillRect/>
          </a:stretch>
        </p:blipFill>
        <p:spPr>
          <a:xfrm>
            <a:off x="10443603" y="77207"/>
            <a:ext cx="1381125" cy="1377315"/>
          </a:xfrm>
          <a:prstGeom prst="rect">
            <a:avLst/>
          </a:prstGeom>
          <a:noFill/>
          <a:ln>
            <a:noFill/>
          </a:ln>
        </p:spPr>
      </p:pic>
      <p:sp>
        <p:nvSpPr>
          <p:cNvPr id="12" name="Google Shape;87;p1"/>
          <p:cNvSpPr txBox="1"/>
          <p:nvPr/>
        </p:nvSpPr>
        <p:spPr>
          <a:xfrm>
            <a:off x="1493604" y="1649644"/>
            <a:ext cx="9204792" cy="4244975"/>
          </a:xfrm>
          <a:prstGeom prst="rect">
            <a:avLst/>
          </a:prstGeom>
          <a:noFill/>
          <a:ln>
            <a:noFill/>
          </a:ln>
        </p:spPr>
        <p:txBody>
          <a:bodyPr spcFirstLastPara="1" wrap="square" lIns="91425" tIns="45700" rIns="91425" bIns="45700" anchor="t" anchorCtr="0">
            <a:spAutoFit/>
          </a:bodyPr>
          <a:p>
            <a:pPr marL="0" marR="0" lvl="0" indent="0" algn="ctr" rtl="0">
              <a:lnSpc>
                <a:spcPct val="150000"/>
              </a:lnSpc>
              <a:spcBef>
                <a:spcPts val="0"/>
              </a:spcBef>
              <a:spcAft>
                <a:spcPts val="0"/>
              </a:spcAft>
              <a:buNone/>
            </a:pPr>
            <a:r>
              <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«Разработка веб-интерфейсного скрипта»</a:t>
            </a:r>
            <a:endPar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“Web 前端脚本开发”</a:t>
            </a:r>
            <a:endPar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3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Циклы и функции.</a:t>
            </a:r>
            <a:r>
              <a:rPr lang="ru-RU" altLang="en-US" sz="3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ru-RU" sz="3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Использование рекурсий</a:t>
            </a:r>
            <a:endParaRPr lang="ru-RU" sz="3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3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周期和功能。使用递归</a:t>
            </a:r>
            <a:endParaRPr lang="en-US" sz="3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360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88;p1"/>
          <p:cNvSpPr txBox="1"/>
          <p:nvPr/>
        </p:nvSpPr>
        <p:spPr>
          <a:xfrm>
            <a:off x="7672070" y="5497830"/>
            <a:ext cx="4370705" cy="920750"/>
          </a:xfrm>
          <a:prstGeom prst="rect">
            <a:avLst/>
          </a:prstGeom>
          <a:noFill/>
          <a:ln>
            <a:noFill/>
          </a:ln>
        </p:spPr>
        <p:txBody>
          <a:bodyPr spcFirstLastPara="1" wrap="square" lIns="91425" tIns="45700" rIns="91425" bIns="45700" anchor="t" anchorCtr="0">
            <a:spAutoFit/>
          </a:bodyPr>
          <a:p>
            <a:pPr marL="0" marR="0" lvl="0" indent="0" algn="l" rtl="0">
              <a:spcBef>
                <a:spcPts val="0"/>
              </a:spcBef>
              <a:spcAft>
                <a:spcPts val="0"/>
              </a:spcAft>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Преподаватель кафедры </a:t>
            </a:r>
            <a:r>
              <a:rPr lang="ru-RU" alt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информационных систем и программной инженерии </a:t>
            </a: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Хлызова Валерия Григорьевна.</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38785" y="201930"/>
            <a:ext cx="5438140" cy="521970"/>
          </a:xfrm>
          <a:prstGeom prst="rect">
            <a:avLst/>
          </a:prstGeom>
          <a:noFill/>
        </p:spPr>
        <p:txBody>
          <a:bodyPr wrap="square" rtlCol="0" anchor="t">
            <a:spAutoFit/>
          </a:bodyPr>
          <a:p>
            <a:r>
              <a:rPr lang="en-US" sz="2800">
                <a:latin typeface="Times New Roman" panose="02020603050405020304" charset="0"/>
                <a:cs typeface="Times New Roman" panose="02020603050405020304" charset="0"/>
              </a:rPr>
              <a:t>ЦЕЛЬ РАБОТЫ</a:t>
            </a:r>
            <a:r>
              <a:rPr lang="en-US" sz="2800">
                <a:latin typeface="Arial Regular" panose="020B0704020202020204" charset="0"/>
                <a:cs typeface="Arial Regular" panose="020B0704020202020204" charset="0"/>
              </a:rPr>
              <a:t>   工作目标</a:t>
            </a:r>
            <a:endParaRPr lang="en-US" sz="2800">
              <a:latin typeface="Arial Regular" panose="020B0704020202020204" charset="0"/>
              <a:cs typeface="Arial Regular" panose="020B0704020202020204" charset="0"/>
            </a:endParaRPr>
          </a:p>
        </p:txBody>
      </p:sp>
      <p:sp>
        <p:nvSpPr>
          <p:cNvPr id="100" name="Text Box 99"/>
          <p:cNvSpPr txBox="1"/>
          <p:nvPr/>
        </p:nvSpPr>
        <p:spPr>
          <a:xfrm>
            <a:off x="278130" y="1049655"/>
            <a:ext cx="11053445" cy="5692775"/>
          </a:xfrm>
          <a:prstGeom prst="rect">
            <a:avLst/>
          </a:prstGeom>
          <a:noFill/>
          <a:ln w="9525">
            <a:noFill/>
          </a:ln>
        </p:spPr>
        <p:txBody>
          <a:bodyPr wrap="square">
            <a:spAutoFit/>
          </a:bodyPr>
          <a:p>
            <a:pPr marL="0" indent="0" algn="just"/>
            <a:r>
              <a:rPr lang="ru-RU" altLang="en-US" sz="2800">
                <a:latin typeface="Times New Roman Regular" panose="02020603050405020304" charset="0"/>
                <a:cs typeface="Times New Roman Regular" panose="02020603050405020304" charset="0"/>
              </a:rPr>
              <a:t>Познакомиться с поняти</a:t>
            </a:r>
            <a:r>
              <a:rPr lang="en-US" altLang="ru-RU" sz="2800">
                <a:latin typeface="Times New Roman Regular" panose="02020603050405020304" charset="0"/>
                <a:cs typeface="Times New Roman Regular" panose="02020603050405020304" charset="0"/>
              </a:rPr>
              <a:t>я</a:t>
            </a:r>
            <a:r>
              <a:rPr lang="ru-RU" altLang="en-US" sz="2800">
                <a:latin typeface="Times New Roman Regular" panose="02020603050405020304" charset="0"/>
                <a:cs typeface="Times New Roman Regular" panose="02020603050405020304" charset="0"/>
              </a:rPr>
              <a:t>м</a:t>
            </a:r>
            <a:r>
              <a:rPr lang="en-US" altLang="ru-RU" sz="2800">
                <a:latin typeface="Times New Roman Regular" panose="02020603050405020304" charset="0"/>
                <a:cs typeface="Times New Roman Regular" panose="02020603050405020304" charset="0"/>
              </a:rPr>
              <a:t>и</a:t>
            </a:r>
            <a:r>
              <a:rPr lang="ru-RU" altLang="en-US" sz="2800">
                <a:latin typeface="Times New Roman Regular" panose="02020603050405020304" charset="0"/>
                <a:cs typeface="Times New Roman Regular" panose="02020603050405020304" charset="0"/>
              </a:rPr>
              <a:t> “Цикл”</a:t>
            </a:r>
            <a:r>
              <a:rPr lang="en-US" sz="2800">
                <a:latin typeface="Times New Roman Regular" panose="02020603050405020304" charset="0"/>
                <a:cs typeface="Times New Roman Regular" panose="02020603050405020304" charset="0"/>
              </a:rPr>
              <a:t> и “Функия”</a:t>
            </a:r>
            <a:endParaRPr lang="en-US" sz="2800">
              <a:latin typeface="Times New Roman Regular" panose="02020603050405020304" charset="0"/>
              <a:cs typeface="Times New Roman Regular" panose="02020603050405020304" charset="0"/>
            </a:endParaRPr>
          </a:p>
          <a:p>
            <a:pPr marL="0" indent="0" algn="just"/>
            <a:endParaRPr lang="en-US" sz="2800">
              <a:latin typeface="Times New Roman Regular" panose="02020603050405020304" charset="0"/>
              <a:cs typeface="Times New Roman Regular" panose="02020603050405020304" charset="0"/>
            </a:endParaRPr>
          </a:p>
          <a:p>
            <a:pPr marL="0" indent="0" algn="just"/>
            <a:r>
              <a:rPr lang="en-US" sz="2800">
                <a:latin typeface="Times New Roman Regular" panose="02020603050405020304" charset="0"/>
                <a:cs typeface="Times New Roman Regular" panose="02020603050405020304" charset="0"/>
              </a:rPr>
              <a:t>Возможности прерывания циклов программно и переход к следующей итерации;</a:t>
            </a:r>
            <a:r>
              <a:rPr lang="en-US" sz="2800">
                <a:latin typeface="Times New Roman Regular" panose="02020603050405020304" charset="0"/>
                <a:cs typeface="Times New Roman Regular" panose="02020603050405020304" charset="0"/>
                <a:sym typeface="+mn-ea"/>
              </a:rPr>
              <a:t>能够以编程方式中断循环并切换到下一次迭代；</a:t>
            </a:r>
            <a:endParaRPr lang="en-US" sz="2800">
              <a:latin typeface="Times New Roman Regular" panose="02020603050405020304" charset="0"/>
              <a:cs typeface="Times New Roman Regular" panose="02020603050405020304" charset="0"/>
            </a:endParaRPr>
          </a:p>
          <a:p>
            <a:pPr marL="0" indent="0" algn="just"/>
            <a:endParaRPr lang="en-US" sz="2800">
              <a:latin typeface="Times New Roman Regular" panose="02020603050405020304" charset="0"/>
              <a:cs typeface="Times New Roman Regular" panose="02020603050405020304" charset="0"/>
            </a:endParaRPr>
          </a:p>
          <a:p>
            <a:pPr marL="0" indent="0" algn="just"/>
            <a:endParaRPr lang="en-US" sz="2800">
              <a:latin typeface="Times New Roman Regular" panose="02020603050405020304" charset="0"/>
              <a:cs typeface="Times New Roman Regular" panose="02020603050405020304" charset="0"/>
            </a:endParaRPr>
          </a:p>
          <a:p>
            <a:pPr marL="0" indent="0" algn="just"/>
            <a:r>
              <a:rPr lang="en-US" sz="2800">
                <a:latin typeface="Times New Roman Regular" panose="02020603050405020304" charset="0"/>
                <a:cs typeface="Times New Roman Regular" panose="02020603050405020304" charset="0"/>
              </a:rPr>
              <a:t>Познакомиться с понятием “Рекурсия”;</a:t>
            </a:r>
            <a:r>
              <a:rPr lang="en-US" sz="2800">
                <a:latin typeface="Times New Roman Regular" panose="02020603050405020304" charset="0"/>
                <a:cs typeface="Times New Roman Regular" panose="02020603050405020304" charset="0"/>
                <a:sym typeface="+mn-ea"/>
              </a:rPr>
              <a:t>了解“递归”的概念；</a:t>
            </a:r>
            <a:endParaRPr lang="en-US" sz="2800">
              <a:latin typeface="Times New Roman Regular" panose="02020603050405020304" charset="0"/>
              <a:cs typeface="Times New Roman Regular" panose="02020603050405020304" charset="0"/>
            </a:endParaRPr>
          </a:p>
          <a:p>
            <a:pPr marL="0" indent="0" algn="just"/>
            <a:endParaRPr lang="en-US" sz="2800">
              <a:latin typeface="Times New Roman Regular" panose="02020603050405020304" charset="0"/>
              <a:cs typeface="Times New Roman Regular" panose="02020603050405020304" charset="0"/>
            </a:endParaRPr>
          </a:p>
          <a:p>
            <a:pPr marL="0" indent="0" algn="just"/>
            <a:endParaRPr lang="en-US" sz="2800">
              <a:latin typeface="Times New Roman Regular" panose="02020603050405020304" charset="0"/>
              <a:cs typeface="Times New Roman Regular" panose="02020603050405020304" charset="0"/>
            </a:endParaRPr>
          </a:p>
          <a:p>
            <a:pPr marL="0" indent="0" algn="just"/>
            <a:r>
              <a:rPr lang="en-US" sz="2800">
                <a:latin typeface="Times New Roman Regular" panose="02020603050405020304" charset="0"/>
                <a:cs typeface="Times New Roman Regular" panose="02020603050405020304" charset="0"/>
              </a:rPr>
              <a:t>Закрепить изученный материал путем самостоятельного выполнения заданий к практическому занятию.</a:t>
            </a:r>
            <a:r>
              <a:rPr lang="en-US" sz="2800">
                <a:latin typeface="Times New Roman Regular" panose="02020603050405020304" charset="0"/>
                <a:cs typeface="Times New Roman Regular" panose="02020603050405020304" charset="0"/>
                <a:sym typeface="+mn-ea"/>
              </a:rPr>
              <a:t>通过独立完成任务来巩固所学材料。</a:t>
            </a:r>
            <a:endParaRPr lang="en-US" sz="2800">
              <a:latin typeface="Times New Roman Regular" panose="02020603050405020304" charset="0"/>
              <a:cs typeface="Times New Roman Regular" panose="02020603050405020304" charset="0"/>
            </a:endParaRPr>
          </a:p>
          <a:p>
            <a:pPr marL="0" indent="0" algn="just"/>
            <a:endParaRPr lang="en-US" sz="2800">
              <a:latin typeface="Times New Roman Regular" panose="02020603050405020304" charset="0"/>
              <a:cs typeface="Times New Roman Regular" panose="02020603050405020304" charset="0"/>
            </a:endParaRPr>
          </a:p>
          <a:p>
            <a:pPr marL="0" indent="0" algn="just"/>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94665" y="423545"/>
            <a:ext cx="11271250" cy="3969385"/>
          </a:xfrm>
          <a:prstGeom prst="rect">
            <a:avLst/>
          </a:prstGeom>
          <a:noFill/>
          <a:ln w="9525">
            <a:noFill/>
          </a:ln>
        </p:spPr>
        <p:txBody>
          <a:bodyPr wrap="square">
            <a:spAutoFit/>
          </a:bodyPr>
          <a:p>
            <a:pPr marL="0" indent="449580" algn="just"/>
            <a:r>
              <a:rPr lang="en-US" sz="2800" b="0">
                <a:latin typeface="Times New Roman" panose="02020603050405020304" charset="0"/>
              </a:rPr>
              <a:t>При написании скриптов зачастую встаёт задача сделать однотипное действие много раз. Например, вывести товары из списка один за другим. Или просто перебрать все числа от 1 до 10 и для каждого выполнить одинаковый код. Для многократного повторения одного участка кода предусмотрены циклы.</a:t>
            </a:r>
            <a:endParaRPr lang="en-US" sz="2800" b="0">
              <a:latin typeface="Times New Roman" panose="02020603050405020304" charset="0"/>
            </a:endParaRPr>
          </a:p>
          <a:p>
            <a:pPr marL="0" indent="449580" algn="just"/>
            <a:endParaRPr lang="en-US" sz="2800"/>
          </a:p>
          <a:p>
            <a:pPr marL="0" indent="449580" algn="just"/>
            <a:r>
              <a:rPr lang="en-US" sz="2800"/>
              <a:t>在编写脚本时，任务通常是多次执行相同的操作。例如，将产品逐一从列表中删除。或者只需将1到10之间的所有数字重排，并为每个数字执行相同的代码。为了重复一段代码，提供了循环。</a:t>
            </a:r>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2755" y="437515"/>
            <a:ext cx="10760710" cy="953135"/>
          </a:xfrm>
          <a:prstGeom prst="rect">
            <a:avLst/>
          </a:prstGeom>
          <a:noFill/>
          <a:ln w="9525">
            <a:noFill/>
          </a:ln>
        </p:spPr>
        <p:txBody>
          <a:bodyPr wrap="square">
            <a:spAutoFit/>
          </a:bodyPr>
          <a:p>
            <a:pPr indent="0"/>
            <a:r>
              <a:rPr lang="en-US" sz="2800" b="0">
                <a:latin typeface="Times New Roman" panose="02020603050405020304" charset="0"/>
              </a:rPr>
              <a:t>Цикл </a:t>
            </a:r>
            <a:r>
              <a:rPr lang="en-US" sz="2800" b="0" i="1">
                <a:latin typeface="Times New Roman" panose="02020603050405020304" charset="0"/>
              </a:rPr>
              <a:t>while</a:t>
            </a:r>
            <a:r>
              <a:rPr lang="en-US" sz="2800" b="0">
                <a:latin typeface="Times New Roman" panose="02020603050405020304" charset="0"/>
              </a:rPr>
              <a:t> имеет следующий синтаксис</a:t>
            </a:r>
            <a:endParaRPr lang="en-US" sz="2800" b="0">
              <a:latin typeface="Times New Roman" panose="02020603050405020304" charset="0"/>
            </a:endParaRPr>
          </a:p>
          <a:p>
            <a:pPr indent="0"/>
            <a:r>
              <a:rPr lang="en-US" sz="2800" b="0">
                <a:latin typeface="Times New Roman" panose="02020603050405020304" charset="0"/>
              </a:rPr>
              <a:t>while循环具有以下语法</a:t>
            </a:r>
            <a:endParaRPr lang="en-US" sz="2800" b="0">
              <a:latin typeface="Times New Roman" panose="02020603050405020304" charset="0"/>
            </a:endParaRPr>
          </a:p>
        </p:txBody>
      </p:sp>
      <p:sp>
        <p:nvSpPr>
          <p:cNvPr id="3" name="Text Box 2"/>
          <p:cNvSpPr txBox="1"/>
          <p:nvPr/>
        </p:nvSpPr>
        <p:spPr>
          <a:xfrm>
            <a:off x="2331720" y="2644775"/>
            <a:ext cx="7529195" cy="1568450"/>
          </a:xfrm>
          <a:prstGeom prst="rect">
            <a:avLst/>
          </a:prstGeom>
          <a:noFill/>
          <a:ln w="9525">
            <a:noFill/>
          </a:ln>
        </p:spPr>
        <p:txBody>
          <a:bodyPr wrap="square">
            <a:spAutoFit/>
          </a:bodyPr>
          <a:p>
            <a:pPr marL="0" indent="0"/>
            <a:r>
              <a:rPr lang="en-US" sz="2400" b="0">
                <a:solidFill>
                  <a:srgbClr val="AF00DB"/>
                </a:solidFill>
                <a:latin typeface="Consolas" panose="020B0609020204030204" charset="0"/>
              </a:rPr>
              <a:t>while</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condition</a:t>
            </a:r>
            <a:r>
              <a:rPr lang="en-US" sz="2400" b="0">
                <a:solidFill>
                  <a:srgbClr val="000000"/>
                </a:solidFill>
                <a:latin typeface="Consolas" panose="020B0609020204030204" charset="0"/>
              </a:rPr>
              <a:t>) {  </a:t>
            </a:r>
            <a:r>
              <a:rPr lang="en-US" sz="2400" b="0">
                <a:solidFill>
                  <a:srgbClr val="008000"/>
                </a:solidFill>
                <a:latin typeface="Consolas" panose="020B0609020204030204" charset="0"/>
              </a:rPr>
              <a:t>// код</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также называемый "телом цикла"</a:t>
            </a:r>
            <a:r>
              <a:rPr lang="en-US" sz="2400" b="0">
                <a:solidFill>
                  <a:srgbClr val="000000"/>
                </a:solidFill>
                <a:latin typeface="Consolas" panose="020B0609020204030204" charset="0"/>
              </a:rPr>
              <a:t>}</a:t>
            </a:r>
            <a:endParaRPr 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25450" y="379095"/>
            <a:ext cx="11134725" cy="1938020"/>
          </a:xfrm>
          <a:prstGeom prst="rect">
            <a:avLst/>
          </a:prstGeom>
          <a:noFill/>
          <a:ln w="9525">
            <a:noFill/>
          </a:ln>
        </p:spPr>
        <p:txBody>
          <a:bodyPr wrap="square">
            <a:spAutoFit/>
          </a:bodyPr>
          <a:p>
            <a:pPr indent="449580" algn="just"/>
            <a:r>
              <a:rPr lang="en-US" sz="2400" b="0">
                <a:latin typeface="Times New Roman" panose="02020603050405020304" charset="0"/>
              </a:rPr>
              <a:t>Код из тела цикла выполняется, пока условие </a:t>
            </a:r>
            <a:r>
              <a:rPr lang="en-US" sz="2400" b="0" i="1">
                <a:latin typeface="Times New Roman" panose="02020603050405020304" charset="0"/>
              </a:rPr>
              <a:t>condition</a:t>
            </a:r>
            <a:r>
              <a:rPr lang="en-US" sz="2400" b="0">
                <a:latin typeface="Times New Roman" panose="02020603050405020304" charset="0"/>
              </a:rPr>
              <a:t> истинно. Например, пользователю предлагается ввести его любимый цвет, пока пользователь не введёт слово stop.</a:t>
            </a:r>
            <a:endParaRPr lang="en-US" sz="2400" b="0">
              <a:latin typeface="Times New Roman" panose="02020603050405020304" charset="0"/>
            </a:endParaRPr>
          </a:p>
          <a:p>
            <a:pPr indent="449580" algn="just"/>
            <a:r>
              <a:rPr lang="en-US" sz="2400" b="0">
                <a:latin typeface="Times New Roman" panose="02020603050405020304" charset="0"/>
              </a:rPr>
              <a:t>只要条件是真的，循环体的代码就会执行。例如，请用户输入其最喜欢的颜色，直到用户输入单词stop。</a:t>
            </a:r>
            <a:endParaRPr lang="en-US" sz="2400" b="0">
              <a:latin typeface="Times New Roman" panose="02020603050405020304" charset="0"/>
            </a:endParaRPr>
          </a:p>
        </p:txBody>
      </p:sp>
      <p:sp>
        <p:nvSpPr>
          <p:cNvPr id="2" name="Text Box 1"/>
          <p:cNvSpPr txBox="1"/>
          <p:nvPr/>
        </p:nvSpPr>
        <p:spPr>
          <a:xfrm>
            <a:off x="1026795" y="2932430"/>
            <a:ext cx="8794115" cy="2306955"/>
          </a:xfrm>
          <a:prstGeom prst="rect">
            <a:avLst/>
          </a:prstGeom>
          <a:noFill/>
          <a:ln w="9525">
            <a:noFill/>
          </a:ln>
        </p:spPr>
        <p:txBody>
          <a:bodyPr wrap="square">
            <a:spAutoFit/>
          </a:bodyPr>
          <a:p>
            <a:pPr marL="0" indent="0"/>
            <a:r>
              <a:rPr lang="en-US" sz="2400" b="0">
                <a:solidFill>
                  <a:srgbClr val="0000FF"/>
                </a:solidFill>
                <a:latin typeface="Consolas" panose="020B0609020204030204" charset="0"/>
              </a:rPr>
              <a:t>let</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color</a:t>
            </a:r>
            <a:r>
              <a:rPr lang="en-US" sz="2400" b="0">
                <a:solidFill>
                  <a:srgbClr val="000000"/>
                </a:solidFill>
                <a:latin typeface="Consolas" panose="020B0609020204030204" charset="0"/>
              </a:rPr>
              <a:t> = </a:t>
            </a:r>
            <a:r>
              <a:rPr lang="en-US" sz="2400" b="0">
                <a:solidFill>
                  <a:srgbClr val="A31515"/>
                </a:solidFill>
                <a:latin typeface="Consolas" panose="020B0609020204030204" charset="0"/>
              </a:rPr>
              <a:t>''</a:t>
            </a:r>
            <a:r>
              <a:rPr lang="en-US" sz="2400" b="0">
                <a:solidFill>
                  <a:srgbClr val="000000"/>
                </a:solidFill>
                <a:latin typeface="Consolas" panose="020B0609020204030204" charset="0"/>
              </a:rPr>
              <a:t>; </a:t>
            </a:r>
            <a:r>
              <a:rPr lang="en-US" sz="2400" b="0">
                <a:solidFill>
                  <a:srgbClr val="AF00DB"/>
                </a:solidFill>
                <a:latin typeface="Consolas" panose="020B0609020204030204" charset="0"/>
              </a:rPr>
              <a:t>while</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color</a:t>
            </a:r>
            <a:r>
              <a:rPr lang="en-US" sz="2400" b="0">
                <a:solidFill>
                  <a:srgbClr val="000000"/>
                </a:solidFill>
                <a:latin typeface="Consolas" panose="020B0609020204030204" charset="0"/>
              </a:rPr>
              <a:t> !== </a:t>
            </a:r>
            <a:r>
              <a:rPr lang="en-US" sz="2400" b="0">
                <a:solidFill>
                  <a:srgbClr val="A31515"/>
                </a:solidFill>
                <a:latin typeface="Consolas" panose="020B0609020204030204" charset="0"/>
              </a:rPr>
              <a:t>'stop'</a:t>
            </a:r>
            <a:r>
              <a:rPr lang="en-US" sz="2400" b="0">
                <a:solidFill>
                  <a:srgbClr val="000000"/>
                </a:solidFill>
                <a:latin typeface="Consolas" panose="020B0609020204030204" charset="0"/>
              </a:rPr>
              <a:t>) {  </a:t>
            </a:r>
            <a:r>
              <a:rPr lang="en-US" sz="2400" b="0">
                <a:solidFill>
                  <a:srgbClr val="001080"/>
                </a:solidFill>
                <a:latin typeface="Consolas" panose="020B0609020204030204" charset="0"/>
              </a:rPr>
              <a:t>color</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prompt</a:t>
            </a:r>
            <a:r>
              <a:rPr lang="en-US" sz="2400" b="0">
                <a:solidFill>
                  <a:srgbClr val="000000"/>
                </a:solidFill>
                <a:latin typeface="Consolas" panose="020B0609020204030204" charset="0"/>
              </a:rPr>
              <a:t>(</a:t>
            </a:r>
            <a:r>
              <a:rPr lang="en-US" sz="2400" b="0">
                <a:solidFill>
                  <a:srgbClr val="A31515"/>
                </a:solidFill>
                <a:latin typeface="Consolas" panose="020B0609020204030204" charset="0"/>
              </a:rPr>
              <a:t>'Please enter any color'</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console</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log</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color</a:t>
            </a:r>
            <a:r>
              <a:rPr lang="en-US" sz="2400" b="0">
                <a:solidFill>
                  <a:srgbClr val="000000"/>
                </a:solidFill>
                <a:latin typeface="Consolas" panose="020B0609020204030204" charset="0"/>
              </a:rPr>
              <a:t>);}</a:t>
            </a:r>
            <a:endParaRPr 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7995" y="2479040"/>
            <a:ext cx="7882890" cy="3415030"/>
          </a:xfrm>
          <a:prstGeom prst="rect">
            <a:avLst/>
          </a:prstGeom>
          <a:noFill/>
          <a:ln w="9525">
            <a:noFill/>
          </a:ln>
        </p:spPr>
        <p:txBody>
          <a:bodyPr wrap="square">
            <a:spAutoFit/>
          </a:bodyPr>
          <a:p>
            <a:pPr marL="0" indent="0"/>
            <a:r>
              <a:rPr lang="en-US" sz="2400" b="0">
                <a:solidFill>
                  <a:srgbClr val="0000FF"/>
                </a:solidFill>
                <a:latin typeface="Consolas" panose="020B0609020204030204" charset="0"/>
              </a:rPr>
              <a:t>let</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prompt</a:t>
            </a:r>
            <a:r>
              <a:rPr lang="en-US" sz="2400" b="0">
                <a:solidFill>
                  <a:srgbClr val="000000"/>
                </a:solidFill>
                <a:latin typeface="Consolas" panose="020B0609020204030204" charset="0"/>
              </a:rPr>
              <a:t>(</a:t>
            </a:r>
            <a:r>
              <a:rPr lang="en-US" sz="2400" b="0">
                <a:solidFill>
                  <a:srgbClr val="A31515"/>
                </a:solidFill>
                <a:latin typeface="Consolas" panose="020B0609020204030204" charset="0"/>
              </a:rPr>
              <a:t>'Please enter any number'</a:t>
            </a:r>
            <a:r>
              <a:rPr lang="en-US" sz="2400" b="0">
                <a:solidFill>
                  <a:srgbClr val="000000"/>
                </a:solidFill>
                <a:latin typeface="Consolas" panose="020B0609020204030204" charset="0"/>
              </a:rPr>
              <a:t>);</a:t>
            </a:r>
            <a:r>
              <a:rPr lang="en-US" sz="2400" b="0">
                <a:solidFill>
                  <a:srgbClr val="0000FF"/>
                </a:solidFill>
                <a:latin typeface="Consolas" panose="020B0609020204030204" charset="0"/>
              </a:rPr>
              <a:t>let</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result</a:t>
            </a:r>
            <a:r>
              <a:rPr lang="en-US" sz="2400" b="0">
                <a:solidFill>
                  <a:srgbClr val="000000"/>
                </a:solidFill>
                <a:latin typeface="Consolas" panose="020B0609020204030204" charset="0"/>
              </a:rPr>
              <a:t> = </a:t>
            </a:r>
            <a:r>
              <a:rPr lang="en-US" sz="2400" b="0">
                <a:solidFill>
                  <a:srgbClr val="098658"/>
                </a:solidFill>
                <a:latin typeface="Consolas" panose="020B0609020204030204" charset="0"/>
              </a:rPr>
              <a:t>0</a:t>
            </a:r>
            <a:r>
              <a:rPr lang="en-US" sz="2400" b="0">
                <a:solidFill>
                  <a:srgbClr val="000000"/>
                </a:solidFill>
                <a:latin typeface="Consolas" panose="020B0609020204030204" charset="0"/>
              </a:rPr>
              <a:t>; </a:t>
            </a:r>
            <a:r>
              <a:rPr lang="en-US" sz="2400" b="0">
                <a:solidFill>
                  <a:srgbClr val="AF00DB"/>
                </a:solidFill>
                <a:latin typeface="Consolas" panose="020B0609020204030204" charset="0"/>
              </a:rPr>
              <a:t>while</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&gt; </a:t>
            </a:r>
            <a:r>
              <a:rPr lang="en-US" sz="2400" b="0">
                <a:solidFill>
                  <a:srgbClr val="098658"/>
                </a:solidFill>
                <a:latin typeface="Consolas" panose="020B0609020204030204" charset="0"/>
              </a:rPr>
              <a:t>0</a:t>
            </a:r>
            <a:r>
              <a:rPr lang="en-US" sz="2400" b="0">
                <a:solidFill>
                  <a:srgbClr val="000000"/>
                </a:solidFill>
                <a:latin typeface="Consolas" panose="020B0609020204030204" charset="0"/>
              </a:rPr>
              <a:t>) {  </a:t>
            </a:r>
            <a:r>
              <a:rPr lang="en-US" sz="2400" b="0">
                <a:solidFill>
                  <a:srgbClr val="001080"/>
                </a:solidFill>
                <a:latin typeface="Consolas" panose="020B0609020204030204" charset="0"/>
              </a:rPr>
              <a:t>result</a:t>
            </a:r>
            <a:r>
              <a:rPr lang="en-US" sz="2400" b="0">
                <a:solidFill>
                  <a:srgbClr val="000000"/>
                </a:solidFill>
                <a:latin typeface="Consolas" panose="020B0609020204030204" charset="0"/>
              </a:rPr>
              <a:t> += </a:t>
            </a:r>
            <a:r>
              <a:rPr lang="en-US" sz="2400" b="0">
                <a:solidFill>
                  <a:srgbClr val="267F99"/>
                </a:solidFill>
                <a:latin typeface="Consolas" panose="020B0609020204030204" charset="0"/>
              </a:rPr>
              <a:t>Number</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 </a:t>
            </a:r>
            <a:r>
              <a:rPr lang="en-US" sz="2400" b="0">
                <a:solidFill>
                  <a:srgbClr val="098658"/>
                </a:solidFill>
                <a:latin typeface="Consolas" panose="020B0609020204030204" charset="0"/>
              </a:rPr>
              <a:t>1</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result</a:t>
            </a:r>
            <a:r>
              <a:rPr lang="en-US" sz="2400" b="0">
                <a:solidFill>
                  <a:srgbClr val="000000"/>
                </a:solidFill>
                <a:latin typeface="Consolas" panose="020B0609020204030204" charset="0"/>
              </a:rPr>
              <a:t>);</a:t>
            </a:r>
            <a:endParaRPr lang="en-US" sz="2400"/>
          </a:p>
        </p:txBody>
      </p:sp>
      <p:sp>
        <p:nvSpPr>
          <p:cNvPr id="2" name="Text Box 1"/>
          <p:cNvSpPr txBox="1"/>
          <p:nvPr/>
        </p:nvSpPr>
        <p:spPr>
          <a:xfrm>
            <a:off x="467995" y="315595"/>
            <a:ext cx="11245215" cy="1568450"/>
          </a:xfrm>
          <a:prstGeom prst="rect">
            <a:avLst/>
          </a:prstGeom>
          <a:noFill/>
        </p:spPr>
        <p:txBody>
          <a:bodyPr wrap="square" rtlCol="0" anchor="t">
            <a:spAutoFit/>
          </a:bodyPr>
          <a:p>
            <a:pPr marL="0" indent="449580" algn="just"/>
            <a:r>
              <a:rPr lang="en-US" sz="2400">
                <a:latin typeface="Times New Roman" panose="02020603050405020304" charset="0"/>
                <a:sym typeface="+mn-ea"/>
              </a:rPr>
              <a:t>Давайте рассмотрим ещё один пример, пользователь вводит в диалоговое окно целое число А. Скрипт должен вычислить сумму чисел от 0 до введенного числа А. </a:t>
            </a:r>
            <a:endParaRPr lang="en-US" sz="2400">
              <a:latin typeface="Times New Roman" panose="02020603050405020304" charset="0"/>
              <a:sym typeface="+mn-ea"/>
            </a:endParaRPr>
          </a:p>
          <a:p>
            <a:pPr marL="0" indent="449580" algn="just"/>
            <a:r>
              <a:rPr lang="en-US" sz="2400"/>
              <a:t>让我们再看一个例子，用户在对话框中输入整数a。脚本必须计算从0到输入的数字a的和。</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27380" y="443865"/>
            <a:ext cx="11080115" cy="1383665"/>
          </a:xfrm>
          <a:prstGeom prst="rect">
            <a:avLst/>
          </a:prstGeom>
          <a:noFill/>
          <a:ln w="9525">
            <a:noFill/>
          </a:ln>
        </p:spPr>
        <p:txBody>
          <a:bodyPr wrap="square">
            <a:spAutoFit/>
          </a:bodyPr>
          <a:p>
            <a:pPr indent="449580"/>
            <a:r>
              <a:rPr lang="en-US" sz="2800" b="0">
                <a:latin typeface="Times New Roman" panose="02020603050405020304" charset="0"/>
              </a:rPr>
              <a:t>Следующий цикл, это цикл </a:t>
            </a:r>
            <a:r>
              <a:rPr lang="en-US" sz="2800" b="0" i="1">
                <a:latin typeface="Times New Roman" panose="02020603050405020304" charset="0"/>
              </a:rPr>
              <a:t>do…while</a:t>
            </a:r>
            <a:r>
              <a:rPr lang="en-US" sz="2800" b="0">
                <a:latin typeface="Times New Roman" panose="02020603050405020304" charset="0"/>
              </a:rPr>
              <a:t>. Проверку условия можно разместить под телом цикла.</a:t>
            </a:r>
            <a:endParaRPr lang="en-US" sz="2800" b="0">
              <a:latin typeface="Times New Roman" panose="02020603050405020304" charset="0"/>
            </a:endParaRPr>
          </a:p>
          <a:p>
            <a:pPr indent="449580"/>
            <a:r>
              <a:rPr lang="en-US" sz="2800"/>
              <a:t>下一个循环是do…while循环。条件检查可以放置在循环体下方。</a:t>
            </a:r>
            <a:endParaRPr lang="en-US" sz="2800"/>
          </a:p>
        </p:txBody>
      </p:sp>
      <p:sp>
        <p:nvSpPr>
          <p:cNvPr id="2" name="Text Box 1"/>
          <p:cNvSpPr txBox="1"/>
          <p:nvPr/>
        </p:nvSpPr>
        <p:spPr>
          <a:xfrm>
            <a:off x="627380" y="2916872"/>
            <a:ext cx="5080000" cy="1198880"/>
          </a:xfrm>
          <a:prstGeom prst="rect">
            <a:avLst/>
          </a:prstGeom>
          <a:noFill/>
          <a:ln w="9525">
            <a:noFill/>
          </a:ln>
        </p:spPr>
        <p:txBody>
          <a:bodyPr>
            <a:spAutoFit/>
          </a:bodyPr>
          <a:p>
            <a:pPr marL="0" indent="0"/>
            <a:r>
              <a:rPr lang="en-US" sz="2400" b="0">
                <a:solidFill>
                  <a:srgbClr val="AF00DB"/>
                </a:solidFill>
                <a:latin typeface="Consolas" panose="020B0609020204030204" charset="0"/>
              </a:rPr>
              <a:t>do</a:t>
            </a:r>
            <a:r>
              <a:rPr lang="en-US" sz="2400" b="0">
                <a:solidFill>
                  <a:srgbClr val="000000"/>
                </a:solidFill>
                <a:latin typeface="Consolas" panose="020B0609020204030204" charset="0"/>
              </a:rPr>
              <a:t> {  </a:t>
            </a:r>
            <a:r>
              <a:rPr lang="en-US" sz="2400" b="0">
                <a:solidFill>
                  <a:srgbClr val="008000"/>
                </a:solidFill>
                <a:latin typeface="Consolas" panose="020B0609020204030204" charset="0"/>
              </a:rPr>
              <a:t>// тело цикла</a:t>
            </a:r>
            <a:r>
              <a:rPr lang="en-US" sz="2400" b="0">
                <a:solidFill>
                  <a:srgbClr val="000000"/>
                </a:solidFill>
                <a:latin typeface="Consolas" panose="020B0609020204030204" charset="0"/>
              </a:rPr>
              <a:t>} </a:t>
            </a:r>
            <a:r>
              <a:rPr lang="en-US" sz="2400" b="0">
                <a:solidFill>
                  <a:srgbClr val="AF00DB"/>
                </a:solidFill>
                <a:latin typeface="Consolas" panose="020B0609020204030204" charset="0"/>
              </a:rPr>
              <a:t>while</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condition</a:t>
            </a:r>
            <a:r>
              <a:rPr lang="en-US" sz="2400" b="0">
                <a:solidFill>
                  <a:srgbClr val="000000"/>
                </a:solidFill>
                <a:latin typeface="Consolas" panose="020B0609020204030204" charset="0"/>
              </a:rPr>
              <a:t>);</a:t>
            </a:r>
            <a:endParaRPr 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384810" y="255905"/>
            <a:ext cx="11352530" cy="3046095"/>
          </a:xfrm>
          <a:prstGeom prst="rect">
            <a:avLst/>
          </a:prstGeom>
          <a:noFill/>
          <a:ln w="9525">
            <a:noFill/>
          </a:ln>
        </p:spPr>
        <p:txBody>
          <a:bodyPr wrap="square">
            <a:spAutoFit/>
          </a:bodyPr>
          <a:p>
            <a:pPr indent="0" algn="just"/>
            <a:r>
              <a:rPr lang="ru-RU" altLang="en-US" sz="2400" b="0">
                <a:latin typeface="Times New Roman" panose="02020603050405020304" charset="0"/>
              </a:rPr>
              <a:t>	</a:t>
            </a:r>
            <a:r>
              <a:rPr lang="en-US" sz="2400" b="0">
                <a:latin typeface="Times New Roman" panose="02020603050405020304" charset="0"/>
              </a:rPr>
              <a:t>Цикл сначала выполнит тело, а затем проверит условие condition, и пока его значение равно true, он будет выполняться снова и снова. Такая форма синтаксиса оправдана, если вы хотите, чтобы тело цикла выполнилось хотя бы один раз, даже если условие окажется ложным. </a:t>
            </a:r>
            <a:endParaRPr lang="en-US" sz="2400" b="0">
              <a:latin typeface="Times New Roman" panose="02020603050405020304" charset="0"/>
            </a:endParaRPr>
          </a:p>
          <a:p>
            <a:pPr indent="0" algn="just"/>
            <a:endParaRPr lang="en-US" sz="2400" b="0">
              <a:latin typeface="Times New Roman" panose="02020603050405020304" charset="0"/>
            </a:endParaRPr>
          </a:p>
          <a:p>
            <a:pPr indent="0" algn="just"/>
            <a:r>
              <a:rPr lang="en-US" sz="2400" b="0">
                <a:latin typeface="Times New Roman" panose="02020603050405020304" charset="0"/>
              </a:rPr>
              <a:t>循环将首先运行主体，然后检查条件，只要其值为true，它将一次又一次地运行。如果你希望循环体至少运行一次，这种形式的语法是合理的，即使条件是错误的。</a:t>
            </a:r>
            <a:endParaRPr lang="en-US" sz="2400" b="0">
              <a:latin typeface="Times New Roman" panose="02020603050405020304" charset="0"/>
            </a:endParaRPr>
          </a:p>
          <a:p>
            <a:pPr indent="0" algn="just"/>
            <a:endParaRPr lang="en-US" sz="2400"/>
          </a:p>
        </p:txBody>
      </p:sp>
      <p:sp>
        <p:nvSpPr>
          <p:cNvPr id="3" name="Text Box 2"/>
          <p:cNvSpPr txBox="1"/>
          <p:nvPr/>
        </p:nvSpPr>
        <p:spPr>
          <a:xfrm>
            <a:off x="1710055" y="3196590"/>
            <a:ext cx="7950835" cy="3415030"/>
          </a:xfrm>
          <a:prstGeom prst="rect">
            <a:avLst/>
          </a:prstGeom>
          <a:noFill/>
          <a:ln w="9525">
            <a:noFill/>
          </a:ln>
        </p:spPr>
        <p:txBody>
          <a:bodyPr wrap="square">
            <a:spAutoFit/>
          </a:bodyPr>
          <a:p>
            <a:pPr marL="0" indent="0"/>
            <a:r>
              <a:rPr lang="en-US" sz="2400" b="0">
                <a:solidFill>
                  <a:srgbClr val="0000FF"/>
                </a:solidFill>
                <a:latin typeface="Consolas" panose="020B0609020204030204" charset="0"/>
              </a:rPr>
              <a:t>let</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prompt</a:t>
            </a:r>
            <a:r>
              <a:rPr lang="en-US" sz="2400" b="0">
                <a:solidFill>
                  <a:srgbClr val="000000"/>
                </a:solidFill>
                <a:latin typeface="Consolas" panose="020B0609020204030204" charset="0"/>
              </a:rPr>
              <a:t>(</a:t>
            </a:r>
            <a:r>
              <a:rPr lang="en-US" sz="2400" b="0">
                <a:solidFill>
                  <a:srgbClr val="A31515"/>
                </a:solidFill>
                <a:latin typeface="Consolas" panose="020B0609020204030204" charset="0"/>
              </a:rPr>
              <a:t>'Please enter any number'</a:t>
            </a:r>
            <a:r>
              <a:rPr lang="en-US" sz="2400" b="0">
                <a:solidFill>
                  <a:srgbClr val="000000"/>
                </a:solidFill>
                <a:latin typeface="Consolas" panose="020B0609020204030204" charset="0"/>
              </a:rPr>
              <a:t>);</a:t>
            </a:r>
            <a:r>
              <a:rPr lang="en-US" sz="2400" b="0">
                <a:solidFill>
                  <a:srgbClr val="0000FF"/>
                </a:solidFill>
                <a:latin typeface="Consolas" panose="020B0609020204030204" charset="0"/>
              </a:rPr>
              <a:t>let</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result</a:t>
            </a:r>
            <a:r>
              <a:rPr lang="en-US" sz="2400" b="0">
                <a:solidFill>
                  <a:srgbClr val="000000"/>
                </a:solidFill>
                <a:latin typeface="Consolas" panose="020B0609020204030204" charset="0"/>
              </a:rPr>
              <a:t> = </a:t>
            </a:r>
            <a:r>
              <a:rPr lang="en-US" sz="2400" b="0">
                <a:solidFill>
                  <a:srgbClr val="098658"/>
                </a:solidFill>
                <a:latin typeface="Consolas" panose="020B0609020204030204" charset="0"/>
              </a:rPr>
              <a:t>0</a:t>
            </a:r>
            <a:r>
              <a:rPr lang="en-US" sz="2400" b="0">
                <a:solidFill>
                  <a:srgbClr val="000000"/>
                </a:solidFill>
                <a:latin typeface="Consolas" panose="020B0609020204030204" charset="0"/>
              </a:rPr>
              <a:t>; </a:t>
            </a:r>
            <a:r>
              <a:rPr lang="en-US" sz="2400" b="0">
                <a:solidFill>
                  <a:srgbClr val="AF00DB"/>
                </a:solidFill>
                <a:latin typeface="Consolas" panose="020B0609020204030204" charset="0"/>
              </a:rPr>
              <a:t>do</a:t>
            </a:r>
            <a:r>
              <a:rPr lang="en-US" sz="2400" b="0">
                <a:solidFill>
                  <a:srgbClr val="000000"/>
                </a:solidFill>
                <a:latin typeface="Consolas" panose="020B0609020204030204" charset="0"/>
              </a:rPr>
              <a:t> {  </a:t>
            </a:r>
            <a:r>
              <a:rPr lang="en-US" sz="2400" b="0">
                <a:solidFill>
                  <a:srgbClr val="001080"/>
                </a:solidFill>
                <a:latin typeface="Consolas" panose="020B0609020204030204" charset="0"/>
              </a:rPr>
              <a:t>result</a:t>
            </a:r>
            <a:r>
              <a:rPr lang="en-US" sz="2400" b="0">
                <a:solidFill>
                  <a:srgbClr val="000000"/>
                </a:solidFill>
                <a:latin typeface="Consolas" panose="020B0609020204030204" charset="0"/>
              </a:rPr>
              <a:t> += </a:t>
            </a:r>
            <a:r>
              <a:rPr lang="en-US" sz="2400" b="0">
                <a:solidFill>
                  <a:srgbClr val="267F99"/>
                </a:solidFill>
                <a:latin typeface="Consolas" panose="020B0609020204030204" charset="0"/>
              </a:rPr>
              <a:t>Number</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 </a:t>
            </a:r>
            <a:r>
              <a:rPr lang="en-US" sz="2400" b="0">
                <a:solidFill>
                  <a:srgbClr val="098658"/>
                </a:solidFill>
                <a:latin typeface="Consolas" panose="020B0609020204030204" charset="0"/>
              </a:rPr>
              <a:t>1</a:t>
            </a:r>
            <a:r>
              <a:rPr lang="en-US" sz="2400" b="0">
                <a:solidFill>
                  <a:srgbClr val="000000"/>
                </a:solidFill>
                <a:latin typeface="Consolas" panose="020B0609020204030204" charset="0"/>
              </a:rPr>
              <a:t>;} </a:t>
            </a:r>
            <a:r>
              <a:rPr lang="en-US" sz="2400" b="0">
                <a:solidFill>
                  <a:srgbClr val="AF00DB"/>
                </a:solidFill>
                <a:latin typeface="Consolas" panose="020B0609020204030204" charset="0"/>
              </a:rPr>
              <a:t>while</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&gt; </a:t>
            </a:r>
            <a:r>
              <a:rPr lang="en-US" sz="2400" b="0">
                <a:solidFill>
                  <a:srgbClr val="098658"/>
                </a:solidFill>
                <a:latin typeface="Consolas" panose="020B0609020204030204" charset="0"/>
              </a:rPr>
              <a:t>0</a:t>
            </a:r>
            <a:r>
              <a:rPr lang="en-US" sz="2400" b="0">
                <a:solidFill>
                  <a:srgbClr val="000000"/>
                </a:solidFill>
                <a:latin typeface="Consolas" panose="020B0609020204030204" charset="0"/>
              </a:rPr>
              <a:t>) </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result</a:t>
            </a:r>
            <a:r>
              <a:rPr lang="en-US" sz="2400" b="0">
                <a:solidFill>
                  <a:srgbClr val="000000"/>
                </a:solidFill>
                <a:latin typeface="Consolas" panose="020B0609020204030204" charset="0"/>
              </a:rPr>
              <a:t>);</a:t>
            </a:r>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379095" y="474345"/>
            <a:ext cx="10454005" cy="829945"/>
          </a:xfrm>
          <a:prstGeom prst="rect">
            <a:avLst/>
          </a:prstGeom>
          <a:noFill/>
          <a:ln w="9525">
            <a:noFill/>
          </a:ln>
        </p:spPr>
        <p:txBody>
          <a:bodyPr wrap="square">
            <a:spAutoFit/>
          </a:bodyPr>
          <a:p>
            <a:pPr indent="449580" algn="just"/>
            <a:r>
              <a:rPr lang="en-US" sz="2400" b="0">
                <a:latin typeface="Times New Roman" panose="02020603050405020304" charset="0"/>
              </a:rPr>
              <a:t>Более сложный, но при этом самый распространённый цикл — цикл </a:t>
            </a:r>
            <a:r>
              <a:rPr lang="en-US" sz="2400" b="0" i="1">
                <a:latin typeface="Times New Roman" panose="02020603050405020304" charset="0"/>
              </a:rPr>
              <a:t>for</a:t>
            </a:r>
            <a:r>
              <a:rPr lang="en-US" sz="2400" b="0">
                <a:latin typeface="Times New Roman" panose="02020603050405020304" charset="0"/>
              </a:rPr>
              <a:t>.</a:t>
            </a:r>
            <a:endParaRPr lang="en-US" sz="2400" b="0">
              <a:latin typeface="Times New Roman" panose="02020603050405020304" charset="0"/>
            </a:endParaRPr>
          </a:p>
          <a:p>
            <a:pPr indent="449580" algn="just"/>
            <a:r>
              <a:rPr lang="en-US" sz="2400"/>
              <a:t>更复杂但最常见的循环是FOR循环。</a:t>
            </a:r>
            <a:endParaRPr lang="en-US" sz="2400"/>
          </a:p>
        </p:txBody>
      </p:sp>
      <p:sp>
        <p:nvSpPr>
          <p:cNvPr id="2" name="Text Box 1"/>
          <p:cNvSpPr txBox="1"/>
          <p:nvPr/>
        </p:nvSpPr>
        <p:spPr>
          <a:xfrm>
            <a:off x="1019175" y="2655252"/>
            <a:ext cx="5080000" cy="1198880"/>
          </a:xfrm>
          <a:prstGeom prst="rect">
            <a:avLst/>
          </a:prstGeom>
          <a:noFill/>
          <a:ln w="9525">
            <a:noFill/>
          </a:ln>
        </p:spPr>
        <p:txBody>
          <a:bodyPr>
            <a:spAutoFit/>
          </a:bodyPr>
          <a:p>
            <a:pPr marL="0" indent="0"/>
            <a:r>
              <a:rPr lang="en-US" sz="2400" b="0">
                <a:solidFill>
                  <a:srgbClr val="AF00DB"/>
                </a:solidFill>
                <a:latin typeface="Consolas" panose="020B0609020204030204" charset="0"/>
              </a:rPr>
              <a:t>for</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начало</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условие</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шаг</a:t>
            </a:r>
            <a:r>
              <a:rPr lang="en-US" sz="2400" b="0">
                <a:solidFill>
                  <a:srgbClr val="000000"/>
                </a:solidFill>
                <a:latin typeface="Consolas" panose="020B0609020204030204" charset="0"/>
              </a:rPr>
              <a:t>) {  </a:t>
            </a:r>
            <a:r>
              <a:rPr lang="en-US" sz="2400" b="0">
                <a:solidFill>
                  <a:srgbClr val="008000"/>
                </a:solidFill>
                <a:latin typeface="Consolas" panose="020B0609020204030204" charset="0"/>
              </a:rPr>
              <a:t>// ... тело цикла ...</a:t>
            </a:r>
            <a:r>
              <a:rPr lang="en-US" sz="2400" b="0">
                <a:solidFill>
                  <a:srgbClr val="000000"/>
                </a:solidFill>
                <a:latin typeface="Consolas" panose="020B0609020204030204" charset="0"/>
              </a:rPr>
              <a:t>}</a:t>
            </a:r>
            <a:endParaRPr 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3670" y="123825"/>
            <a:ext cx="7273925" cy="829945"/>
          </a:xfrm>
          <a:prstGeom prst="rect">
            <a:avLst/>
          </a:prstGeom>
          <a:noFill/>
        </p:spPr>
        <p:txBody>
          <a:bodyPr wrap="none" rtlCol="0">
            <a:spAutoFit/>
          </a:bodyPr>
          <a:p>
            <a:pPr algn="l"/>
            <a:r>
              <a:rPr lang="ru-RU" altLang="en-US" sz="2400"/>
              <a:t>Пример использования: вывести числа от 1 до 3.</a:t>
            </a:r>
            <a:endParaRPr lang="ru-RU" altLang="en-US" sz="2400"/>
          </a:p>
          <a:p>
            <a:pPr algn="l"/>
            <a:r>
              <a:rPr lang="ru-RU" altLang="en-US" sz="2400"/>
              <a:t>使用示例：将数字从1导出到3。</a:t>
            </a:r>
            <a:endParaRPr lang="ru-RU" altLang="en-US" sz="2400"/>
          </a:p>
        </p:txBody>
      </p:sp>
      <p:sp>
        <p:nvSpPr>
          <p:cNvPr id="100" name="Text Box 99"/>
          <p:cNvSpPr txBox="1"/>
          <p:nvPr/>
        </p:nvSpPr>
        <p:spPr>
          <a:xfrm>
            <a:off x="4881880" y="842327"/>
            <a:ext cx="5080000" cy="1198880"/>
          </a:xfrm>
          <a:prstGeom prst="rect">
            <a:avLst/>
          </a:prstGeom>
          <a:noFill/>
          <a:ln w="9525">
            <a:noFill/>
          </a:ln>
        </p:spPr>
        <p:txBody>
          <a:bodyPr>
            <a:spAutoFit/>
          </a:bodyPr>
          <a:p>
            <a:pPr indent="0"/>
            <a:r>
              <a:rPr lang="en-US" sz="2400" b="0">
                <a:solidFill>
                  <a:srgbClr val="AF00DB"/>
                </a:solidFill>
                <a:latin typeface="Consolas" panose="020B0609020204030204" charset="0"/>
              </a:rPr>
              <a:t>for</a:t>
            </a:r>
            <a:r>
              <a:rPr lang="en-US" sz="2400" b="0">
                <a:solidFill>
                  <a:srgbClr val="000000"/>
                </a:solidFill>
                <a:latin typeface="Consolas" panose="020B0609020204030204" charset="0"/>
              </a:rPr>
              <a:t> (</a:t>
            </a:r>
            <a:r>
              <a:rPr lang="en-US" sz="2400" b="0">
                <a:solidFill>
                  <a:srgbClr val="0000FF"/>
                </a:solidFill>
                <a:latin typeface="Consolas" panose="020B0609020204030204" charset="0"/>
              </a:rPr>
              <a:t>let</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i</a:t>
            </a:r>
            <a:r>
              <a:rPr lang="en-US" sz="2400" b="0">
                <a:solidFill>
                  <a:srgbClr val="000000"/>
                </a:solidFill>
                <a:latin typeface="Consolas" panose="020B0609020204030204" charset="0"/>
              </a:rPr>
              <a:t> = </a:t>
            </a:r>
            <a:r>
              <a:rPr lang="en-US" sz="2400" b="0">
                <a:solidFill>
                  <a:srgbClr val="098658"/>
                </a:solidFill>
                <a:latin typeface="Consolas" panose="020B0609020204030204" charset="0"/>
              </a:rPr>
              <a:t>0</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i</a:t>
            </a:r>
            <a:r>
              <a:rPr lang="en-US" sz="2400" b="0">
                <a:solidFill>
                  <a:srgbClr val="000000"/>
                </a:solidFill>
                <a:latin typeface="Consolas" panose="020B0609020204030204" charset="0"/>
              </a:rPr>
              <a:t> &lt; </a:t>
            </a:r>
            <a:r>
              <a:rPr lang="en-US" sz="2400" b="0">
                <a:solidFill>
                  <a:srgbClr val="098658"/>
                </a:solidFill>
                <a:latin typeface="Consolas" panose="020B0609020204030204" charset="0"/>
              </a:rPr>
              <a:t>3</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i</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alert</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i</a:t>
            </a:r>
            <a:r>
              <a:rPr lang="en-US" sz="2400" b="0">
                <a:solidFill>
                  <a:srgbClr val="000000"/>
                </a:solidFill>
                <a:latin typeface="Consolas" panose="020B0609020204030204" charset="0"/>
              </a:rPr>
              <a:t>);}</a:t>
            </a:r>
            <a:endParaRPr lang="en-US" sz="2400"/>
          </a:p>
        </p:txBody>
      </p:sp>
      <p:graphicFrame>
        <p:nvGraphicFramePr>
          <p:cNvPr id="3" name="Table 2"/>
          <p:cNvGraphicFramePr/>
          <p:nvPr>
            <p:custDataLst>
              <p:tags r:id="rId1"/>
            </p:custDataLst>
          </p:nvPr>
        </p:nvGraphicFramePr>
        <p:xfrm>
          <a:off x="292100" y="2235835"/>
          <a:ext cx="11151235" cy="3970020"/>
        </p:xfrm>
        <a:graphic>
          <a:graphicData uri="http://schemas.openxmlformats.org/drawingml/2006/table">
            <a:tbl>
              <a:tblPr firstRow="1" bandRow="1">
                <a:tableStyleId>{5940675A-B579-460E-94D1-54222C63F5DA}</a:tableStyleId>
              </a:tblPr>
              <a:tblGrid>
                <a:gridCol w="1643380"/>
                <a:gridCol w="2481580"/>
                <a:gridCol w="7026275"/>
              </a:tblGrid>
              <a:tr h="777240">
                <a:tc>
                  <a:txBody>
                    <a:bodyPr/>
                    <a:p>
                      <a:pPr indent="0" algn="ctr">
                        <a:buNone/>
                      </a:pPr>
                      <a:r>
                        <a:rPr lang="en-US" sz="2000" b="0">
                          <a:solidFill>
                            <a:srgbClr val="000000"/>
                          </a:solidFill>
                          <a:latin typeface="Times New Roman" panose="02020603050405020304" charset="0"/>
                          <a:cs typeface="Times New Roman" panose="02020603050405020304" charset="0"/>
                        </a:rPr>
                        <a:t>начало开始</a:t>
                      </a:r>
                      <a:endParaRPr lang="en-US" sz="2000" b="0">
                        <a:solidFill>
                          <a:srgbClr val="000000"/>
                        </a:solidFill>
                        <a:latin typeface="Times New Roman" panose="02020603050405020304" charset="0"/>
                        <a:cs typeface="Times New Roman" panose="020206030504050203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2000" b="0">
                          <a:solidFill>
                            <a:srgbClr val="000000"/>
                          </a:solidFill>
                          <a:latin typeface="Consolas" panose="020B0609020204030204" charset="0"/>
                          <a:cs typeface="Consolas" panose="020B0609020204030204" charset="0"/>
                        </a:rPr>
                        <a:t>let i = 0</a:t>
                      </a:r>
                      <a:endParaRPr lang="en-US" sz="2000" b="0">
                        <a:solidFill>
                          <a:srgbClr val="000000"/>
                        </a:solidFill>
                        <a:latin typeface="Consolas" panose="020B0609020204030204" charset="0"/>
                        <a:ea typeface="Consolas" panose="020B0609020204030204" charset="0"/>
                        <a:cs typeface="Consolas" panose="020B06090202040302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charset="0"/>
                          <a:cs typeface="Times New Roman" panose="02020603050405020304" charset="0"/>
                        </a:rPr>
                        <a:t>Выполняется один раз при входе в цикл进入循环时执行一次</a:t>
                      </a:r>
                      <a:endParaRPr lang="en-US" sz="2000" b="0">
                        <a:solidFill>
                          <a:srgbClr val="000000"/>
                        </a:solidFill>
                        <a:latin typeface="Times New Roman" panose="02020603050405020304" charset="0"/>
                        <a:cs typeface="Times New Roman" panose="02020603050405020304" charset="0"/>
                      </a:endParaRPr>
                    </a:p>
                    <a:p>
                      <a:pPr indent="0">
                        <a:buNone/>
                      </a:pPr>
                      <a:endParaRPr lang="en-US" sz="2000" b="0">
                        <a:solidFill>
                          <a:srgbClr val="000000"/>
                        </a:solidFill>
                        <a:latin typeface="Times New Roman" panose="02020603050405020304" charset="0"/>
                        <a:ea typeface="Times New Roman" panose="02020603050405020304" charset="0"/>
                        <a:cs typeface="Times New Roman" panose="020206030504050203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1268095">
                <a:tc>
                  <a:txBody>
                    <a:bodyPr/>
                    <a:p>
                      <a:pPr indent="0" algn="ctr">
                        <a:buNone/>
                      </a:pPr>
                      <a:r>
                        <a:rPr lang="en-US" sz="2000" b="0">
                          <a:solidFill>
                            <a:srgbClr val="000000"/>
                          </a:solidFill>
                          <a:latin typeface="Times New Roman" panose="02020603050405020304" charset="0"/>
                          <a:cs typeface="Times New Roman" panose="02020603050405020304" charset="0"/>
                        </a:rPr>
                        <a:t>условие</a:t>
                      </a:r>
                      <a:r>
                        <a:rPr lang="zh-CN" altLang="en-US" sz="2000" b="0">
                          <a:solidFill>
                            <a:srgbClr val="000000"/>
                          </a:solidFill>
                          <a:latin typeface="Times New Roman" panose="02020603050405020304" charset="0"/>
                          <a:cs typeface="Times New Roman" panose="02020603050405020304" charset="0"/>
                        </a:rPr>
                        <a:t>条件</a:t>
                      </a:r>
                      <a:endParaRPr lang="zh-CN" altLang="en-US" sz="2000" b="0">
                        <a:solidFill>
                          <a:srgbClr val="000000"/>
                        </a:solidFill>
                        <a:latin typeface="Times New Roman" panose="02020603050405020304" charset="0"/>
                        <a:ea typeface="Times New Roman" panose="02020603050405020304" charset="0"/>
                        <a:cs typeface="Times New Roman" panose="020206030504050203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2000" b="0">
                          <a:solidFill>
                            <a:srgbClr val="000000"/>
                          </a:solidFill>
                          <a:latin typeface="Consolas" panose="020B0609020204030204" charset="0"/>
                          <a:cs typeface="Consolas" panose="020B0609020204030204" charset="0"/>
                        </a:rPr>
                        <a:t>i &lt; 3</a:t>
                      </a:r>
                      <a:endParaRPr lang="en-US" sz="2000" b="0">
                        <a:solidFill>
                          <a:srgbClr val="000000"/>
                        </a:solidFill>
                        <a:latin typeface="Consolas" panose="020B0609020204030204" charset="0"/>
                        <a:ea typeface="Consolas" panose="020B0609020204030204" charset="0"/>
                        <a:cs typeface="Consolas" panose="020B06090202040302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charset="0"/>
                          <a:cs typeface="Times New Roman" panose="02020603050405020304" charset="0"/>
                        </a:rPr>
                        <a:t>Проверяется </a:t>
                      </a:r>
                      <a:r>
                        <a:rPr lang="en-US" sz="2000" b="0" i="1">
                          <a:solidFill>
                            <a:srgbClr val="000000"/>
                          </a:solidFill>
                          <a:latin typeface="Times New Roman" panose="02020603050405020304" charset="0"/>
                          <a:cs typeface="Times New Roman" panose="02020603050405020304" charset="0"/>
                        </a:rPr>
                        <a:t>перед</a:t>
                      </a:r>
                      <a:r>
                        <a:rPr lang="en-US" sz="2000" b="0">
                          <a:solidFill>
                            <a:srgbClr val="000000"/>
                          </a:solidFill>
                          <a:latin typeface="Times New Roman" panose="02020603050405020304" charset="0"/>
                          <a:cs typeface="Times New Roman" panose="02020603050405020304" charset="0"/>
                        </a:rPr>
                        <a:t> каждой итерацией цикла.Если оно вычислится в false, цикл остановится.在循环的每个迭代之前检查。如果计算为false，循环将停止。</a:t>
                      </a:r>
                      <a:endParaRPr lang="en-US" sz="2000" b="0">
                        <a:solidFill>
                          <a:srgbClr val="000000"/>
                        </a:solidFill>
                        <a:latin typeface="Times New Roman" panose="02020603050405020304" charset="0"/>
                        <a:cs typeface="Times New Roman" panose="02020603050405020304" charset="0"/>
                      </a:endParaRPr>
                    </a:p>
                    <a:p>
                      <a:pPr indent="0">
                        <a:buNone/>
                      </a:pPr>
                      <a:endParaRPr lang="en-US" sz="2000" b="0">
                        <a:solidFill>
                          <a:srgbClr val="000000"/>
                        </a:solidFill>
                        <a:latin typeface="Times New Roman" panose="02020603050405020304" charset="0"/>
                        <a:ea typeface="Times New Roman" panose="02020603050405020304" charset="0"/>
                        <a:cs typeface="Times New Roman" panose="02020603050405020304" charset="0"/>
                      </a:endParaRPr>
                    </a:p>
                    <a:p>
                      <a:pPr indent="0">
                        <a:buNone/>
                      </a:pPr>
                      <a:endParaRPr lang="en-US" sz="2000" b="0">
                        <a:solidFill>
                          <a:srgbClr val="000000"/>
                        </a:solidFill>
                        <a:latin typeface="Times New Roman" panose="02020603050405020304" charset="0"/>
                        <a:ea typeface="Times New Roman" panose="02020603050405020304" charset="0"/>
                        <a:cs typeface="Times New Roman" panose="020206030504050203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777875">
                <a:tc>
                  <a:txBody>
                    <a:bodyPr/>
                    <a:p>
                      <a:pPr indent="0" algn="ctr">
                        <a:buNone/>
                      </a:pPr>
                      <a:r>
                        <a:rPr lang="en-US" sz="2000" b="0">
                          <a:solidFill>
                            <a:srgbClr val="000000"/>
                          </a:solidFill>
                          <a:latin typeface="Times New Roman" panose="02020603050405020304" charset="0"/>
                          <a:cs typeface="Times New Roman" panose="02020603050405020304" charset="0"/>
                        </a:rPr>
                        <a:t>тело</a:t>
                      </a:r>
                      <a:r>
                        <a:rPr lang="zh-CN" altLang="en-US" sz="2000" b="0">
                          <a:solidFill>
                            <a:srgbClr val="000000"/>
                          </a:solidFill>
                          <a:latin typeface="Times New Roman" panose="02020603050405020304" charset="0"/>
                          <a:cs typeface="Times New Roman" panose="02020603050405020304" charset="0"/>
                        </a:rPr>
                        <a:t>主体</a:t>
                      </a:r>
                      <a:endParaRPr lang="zh-CN" altLang="en-US" sz="2000" b="0">
                        <a:solidFill>
                          <a:srgbClr val="000000"/>
                        </a:solidFill>
                        <a:latin typeface="Times New Roman" panose="02020603050405020304" charset="0"/>
                        <a:ea typeface="Times New Roman" panose="02020603050405020304" charset="0"/>
                        <a:cs typeface="Times New Roman" panose="020206030504050203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2000" b="0">
                          <a:solidFill>
                            <a:srgbClr val="000000"/>
                          </a:solidFill>
                          <a:latin typeface="Consolas" panose="020B0609020204030204" charset="0"/>
                          <a:cs typeface="Consolas" panose="020B0609020204030204" charset="0"/>
                        </a:rPr>
                        <a:t>alert(i)</a:t>
                      </a:r>
                      <a:endParaRPr lang="en-US" sz="2000" b="0">
                        <a:solidFill>
                          <a:srgbClr val="000000"/>
                        </a:solidFill>
                        <a:latin typeface="Consolas" panose="020B0609020204030204" charset="0"/>
                        <a:ea typeface="Consolas" panose="020B0609020204030204" charset="0"/>
                        <a:cs typeface="Consolas" panose="020B06090202040302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charset="0"/>
                          <a:cs typeface="Times New Roman" panose="02020603050405020304" charset="0"/>
                        </a:rPr>
                        <a:t>Выполняется снова и снова, пока условие вычисляется в true.</a:t>
                      </a:r>
                      <a:endParaRPr lang="en-US" sz="2000" b="0">
                        <a:solidFill>
                          <a:srgbClr val="000000"/>
                        </a:solidFill>
                        <a:latin typeface="Times New Roman" panose="02020603050405020304" charset="0"/>
                        <a:cs typeface="Times New Roman" panose="02020603050405020304" charset="0"/>
                      </a:endParaRPr>
                    </a:p>
                    <a:p>
                      <a:pPr indent="0">
                        <a:buNone/>
                      </a:pPr>
                      <a:r>
                        <a:rPr lang="en-US" sz="2000" b="0">
                          <a:solidFill>
                            <a:srgbClr val="000000"/>
                          </a:solidFill>
                          <a:latin typeface="Times New Roman" panose="02020603050405020304" charset="0"/>
                          <a:cs typeface="Times New Roman" panose="02020603050405020304" charset="0"/>
                        </a:rPr>
                        <a:t>它一次又一次地执行，直到条件被计算为true。</a:t>
                      </a:r>
                      <a:endParaRPr lang="en-US" sz="2000" b="0">
                        <a:solidFill>
                          <a:srgbClr val="000000"/>
                        </a:solidFill>
                        <a:latin typeface="Times New Roman" panose="02020603050405020304" charset="0"/>
                        <a:cs typeface="Times New Roman" panose="02020603050405020304" charset="0"/>
                      </a:endParaRPr>
                    </a:p>
                    <a:p>
                      <a:pPr indent="0">
                        <a:buNone/>
                      </a:pPr>
                      <a:endParaRPr lang="en-US" sz="2000" b="0">
                        <a:solidFill>
                          <a:srgbClr val="000000"/>
                        </a:solidFill>
                        <a:latin typeface="Times New Roman" panose="02020603050405020304" charset="0"/>
                        <a:ea typeface="Times New Roman" panose="02020603050405020304" charset="0"/>
                        <a:cs typeface="Times New Roman" panose="020206030504050203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1146810">
                <a:tc>
                  <a:txBody>
                    <a:bodyPr/>
                    <a:p>
                      <a:pPr indent="0" algn="ctr">
                        <a:buNone/>
                      </a:pPr>
                      <a:r>
                        <a:rPr lang="en-US" sz="2000" b="0">
                          <a:solidFill>
                            <a:srgbClr val="000000"/>
                          </a:solidFill>
                          <a:latin typeface="Times New Roman" panose="02020603050405020304" charset="0"/>
                          <a:cs typeface="Times New Roman" panose="02020603050405020304" charset="0"/>
                        </a:rPr>
                        <a:t>шаг</a:t>
                      </a:r>
                      <a:r>
                        <a:rPr lang="zh-CN" altLang="en-US" sz="2000" b="0">
                          <a:solidFill>
                            <a:srgbClr val="000000"/>
                          </a:solidFill>
                          <a:latin typeface="Times New Roman" panose="02020603050405020304" charset="0"/>
                          <a:cs typeface="Times New Roman" panose="02020603050405020304" charset="0"/>
                        </a:rPr>
                        <a:t>步骤</a:t>
                      </a:r>
                      <a:endParaRPr lang="zh-CN" altLang="en-US" sz="2000" b="0">
                        <a:solidFill>
                          <a:srgbClr val="000000"/>
                        </a:solidFill>
                        <a:latin typeface="Times New Roman" panose="02020603050405020304" charset="0"/>
                        <a:ea typeface="Times New Roman" panose="02020603050405020304" charset="0"/>
                        <a:cs typeface="Times New Roman" panose="020206030504050203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2000" b="0">
                          <a:solidFill>
                            <a:srgbClr val="000000"/>
                          </a:solidFill>
                          <a:latin typeface="Consolas" panose="020B0609020204030204" charset="0"/>
                          <a:cs typeface="Consolas" panose="020B0609020204030204" charset="0"/>
                        </a:rPr>
                        <a:t>i++</a:t>
                      </a:r>
                      <a:endParaRPr lang="en-US" sz="2000" b="0">
                        <a:solidFill>
                          <a:srgbClr val="000000"/>
                        </a:solidFill>
                        <a:latin typeface="Consolas" panose="020B0609020204030204" charset="0"/>
                        <a:ea typeface="Consolas" panose="020B0609020204030204" charset="0"/>
                        <a:cs typeface="Consolas" panose="020B06090202040302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charset="0"/>
                          <a:cs typeface="Times New Roman" panose="02020603050405020304" charset="0"/>
                        </a:rPr>
                        <a:t>Выполняется </a:t>
                      </a:r>
                      <a:r>
                        <a:rPr lang="en-US" sz="2000" b="0" i="1">
                          <a:solidFill>
                            <a:srgbClr val="000000"/>
                          </a:solidFill>
                          <a:latin typeface="Times New Roman" panose="02020603050405020304" charset="0"/>
                          <a:cs typeface="Times New Roman" panose="02020603050405020304" charset="0"/>
                        </a:rPr>
                        <a:t>после</a:t>
                      </a:r>
                      <a:r>
                        <a:rPr lang="en-US" sz="2000" b="0">
                          <a:solidFill>
                            <a:srgbClr val="000000"/>
                          </a:solidFill>
                          <a:latin typeface="Times New Roman" panose="02020603050405020304" charset="0"/>
                          <a:cs typeface="Times New Roman" panose="02020603050405020304" charset="0"/>
                        </a:rPr>
                        <a:t> тела цикла на каждой итерации </a:t>
                      </a:r>
                      <a:r>
                        <a:rPr lang="en-US" sz="2000" b="0" i="1">
                          <a:solidFill>
                            <a:srgbClr val="000000"/>
                          </a:solidFill>
                          <a:latin typeface="Times New Roman" panose="02020603050405020304" charset="0"/>
                          <a:cs typeface="Times New Roman" panose="02020603050405020304" charset="0"/>
                        </a:rPr>
                        <a:t>перед</a:t>
                      </a:r>
                      <a:r>
                        <a:rPr lang="en-US" sz="2000" b="0">
                          <a:solidFill>
                            <a:srgbClr val="000000"/>
                          </a:solidFill>
                          <a:latin typeface="Times New Roman" panose="02020603050405020304" charset="0"/>
                          <a:cs typeface="Times New Roman" panose="02020603050405020304" charset="0"/>
                        </a:rPr>
                        <a:t> проверкой условия.在测试条件之前，在每次迭代中循环体之后执行。</a:t>
                      </a:r>
                      <a:endParaRPr lang="en-US" sz="2000" b="0">
                        <a:solidFill>
                          <a:srgbClr val="000000"/>
                        </a:solidFill>
                        <a:latin typeface="Times New Roman" panose="02020603050405020304" charset="0"/>
                        <a:cs typeface="Times New Roman" panose="02020603050405020304" charset="0"/>
                      </a:endParaRPr>
                    </a:p>
                    <a:p>
                      <a:pPr indent="0">
                        <a:buNone/>
                      </a:pPr>
                      <a:endParaRPr lang="en-US" sz="2000" b="0">
                        <a:solidFill>
                          <a:srgbClr val="000000"/>
                        </a:solidFill>
                        <a:latin typeface="Times New Roman" panose="02020603050405020304" charset="0"/>
                        <a:ea typeface="Times New Roman" panose="02020603050405020304" charset="0"/>
                        <a:cs typeface="Times New Roman" panose="02020603050405020304" charset="0"/>
                      </a:endParaRPr>
                    </a:p>
                  </a:txBody>
                  <a:tcPr marL="47625" marR="152400" marT="19050" marB="1905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1139825" y="430530"/>
            <a:ext cx="9651365" cy="1568450"/>
          </a:xfrm>
          <a:prstGeom prst="rect">
            <a:avLst/>
          </a:prstGeom>
          <a:noFill/>
          <a:ln w="9525">
            <a:noFill/>
          </a:ln>
        </p:spPr>
        <p:txBody>
          <a:bodyPr wrap="square">
            <a:spAutoFit/>
          </a:bodyPr>
          <a:p>
            <a:pPr indent="0" algn="just"/>
            <a:r>
              <a:rPr lang="ru-RU" altLang="en-US" sz="2400" b="0">
                <a:solidFill>
                  <a:srgbClr val="000000"/>
                </a:solidFill>
                <a:latin typeface="Times New Roman" panose="02020603050405020304" charset="0"/>
              </a:rPr>
              <a:t>	</a:t>
            </a:r>
            <a:r>
              <a:rPr lang="en-US" sz="2400" b="0">
                <a:solidFill>
                  <a:srgbClr val="000000"/>
                </a:solidFill>
                <a:latin typeface="Times New Roman" panose="02020603050405020304" charset="0"/>
              </a:rPr>
              <a:t>Перепишем уже знакомый нам пример с подсчетом суммы с использованием цикла </a:t>
            </a:r>
            <a:r>
              <a:rPr lang="en-US" sz="2400" b="0" i="1">
                <a:latin typeface="Times New Roman" panose="02020603050405020304" charset="0"/>
              </a:rPr>
              <a:t>for.</a:t>
            </a:r>
            <a:endParaRPr lang="en-US" sz="2400" b="0" i="1">
              <a:latin typeface="Times New Roman" panose="02020603050405020304" charset="0"/>
            </a:endParaRPr>
          </a:p>
          <a:p>
            <a:pPr indent="0" algn="just"/>
            <a:endParaRPr lang="en-US" sz="2400" b="0" i="1">
              <a:latin typeface="Times New Roman" panose="02020603050405020304" charset="0"/>
            </a:endParaRPr>
          </a:p>
          <a:p>
            <a:pPr indent="0" algn="just"/>
            <a:r>
              <a:rPr lang="en-US" sz="2400" b="0" i="1">
                <a:latin typeface="Times New Roman" panose="02020603050405020304" charset="0"/>
              </a:rPr>
              <a:t>让我们重写我们熟悉的使用FOR循环计算和的例子。</a:t>
            </a:r>
            <a:endParaRPr lang="en-US" sz="2400" b="0" i="1">
              <a:latin typeface="Times New Roman" panose="02020603050405020304" charset="0"/>
            </a:endParaRPr>
          </a:p>
        </p:txBody>
      </p:sp>
      <p:sp>
        <p:nvSpPr>
          <p:cNvPr id="2" name="Text Box 1"/>
          <p:cNvSpPr txBox="1"/>
          <p:nvPr/>
        </p:nvSpPr>
        <p:spPr>
          <a:xfrm>
            <a:off x="1139825" y="2851150"/>
            <a:ext cx="8385810" cy="3046095"/>
          </a:xfrm>
          <a:prstGeom prst="rect">
            <a:avLst/>
          </a:prstGeom>
          <a:noFill/>
          <a:ln w="9525">
            <a:noFill/>
          </a:ln>
        </p:spPr>
        <p:txBody>
          <a:bodyPr wrap="square">
            <a:spAutoFit/>
          </a:bodyPr>
          <a:p>
            <a:pPr marL="0" indent="0" algn="just"/>
            <a:r>
              <a:rPr lang="en-US" sz="2400" b="0">
                <a:solidFill>
                  <a:srgbClr val="0000FF"/>
                </a:solidFill>
                <a:latin typeface="Consolas" panose="020B0609020204030204" charset="0"/>
              </a:rPr>
              <a:t>let</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prompt</a:t>
            </a:r>
            <a:r>
              <a:rPr lang="en-US" sz="2400" b="0">
                <a:solidFill>
                  <a:srgbClr val="000000"/>
                </a:solidFill>
                <a:latin typeface="Consolas" panose="020B0609020204030204" charset="0"/>
              </a:rPr>
              <a:t>(</a:t>
            </a:r>
            <a:r>
              <a:rPr lang="en-US" sz="2400" b="0">
                <a:solidFill>
                  <a:srgbClr val="A31515"/>
                </a:solidFill>
                <a:latin typeface="Consolas" panose="020B0609020204030204" charset="0"/>
              </a:rPr>
              <a:t>'Please enter any number'</a:t>
            </a:r>
            <a:r>
              <a:rPr lang="en-US" sz="2400" b="0">
                <a:solidFill>
                  <a:srgbClr val="000000"/>
                </a:solidFill>
                <a:latin typeface="Consolas" panose="020B0609020204030204" charset="0"/>
              </a:rPr>
              <a:t>);</a:t>
            </a:r>
            <a:r>
              <a:rPr lang="en-US" sz="2400" b="0">
                <a:solidFill>
                  <a:srgbClr val="0000FF"/>
                </a:solidFill>
                <a:latin typeface="Consolas" panose="020B0609020204030204" charset="0"/>
              </a:rPr>
              <a:t>let</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result</a:t>
            </a:r>
            <a:r>
              <a:rPr lang="en-US" sz="2400" b="0">
                <a:solidFill>
                  <a:srgbClr val="000000"/>
                </a:solidFill>
                <a:latin typeface="Consolas" panose="020B0609020204030204" charset="0"/>
              </a:rPr>
              <a:t> = </a:t>
            </a:r>
            <a:r>
              <a:rPr lang="en-US" sz="2400" b="0">
                <a:solidFill>
                  <a:srgbClr val="098658"/>
                </a:solidFill>
                <a:latin typeface="Consolas" panose="020B0609020204030204" charset="0"/>
              </a:rPr>
              <a:t>0</a:t>
            </a:r>
            <a:r>
              <a:rPr lang="en-US" sz="2400" b="0">
                <a:solidFill>
                  <a:srgbClr val="000000"/>
                </a:solidFill>
                <a:latin typeface="Consolas" panose="020B0609020204030204" charset="0"/>
              </a:rPr>
              <a:t>; </a:t>
            </a:r>
            <a:r>
              <a:rPr lang="en-US" sz="2400" b="0">
                <a:solidFill>
                  <a:srgbClr val="AF00DB"/>
                </a:solidFill>
                <a:latin typeface="Consolas" panose="020B0609020204030204" charset="0"/>
              </a:rPr>
              <a:t>for</a:t>
            </a:r>
            <a:r>
              <a:rPr lang="en-US" sz="2400" b="0">
                <a:solidFill>
                  <a:srgbClr val="000000"/>
                </a:solidFill>
                <a:latin typeface="Consolas" panose="020B0609020204030204" charset="0"/>
              </a:rPr>
              <a:t> (</a:t>
            </a:r>
            <a:r>
              <a:rPr lang="en-US" sz="2400" b="0">
                <a:solidFill>
                  <a:srgbClr val="0000FF"/>
                </a:solidFill>
                <a:latin typeface="Consolas" panose="020B0609020204030204" charset="0"/>
              </a:rPr>
              <a:t>let</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i</a:t>
            </a:r>
            <a:r>
              <a:rPr lang="en-US" sz="2400" b="0">
                <a:solidFill>
                  <a:srgbClr val="000000"/>
                </a:solidFill>
                <a:latin typeface="Consolas" panose="020B0609020204030204" charset="0"/>
              </a:rPr>
              <a:t> = </a:t>
            </a:r>
            <a:r>
              <a:rPr lang="en-US" sz="2400" b="0">
                <a:solidFill>
                  <a:srgbClr val="098658"/>
                </a:solidFill>
                <a:latin typeface="Consolas" panose="020B0609020204030204" charset="0"/>
              </a:rPr>
              <a:t>0</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i</a:t>
            </a:r>
            <a:r>
              <a:rPr lang="en-US" sz="2400" b="0">
                <a:solidFill>
                  <a:srgbClr val="000000"/>
                </a:solidFill>
                <a:latin typeface="Consolas" panose="020B0609020204030204" charset="0"/>
              </a:rPr>
              <a:t> &lt;=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i</a:t>
            </a:r>
            <a:r>
              <a:rPr lang="en-US" sz="2400" b="0">
                <a:solidFill>
                  <a:srgbClr val="000000"/>
                </a:solidFill>
                <a:latin typeface="Consolas" panose="020B0609020204030204" charset="0"/>
              </a:rPr>
              <a:t>++) {  </a:t>
            </a:r>
            <a:r>
              <a:rPr lang="en-US" sz="2400" b="0">
                <a:solidFill>
                  <a:srgbClr val="001080"/>
                </a:solidFill>
                <a:latin typeface="Consolas" panose="020B0609020204030204" charset="0"/>
              </a:rPr>
              <a:t>result</a:t>
            </a:r>
            <a:r>
              <a:rPr lang="en-US" sz="2400" b="0">
                <a:solidFill>
                  <a:srgbClr val="000000"/>
                </a:solidFill>
                <a:latin typeface="Consolas" panose="020B0609020204030204" charset="0"/>
              </a:rPr>
              <a:t> += </a:t>
            </a:r>
            <a:r>
              <a:rPr lang="en-US" sz="2400" b="0">
                <a:solidFill>
                  <a:srgbClr val="001080"/>
                </a:solidFill>
                <a:latin typeface="Consolas" panose="020B0609020204030204" charset="0"/>
              </a:rPr>
              <a:t>i</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result</a:t>
            </a:r>
            <a:r>
              <a:rPr lang="en-US" sz="2400" b="0">
                <a:solidFill>
                  <a:srgbClr val="000000"/>
                </a:solidFill>
                <a:latin typeface="Consolas" panose="020B0609020204030204" charset="0"/>
              </a:rPr>
              <a:t>);</a:t>
            </a:r>
            <a:endParaRPr 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19760" y="768350"/>
            <a:ext cx="11083925" cy="1383665"/>
          </a:xfrm>
          <a:prstGeom prst="rect">
            <a:avLst/>
          </a:prstGeom>
          <a:noFill/>
        </p:spPr>
        <p:txBody>
          <a:bodyPr wrap="square" rtlCol="0" anchor="t">
            <a:spAutoFit/>
          </a:bodyPr>
          <a:p>
            <a:pPr algn="just"/>
            <a:r>
              <a:rPr lang="ru-RU" altLang="en-US"/>
              <a:t>	</a:t>
            </a:r>
            <a:r>
              <a:rPr lang="ru-RU" altLang="en-US" sz="2800">
                <a:latin typeface="Times New Roman Regular" panose="02020603050405020304" charset="0"/>
                <a:cs typeface="Times New Roman Regular" panose="02020603050405020304" charset="0"/>
              </a:rPr>
              <a:t>Сущестут такое понятие как вложенный цикл. Это цикл, который обьявляется внутри другого сущствующего цикла.有一个概念叫做嵌入式循环。这是一个循环，在另一个存在的循环中宣布。</a:t>
            </a:r>
            <a:endParaRPr lang="ru-RU" altLang="en-US" sz="2800">
              <a:latin typeface="Times New Roman Regular" panose="02020603050405020304" charset="0"/>
              <a:cs typeface="Times New Roman Regular" panose="02020603050405020304" charset="0"/>
            </a:endParaRPr>
          </a:p>
        </p:txBody>
      </p:sp>
      <p:sp>
        <p:nvSpPr>
          <p:cNvPr id="100" name="Text Box 99"/>
          <p:cNvSpPr txBox="1"/>
          <p:nvPr/>
        </p:nvSpPr>
        <p:spPr>
          <a:xfrm>
            <a:off x="1684020" y="2726690"/>
            <a:ext cx="9420225" cy="3046095"/>
          </a:xfrm>
          <a:prstGeom prst="rect">
            <a:avLst/>
          </a:prstGeom>
          <a:noFill/>
          <a:ln w="9525">
            <a:noFill/>
          </a:ln>
        </p:spPr>
        <p:txBody>
          <a:bodyPr wrap="square">
            <a:spAutoFit/>
          </a:bodyPr>
          <a:p>
            <a:pPr marL="0" indent="0" algn="l"/>
            <a:r>
              <a:rPr lang="en-US" sz="2400" b="0">
                <a:solidFill>
                  <a:srgbClr val="0000FF"/>
                </a:solidFill>
                <a:latin typeface="Menlo" panose="020B0609030804020204" charset="0"/>
                <a:cs typeface="SimSun" pitchFamily="2" charset="-122"/>
              </a:rPr>
              <a:t>let</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number</a:t>
            </a:r>
            <a:r>
              <a:rPr lang="en-US" sz="2400" b="0">
                <a:solidFill>
                  <a:srgbClr val="3B3B3B"/>
                </a:solidFill>
                <a:latin typeface="Menlo" panose="020B0609030804020204" charset="0"/>
                <a:cs typeface="SimSun" pitchFamily="2" charset="-122"/>
              </a:rPr>
              <a:t> </a:t>
            </a:r>
            <a:r>
              <a:rPr lang="en-US" sz="2400" b="0">
                <a:solidFill>
                  <a:srgbClr val="000000"/>
                </a:solidFill>
                <a:latin typeface="Menlo" panose="020B0609030804020204" charset="0"/>
                <a:cs typeface="SimSun" pitchFamily="2" charset="-122"/>
              </a:rPr>
              <a:t>=</a:t>
            </a:r>
            <a:r>
              <a:rPr lang="en-US" sz="2400" b="0">
                <a:solidFill>
                  <a:srgbClr val="3B3B3B"/>
                </a:solidFill>
                <a:latin typeface="Menlo" panose="020B0609030804020204" charset="0"/>
                <a:cs typeface="SimSun" pitchFamily="2" charset="-122"/>
              </a:rPr>
              <a:t> </a:t>
            </a:r>
            <a:r>
              <a:rPr lang="en-US" sz="2400" b="0">
                <a:solidFill>
                  <a:srgbClr val="795E26"/>
                </a:solidFill>
                <a:latin typeface="Menlo" panose="020B0609030804020204" charset="0"/>
                <a:cs typeface="SimSun" pitchFamily="2" charset="-122"/>
              </a:rPr>
              <a:t>prompt</a:t>
            </a:r>
            <a:r>
              <a:rPr lang="en-US" sz="2400" b="0">
                <a:solidFill>
                  <a:srgbClr val="3B3B3B"/>
                </a:solidFill>
                <a:latin typeface="Menlo" panose="020B0609030804020204" charset="0"/>
                <a:cs typeface="SimSun" pitchFamily="2" charset="-122"/>
              </a:rPr>
              <a:t>(</a:t>
            </a:r>
            <a:r>
              <a:rPr lang="en-US" sz="2400" b="0">
                <a:solidFill>
                  <a:srgbClr val="A31515"/>
                </a:solidFill>
                <a:latin typeface="Menlo" panose="020B0609030804020204" charset="0"/>
                <a:cs typeface="SimSun" pitchFamily="2" charset="-122"/>
              </a:rPr>
              <a:t>'Please enter any number'</a:t>
            </a:r>
            <a:r>
              <a:rPr lang="en-US" sz="2400" b="0">
                <a:solidFill>
                  <a:srgbClr val="3B3B3B"/>
                </a:solidFill>
                <a:latin typeface="Menlo" panose="020B0609030804020204" charset="0"/>
                <a:cs typeface="SimSun" pitchFamily="2" charset="-122"/>
              </a:rPr>
              <a:t>);</a:t>
            </a:r>
            <a:r>
              <a:rPr lang="en-US" sz="2400" b="0">
                <a:solidFill>
                  <a:srgbClr val="0000FF"/>
                </a:solidFill>
                <a:latin typeface="Menlo" panose="020B0609030804020204" charset="0"/>
                <a:cs typeface="SimSun" pitchFamily="2" charset="-122"/>
              </a:rPr>
              <a:t>let</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result</a:t>
            </a:r>
            <a:r>
              <a:rPr lang="en-US" sz="2400" b="0">
                <a:solidFill>
                  <a:srgbClr val="3B3B3B"/>
                </a:solidFill>
                <a:latin typeface="Menlo" panose="020B0609030804020204" charset="0"/>
                <a:cs typeface="SimSun" pitchFamily="2" charset="-122"/>
              </a:rPr>
              <a:t> </a:t>
            </a:r>
            <a:r>
              <a:rPr lang="en-US" sz="2400" b="0">
                <a:solidFill>
                  <a:srgbClr val="000000"/>
                </a:solidFill>
                <a:latin typeface="Menlo" panose="020B0609030804020204" charset="0"/>
                <a:cs typeface="SimSun" pitchFamily="2" charset="-122"/>
              </a:rPr>
              <a:t>=</a:t>
            </a:r>
            <a:r>
              <a:rPr lang="en-US" sz="2400" b="0">
                <a:solidFill>
                  <a:srgbClr val="3B3B3B"/>
                </a:solidFill>
                <a:latin typeface="Menlo" panose="020B0609030804020204" charset="0"/>
                <a:cs typeface="SimSun" pitchFamily="2" charset="-122"/>
              </a:rPr>
              <a:t> </a:t>
            </a:r>
            <a:r>
              <a:rPr lang="en-US" sz="2400" b="0">
                <a:solidFill>
                  <a:srgbClr val="098658"/>
                </a:solidFill>
                <a:latin typeface="Menlo" panose="020B0609030804020204" charset="0"/>
                <a:cs typeface="SimSun" pitchFamily="2" charset="-122"/>
              </a:rPr>
              <a:t>0</a:t>
            </a:r>
            <a:r>
              <a:rPr lang="en-US" sz="2400" b="0">
                <a:solidFill>
                  <a:srgbClr val="3B3B3B"/>
                </a:solidFill>
                <a:latin typeface="Menlo" panose="020B0609030804020204" charset="0"/>
                <a:cs typeface="SimSun" pitchFamily="2" charset="-122"/>
              </a:rPr>
              <a:t>;</a:t>
            </a:r>
            <a:r>
              <a:rPr lang="en-US" sz="2400" b="0">
                <a:solidFill>
                  <a:srgbClr val="AF00DB"/>
                </a:solidFill>
                <a:latin typeface="Menlo" panose="020B0609030804020204" charset="0"/>
                <a:cs typeface="SimSun" pitchFamily="2" charset="-122"/>
              </a:rPr>
              <a:t>for</a:t>
            </a:r>
            <a:r>
              <a:rPr lang="en-US" sz="2400" b="0">
                <a:solidFill>
                  <a:srgbClr val="3B3B3B"/>
                </a:solidFill>
                <a:latin typeface="Menlo" panose="020B0609030804020204" charset="0"/>
                <a:cs typeface="SimSun" pitchFamily="2" charset="-122"/>
              </a:rPr>
              <a:t> (</a:t>
            </a:r>
            <a:r>
              <a:rPr lang="en-US" sz="2400" b="0">
                <a:solidFill>
                  <a:srgbClr val="0000FF"/>
                </a:solidFill>
                <a:latin typeface="Menlo" panose="020B0609030804020204" charset="0"/>
                <a:cs typeface="SimSun" pitchFamily="2" charset="-122"/>
              </a:rPr>
              <a:t>let</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i</a:t>
            </a:r>
            <a:r>
              <a:rPr lang="en-US" sz="2400" b="0">
                <a:solidFill>
                  <a:srgbClr val="3B3B3B"/>
                </a:solidFill>
                <a:latin typeface="Menlo" panose="020B0609030804020204" charset="0"/>
                <a:cs typeface="SimSun" pitchFamily="2" charset="-122"/>
              </a:rPr>
              <a:t> </a:t>
            </a:r>
            <a:r>
              <a:rPr lang="en-US" sz="2400" b="0">
                <a:solidFill>
                  <a:srgbClr val="000000"/>
                </a:solidFill>
                <a:latin typeface="Menlo" panose="020B0609030804020204" charset="0"/>
                <a:cs typeface="SimSun" pitchFamily="2" charset="-122"/>
              </a:rPr>
              <a:t>=</a:t>
            </a:r>
            <a:r>
              <a:rPr lang="en-US" sz="2400" b="0">
                <a:solidFill>
                  <a:srgbClr val="3B3B3B"/>
                </a:solidFill>
                <a:latin typeface="Menlo" panose="020B0609030804020204" charset="0"/>
                <a:cs typeface="SimSun" pitchFamily="2" charset="-122"/>
              </a:rPr>
              <a:t> </a:t>
            </a:r>
            <a:r>
              <a:rPr lang="en-US" sz="2400" b="0">
                <a:solidFill>
                  <a:srgbClr val="098658"/>
                </a:solidFill>
                <a:latin typeface="Menlo" panose="020B0609030804020204" charset="0"/>
                <a:cs typeface="SimSun" pitchFamily="2" charset="-122"/>
              </a:rPr>
              <a:t>0</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i</a:t>
            </a:r>
            <a:r>
              <a:rPr lang="en-US" sz="2400" b="0">
                <a:solidFill>
                  <a:srgbClr val="3B3B3B"/>
                </a:solidFill>
                <a:latin typeface="Menlo" panose="020B0609030804020204" charset="0"/>
                <a:cs typeface="SimSun" pitchFamily="2" charset="-122"/>
              </a:rPr>
              <a:t> </a:t>
            </a:r>
            <a:r>
              <a:rPr lang="en-US" sz="2400" b="0">
                <a:solidFill>
                  <a:srgbClr val="000000"/>
                </a:solidFill>
                <a:latin typeface="Menlo" panose="020B0609030804020204" charset="0"/>
                <a:cs typeface="SimSun" pitchFamily="2" charset="-122"/>
              </a:rPr>
              <a:t>&lt;=</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number</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i</a:t>
            </a:r>
            <a:r>
              <a:rPr lang="en-US" sz="2400" b="0">
                <a:solidFill>
                  <a:srgbClr val="000000"/>
                </a:solidFill>
                <a:latin typeface="Menlo" panose="020B0609030804020204" charset="0"/>
                <a:cs typeface="SimSun" pitchFamily="2" charset="-122"/>
              </a:rPr>
              <a:t>++</a:t>
            </a:r>
            <a:r>
              <a:rPr lang="en-US" sz="2400" b="0">
                <a:solidFill>
                  <a:srgbClr val="3B3B3B"/>
                </a:solidFill>
                <a:latin typeface="Menlo" panose="020B0609030804020204" charset="0"/>
                <a:cs typeface="SimSun" pitchFamily="2" charset="-122"/>
              </a:rPr>
              <a:t>) {</a:t>
            </a:r>
            <a:r>
              <a:rPr lang="en-US" sz="2400" b="0">
                <a:solidFill>
                  <a:srgbClr val="AF00DB"/>
                </a:solidFill>
                <a:latin typeface="Menlo" panose="020B0609030804020204" charset="0"/>
                <a:cs typeface="SimSun" pitchFamily="2" charset="-122"/>
              </a:rPr>
              <a:t>	for</a:t>
            </a:r>
            <a:r>
              <a:rPr lang="en-US" sz="2400" b="0">
                <a:solidFill>
                  <a:srgbClr val="3B3B3B"/>
                </a:solidFill>
                <a:latin typeface="Menlo" panose="020B0609030804020204" charset="0"/>
                <a:cs typeface="SimSun" pitchFamily="2" charset="-122"/>
              </a:rPr>
              <a:t>(</a:t>
            </a:r>
            <a:r>
              <a:rPr lang="en-US" sz="2400" b="0">
                <a:solidFill>
                  <a:srgbClr val="0000FF"/>
                </a:solidFill>
                <a:latin typeface="Menlo" panose="020B0609030804020204" charset="0"/>
                <a:cs typeface="SimSun" pitchFamily="2" charset="-122"/>
              </a:rPr>
              <a:t>let</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i</a:t>
            </a:r>
            <a:r>
              <a:rPr lang="en-US" sz="2400" b="0">
                <a:solidFill>
                  <a:srgbClr val="3B3B3B"/>
                </a:solidFill>
                <a:latin typeface="Menlo" panose="020B0609030804020204" charset="0"/>
                <a:cs typeface="SimSun" pitchFamily="2" charset="-122"/>
              </a:rPr>
              <a:t> </a:t>
            </a:r>
            <a:r>
              <a:rPr lang="en-US" sz="2400" b="0">
                <a:solidFill>
                  <a:srgbClr val="000000"/>
                </a:solidFill>
                <a:latin typeface="Menlo" panose="020B0609030804020204" charset="0"/>
                <a:cs typeface="SimSun" pitchFamily="2" charset="-122"/>
              </a:rPr>
              <a:t>=</a:t>
            </a:r>
            <a:r>
              <a:rPr lang="en-US" sz="2400" b="0">
                <a:solidFill>
                  <a:srgbClr val="3B3B3B"/>
                </a:solidFill>
                <a:latin typeface="Menlo" panose="020B0609030804020204" charset="0"/>
                <a:cs typeface="SimSun" pitchFamily="2" charset="-122"/>
              </a:rPr>
              <a:t> </a:t>
            </a:r>
            <a:r>
              <a:rPr lang="en-US" sz="2400" b="0">
                <a:solidFill>
                  <a:srgbClr val="098658"/>
                </a:solidFill>
                <a:latin typeface="Menlo" panose="020B0609030804020204" charset="0"/>
                <a:cs typeface="SimSun" pitchFamily="2" charset="-122"/>
              </a:rPr>
              <a:t>0</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i</a:t>
            </a:r>
            <a:r>
              <a:rPr lang="en-US" sz="2400" b="0">
                <a:solidFill>
                  <a:srgbClr val="3B3B3B"/>
                </a:solidFill>
                <a:latin typeface="Menlo" panose="020B0609030804020204" charset="0"/>
                <a:cs typeface="SimSun" pitchFamily="2" charset="-122"/>
              </a:rPr>
              <a:t> </a:t>
            </a:r>
            <a:r>
              <a:rPr lang="en-US" sz="2400" b="0">
                <a:solidFill>
                  <a:srgbClr val="000000"/>
                </a:solidFill>
                <a:latin typeface="Menlo" panose="020B0609030804020204" charset="0"/>
                <a:cs typeface="SimSun" pitchFamily="2" charset="-122"/>
              </a:rPr>
              <a:t>&lt;=</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number</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i</a:t>
            </a:r>
            <a:r>
              <a:rPr lang="en-US" sz="2400" b="0">
                <a:solidFill>
                  <a:srgbClr val="000000"/>
                </a:solidFill>
                <a:latin typeface="Menlo" panose="020B0609030804020204" charset="0"/>
                <a:cs typeface="SimSun" pitchFamily="2" charset="-122"/>
              </a:rPr>
              <a:t>++</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		result</a:t>
            </a:r>
            <a:r>
              <a:rPr lang="en-US" sz="2400" b="0">
                <a:solidFill>
                  <a:srgbClr val="3B3B3B"/>
                </a:solidFill>
                <a:latin typeface="Menlo" panose="020B0609030804020204" charset="0"/>
                <a:cs typeface="SimSun" pitchFamily="2" charset="-122"/>
              </a:rPr>
              <a:t> </a:t>
            </a:r>
            <a:r>
              <a:rPr lang="en-US" sz="2400" b="0">
                <a:solidFill>
                  <a:srgbClr val="000000"/>
                </a:solidFill>
                <a:latin typeface="Menlo" panose="020B0609030804020204" charset="0"/>
                <a:cs typeface="SimSun" pitchFamily="2" charset="-122"/>
              </a:rPr>
              <a:t>+=</a:t>
            </a:r>
            <a:r>
              <a:rPr lang="en-US" sz="2400" b="0">
                <a:solidFill>
                  <a:srgbClr val="3B3B3B"/>
                </a:solidFill>
                <a:latin typeface="Menlo" panose="020B0609030804020204" charset="0"/>
                <a:cs typeface="SimSun" pitchFamily="2" charset="-122"/>
              </a:rPr>
              <a:t> </a:t>
            </a:r>
            <a:r>
              <a:rPr lang="en-US" sz="2400" b="0">
                <a:solidFill>
                  <a:srgbClr val="001080"/>
                </a:solidFill>
                <a:latin typeface="Menlo" panose="020B0609030804020204" charset="0"/>
                <a:cs typeface="SimSun" pitchFamily="2" charset="-122"/>
              </a:rPr>
              <a:t>i</a:t>
            </a:r>
            <a:r>
              <a:rPr lang="en-US" sz="2400" b="0">
                <a:solidFill>
                  <a:srgbClr val="3B3B3B"/>
                </a:solidFill>
                <a:latin typeface="Menlo" panose="020B0609030804020204" charset="0"/>
                <a:cs typeface="SimSun" pitchFamily="2" charset="-122"/>
              </a:rPr>
              <a:t>;	}}</a:t>
            </a:r>
            <a:r>
              <a:rPr lang="en-US" sz="2400" b="0">
                <a:solidFill>
                  <a:srgbClr val="795E26"/>
                </a:solidFill>
                <a:latin typeface="Menlo" panose="020B0609030804020204" charset="0"/>
                <a:cs typeface="SimSun" pitchFamily="2" charset="-122"/>
              </a:rPr>
              <a:t>alert</a:t>
            </a:r>
            <a:r>
              <a:rPr lang="en-US" sz="2400" b="0">
                <a:solidFill>
                  <a:srgbClr val="3B3B3B"/>
                </a:solidFill>
                <a:latin typeface="Menlo" panose="020B0609030804020204" charset="0"/>
                <a:cs typeface="SimSun" pitchFamily="2" charset="-122"/>
              </a:rPr>
              <a:t>(</a:t>
            </a:r>
            <a:r>
              <a:rPr lang="en-US" sz="2400" b="0">
                <a:solidFill>
                  <a:srgbClr val="001080"/>
                </a:solidFill>
                <a:latin typeface="Menlo" panose="020B0609030804020204" charset="0"/>
                <a:cs typeface="SimSun" pitchFamily="2" charset="-122"/>
              </a:rPr>
              <a:t>result</a:t>
            </a:r>
            <a:r>
              <a:rPr lang="en-US" sz="2400" b="0">
                <a:solidFill>
                  <a:srgbClr val="3B3B3B"/>
                </a:solidFill>
                <a:latin typeface="Menlo" panose="020B0609030804020204" charset="0"/>
                <a:cs typeface="SimSun" pitchFamily="2" charset="-122"/>
              </a:rPr>
              <a:t>);</a:t>
            </a:r>
            <a:endParaRPr 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389255" y="22225"/>
            <a:ext cx="10509250" cy="1938020"/>
          </a:xfrm>
          <a:prstGeom prst="rect">
            <a:avLst/>
          </a:prstGeom>
          <a:noFill/>
          <a:ln w="9525">
            <a:noFill/>
          </a:ln>
        </p:spPr>
        <p:txBody>
          <a:bodyPr wrap="square">
            <a:spAutoFit/>
          </a:bodyPr>
          <a:p>
            <a:pPr marL="0" indent="0" algn="just"/>
            <a:r>
              <a:rPr lang="en-US" sz="2400" b="0">
                <a:solidFill>
                  <a:srgbClr val="000000"/>
                </a:solidFill>
                <a:latin typeface="Times New Roman" panose="02020603050405020304" charset="0"/>
              </a:rPr>
              <a:t>	Давайте реализуем с помощью цикла </a:t>
            </a:r>
            <a:r>
              <a:rPr lang="en-US" sz="2400" b="0" i="1">
                <a:solidFill>
                  <a:srgbClr val="000000"/>
                </a:solidFill>
                <a:latin typeface="Times New Roman" panose="02020603050405020304" charset="0"/>
              </a:rPr>
              <a:t>for</a:t>
            </a:r>
            <a:r>
              <a:rPr lang="en-US" sz="2400" b="0">
                <a:solidFill>
                  <a:srgbClr val="000000"/>
                </a:solidFill>
                <a:latin typeface="Times New Roman" panose="02020603050405020304" charset="0"/>
              </a:rPr>
              <a:t> таблицу умножения. Таблицу умножения мы отрисуем с помощью тега </a:t>
            </a:r>
            <a:r>
              <a:rPr lang="en-US" sz="2400" b="0" i="1">
                <a:solidFill>
                  <a:srgbClr val="000000"/>
                </a:solidFill>
                <a:latin typeface="Times New Roman" panose="02020603050405020304" charset="0"/>
              </a:rPr>
              <a:t>&lt;table&gt;</a:t>
            </a:r>
            <a:r>
              <a:rPr lang="en-US" sz="2400" b="0">
                <a:solidFill>
                  <a:srgbClr val="000000"/>
                </a:solidFill>
                <a:latin typeface="Times New Roman" panose="02020603050405020304" charset="0"/>
              </a:rPr>
              <a:t>, используя два цикла, один из которых будет вложенным и добавим стили.让我们用for循环来实现乘法表。我们将使用&lt;table&gt;标记绘制乘法表，使用两个循环，其中一个循环将嵌入并添加样式。</a:t>
            </a:r>
            <a:endParaRPr lang="en-US" sz="2400" b="0">
              <a:solidFill>
                <a:srgbClr val="000000"/>
              </a:solidFill>
              <a:latin typeface="Times New Roman" panose="02020603050405020304" charset="0"/>
            </a:endParaRPr>
          </a:p>
        </p:txBody>
      </p:sp>
      <p:pic>
        <p:nvPicPr>
          <p:cNvPr id="171" name="image41.png"/>
          <p:cNvPicPr preferRelativeResize="0"/>
          <p:nvPr/>
        </p:nvPicPr>
        <p:blipFill>
          <a:blip r:embed="rId1"/>
          <a:srcRect/>
          <a:stretch>
            <a:fillRect/>
          </a:stretch>
        </p:blipFill>
        <p:spPr>
          <a:xfrm>
            <a:off x="4001770" y="1960245"/>
            <a:ext cx="4542790" cy="42570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466080" y="2459990"/>
            <a:ext cx="4759325" cy="1938020"/>
          </a:xfrm>
          <a:prstGeom prst="rect">
            <a:avLst/>
          </a:prstGeom>
          <a:noFill/>
        </p:spPr>
        <p:txBody>
          <a:bodyPr wrap="square" rtlCol="0" anchor="t">
            <a:spAutoFit/>
          </a:bodyPr>
          <a:p>
            <a:r>
              <a:rPr lang="en-US" sz="2400">
                <a:solidFill>
                  <a:srgbClr val="AF00DB"/>
                </a:solidFill>
                <a:latin typeface="Consolas" panose="020B0609020204030204" charset="0"/>
                <a:sym typeface="+mn-ea"/>
              </a:rPr>
              <a:t>for</a:t>
            </a:r>
            <a:r>
              <a:rPr lang="en-US" sz="2400">
                <a:solidFill>
                  <a:srgbClr val="000000"/>
                </a:solidFill>
                <a:latin typeface="Consolas" panose="020B0609020204030204" charset="0"/>
                <a:sym typeface="+mn-ea"/>
              </a:rPr>
              <a:t> (</a:t>
            </a:r>
            <a:r>
              <a:rPr lang="en-US" sz="2400">
                <a:solidFill>
                  <a:srgbClr val="0000FF"/>
                </a:solidFill>
                <a:latin typeface="Consolas" panose="020B0609020204030204" charset="0"/>
                <a:sym typeface="+mn-ea"/>
              </a:rPr>
              <a:t>let</a:t>
            </a:r>
            <a:r>
              <a:rPr lang="en-US" sz="2400">
                <a:solidFill>
                  <a:srgbClr val="000000"/>
                </a:solidFill>
                <a:latin typeface="Consolas" panose="020B0609020204030204" charset="0"/>
                <a:sym typeface="+mn-ea"/>
              </a:rPr>
              <a:t> </a:t>
            </a:r>
            <a:r>
              <a:rPr lang="en-US" sz="2400">
                <a:solidFill>
                  <a:srgbClr val="001080"/>
                </a:solidFill>
                <a:latin typeface="Consolas" panose="020B0609020204030204" charset="0"/>
                <a:sym typeface="+mn-ea"/>
              </a:rPr>
              <a:t>i</a:t>
            </a:r>
            <a:r>
              <a:rPr lang="en-US" sz="2400">
                <a:solidFill>
                  <a:srgbClr val="000000"/>
                </a:solidFill>
                <a:latin typeface="Consolas" panose="020B0609020204030204" charset="0"/>
                <a:sym typeface="+mn-ea"/>
              </a:rPr>
              <a:t> = </a:t>
            </a:r>
            <a:r>
              <a:rPr lang="en-US" sz="2400">
                <a:solidFill>
                  <a:srgbClr val="098658"/>
                </a:solidFill>
                <a:latin typeface="Consolas" panose="020B0609020204030204" charset="0"/>
                <a:sym typeface="+mn-ea"/>
              </a:rPr>
              <a:t>1</a:t>
            </a:r>
            <a:r>
              <a:rPr lang="en-US" sz="2400">
                <a:solidFill>
                  <a:srgbClr val="000000"/>
                </a:solidFill>
                <a:latin typeface="Consolas" panose="020B0609020204030204" charset="0"/>
                <a:sym typeface="+mn-ea"/>
              </a:rPr>
              <a:t>; </a:t>
            </a:r>
            <a:r>
              <a:rPr lang="en-US" sz="2400">
                <a:solidFill>
                  <a:srgbClr val="001080"/>
                </a:solidFill>
                <a:latin typeface="Consolas" panose="020B0609020204030204" charset="0"/>
                <a:sym typeface="+mn-ea"/>
              </a:rPr>
              <a:t>i</a:t>
            </a:r>
            <a:r>
              <a:rPr lang="en-US" sz="2400">
                <a:solidFill>
                  <a:srgbClr val="000000"/>
                </a:solidFill>
                <a:latin typeface="Consolas" panose="020B0609020204030204" charset="0"/>
                <a:sym typeface="+mn-ea"/>
              </a:rPr>
              <a:t> &lt;= </a:t>
            </a:r>
            <a:r>
              <a:rPr lang="en-US" sz="2400">
                <a:solidFill>
                  <a:srgbClr val="098658"/>
                </a:solidFill>
                <a:latin typeface="Consolas" panose="020B0609020204030204" charset="0"/>
                <a:sym typeface="+mn-ea"/>
              </a:rPr>
              <a:t>10</a:t>
            </a:r>
            <a:r>
              <a:rPr lang="en-US" sz="2400">
                <a:solidFill>
                  <a:srgbClr val="000000"/>
                </a:solidFill>
                <a:latin typeface="Consolas" panose="020B0609020204030204" charset="0"/>
                <a:sym typeface="+mn-ea"/>
              </a:rPr>
              <a:t>; </a:t>
            </a:r>
            <a:r>
              <a:rPr lang="en-US" sz="2400">
                <a:solidFill>
                  <a:srgbClr val="001080"/>
                </a:solidFill>
                <a:latin typeface="Consolas" panose="020B0609020204030204" charset="0"/>
                <a:sym typeface="+mn-ea"/>
              </a:rPr>
              <a:t>i</a:t>
            </a:r>
            <a:r>
              <a:rPr lang="en-US" sz="2400">
                <a:solidFill>
                  <a:srgbClr val="000000"/>
                </a:solidFill>
                <a:latin typeface="Consolas" panose="020B0609020204030204" charset="0"/>
                <a:sym typeface="+mn-ea"/>
              </a:rPr>
              <a:t>++) {  </a:t>
            </a:r>
            <a:r>
              <a:rPr lang="en-US" sz="2400">
                <a:solidFill>
                  <a:srgbClr val="AF00DB"/>
                </a:solidFill>
                <a:latin typeface="Consolas" panose="020B0609020204030204" charset="0"/>
                <a:sym typeface="+mn-ea"/>
              </a:rPr>
              <a:t>for</a:t>
            </a:r>
            <a:r>
              <a:rPr lang="en-US" sz="2400">
                <a:solidFill>
                  <a:srgbClr val="000000"/>
                </a:solidFill>
                <a:latin typeface="Consolas" panose="020B0609020204030204" charset="0"/>
                <a:sym typeface="+mn-ea"/>
              </a:rPr>
              <a:t> (</a:t>
            </a:r>
            <a:r>
              <a:rPr lang="en-US" sz="2400">
                <a:solidFill>
                  <a:srgbClr val="0000FF"/>
                </a:solidFill>
                <a:latin typeface="Consolas" panose="020B0609020204030204" charset="0"/>
                <a:sym typeface="+mn-ea"/>
              </a:rPr>
              <a:t>let</a:t>
            </a:r>
            <a:r>
              <a:rPr lang="en-US" sz="2400">
                <a:solidFill>
                  <a:srgbClr val="000000"/>
                </a:solidFill>
                <a:latin typeface="Consolas" panose="020B0609020204030204" charset="0"/>
                <a:sym typeface="+mn-ea"/>
              </a:rPr>
              <a:t> </a:t>
            </a:r>
            <a:r>
              <a:rPr lang="en-US" sz="2400">
                <a:solidFill>
                  <a:srgbClr val="001080"/>
                </a:solidFill>
                <a:latin typeface="Consolas" panose="020B0609020204030204" charset="0"/>
                <a:sym typeface="+mn-ea"/>
              </a:rPr>
              <a:t>j</a:t>
            </a:r>
            <a:r>
              <a:rPr lang="en-US" sz="2400">
                <a:solidFill>
                  <a:srgbClr val="000000"/>
                </a:solidFill>
                <a:latin typeface="Consolas" panose="020B0609020204030204" charset="0"/>
                <a:sym typeface="+mn-ea"/>
              </a:rPr>
              <a:t> = </a:t>
            </a:r>
            <a:r>
              <a:rPr lang="en-US" sz="2400">
                <a:solidFill>
                  <a:srgbClr val="098658"/>
                </a:solidFill>
                <a:latin typeface="Consolas" panose="020B0609020204030204" charset="0"/>
                <a:sym typeface="+mn-ea"/>
              </a:rPr>
              <a:t>1</a:t>
            </a:r>
            <a:r>
              <a:rPr lang="en-US" sz="2400">
                <a:solidFill>
                  <a:srgbClr val="000000"/>
                </a:solidFill>
                <a:latin typeface="Consolas" panose="020B0609020204030204" charset="0"/>
                <a:sym typeface="+mn-ea"/>
              </a:rPr>
              <a:t>; </a:t>
            </a:r>
            <a:r>
              <a:rPr lang="en-US" sz="2400">
                <a:solidFill>
                  <a:srgbClr val="001080"/>
                </a:solidFill>
                <a:latin typeface="Consolas" panose="020B0609020204030204" charset="0"/>
                <a:sym typeface="+mn-ea"/>
              </a:rPr>
              <a:t>j</a:t>
            </a:r>
            <a:r>
              <a:rPr lang="en-US" sz="2400">
                <a:solidFill>
                  <a:srgbClr val="000000"/>
                </a:solidFill>
                <a:latin typeface="Consolas" panose="020B0609020204030204" charset="0"/>
                <a:sym typeface="+mn-ea"/>
              </a:rPr>
              <a:t> &lt;= </a:t>
            </a:r>
            <a:r>
              <a:rPr lang="en-US" sz="2400">
                <a:solidFill>
                  <a:srgbClr val="098658"/>
                </a:solidFill>
                <a:latin typeface="Consolas" panose="020B0609020204030204" charset="0"/>
                <a:sym typeface="+mn-ea"/>
              </a:rPr>
              <a:t>10</a:t>
            </a:r>
            <a:r>
              <a:rPr lang="en-US" sz="2400">
                <a:solidFill>
                  <a:srgbClr val="000000"/>
                </a:solidFill>
                <a:latin typeface="Consolas" panose="020B0609020204030204" charset="0"/>
                <a:sym typeface="+mn-ea"/>
              </a:rPr>
              <a:t>; </a:t>
            </a:r>
            <a:r>
              <a:rPr lang="en-US" sz="2400">
                <a:solidFill>
                  <a:srgbClr val="001080"/>
                </a:solidFill>
                <a:latin typeface="Consolas" panose="020B0609020204030204" charset="0"/>
                <a:sym typeface="+mn-ea"/>
              </a:rPr>
              <a:t>j</a:t>
            </a:r>
            <a:r>
              <a:rPr lang="en-US" sz="2400">
                <a:solidFill>
                  <a:srgbClr val="000000"/>
                </a:solidFill>
                <a:latin typeface="Consolas" panose="020B0609020204030204" charset="0"/>
                <a:sym typeface="+mn-ea"/>
              </a:rPr>
              <a:t>++) {    </a:t>
            </a:r>
            <a:r>
              <a:rPr lang="en-US" sz="2400">
                <a:solidFill>
                  <a:srgbClr val="0000FF"/>
                </a:solidFill>
                <a:latin typeface="Consolas" panose="020B0609020204030204" charset="0"/>
                <a:sym typeface="+mn-ea"/>
              </a:rPr>
              <a:t>const</a:t>
            </a:r>
            <a:r>
              <a:rPr lang="en-US" sz="2400">
                <a:solidFill>
                  <a:srgbClr val="000000"/>
                </a:solidFill>
                <a:latin typeface="Consolas" panose="020B0609020204030204" charset="0"/>
                <a:sym typeface="+mn-ea"/>
              </a:rPr>
              <a:t> </a:t>
            </a:r>
            <a:r>
              <a:rPr lang="en-US" sz="2400">
                <a:solidFill>
                  <a:srgbClr val="0070C1"/>
                </a:solidFill>
                <a:latin typeface="Consolas" panose="020B0609020204030204" charset="0"/>
                <a:sym typeface="+mn-ea"/>
              </a:rPr>
              <a:t>result</a:t>
            </a:r>
            <a:r>
              <a:rPr lang="en-US" sz="2400">
                <a:solidFill>
                  <a:srgbClr val="000000"/>
                </a:solidFill>
                <a:latin typeface="Consolas" panose="020B0609020204030204" charset="0"/>
                <a:sym typeface="+mn-ea"/>
              </a:rPr>
              <a:t> = </a:t>
            </a:r>
            <a:r>
              <a:rPr lang="en-US" sz="2400">
                <a:solidFill>
                  <a:srgbClr val="001080"/>
                </a:solidFill>
                <a:latin typeface="Consolas" panose="020B0609020204030204" charset="0"/>
                <a:sym typeface="+mn-ea"/>
              </a:rPr>
              <a:t>i</a:t>
            </a:r>
            <a:r>
              <a:rPr lang="en-US" sz="2400">
                <a:solidFill>
                  <a:srgbClr val="000000"/>
                </a:solidFill>
                <a:latin typeface="Consolas" panose="020B0609020204030204" charset="0"/>
                <a:sym typeface="+mn-ea"/>
              </a:rPr>
              <a:t>*</a:t>
            </a:r>
            <a:r>
              <a:rPr lang="en-US" sz="2400">
                <a:solidFill>
                  <a:srgbClr val="001080"/>
                </a:solidFill>
                <a:latin typeface="Consolas" panose="020B0609020204030204" charset="0"/>
                <a:sym typeface="+mn-ea"/>
              </a:rPr>
              <a:t>j</a:t>
            </a:r>
            <a:r>
              <a:rPr lang="en-US" sz="2400">
                <a:solidFill>
                  <a:srgbClr val="000000"/>
                </a:solidFill>
                <a:latin typeface="Consolas" panose="020B0609020204030204" charset="0"/>
                <a:sym typeface="+mn-ea"/>
              </a:rPr>
              <a:t>;</a:t>
            </a:r>
            <a:endParaRPr lang="en-US" sz="2400">
              <a:solidFill>
                <a:srgbClr val="000000"/>
              </a:solidFill>
              <a:latin typeface="Consolas" panose="020B0609020204030204" charset="0"/>
              <a:sym typeface="+mn-ea"/>
            </a:endParaRPr>
          </a:p>
          <a:p>
            <a:r>
              <a:rPr lang="en-US" sz="2400">
                <a:solidFill>
                  <a:srgbClr val="000000"/>
                </a:solidFill>
                <a:latin typeface="Consolas" panose="020B0609020204030204" charset="0"/>
                <a:sym typeface="+mn-ea"/>
              </a:rPr>
              <a:t>  }  }</a:t>
            </a:r>
            <a:endParaRPr lang="en-US" sz="2400"/>
          </a:p>
        </p:txBody>
      </p:sp>
      <p:sp>
        <p:nvSpPr>
          <p:cNvPr id="100" name="Text Box 99"/>
          <p:cNvSpPr txBox="1"/>
          <p:nvPr/>
        </p:nvSpPr>
        <p:spPr>
          <a:xfrm>
            <a:off x="793750" y="612140"/>
            <a:ext cx="10509250" cy="5262245"/>
          </a:xfrm>
          <a:prstGeom prst="rect">
            <a:avLst/>
          </a:prstGeom>
          <a:noFill/>
          <a:ln w="9525">
            <a:noFill/>
          </a:ln>
        </p:spPr>
        <p:txBody>
          <a:bodyPr wrap="square">
            <a:spAutoFit/>
          </a:bodyPr>
          <a:p>
            <a:pPr marL="0" indent="0" algn="just"/>
            <a:r>
              <a:rPr lang="en-US" sz="2400" b="0">
                <a:solidFill>
                  <a:srgbClr val="000000"/>
                </a:solidFill>
                <a:latin typeface="Times New Roman" panose="02020603050405020304" charset="0"/>
              </a:rPr>
              <a:t>	</a:t>
            </a:r>
            <a:r>
              <a:rPr lang="ru-RU" altLang="en-US" sz="2400" b="0">
                <a:solidFill>
                  <a:srgbClr val="000000"/>
                </a:solidFill>
                <a:latin typeface="Times New Roman" panose="02020603050405020304" charset="0"/>
              </a:rPr>
              <a:t>Сначала создадим два цикла</a:t>
            </a:r>
            <a:r>
              <a:rPr lang="en-US" sz="2400" b="0">
                <a:solidFill>
                  <a:srgbClr val="000000"/>
                </a:solidFill>
                <a:latin typeface="Times New Roman" panose="02020603050405020304" charset="0"/>
              </a:rPr>
              <a:t>.</a:t>
            </a:r>
            <a:r>
              <a:rPr lang="ru-RU" altLang="en-US" sz="2400" b="0">
                <a:solidFill>
                  <a:srgbClr val="000000"/>
                </a:solidFill>
                <a:latin typeface="Times New Roman" panose="02020603050405020304" charset="0"/>
              </a:rPr>
              <a:t> Один цикл вложен в другой</a:t>
            </a:r>
            <a:r>
              <a:rPr lang="en-US" altLang="ru-RU" sz="2400" b="0">
                <a:solidFill>
                  <a:srgbClr val="000000"/>
                </a:solidFill>
                <a:latin typeface="Times New Roman" panose="02020603050405020304" charset="0"/>
              </a:rPr>
              <a:t>. </a:t>
            </a:r>
            <a:r>
              <a:rPr lang="ru-RU" altLang="en-US" sz="2400" b="0">
                <a:solidFill>
                  <a:srgbClr val="000000"/>
                </a:solidFill>
                <a:latin typeface="Times New Roman" panose="02020603050405020304" charset="0"/>
              </a:rPr>
              <a:t>Результатом в каждую итерацию цикла будет: 首先，我们创建两个循环。一个循环嵌套在另一个循环中。每个循环迭代的结果将是：</a:t>
            </a:r>
            <a:endParaRPr lang="ru-RU" altLang="en-US" sz="2400" b="0">
              <a:solidFill>
                <a:srgbClr val="000000"/>
              </a:solidFill>
              <a:latin typeface="Times New Roman" panose="02020603050405020304" charset="0"/>
            </a:endParaRPr>
          </a:p>
          <a:p>
            <a:pPr marL="0" indent="0" algn="just"/>
            <a:endParaRPr lang="ru-RU" altLang="en-US" sz="2400" b="0">
              <a:solidFill>
                <a:srgbClr val="000000"/>
              </a:solidFill>
              <a:latin typeface="Times New Roman" panose="02020603050405020304" charset="0"/>
            </a:endParaRPr>
          </a:p>
          <a:p>
            <a:pPr marL="0" indent="0" algn="just"/>
            <a:endParaRPr lang="ru-RU" altLang="en-US" sz="2400" b="0">
              <a:solidFill>
                <a:srgbClr val="000000"/>
              </a:solidFill>
              <a:latin typeface="Times New Roman" panose="02020603050405020304" charset="0"/>
            </a:endParaRPr>
          </a:p>
          <a:p>
            <a:pPr marL="0" indent="0" algn="just"/>
            <a:endParaRPr lang="ru-RU" altLang="en-US" sz="2400" b="0">
              <a:solidFill>
                <a:srgbClr val="000000"/>
              </a:solidFill>
              <a:latin typeface="Times New Roman" panose="02020603050405020304" charset="0"/>
            </a:endParaRPr>
          </a:p>
          <a:p>
            <a:pPr marL="457200" indent="-457200" algn="just">
              <a:buAutoNum type="arabicPeriod"/>
            </a:pPr>
            <a:r>
              <a:rPr lang="ru-RU" altLang="en-US" sz="2400" b="0">
                <a:solidFill>
                  <a:srgbClr val="000000"/>
                </a:solidFill>
                <a:latin typeface="Times New Roman" panose="02020603050405020304" charset="0"/>
              </a:rPr>
              <a:t>1 </a:t>
            </a:r>
            <a:r>
              <a:rPr lang="en-US" altLang="ru-RU" sz="2400" b="0">
                <a:solidFill>
                  <a:srgbClr val="000000"/>
                </a:solidFill>
                <a:latin typeface="Times New Roman" panose="02020603050405020304" charset="0"/>
              </a:rPr>
              <a:t>* 1 = 1</a:t>
            </a:r>
            <a:endParaRPr lang="en-US" altLang="ru-RU" sz="2400" b="0">
              <a:solidFill>
                <a:srgbClr val="000000"/>
              </a:solidFill>
              <a:latin typeface="Times New Roman" panose="02020603050405020304" charset="0"/>
            </a:endParaRPr>
          </a:p>
          <a:p>
            <a:pPr marL="457200" indent="-457200" algn="just">
              <a:buAutoNum type="arabicPeriod"/>
            </a:pPr>
            <a:r>
              <a:rPr lang="en-US" altLang="ru-RU" sz="2400" b="0">
                <a:solidFill>
                  <a:srgbClr val="000000"/>
                </a:solidFill>
                <a:latin typeface="Times New Roman" panose="02020603050405020304" charset="0"/>
              </a:rPr>
              <a:t>1 * 2 = 2</a:t>
            </a:r>
            <a:endParaRPr lang="en-US" altLang="ru-RU" sz="2400" b="0">
              <a:solidFill>
                <a:srgbClr val="000000"/>
              </a:solidFill>
              <a:latin typeface="Times New Roman" panose="02020603050405020304" charset="0"/>
            </a:endParaRPr>
          </a:p>
          <a:p>
            <a:pPr marL="457200" indent="-457200" algn="just">
              <a:buAutoNum type="arabicPeriod"/>
            </a:pPr>
            <a:r>
              <a:rPr lang="en-US" altLang="ru-RU" sz="2400" b="0">
                <a:solidFill>
                  <a:srgbClr val="000000"/>
                </a:solidFill>
                <a:latin typeface="Times New Roman" panose="02020603050405020304" charset="0"/>
              </a:rPr>
              <a:t>1* 3 =3</a:t>
            </a:r>
            <a:endParaRPr lang="en-US" altLang="ru-RU" sz="2400" b="0">
              <a:solidFill>
                <a:srgbClr val="000000"/>
              </a:solidFill>
              <a:latin typeface="Times New Roman" panose="02020603050405020304" charset="0"/>
            </a:endParaRPr>
          </a:p>
          <a:p>
            <a:pPr marL="457200" indent="-457200" algn="just">
              <a:buAutoNum type="arabicPeriod"/>
            </a:pPr>
            <a:r>
              <a:rPr lang="en-US" altLang="ru-RU" sz="2400" b="0">
                <a:solidFill>
                  <a:srgbClr val="000000"/>
                </a:solidFill>
                <a:latin typeface="Times New Roman" panose="02020603050405020304" charset="0"/>
              </a:rPr>
              <a:t>...</a:t>
            </a:r>
            <a:endParaRPr lang="en-US" altLang="ru-RU" sz="2400" b="0">
              <a:solidFill>
                <a:srgbClr val="000000"/>
              </a:solidFill>
              <a:latin typeface="Times New Roman" panose="02020603050405020304" charset="0"/>
            </a:endParaRPr>
          </a:p>
          <a:p>
            <a:pPr marL="457200" indent="-457200" algn="just">
              <a:buAutoNum type="arabicPeriod"/>
            </a:pPr>
            <a:r>
              <a:rPr lang="en-US" altLang="ru-RU" sz="2400" b="0">
                <a:solidFill>
                  <a:srgbClr val="000000"/>
                </a:solidFill>
                <a:latin typeface="Times New Roman" panose="02020603050405020304" charset="0"/>
              </a:rPr>
              <a:t>2 * 1 = 2</a:t>
            </a:r>
            <a:endParaRPr lang="en-US" altLang="ru-RU" sz="2400" b="0">
              <a:solidFill>
                <a:srgbClr val="000000"/>
              </a:solidFill>
              <a:latin typeface="Times New Roman" panose="02020603050405020304" charset="0"/>
            </a:endParaRPr>
          </a:p>
          <a:p>
            <a:pPr marL="457200" indent="-457200" algn="just">
              <a:buAutoNum type="arabicPeriod"/>
            </a:pPr>
            <a:r>
              <a:rPr lang="en-US" altLang="ru-RU" sz="2400" b="0">
                <a:solidFill>
                  <a:srgbClr val="000000"/>
                </a:solidFill>
                <a:latin typeface="Times New Roman" panose="02020603050405020304" charset="0"/>
              </a:rPr>
              <a:t>2* 2 =4</a:t>
            </a:r>
            <a:endParaRPr lang="en-US" altLang="ru-RU" sz="2400" b="0">
              <a:solidFill>
                <a:srgbClr val="000000"/>
              </a:solidFill>
              <a:latin typeface="Times New Roman" panose="02020603050405020304" charset="0"/>
            </a:endParaRPr>
          </a:p>
          <a:p>
            <a:pPr marL="457200" indent="-457200" algn="just">
              <a:buAutoNum type="arabicPeriod"/>
            </a:pPr>
            <a:r>
              <a:rPr lang="en-US" altLang="ru-RU" sz="2400" b="0">
                <a:solidFill>
                  <a:srgbClr val="000000"/>
                </a:solidFill>
                <a:latin typeface="Times New Roman" panose="02020603050405020304" charset="0"/>
              </a:rPr>
              <a:t>...</a:t>
            </a:r>
            <a:endParaRPr lang="en-US" altLang="ru-RU" sz="2400" b="0">
              <a:solidFill>
                <a:srgbClr val="000000"/>
              </a:solidFill>
              <a:latin typeface="Times New Roman" panose="02020603050405020304" charset="0"/>
            </a:endParaRPr>
          </a:p>
          <a:p>
            <a:pPr marL="457200" indent="-457200" algn="just">
              <a:buAutoNum type="arabicPeriod"/>
            </a:pPr>
            <a:r>
              <a:rPr lang="en-US" altLang="ru-RU" sz="2400" b="0">
                <a:solidFill>
                  <a:srgbClr val="000000"/>
                </a:solidFill>
                <a:latin typeface="Times New Roman" panose="02020603050405020304" charset="0"/>
              </a:rPr>
              <a:t>10 *10 = 100</a:t>
            </a:r>
            <a:endParaRPr lang="en-US" altLang="ru-RU" sz="2400" b="0">
              <a:solidFill>
                <a:srgbClr val="000000"/>
              </a:solidFill>
              <a:latin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3352800" y="1912620"/>
            <a:ext cx="5487035" cy="3784600"/>
          </a:xfrm>
          <a:prstGeom prst="rect">
            <a:avLst/>
          </a:prstGeom>
          <a:noFill/>
          <a:ln w="9525">
            <a:noFill/>
          </a:ln>
        </p:spPr>
        <p:txBody>
          <a:bodyPr wrap="square">
            <a:spAutoFit/>
          </a:bodyPr>
          <a:p>
            <a:pPr marL="0" indent="0" algn="just"/>
            <a:r>
              <a:rPr lang="en-US" sz="2000" b="0">
                <a:solidFill>
                  <a:srgbClr val="001080"/>
                </a:solidFill>
                <a:latin typeface="Consolas" panose="020B0609020204030204" charset="0"/>
              </a:rPr>
              <a:t>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"&lt;table&gt;"</a:t>
            </a:r>
            <a:r>
              <a:rPr lang="en-US" sz="2000" b="0">
                <a:solidFill>
                  <a:srgbClr val="000000"/>
                </a:solidFill>
                <a:latin typeface="Consolas" panose="020B0609020204030204" charset="0"/>
              </a:rPr>
              <a:t>); </a:t>
            </a:r>
            <a:r>
              <a:rPr lang="en-US" sz="2000" b="0">
                <a:solidFill>
                  <a:srgbClr val="AF00DB"/>
                </a:solidFill>
                <a:latin typeface="Consolas" panose="020B0609020204030204" charset="0"/>
              </a:rPr>
              <a:t>for</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let</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i</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1</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i</a:t>
            </a:r>
            <a:r>
              <a:rPr lang="en-US" sz="2000" b="0">
                <a:solidFill>
                  <a:srgbClr val="000000"/>
                </a:solidFill>
                <a:latin typeface="Consolas" panose="020B0609020204030204" charset="0"/>
              </a:rPr>
              <a:t> &lt;= </a:t>
            </a:r>
            <a:r>
              <a:rPr lang="en-US" sz="2000" b="0">
                <a:solidFill>
                  <a:srgbClr val="098658"/>
                </a:solidFill>
                <a:latin typeface="Consolas" panose="020B0609020204030204" charset="0"/>
              </a:rPr>
              <a:t>10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i</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"&lt;tr&gt;"</a:t>
            </a:r>
            <a:r>
              <a:rPr lang="en-US" sz="2000" b="0">
                <a:solidFill>
                  <a:srgbClr val="000000"/>
                </a:solidFill>
                <a:latin typeface="Consolas" panose="020B0609020204030204" charset="0"/>
              </a:rPr>
              <a:t>);  </a:t>
            </a:r>
            <a:r>
              <a:rPr lang="en-US" sz="2000" b="0">
                <a:solidFill>
                  <a:srgbClr val="AF00DB"/>
                </a:solidFill>
                <a:latin typeface="Consolas" panose="020B0609020204030204" charset="0"/>
              </a:rPr>
              <a:t>for</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let</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j</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1</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j</a:t>
            </a:r>
            <a:r>
              <a:rPr lang="en-US" sz="2000" b="0">
                <a:solidFill>
                  <a:srgbClr val="000000"/>
                </a:solidFill>
                <a:latin typeface="Consolas" panose="020B0609020204030204" charset="0"/>
              </a:rPr>
              <a:t> &lt;= </a:t>
            </a:r>
            <a:r>
              <a:rPr lang="en-US" sz="2000" b="0">
                <a:solidFill>
                  <a:srgbClr val="098658"/>
                </a:solidFill>
                <a:latin typeface="Consolas" panose="020B0609020204030204" charset="0"/>
              </a:rPr>
              <a:t>10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j</a:t>
            </a:r>
            <a:r>
              <a:rPr lang="en-US" sz="2000" b="0">
                <a:solidFill>
                  <a:srgbClr val="000000"/>
                </a:solidFill>
                <a:latin typeface="Consolas" panose="020B0609020204030204" charset="0"/>
              </a:rPr>
              <a:t>++) {    </a:t>
            </a:r>
            <a:r>
              <a:rPr lang="en-US" sz="2000" b="0">
                <a:solidFill>
                  <a:srgbClr val="0000FF"/>
                </a:solidFill>
                <a:latin typeface="Consolas" panose="020B0609020204030204" charset="0"/>
              </a:rPr>
              <a:t>const</a:t>
            </a:r>
            <a:r>
              <a:rPr lang="en-US" sz="2000" b="0">
                <a:solidFill>
                  <a:srgbClr val="000000"/>
                </a:solidFill>
                <a:latin typeface="Consolas" panose="020B0609020204030204" charset="0"/>
              </a:rPr>
              <a:t> </a:t>
            </a:r>
            <a:r>
              <a:rPr lang="en-US" sz="2000" b="0">
                <a:solidFill>
                  <a:srgbClr val="0070C1"/>
                </a:solidFill>
                <a:latin typeface="Consolas" panose="020B0609020204030204" charset="0"/>
              </a:rPr>
              <a:t>result</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i</a:t>
            </a:r>
            <a:r>
              <a:rPr lang="en-US" sz="2000" b="0">
                <a:solidFill>
                  <a:srgbClr val="000000"/>
                </a:solidFill>
                <a:latin typeface="Consolas" panose="020B0609020204030204" charset="0"/>
              </a:rPr>
              <a:t>*</a:t>
            </a:r>
            <a:r>
              <a:rPr lang="en-US" sz="2000" b="0">
                <a:solidFill>
                  <a:srgbClr val="001080"/>
                </a:solidFill>
                <a:latin typeface="Consolas" panose="020B0609020204030204" charset="0"/>
              </a:rPr>
              <a:t>j</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`&lt;td&gt;</a:t>
            </a:r>
            <a:r>
              <a:rPr lang="en-US" sz="2000" b="0">
                <a:solidFill>
                  <a:srgbClr val="0000FF"/>
                </a:solidFill>
                <a:latin typeface="Consolas" panose="020B0609020204030204" charset="0"/>
              </a:rPr>
              <a:t>${</a:t>
            </a:r>
            <a:r>
              <a:rPr lang="en-US" sz="2000" b="0">
                <a:solidFill>
                  <a:srgbClr val="0070C1"/>
                </a:solidFill>
                <a:latin typeface="Consolas" panose="020B0609020204030204" charset="0"/>
              </a:rPr>
              <a:t>result</a:t>
            </a:r>
            <a:r>
              <a:rPr lang="en-US" sz="2000" b="0">
                <a:solidFill>
                  <a:srgbClr val="0000FF"/>
                </a:solidFill>
                <a:latin typeface="Consolas" panose="020B0609020204030204" charset="0"/>
              </a:rPr>
              <a:t>}</a:t>
            </a:r>
            <a:r>
              <a:rPr lang="en-US" sz="2000" b="0">
                <a:solidFill>
                  <a:srgbClr val="A31515"/>
                </a:solidFill>
                <a:latin typeface="Consolas" panose="020B0609020204030204" charset="0"/>
              </a:rPr>
              <a:t>&lt;/td&gt;`</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"&lt;/tr&gt;"</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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"&lt;/table&gt;"</a:t>
            </a:r>
            <a:r>
              <a:rPr lang="en-US" sz="2000" b="0">
                <a:solidFill>
                  <a:srgbClr val="000000"/>
                </a:solidFill>
                <a:latin typeface="Consolas" panose="020B0609020204030204" charset="0"/>
              </a:rPr>
              <a:t>);</a:t>
            </a:r>
            <a:endParaRPr lang="en-US" sz="2000"/>
          </a:p>
        </p:txBody>
      </p:sp>
      <p:sp>
        <p:nvSpPr>
          <p:cNvPr id="6" name="Text Box 5"/>
          <p:cNvSpPr txBox="1"/>
          <p:nvPr/>
        </p:nvSpPr>
        <p:spPr>
          <a:xfrm>
            <a:off x="1538288" y="496570"/>
            <a:ext cx="8499475" cy="460375"/>
          </a:xfrm>
          <a:prstGeom prst="rect">
            <a:avLst/>
          </a:prstGeom>
          <a:noFill/>
        </p:spPr>
        <p:txBody>
          <a:bodyPr wrap="none" rtlCol="0" anchor="t">
            <a:spAutoFit/>
          </a:bodyPr>
          <a:p>
            <a:pPr algn="just"/>
            <a:r>
              <a:rPr lang="ru-RU" sz="2400">
                <a:solidFill>
                  <a:srgbClr val="000000"/>
                </a:solidFill>
                <a:latin typeface="Times New Roman" panose="02020603050405020304" charset="0"/>
                <a:sym typeface="+mn-ea"/>
              </a:rPr>
              <a:t>Выведем результат на</a:t>
            </a:r>
            <a:r>
              <a:rPr lang="en-US" altLang="ru-RU" sz="2400">
                <a:solidFill>
                  <a:srgbClr val="000000"/>
                </a:solidFill>
                <a:latin typeface="Times New Roman" panose="02020603050405020304" charset="0"/>
                <a:sym typeface="+mn-ea"/>
              </a:rPr>
              <a:t> HTML</a:t>
            </a:r>
            <a:r>
              <a:rPr lang="ru-RU" sz="2400">
                <a:solidFill>
                  <a:srgbClr val="000000"/>
                </a:solidFill>
                <a:latin typeface="Times New Roman" panose="02020603050405020304" charset="0"/>
                <a:sym typeface="+mn-ea"/>
              </a:rPr>
              <a:t> страницу.</a:t>
            </a:r>
            <a:r>
              <a:rPr lang="ru-RU" altLang="en-US">
                <a:solidFill>
                  <a:srgbClr val="000000"/>
                </a:solidFill>
                <a:latin typeface="Times New Roman" panose="02020603050405020304" charset="0"/>
                <a:sym typeface="+mn-ea"/>
              </a:rPr>
              <a:t> 我们将结果打印到HTML页面。</a:t>
            </a:r>
            <a:endParaRPr lang="ru-RU" altLang="en-US">
              <a:solidFill>
                <a:srgbClr val="000000"/>
              </a:solidFill>
              <a:latin typeface="Times New Roman" panose="02020603050405020304"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537210" y="1313815"/>
            <a:ext cx="9691370" cy="4707890"/>
          </a:xfrm>
          <a:prstGeom prst="rect">
            <a:avLst/>
          </a:prstGeom>
          <a:noFill/>
          <a:ln w="9525">
            <a:noFill/>
          </a:ln>
        </p:spPr>
        <p:txBody>
          <a:bodyPr wrap="square">
            <a:spAutoFit/>
          </a:bodyPr>
          <a:p>
            <a:pPr marL="0" indent="0" algn="just"/>
            <a:r>
              <a:rPr lang="en-US" sz="2000" b="0">
                <a:solidFill>
                  <a:srgbClr val="001080"/>
                </a:solidFill>
                <a:latin typeface="Consolas" panose="020B0609020204030204" charset="0"/>
              </a:rPr>
              <a:t>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"&lt;table&gt;"</a:t>
            </a:r>
            <a:r>
              <a:rPr lang="en-US" sz="2000" b="0">
                <a:solidFill>
                  <a:srgbClr val="000000"/>
                </a:solidFill>
                <a:latin typeface="Consolas" panose="020B0609020204030204" charset="0"/>
              </a:rPr>
              <a:t>); </a:t>
            </a:r>
            <a:r>
              <a:rPr lang="en-US" sz="2000" b="0">
                <a:solidFill>
                  <a:srgbClr val="AF00DB"/>
                </a:solidFill>
                <a:latin typeface="Consolas" panose="020B0609020204030204" charset="0"/>
              </a:rPr>
              <a:t>for</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let</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i</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1</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i</a:t>
            </a:r>
            <a:r>
              <a:rPr lang="en-US" sz="2000" b="0">
                <a:solidFill>
                  <a:srgbClr val="000000"/>
                </a:solidFill>
                <a:latin typeface="Consolas" panose="020B0609020204030204" charset="0"/>
              </a:rPr>
              <a:t> &lt;= </a:t>
            </a:r>
            <a:r>
              <a:rPr lang="en-US" sz="2000" b="0">
                <a:solidFill>
                  <a:srgbClr val="098658"/>
                </a:solidFill>
                <a:latin typeface="Consolas" panose="020B0609020204030204" charset="0"/>
              </a:rPr>
              <a:t>10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i</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"&lt;tr&gt;"</a:t>
            </a:r>
            <a:r>
              <a:rPr lang="en-US" sz="2000" b="0">
                <a:solidFill>
                  <a:srgbClr val="000000"/>
                </a:solidFill>
                <a:latin typeface="Consolas" panose="020B0609020204030204" charset="0"/>
              </a:rPr>
              <a:t>);  </a:t>
            </a:r>
            <a:r>
              <a:rPr lang="en-US" sz="2000" b="0">
                <a:solidFill>
                  <a:srgbClr val="AF00DB"/>
                </a:solidFill>
                <a:latin typeface="Consolas" panose="020B0609020204030204" charset="0"/>
              </a:rPr>
              <a:t>for</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let</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j</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1</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j</a:t>
            </a:r>
            <a:r>
              <a:rPr lang="en-US" sz="2000" b="0">
                <a:solidFill>
                  <a:srgbClr val="000000"/>
                </a:solidFill>
                <a:latin typeface="Consolas" panose="020B0609020204030204" charset="0"/>
              </a:rPr>
              <a:t> &lt;= </a:t>
            </a:r>
            <a:r>
              <a:rPr lang="en-US" sz="2000" b="0">
                <a:solidFill>
                  <a:srgbClr val="098658"/>
                </a:solidFill>
                <a:latin typeface="Consolas" panose="020B0609020204030204" charset="0"/>
              </a:rPr>
              <a:t>10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j</a:t>
            </a:r>
            <a:r>
              <a:rPr lang="en-US" sz="2000" b="0">
                <a:solidFill>
                  <a:srgbClr val="000000"/>
                </a:solidFill>
                <a:latin typeface="Consolas" panose="020B0609020204030204" charset="0"/>
              </a:rPr>
              <a:t>++) {    </a:t>
            </a:r>
            <a:r>
              <a:rPr lang="en-US" sz="2000" b="0">
                <a:solidFill>
                  <a:srgbClr val="0000FF"/>
                </a:solidFill>
                <a:latin typeface="Consolas" panose="020B0609020204030204" charset="0"/>
              </a:rPr>
              <a:t>const</a:t>
            </a:r>
            <a:r>
              <a:rPr lang="en-US" sz="2000" b="0">
                <a:solidFill>
                  <a:srgbClr val="000000"/>
                </a:solidFill>
                <a:latin typeface="Consolas" panose="020B0609020204030204" charset="0"/>
              </a:rPr>
              <a:t> </a:t>
            </a:r>
            <a:r>
              <a:rPr lang="en-US" sz="2000" b="0">
                <a:solidFill>
                  <a:srgbClr val="0070C1"/>
                </a:solidFill>
                <a:latin typeface="Consolas" panose="020B0609020204030204" charset="0"/>
              </a:rPr>
              <a:t>result</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i</a:t>
            </a:r>
            <a:r>
              <a:rPr lang="en-US" sz="2000" b="0">
                <a:solidFill>
                  <a:srgbClr val="000000"/>
                </a:solidFill>
                <a:latin typeface="Consolas" panose="020B0609020204030204" charset="0"/>
              </a:rPr>
              <a:t>*</a:t>
            </a:r>
            <a:r>
              <a:rPr lang="en-US" sz="2000" b="0">
                <a:solidFill>
                  <a:srgbClr val="001080"/>
                </a:solidFill>
                <a:latin typeface="Consolas" panose="020B0609020204030204" charset="0"/>
              </a:rPr>
              <a:t>j</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let</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style</a:t>
            </a:r>
            <a:r>
              <a:rPr lang="en-US" sz="2000" b="0">
                <a:solidFill>
                  <a:srgbClr val="000000"/>
                </a:solidFill>
                <a:latin typeface="Consolas" panose="020B0609020204030204" charset="0"/>
              </a:rPr>
              <a:t> = </a:t>
            </a:r>
            <a:r>
              <a:rPr lang="en-US" sz="2000" b="0">
                <a:solidFill>
                  <a:srgbClr val="A31515"/>
                </a:solidFill>
                <a:latin typeface="Consolas" panose="020B0609020204030204" charset="0"/>
              </a:rPr>
              <a:t>'height: 50px;width: 50px;text-align: center;font-size: 25px;'</a:t>
            </a:r>
            <a:r>
              <a:rPr lang="en-US" sz="2000" b="0">
                <a:solidFill>
                  <a:srgbClr val="000000"/>
                </a:solidFill>
                <a:latin typeface="Consolas" panose="020B0609020204030204" charset="0"/>
              </a:rPr>
              <a:t>;    </a:t>
            </a:r>
            <a:r>
              <a:rPr lang="en-US" sz="2000" b="0">
                <a:solidFill>
                  <a:srgbClr val="AF00DB"/>
                </a:solidFill>
                <a:latin typeface="Consolas" panose="020B0609020204030204" charset="0"/>
              </a:rPr>
              <a:t>if</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i</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1</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j</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1</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style</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style</a:t>
            </a:r>
            <a:r>
              <a:rPr lang="en-US" sz="2000" b="0">
                <a:solidFill>
                  <a:srgbClr val="000000"/>
                </a:solidFill>
                <a:latin typeface="Consolas" panose="020B0609020204030204" charset="0"/>
              </a:rPr>
              <a:t> + </a:t>
            </a:r>
            <a:r>
              <a:rPr lang="en-US" sz="2000" b="0">
                <a:solidFill>
                  <a:srgbClr val="A31515"/>
                </a:solidFill>
                <a:latin typeface="Consolas" panose="020B0609020204030204" charset="0"/>
              </a:rPr>
              <a:t>'background: coral;color: white;font-size: 20px;'</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`&lt;td style='</a:t>
            </a:r>
            <a:r>
              <a:rPr lang="en-US" sz="2000" b="0">
                <a:solidFill>
                  <a:srgbClr val="0000FF"/>
                </a:solidFill>
                <a:latin typeface="Consolas" panose="020B0609020204030204" charset="0"/>
              </a:rPr>
              <a:t>${</a:t>
            </a:r>
            <a:r>
              <a:rPr lang="en-US" sz="2000" b="0">
                <a:solidFill>
                  <a:srgbClr val="001080"/>
                </a:solidFill>
                <a:latin typeface="Consolas" panose="020B0609020204030204" charset="0"/>
              </a:rPr>
              <a:t>style</a:t>
            </a:r>
            <a:r>
              <a:rPr lang="en-US" sz="2000" b="0">
                <a:solidFill>
                  <a:srgbClr val="0000FF"/>
                </a:solidFill>
                <a:latin typeface="Consolas" panose="020B0609020204030204" charset="0"/>
              </a:rPr>
              <a:t>}</a:t>
            </a:r>
            <a:r>
              <a:rPr lang="en-US" sz="2000" b="0">
                <a:solidFill>
                  <a:srgbClr val="A31515"/>
                </a:solidFill>
                <a:latin typeface="Consolas" panose="020B0609020204030204" charset="0"/>
              </a:rPr>
              <a:t>'&gt;</a:t>
            </a:r>
            <a:r>
              <a:rPr lang="en-US" sz="2000" b="0">
                <a:solidFill>
                  <a:srgbClr val="0000FF"/>
                </a:solidFill>
                <a:latin typeface="Consolas" panose="020B0609020204030204" charset="0"/>
              </a:rPr>
              <a:t>${</a:t>
            </a:r>
            <a:r>
              <a:rPr lang="en-US" sz="2000" b="0">
                <a:solidFill>
                  <a:srgbClr val="0070C1"/>
                </a:solidFill>
                <a:latin typeface="Consolas" panose="020B0609020204030204" charset="0"/>
              </a:rPr>
              <a:t>result</a:t>
            </a:r>
            <a:r>
              <a:rPr lang="en-US" sz="2000" b="0">
                <a:solidFill>
                  <a:srgbClr val="0000FF"/>
                </a:solidFill>
                <a:latin typeface="Consolas" panose="020B0609020204030204" charset="0"/>
              </a:rPr>
              <a:t>}</a:t>
            </a:r>
            <a:r>
              <a:rPr lang="en-US" sz="2000" b="0">
                <a:solidFill>
                  <a:srgbClr val="A31515"/>
                </a:solidFill>
                <a:latin typeface="Consolas" panose="020B0609020204030204" charset="0"/>
              </a:rPr>
              <a:t>&lt;/td&gt;`</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"&lt;/tr&gt;"</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document</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write</a:t>
            </a:r>
            <a:r>
              <a:rPr lang="en-US" sz="2000" b="0">
                <a:solidFill>
                  <a:srgbClr val="000000"/>
                </a:solidFill>
                <a:latin typeface="Consolas" panose="020B0609020204030204" charset="0"/>
              </a:rPr>
              <a:t>(</a:t>
            </a:r>
            <a:r>
              <a:rPr lang="en-US" sz="2000" b="0">
                <a:solidFill>
                  <a:srgbClr val="A31515"/>
                </a:solidFill>
                <a:latin typeface="Consolas" panose="020B0609020204030204" charset="0"/>
              </a:rPr>
              <a:t>"&lt;/table&gt;"</a:t>
            </a:r>
            <a:r>
              <a:rPr lang="en-US" sz="2000" b="0">
                <a:solidFill>
                  <a:srgbClr val="000000"/>
                </a:solidFill>
                <a:latin typeface="Consolas" panose="020B0609020204030204" charset="0"/>
              </a:rPr>
              <a:t>);</a:t>
            </a:r>
            <a:endParaRPr lang="en-US" sz="2000"/>
          </a:p>
        </p:txBody>
      </p:sp>
      <p:sp>
        <p:nvSpPr>
          <p:cNvPr id="6" name="Text Box 5"/>
          <p:cNvSpPr txBox="1"/>
          <p:nvPr/>
        </p:nvSpPr>
        <p:spPr>
          <a:xfrm>
            <a:off x="3909378" y="496570"/>
            <a:ext cx="3757295" cy="460375"/>
          </a:xfrm>
          <a:prstGeom prst="rect">
            <a:avLst/>
          </a:prstGeom>
          <a:noFill/>
        </p:spPr>
        <p:txBody>
          <a:bodyPr wrap="none" rtlCol="0" anchor="t">
            <a:spAutoFit/>
          </a:bodyPr>
          <a:p>
            <a:pPr algn="just"/>
            <a:r>
              <a:rPr lang="ru-RU" altLang="en-US" sz="2400">
                <a:latin typeface="Times New Roman Regular" panose="02020603050405020304" charset="0"/>
                <a:cs typeface="Times New Roman Regular" panose="02020603050405020304" charset="0"/>
              </a:rPr>
              <a:t>Добавим стили.添加样式。</a:t>
            </a:r>
            <a:endParaRPr lang="ru-RU" altLang="en-US" sz="2400">
              <a:latin typeface="Times New Roman Regular" panose="02020603050405020304" charset="0"/>
              <a:cs typeface="Times New Roman Regular"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83235" y="306070"/>
            <a:ext cx="11414125" cy="4154170"/>
          </a:xfrm>
          <a:prstGeom prst="rect">
            <a:avLst/>
          </a:prstGeom>
          <a:noFill/>
        </p:spPr>
        <p:txBody>
          <a:bodyPr wrap="square" rtlCol="0" anchor="t">
            <a:spAutoFit/>
          </a:bodyPr>
          <a:p>
            <a:pPr algn="just"/>
            <a:r>
              <a:rPr lang="ru-RU" altLang="en-US" sz="2400">
                <a:latin typeface="Times New Roman Regular" panose="02020603050405020304" charset="0"/>
                <a:cs typeface="Times New Roman Regular" panose="02020603050405020304" charset="0"/>
              </a:rPr>
              <a:t>	Самостоятельно расширим функционал программы. Пользователь с помощью диалоговых окон вводит два числа, которые хочет умножить. Скрипт отображает страницу с таблицей умножения, где результат умножения двух введенных чисел выделен с помощью стилей, например ячейка с результирующим значением имеет красный фон. Пример: пользователь ввел число 5 и 3, ячейка со значением 15 выделена цветом.我们将自行扩大方案的功能。用户使用对话框输入两个要乘法的数字。脚本显示一个带有乘法表的页面，其中两个输入的数字的乘法结果用样式突出显示，例如，具有结果值的单元格具有红色背景。例如：用户输入了数字5和3，值为15的单元格用颜色表示。</a:t>
            </a:r>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p:txBody>
      </p:sp>
      <p:pic>
        <p:nvPicPr>
          <p:cNvPr id="172" name="image40.png"/>
          <p:cNvPicPr preferRelativeResize="0"/>
          <p:nvPr/>
        </p:nvPicPr>
        <p:blipFill>
          <a:blip r:embed="rId1"/>
          <a:srcRect/>
          <a:stretch>
            <a:fillRect/>
          </a:stretch>
        </p:blipFill>
        <p:spPr>
          <a:xfrm>
            <a:off x="4687570" y="3950335"/>
            <a:ext cx="2816860" cy="28219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575945" y="692785"/>
            <a:ext cx="10848975" cy="1938020"/>
          </a:xfrm>
          <a:prstGeom prst="rect">
            <a:avLst/>
          </a:prstGeom>
          <a:noFill/>
          <a:ln w="9525">
            <a:noFill/>
          </a:ln>
        </p:spPr>
        <p:txBody>
          <a:bodyPr wrap="square">
            <a:spAutoFit/>
          </a:bodyPr>
          <a:p>
            <a:pPr marL="0" indent="0" algn="just"/>
            <a:r>
              <a:rPr lang="ru-RU" altLang="en-US" sz="2400" b="0">
                <a:latin typeface="Times New Roman" panose="02020603050405020304" charset="0"/>
              </a:rPr>
              <a:t>	</a:t>
            </a:r>
            <a:r>
              <a:rPr lang="en-US" sz="2400" b="0">
                <a:latin typeface="Times New Roman" panose="02020603050405020304" charset="0"/>
              </a:rPr>
              <a:t>Обычно цикл завершается при вычислении условия в </a:t>
            </a:r>
            <a:r>
              <a:rPr lang="en-US" sz="2400" b="0" i="1">
                <a:latin typeface="Times New Roman" panose="02020603050405020304" charset="0"/>
              </a:rPr>
              <a:t>false</a:t>
            </a:r>
            <a:r>
              <a:rPr lang="en-US" sz="2400" b="0">
                <a:latin typeface="Times New Roman" panose="02020603050405020304" charset="0"/>
              </a:rPr>
              <a:t>. Но мы можем выйти из цикла в любой момент с помощью специальной директивы </a:t>
            </a:r>
            <a:r>
              <a:rPr lang="en-US" sz="2400" b="0" i="1">
                <a:latin typeface="Times New Roman" panose="02020603050405020304" charset="0"/>
              </a:rPr>
              <a:t>break</a:t>
            </a:r>
            <a:r>
              <a:rPr lang="en-US" sz="2400" b="0">
                <a:latin typeface="Times New Roman" panose="02020603050405020304" charset="0"/>
              </a:rPr>
              <a:t>. </a:t>
            </a:r>
            <a:endParaRPr lang="en-US" sz="2400" b="0">
              <a:latin typeface="Times New Roman" panose="02020603050405020304" charset="0"/>
            </a:endParaRPr>
          </a:p>
          <a:p>
            <a:pPr marL="0" indent="0" algn="just"/>
            <a:endParaRPr lang="en-US" sz="2400"/>
          </a:p>
          <a:p>
            <a:pPr marL="0" indent="0" algn="just"/>
            <a:r>
              <a:rPr lang="en-US" sz="2400"/>
              <a:t>通常，循环在计算false条件时结束。但是，我们可以通过特殊的Break指令随时退出循环。</a:t>
            </a:r>
            <a:endParaRPr 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869315" y="456565"/>
            <a:ext cx="10781665" cy="1938020"/>
          </a:xfrm>
          <a:prstGeom prst="rect">
            <a:avLst/>
          </a:prstGeom>
          <a:noFill/>
          <a:ln w="9525">
            <a:noFill/>
          </a:ln>
        </p:spPr>
        <p:txBody>
          <a:bodyPr wrap="square">
            <a:spAutoFit/>
          </a:bodyPr>
          <a:p>
            <a:pPr indent="0" algn="just"/>
            <a:r>
              <a:rPr lang="ru-RU" altLang="en-US" sz="2400" b="0">
                <a:latin typeface="Times New Roman" panose="02020603050405020304" charset="0"/>
              </a:rPr>
              <a:t>	</a:t>
            </a:r>
            <a:r>
              <a:rPr lang="en-US" sz="2400" b="0">
                <a:latin typeface="Times New Roman" panose="02020603050405020304" charset="0"/>
              </a:rPr>
              <a:t>Например, следующий код подсчитывает сумму вводимых чисел до тех пор, пока пользователь вводит число, если пользователь ввел не цифровой символ – выдает полученную сумму. </a:t>
            </a:r>
            <a:endParaRPr lang="en-US" sz="2400" b="0">
              <a:latin typeface="Times New Roman" panose="02020603050405020304" charset="0"/>
            </a:endParaRPr>
          </a:p>
          <a:p>
            <a:pPr indent="0" algn="just"/>
            <a:r>
              <a:rPr lang="en-US" sz="2400"/>
              <a:t>例如，以下代码计算输入的数字的总和，只要用户输入一个数字，如果用户输入的不是数字字符-输出的金额。</a:t>
            </a:r>
            <a:endParaRPr lang="en-US" sz="2400"/>
          </a:p>
        </p:txBody>
      </p:sp>
      <p:sp>
        <p:nvSpPr>
          <p:cNvPr id="2" name="Text Box 1"/>
          <p:cNvSpPr txBox="1"/>
          <p:nvPr/>
        </p:nvSpPr>
        <p:spPr>
          <a:xfrm>
            <a:off x="869315" y="3051175"/>
            <a:ext cx="8095615" cy="3415030"/>
          </a:xfrm>
          <a:prstGeom prst="rect">
            <a:avLst/>
          </a:prstGeom>
          <a:noFill/>
          <a:ln w="9525">
            <a:noFill/>
          </a:ln>
        </p:spPr>
        <p:txBody>
          <a:bodyPr wrap="square">
            <a:spAutoFit/>
          </a:bodyPr>
          <a:p>
            <a:pPr marL="0" indent="0"/>
            <a:r>
              <a:rPr lang="en-US" sz="2400" b="0">
                <a:solidFill>
                  <a:srgbClr val="0000FF"/>
                </a:solidFill>
                <a:latin typeface="Consolas" panose="020B0609020204030204" charset="0"/>
              </a:rPr>
              <a:t>let </a:t>
            </a:r>
            <a:r>
              <a:rPr lang="en-US" sz="2400" b="0">
                <a:solidFill>
                  <a:srgbClr val="001080"/>
                </a:solidFill>
                <a:latin typeface="Consolas" panose="020B0609020204030204" charset="0"/>
              </a:rPr>
              <a:t>sum</a:t>
            </a:r>
            <a:r>
              <a:rPr lang="en-US" sz="2400" b="0">
                <a:solidFill>
                  <a:srgbClr val="0000FF"/>
                </a:solidFill>
                <a:latin typeface="Consolas" panose="020B0609020204030204" charset="0"/>
              </a:rPr>
              <a:t> = </a:t>
            </a:r>
            <a:r>
              <a:rPr lang="en-US" sz="2400" b="0">
                <a:solidFill>
                  <a:srgbClr val="098658"/>
                </a:solidFill>
                <a:latin typeface="Consolas" panose="020B0609020204030204" charset="0"/>
              </a:rPr>
              <a:t>0</a:t>
            </a:r>
            <a:r>
              <a:rPr lang="en-US" sz="2400" b="0">
                <a:solidFill>
                  <a:srgbClr val="0000FF"/>
                </a:solidFill>
                <a:latin typeface="Consolas" panose="020B0609020204030204" charset="0"/>
              </a:rPr>
              <a:t>; </a:t>
            </a:r>
            <a:r>
              <a:rPr lang="en-US" sz="2400" b="0">
                <a:solidFill>
                  <a:srgbClr val="AF00DB"/>
                </a:solidFill>
                <a:latin typeface="Consolas" panose="020B0609020204030204" charset="0"/>
              </a:rPr>
              <a:t>while</a:t>
            </a:r>
            <a:r>
              <a:rPr lang="en-US" sz="2400" b="0">
                <a:solidFill>
                  <a:srgbClr val="0000FF"/>
                </a:solidFill>
                <a:latin typeface="Consolas" panose="020B0609020204030204" charset="0"/>
              </a:rPr>
              <a:t> (true) {  let </a:t>
            </a:r>
            <a:r>
              <a:rPr lang="en-US" sz="2400" b="0">
                <a:solidFill>
                  <a:srgbClr val="001080"/>
                </a:solidFill>
                <a:latin typeface="Consolas" panose="020B0609020204030204" charset="0"/>
              </a:rPr>
              <a:t>value</a:t>
            </a:r>
            <a:r>
              <a:rPr lang="en-US" sz="2400" b="0">
                <a:solidFill>
                  <a:srgbClr val="0000FF"/>
                </a:solidFill>
                <a:latin typeface="Consolas" panose="020B0609020204030204" charset="0"/>
              </a:rPr>
              <a:t> = +</a:t>
            </a:r>
            <a:r>
              <a:rPr lang="en-US" sz="2400" b="0">
                <a:solidFill>
                  <a:srgbClr val="795E26"/>
                </a:solidFill>
                <a:latin typeface="Consolas" panose="020B0609020204030204" charset="0"/>
              </a:rPr>
              <a:t>prompt</a:t>
            </a:r>
            <a:r>
              <a:rPr lang="en-US" sz="2400" b="0">
                <a:solidFill>
                  <a:srgbClr val="0000FF"/>
                </a:solidFill>
                <a:latin typeface="Consolas" panose="020B0609020204030204" charset="0"/>
              </a:rPr>
              <a:t>(</a:t>
            </a:r>
            <a:r>
              <a:rPr lang="en-US" sz="2400" b="0">
                <a:solidFill>
                  <a:srgbClr val="A31515"/>
                </a:solidFill>
                <a:latin typeface="Consolas" panose="020B0609020204030204" charset="0"/>
              </a:rPr>
              <a:t>"Введите число"</a:t>
            </a:r>
            <a:r>
              <a:rPr lang="en-US" sz="2400" b="0">
                <a:solidFill>
                  <a:srgbClr val="0000FF"/>
                </a:solidFill>
                <a:latin typeface="Consolas" panose="020B0609020204030204" charset="0"/>
              </a:rPr>
              <a:t>, </a:t>
            </a:r>
            <a:r>
              <a:rPr lang="en-US" sz="2400" b="0">
                <a:solidFill>
                  <a:srgbClr val="A31515"/>
                </a:solidFill>
                <a:latin typeface="Consolas" panose="020B0609020204030204" charset="0"/>
              </a:rPr>
              <a:t>''</a:t>
            </a:r>
            <a:r>
              <a:rPr lang="en-US" sz="2400" b="0">
                <a:solidFill>
                  <a:srgbClr val="0000FF"/>
                </a:solidFill>
                <a:latin typeface="Consolas" panose="020B0609020204030204" charset="0"/>
              </a:rPr>
              <a:t>);  </a:t>
            </a:r>
            <a:r>
              <a:rPr lang="en-US" sz="2400" b="0">
                <a:solidFill>
                  <a:srgbClr val="AF00DB"/>
                </a:solidFill>
                <a:latin typeface="Consolas" panose="020B0609020204030204" charset="0"/>
              </a:rPr>
              <a:t>if</a:t>
            </a:r>
            <a:r>
              <a:rPr lang="en-US" sz="2400" b="0">
                <a:solidFill>
                  <a:srgbClr val="0000FF"/>
                </a:solidFill>
                <a:latin typeface="Consolas" panose="020B0609020204030204" charset="0"/>
              </a:rPr>
              <a:t> (!</a:t>
            </a:r>
            <a:r>
              <a:rPr lang="en-US" sz="2400" b="0">
                <a:solidFill>
                  <a:srgbClr val="001080"/>
                </a:solidFill>
                <a:latin typeface="Consolas" panose="020B0609020204030204" charset="0"/>
              </a:rPr>
              <a:t>value</a:t>
            </a:r>
            <a:r>
              <a:rPr lang="en-US" sz="2400" b="0">
                <a:solidFill>
                  <a:srgbClr val="0000FF"/>
                </a:solidFill>
                <a:latin typeface="Consolas" panose="020B0609020204030204" charset="0"/>
              </a:rPr>
              <a:t>) </a:t>
            </a:r>
            <a:r>
              <a:rPr lang="en-US" sz="2400" b="0">
                <a:solidFill>
                  <a:srgbClr val="AF00DB"/>
                </a:solidFill>
                <a:latin typeface="Consolas" panose="020B0609020204030204" charset="0"/>
              </a:rPr>
              <a:t>break</a:t>
            </a:r>
            <a:r>
              <a:rPr lang="en-US" sz="2400" b="0">
                <a:solidFill>
                  <a:srgbClr val="0000FF"/>
                </a:solidFill>
                <a:latin typeface="Consolas" panose="020B0609020204030204" charset="0"/>
              </a:rPr>
              <a:t>;  </a:t>
            </a:r>
            <a:r>
              <a:rPr lang="en-US" sz="2400" b="0">
                <a:solidFill>
                  <a:srgbClr val="001080"/>
                </a:solidFill>
                <a:latin typeface="Consolas" panose="020B0609020204030204" charset="0"/>
              </a:rPr>
              <a:t>sum</a:t>
            </a:r>
            <a:r>
              <a:rPr lang="en-US" sz="2400" b="0">
                <a:solidFill>
                  <a:srgbClr val="0000FF"/>
                </a:solidFill>
                <a:latin typeface="Consolas" panose="020B0609020204030204" charset="0"/>
              </a:rPr>
              <a:t> += </a:t>
            </a:r>
            <a:r>
              <a:rPr lang="en-US" sz="2400" b="0">
                <a:solidFill>
                  <a:srgbClr val="001080"/>
                </a:solidFill>
                <a:latin typeface="Consolas" panose="020B0609020204030204" charset="0"/>
              </a:rPr>
              <a:t>value</a:t>
            </a:r>
            <a:r>
              <a:rPr lang="en-US" sz="2400" b="0">
                <a:solidFill>
                  <a:srgbClr val="0000FF"/>
                </a:solidFill>
                <a:latin typeface="Consolas" panose="020B0609020204030204" charset="0"/>
              </a:rPr>
              <a:t>; }</a:t>
            </a:r>
            <a:r>
              <a:rPr lang="en-US" sz="2400" b="0">
                <a:solidFill>
                  <a:srgbClr val="795E26"/>
                </a:solidFill>
                <a:latin typeface="Consolas" panose="020B0609020204030204" charset="0"/>
              </a:rPr>
              <a:t>alert</a:t>
            </a:r>
            <a:r>
              <a:rPr lang="en-US" sz="2400" b="0">
                <a:solidFill>
                  <a:srgbClr val="0000FF"/>
                </a:solidFill>
                <a:latin typeface="Consolas" panose="020B0609020204030204" charset="0"/>
              </a:rPr>
              <a:t>( </a:t>
            </a:r>
            <a:r>
              <a:rPr lang="en-US" sz="2400" b="0">
                <a:solidFill>
                  <a:srgbClr val="A31515"/>
                </a:solidFill>
                <a:latin typeface="Consolas" panose="020B0609020204030204" charset="0"/>
              </a:rPr>
              <a:t>'Сумма: '</a:t>
            </a:r>
            <a:r>
              <a:rPr lang="en-US" sz="2400" b="0">
                <a:solidFill>
                  <a:srgbClr val="0000FF"/>
                </a:solidFill>
                <a:latin typeface="Consolas" panose="020B0609020204030204" charset="0"/>
              </a:rPr>
              <a:t> + </a:t>
            </a:r>
            <a:r>
              <a:rPr lang="en-US" sz="2400" b="0">
                <a:solidFill>
                  <a:srgbClr val="001080"/>
                </a:solidFill>
                <a:latin typeface="Consolas" panose="020B0609020204030204" charset="0"/>
              </a:rPr>
              <a:t>sum</a:t>
            </a:r>
            <a:r>
              <a:rPr lang="en-US" sz="2400" b="0">
                <a:solidFill>
                  <a:srgbClr val="0000FF"/>
                </a:solidFill>
                <a:latin typeface="Consolas" panose="020B0609020204030204" charset="0"/>
              </a:rPr>
              <a:t> );</a:t>
            </a:r>
            <a:endParaRPr 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576580" y="1415415"/>
            <a:ext cx="11039475" cy="2306955"/>
          </a:xfrm>
          <a:prstGeom prst="rect">
            <a:avLst/>
          </a:prstGeom>
          <a:noFill/>
          <a:ln w="9525">
            <a:noFill/>
          </a:ln>
        </p:spPr>
        <p:txBody>
          <a:bodyPr wrap="square">
            <a:spAutoFit/>
          </a:bodyPr>
          <a:p>
            <a:pPr marL="0" indent="457200" algn="just"/>
            <a:r>
              <a:rPr lang="en-US" sz="2400" b="0">
                <a:latin typeface="Times New Roman" panose="02020603050405020304" charset="0"/>
              </a:rPr>
              <a:t>Сочетание </a:t>
            </a:r>
            <a:r>
              <a:rPr lang="en-US" sz="2400" b="0" i="1">
                <a:latin typeface="Times New Roman" panose="02020603050405020304" charset="0"/>
              </a:rPr>
              <a:t>«бесконечный цикл + break»</a:t>
            </a:r>
            <a:r>
              <a:rPr lang="en-US" sz="2400" b="0">
                <a:latin typeface="Times New Roman" panose="02020603050405020304" charset="0"/>
              </a:rPr>
              <a:t> – отличная штука для тех ситуаций, когда условие, по которому нужно прерваться, находится не в начале или конце цикла, а посередине или даже в нескольких местах его тела</a:t>
            </a:r>
            <a:endParaRPr lang="en-US" sz="2400" b="0">
              <a:latin typeface="Times New Roman" panose="02020603050405020304" charset="0"/>
            </a:endParaRPr>
          </a:p>
          <a:p>
            <a:pPr marL="0" indent="457200" algn="just"/>
            <a:endParaRPr lang="en-US" sz="2400" b="0">
              <a:latin typeface="Times New Roman" panose="02020603050405020304" charset="0"/>
            </a:endParaRPr>
          </a:p>
          <a:p>
            <a:pPr marL="0" indent="457200" algn="just"/>
            <a:r>
              <a:rPr lang="en-US" sz="2400" b="0">
                <a:latin typeface="Times New Roman" panose="02020603050405020304" charset="0"/>
              </a:rPr>
              <a:t>.“无限循环+</a:t>
            </a:r>
            <a:r>
              <a:rPr lang="en-US" sz="2400" i="1">
                <a:latin typeface="Times New Roman" panose="02020603050405020304" charset="0"/>
                <a:sym typeface="+mn-ea"/>
              </a:rPr>
              <a:t>break</a:t>
            </a:r>
            <a:r>
              <a:rPr lang="en-US" sz="2400" b="0">
                <a:latin typeface="Times New Roman" panose="02020603050405020304" charset="0"/>
              </a:rPr>
              <a:t>”的组合是一个很好的东西，当你需要打破的条件不是在周期的开始或结束，而是在中间，甚至在身体的几个地方。</a:t>
            </a:r>
            <a:endParaRPr lang="en-US" sz="2400" b="0">
              <a:latin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21030" y="382905"/>
            <a:ext cx="10903585" cy="2676525"/>
          </a:xfrm>
          <a:prstGeom prst="rect">
            <a:avLst/>
          </a:prstGeom>
          <a:noFill/>
          <a:ln w="9525">
            <a:noFill/>
          </a:ln>
        </p:spPr>
        <p:txBody>
          <a:bodyPr wrap="square">
            <a:spAutoFit/>
          </a:bodyPr>
          <a:p>
            <a:pPr indent="457200" algn="just"/>
            <a:r>
              <a:rPr lang="en-US" sz="2400" b="0">
                <a:latin typeface="Times New Roman" panose="02020603050405020304" charset="0"/>
              </a:rPr>
              <a:t>Следующее, что мы рассмотрим это директива </a:t>
            </a:r>
            <a:r>
              <a:rPr lang="en-US" sz="2400" b="0" i="1">
                <a:latin typeface="Times New Roman" panose="02020603050405020304" charset="0"/>
              </a:rPr>
              <a:t>continue </a:t>
            </a:r>
            <a:r>
              <a:rPr lang="en-US" sz="2400" b="0">
                <a:latin typeface="Times New Roman" panose="02020603050405020304" charset="0"/>
              </a:rPr>
              <a:t>– </a:t>
            </a:r>
            <a:r>
              <a:rPr lang="en-US" sz="2400" b="0" i="1">
                <a:latin typeface="Times New Roman" panose="02020603050405020304" charset="0"/>
              </a:rPr>
              <a:t>«облегчённая версия» break</a:t>
            </a:r>
            <a:r>
              <a:rPr lang="en-US" sz="2400" b="0">
                <a:latin typeface="Times New Roman" panose="02020603050405020304" charset="0"/>
              </a:rPr>
              <a:t>. При её выполнении цикл не прерывается, а переходит к следующей итерации (если условие все ещё равно true). Её используют, если понятно, что на текущем повторе цикла делать больше нечего.</a:t>
            </a:r>
            <a:endParaRPr lang="en-US" sz="2400" b="0">
              <a:latin typeface="Times New Roman" panose="02020603050405020304" charset="0"/>
            </a:endParaRPr>
          </a:p>
          <a:p>
            <a:pPr indent="457200" algn="just"/>
            <a:r>
              <a:rPr lang="en-US" sz="2400"/>
              <a:t>接下来，我们将讨论这个指令Continue是“轻量级版本”Break。当循环完成时，循环不会中断，而是继续到下一次迭代（如果条件仍然是真的）。如果在当前循环中没有其他事情可以做，则使用它。</a:t>
            </a:r>
            <a:endParaRPr lang="en-US" sz="2400"/>
          </a:p>
        </p:txBody>
      </p:sp>
      <p:sp>
        <p:nvSpPr>
          <p:cNvPr id="2" name="Text Box 1"/>
          <p:cNvSpPr txBox="1"/>
          <p:nvPr/>
        </p:nvSpPr>
        <p:spPr>
          <a:xfrm>
            <a:off x="821055" y="3999548"/>
            <a:ext cx="5080000" cy="1568450"/>
          </a:xfrm>
          <a:prstGeom prst="rect">
            <a:avLst/>
          </a:prstGeom>
          <a:noFill/>
          <a:ln w="9525">
            <a:noFill/>
          </a:ln>
        </p:spPr>
        <p:txBody>
          <a:bodyPr>
            <a:spAutoFit/>
          </a:bodyPr>
          <a:p>
            <a:pPr marL="0" indent="0"/>
            <a:r>
              <a:rPr lang="en-US" sz="2400">
                <a:solidFill>
                  <a:srgbClr val="AF00DB"/>
                </a:solidFill>
                <a:latin typeface="Consolas" panose="020B0609020204030204" charset="0"/>
                <a:sym typeface="+mn-ea"/>
              </a:rPr>
              <a:t>for</a:t>
            </a:r>
            <a:r>
              <a:rPr lang="en-US" sz="2400">
                <a:latin typeface="Consolas" panose="020B0609020204030204" charset="0"/>
                <a:sym typeface="+mn-ea"/>
              </a:rPr>
              <a:t> (</a:t>
            </a:r>
            <a:r>
              <a:rPr lang="en-US" sz="2400">
                <a:solidFill>
                  <a:srgbClr val="0000FF"/>
                </a:solidFill>
                <a:latin typeface="Consolas" panose="020B0609020204030204" charset="0"/>
                <a:sym typeface="+mn-ea"/>
              </a:rPr>
              <a:t>let</a:t>
            </a:r>
            <a:r>
              <a:rPr lang="en-US" sz="2400">
                <a:latin typeface="Consolas" panose="020B0609020204030204" charset="0"/>
                <a:sym typeface="+mn-ea"/>
              </a:rPr>
              <a:t> </a:t>
            </a:r>
            <a:r>
              <a:rPr lang="en-US" sz="2400">
                <a:solidFill>
                  <a:srgbClr val="001080"/>
                </a:solidFill>
                <a:latin typeface="Consolas" panose="020B0609020204030204" charset="0"/>
                <a:sym typeface="+mn-ea"/>
              </a:rPr>
              <a:t>i</a:t>
            </a:r>
            <a:r>
              <a:rPr lang="en-US" sz="2400">
                <a:latin typeface="Consolas" panose="020B0609020204030204" charset="0"/>
                <a:sym typeface="+mn-ea"/>
              </a:rPr>
              <a:t> = </a:t>
            </a:r>
            <a:r>
              <a:rPr lang="en-US" sz="2400">
                <a:solidFill>
                  <a:srgbClr val="098658"/>
                </a:solidFill>
                <a:latin typeface="Consolas" panose="020B0609020204030204" charset="0"/>
                <a:sym typeface="+mn-ea"/>
              </a:rPr>
              <a:t>0</a:t>
            </a:r>
            <a:r>
              <a:rPr lang="en-US" sz="2400">
                <a:latin typeface="Consolas" panose="020B0609020204030204" charset="0"/>
                <a:sym typeface="+mn-ea"/>
              </a:rPr>
              <a:t>; </a:t>
            </a:r>
            <a:r>
              <a:rPr lang="en-US" sz="2400">
                <a:solidFill>
                  <a:srgbClr val="001080"/>
                </a:solidFill>
                <a:latin typeface="Consolas" panose="020B0609020204030204" charset="0"/>
                <a:sym typeface="+mn-ea"/>
              </a:rPr>
              <a:t>i</a:t>
            </a:r>
            <a:r>
              <a:rPr lang="en-US" sz="2400">
                <a:latin typeface="Consolas" panose="020B0609020204030204" charset="0"/>
                <a:sym typeface="+mn-ea"/>
              </a:rPr>
              <a:t> &lt; </a:t>
            </a:r>
            <a:r>
              <a:rPr lang="en-US" sz="2400">
                <a:solidFill>
                  <a:srgbClr val="098658"/>
                </a:solidFill>
                <a:latin typeface="Consolas" panose="020B0609020204030204" charset="0"/>
                <a:sym typeface="+mn-ea"/>
              </a:rPr>
              <a:t>10</a:t>
            </a:r>
            <a:r>
              <a:rPr lang="en-US" sz="2400">
                <a:latin typeface="Consolas" panose="020B0609020204030204" charset="0"/>
                <a:sym typeface="+mn-ea"/>
              </a:rPr>
              <a:t>; </a:t>
            </a:r>
            <a:r>
              <a:rPr lang="en-US" sz="2400">
                <a:solidFill>
                  <a:srgbClr val="001080"/>
                </a:solidFill>
                <a:latin typeface="Consolas" panose="020B0609020204030204" charset="0"/>
                <a:sym typeface="+mn-ea"/>
              </a:rPr>
              <a:t>i</a:t>
            </a:r>
            <a:r>
              <a:rPr lang="en-US" sz="2400">
                <a:latin typeface="Consolas" panose="020B0609020204030204" charset="0"/>
                <a:sym typeface="+mn-ea"/>
              </a:rPr>
              <a:t>++) {  </a:t>
            </a:r>
            <a:r>
              <a:rPr lang="en-US" sz="2400">
                <a:solidFill>
                  <a:srgbClr val="AF00DB"/>
                </a:solidFill>
                <a:latin typeface="Consolas" panose="020B0609020204030204" charset="0"/>
                <a:sym typeface="+mn-ea"/>
              </a:rPr>
              <a:t>if</a:t>
            </a:r>
            <a:r>
              <a:rPr lang="en-US" sz="2400">
                <a:latin typeface="Consolas" panose="020B0609020204030204" charset="0"/>
                <a:sym typeface="+mn-ea"/>
              </a:rPr>
              <a:t> (</a:t>
            </a:r>
            <a:r>
              <a:rPr lang="en-US" sz="2400">
                <a:solidFill>
                  <a:srgbClr val="001080"/>
                </a:solidFill>
                <a:latin typeface="Consolas" panose="020B0609020204030204" charset="0"/>
                <a:sym typeface="+mn-ea"/>
              </a:rPr>
              <a:t>i</a:t>
            </a:r>
            <a:r>
              <a:rPr lang="en-US" sz="2400">
                <a:latin typeface="Consolas" panose="020B0609020204030204" charset="0"/>
                <a:sym typeface="+mn-ea"/>
              </a:rPr>
              <a:t> % </a:t>
            </a:r>
            <a:r>
              <a:rPr lang="en-US" sz="2400">
                <a:solidFill>
                  <a:srgbClr val="098658"/>
                </a:solidFill>
                <a:latin typeface="Consolas" panose="020B0609020204030204" charset="0"/>
                <a:sym typeface="+mn-ea"/>
              </a:rPr>
              <a:t>2</a:t>
            </a:r>
            <a:r>
              <a:rPr lang="en-US" sz="2400">
                <a:latin typeface="Consolas" panose="020B0609020204030204" charset="0"/>
                <a:sym typeface="+mn-ea"/>
              </a:rPr>
              <a:t> == </a:t>
            </a:r>
            <a:r>
              <a:rPr lang="en-US" sz="2400">
                <a:solidFill>
                  <a:srgbClr val="098658"/>
                </a:solidFill>
                <a:latin typeface="Consolas" panose="020B0609020204030204" charset="0"/>
                <a:sym typeface="+mn-ea"/>
              </a:rPr>
              <a:t>0</a:t>
            </a:r>
            <a:r>
              <a:rPr lang="en-US" sz="2400">
                <a:latin typeface="Consolas" panose="020B0609020204030204" charset="0"/>
                <a:sym typeface="+mn-ea"/>
              </a:rPr>
              <a:t>) </a:t>
            </a:r>
            <a:r>
              <a:rPr lang="en-US" sz="2400">
                <a:solidFill>
                  <a:srgbClr val="AF00DB"/>
                </a:solidFill>
                <a:latin typeface="Consolas" panose="020B0609020204030204" charset="0"/>
                <a:sym typeface="+mn-ea"/>
              </a:rPr>
              <a:t>continue</a:t>
            </a:r>
            <a:r>
              <a:rPr lang="en-US" sz="2400">
                <a:latin typeface="Consolas" panose="020B0609020204030204" charset="0"/>
                <a:sym typeface="+mn-ea"/>
              </a:rPr>
              <a:t>;  </a:t>
            </a:r>
            <a:r>
              <a:rPr lang="en-US" sz="2400">
                <a:solidFill>
                  <a:srgbClr val="795E26"/>
                </a:solidFill>
                <a:latin typeface="Consolas" panose="020B0609020204030204" charset="0"/>
                <a:sym typeface="+mn-ea"/>
              </a:rPr>
              <a:t>alert</a:t>
            </a:r>
            <a:r>
              <a:rPr lang="en-US" sz="2400">
                <a:latin typeface="Consolas" panose="020B0609020204030204" charset="0"/>
                <a:sym typeface="+mn-ea"/>
              </a:rPr>
              <a:t>(</a:t>
            </a:r>
            <a:r>
              <a:rPr lang="en-US" sz="2400">
                <a:solidFill>
                  <a:srgbClr val="001080"/>
                </a:solidFill>
                <a:latin typeface="Consolas" panose="020B0609020204030204" charset="0"/>
                <a:sym typeface="+mn-ea"/>
              </a:rPr>
              <a:t>i</a:t>
            </a:r>
            <a:r>
              <a:rPr lang="en-US" sz="2400">
                <a:latin typeface="Consolas" panose="020B0609020204030204" charset="0"/>
                <a:sym typeface="+mn-ea"/>
              </a:rPr>
              <a:t>);}</a:t>
            </a:r>
            <a:endParaRPr lang="en-US"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287655" y="544195"/>
            <a:ext cx="11447780" cy="3415030"/>
          </a:xfrm>
          <a:prstGeom prst="rect">
            <a:avLst/>
          </a:prstGeom>
          <a:noFill/>
          <a:ln w="9525">
            <a:noFill/>
          </a:ln>
        </p:spPr>
        <p:txBody>
          <a:bodyPr wrap="square">
            <a:spAutoFit/>
          </a:bodyPr>
          <a:p>
            <a:pPr marL="0" indent="449580" algn="just"/>
            <a:r>
              <a:rPr lang="ru-RU" altLang="en-US" sz="2400" b="0">
                <a:latin typeface="Times New Roman" panose="02020603050405020304" charset="0"/>
              </a:rPr>
              <a:t>П</a:t>
            </a:r>
            <a:r>
              <a:rPr lang="en-US" sz="2400" b="0">
                <a:latin typeface="Times New Roman" panose="02020603050405020304" charset="0"/>
              </a:rPr>
              <a:t>ерейдем к рассмотрению функций. В общем случае, функция — это </a:t>
            </a:r>
            <a:r>
              <a:rPr lang="en-US" sz="2400" b="0" i="1">
                <a:latin typeface="Times New Roman" panose="02020603050405020304" charset="0"/>
              </a:rPr>
              <a:t>"подпрограмма"</a:t>
            </a:r>
            <a:r>
              <a:rPr lang="en-US" sz="2400" b="0">
                <a:latin typeface="Times New Roman" panose="02020603050405020304" charset="0"/>
              </a:rPr>
              <a:t>, которую можно вызывать из внешнего (или внутреннего, в случае рекурсии) по отношению к функции кода. Как и сама программа, функция состоит из последовательности инструкций, называемой телом функции. Значения могут быть переданы в функцию, а функция вернёт значение.</a:t>
            </a:r>
            <a:endParaRPr lang="en-US" sz="2400" b="0">
              <a:latin typeface="Times New Roman" panose="02020603050405020304" charset="0"/>
            </a:endParaRPr>
          </a:p>
          <a:p>
            <a:pPr marL="0" indent="449580" algn="just"/>
            <a:endParaRPr lang="en-US" sz="2400" b="0">
              <a:latin typeface="Times New Roman" panose="02020603050405020304" charset="0"/>
            </a:endParaRPr>
          </a:p>
          <a:p>
            <a:pPr marL="0" indent="449580" algn="just"/>
            <a:r>
              <a:rPr lang="en-US" sz="2400"/>
              <a:t>让我们来看看功能。一般来说，函数是一个“子程序”，可以从外部（或内部，在递归的情况下）调用，相对于代码函数。与程序本身一样，函数由一系列指令组成，称为函数体。值可以传递到函数，函数将返回值。</a:t>
            </a:r>
            <a:endParaRPr lang="en-US"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47675" y="688975"/>
            <a:ext cx="11311890" cy="2306955"/>
          </a:xfrm>
          <a:prstGeom prst="rect">
            <a:avLst/>
          </a:prstGeom>
          <a:noFill/>
          <a:ln w="9525">
            <a:noFill/>
          </a:ln>
        </p:spPr>
        <p:txBody>
          <a:bodyPr wrap="square">
            <a:spAutoFit/>
          </a:bodyPr>
          <a:p>
            <a:pPr marL="0" indent="449580" algn="just"/>
            <a:r>
              <a:rPr lang="en-US" sz="2400" b="0">
                <a:latin typeface="Times New Roman" panose="02020603050405020304" charset="0"/>
              </a:rPr>
              <a:t>В </a:t>
            </a:r>
            <a:r>
              <a:rPr lang="en-US" sz="2400" b="0" i="1">
                <a:latin typeface="Times New Roman" panose="02020603050405020304" charset="0"/>
              </a:rPr>
              <a:t>JavaScript</a:t>
            </a:r>
            <a:r>
              <a:rPr lang="en-US" sz="2400" b="0">
                <a:latin typeface="Times New Roman" panose="02020603050405020304" charset="0"/>
              </a:rPr>
              <a:t> функции являются объектами первого класса, то есть: они являются объектами и с ними можно взаимодействовать и передавать их точно так же, как любой другой объект.</a:t>
            </a:r>
            <a:endParaRPr lang="en-US" sz="2400" b="0">
              <a:latin typeface="Times New Roman" panose="02020603050405020304" charset="0"/>
            </a:endParaRPr>
          </a:p>
          <a:p>
            <a:pPr marL="0" indent="449580" algn="just"/>
            <a:endParaRPr lang="en-US" sz="2400" b="0">
              <a:latin typeface="Times New Roman" panose="02020603050405020304" charset="0"/>
            </a:endParaRPr>
          </a:p>
          <a:p>
            <a:pPr marL="0" indent="449580" algn="just"/>
            <a:r>
              <a:rPr lang="en-US" sz="2400"/>
              <a:t>在JavaScript中，函数是第一类对象，也就是说，它们是对象，可以像任何其他对象一样与它们交互和传递。</a:t>
            </a:r>
            <a:endParaRPr 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49250" y="955675"/>
            <a:ext cx="11337290" cy="1322070"/>
          </a:xfrm>
          <a:prstGeom prst="rect">
            <a:avLst/>
          </a:prstGeom>
        </p:spPr>
        <p:txBody>
          <a:bodyPr wrap="square">
            <a:spAutoFit/>
          </a:bodyPr>
          <a:p>
            <a:pPr indent="457200"/>
            <a:r>
              <a:rPr sz="2000"/>
              <a:t>Функция — это блок кода, который выполняет определенные действия и может вызываться многократно. Она может принимать параметры (входные данные) и возвращать значение. Функции в JavaScript помогают структурировать код, повторно использовать логику и улучшить читаемость программы.</a:t>
            </a:r>
            <a:endParaRPr sz="2000"/>
          </a:p>
        </p:txBody>
      </p:sp>
      <p:sp>
        <p:nvSpPr>
          <p:cNvPr id="5" name="Text Box 4"/>
          <p:cNvSpPr txBox="1"/>
          <p:nvPr/>
        </p:nvSpPr>
        <p:spPr>
          <a:xfrm>
            <a:off x="349250" y="3020695"/>
            <a:ext cx="11337290" cy="1383665"/>
          </a:xfrm>
          <a:prstGeom prst="rect">
            <a:avLst/>
          </a:prstGeom>
        </p:spPr>
        <p:txBody>
          <a:bodyPr wrap="square">
            <a:spAutoFit/>
          </a:bodyPr>
          <a:p>
            <a:r>
              <a:rPr sz="2800"/>
              <a:t>函数是执行特定任务的代码块，可以多次调用。函数可以接收参数（输入数据）并返回一个值。在JavaScript中，函数可以帮助我们更好地结构化代码、重复利用逻辑，并提高程序的可读性。</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16890" y="539115"/>
            <a:ext cx="5080000" cy="1938020"/>
          </a:xfrm>
          <a:prstGeom prst="rect">
            <a:avLst/>
          </a:prstGeom>
        </p:spPr>
        <p:txBody>
          <a:bodyPr>
            <a:spAutoFit/>
          </a:bodyPr>
          <a:p>
            <a:r>
              <a:rPr sz="2000"/>
              <a:t>Функциональное выражение — это способ создания функции, который позволяет ей быть присвоенной переменной. Функции могут быть именованными или анонимными (безымянными). Например:</a:t>
            </a:r>
            <a:endParaRPr sz="2000"/>
          </a:p>
        </p:txBody>
      </p:sp>
      <p:sp>
        <p:nvSpPr>
          <p:cNvPr id="3" name="Text Box 2"/>
          <p:cNvSpPr txBox="1"/>
          <p:nvPr/>
        </p:nvSpPr>
        <p:spPr>
          <a:xfrm>
            <a:off x="6159500" y="539432"/>
            <a:ext cx="5080000" cy="1568450"/>
          </a:xfrm>
          <a:prstGeom prst="rect">
            <a:avLst/>
          </a:prstGeom>
        </p:spPr>
        <p:txBody>
          <a:bodyPr>
            <a:spAutoFit/>
          </a:bodyPr>
          <a:p>
            <a:r>
              <a:rPr sz="2400"/>
              <a:t>函数表达式是一种创建函数的方式，可以将函数赋值给变量。函数可以是命名函数或</a:t>
            </a:r>
            <a:r>
              <a:rPr sz="2400"/>
              <a:t>匿名函数（没有名称）。例如：</a:t>
            </a:r>
            <a:endParaRPr sz="2400"/>
          </a:p>
        </p:txBody>
      </p:sp>
      <p:sp>
        <p:nvSpPr>
          <p:cNvPr id="5" name="Text Box 4"/>
          <p:cNvSpPr txBox="1"/>
          <p:nvPr/>
        </p:nvSpPr>
        <p:spPr>
          <a:xfrm>
            <a:off x="3556000" y="3638232"/>
            <a:ext cx="5080000" cy="1938020"/>
          </a:xfrm>
          <a:prstGeom prst="rect">
            <a:avLst/>
          </a:prstGeom>
        </p:spPr>
        <p:txBody>
          <a:bodyPr>
            <a:spAutoFit/>
          </a:bodyPr>
          <a:p>
            <a:pPr marL="0" indent="0" algn="l" defTabSz="266700">
              <a:spcAft>
                <a:spcPct val="0"/>
              </a:spcAft>
            </a:pPr>
            <a:r>
              <a:rPr sz="2400" b="1">
                <a:solidFill>
                  <a:srgbClr val="000080"/>
                </a:solidFill>
                <a:latin typeface="monospace"/>
                <a:ea typeface="monospace"/>
              </a:rPr>
              <a:t>const </a:t>
            </a:r>
            <a:r>
              <a:rPr sz="2400">
                <a:solidFill>
                  <a:srgbClr val="000000"/>
                </a:solidFill>
                <a:latin typeface="monospace"/>
                <a:ea typeface="monospace"/>
              </a:rPr>
              <a:t>square = </a:t>
            </a:r>
            <a:r>
              <a:rPr sz="2400" b="1">
                <a:solidFill>
                  <a:srgbClr val="000080"/>
                </a:solidFill>
                <a:latin typeface="monospace"/>
                <a:ea typeface="monospace"/>
              </a:rPr>
              <a:t>function</a:t>
            </a:r>
            <a:r>
              <a:rPr sz="2400">
                <a:solidFill>
                  <a:srgbClr val="000000"/>
                </a:solidFill>
                <a:latin typeface="monospace"/>
                <a:ea typeface="monospace"/>
              </a:rPr>
              <a:t>(x) {</a:t>
            </a:r>
            <a:endParaRPr sz="2400">
              <a:solidFill>
                <a:srgbClr val="000000"/>
              </a:solidFill>
              <a:latin typeface="monospace"/>
              <a:ea typeface="monospace"/>
            </a:endParaRPr>
          </a:p>
          <a:p>
            <a:pPr marL="0" indent="0" algn="l" defTabSz="266700">
              <a:spcAft>
                <a:spcPct val="0"/>
              </a:spcAft>
            </a:pPr>
            <a:r>
              <a:rPr sz="2400">
                <a:solidFill>
                  <a:srgbClr val="000000"/>
                </a:solidFill>
                <a:latin typeface="monospace"/>
                <a:ea typeface="monospace"/>
              </a:rPr>
              <a:t>    </a:t>
            </a:r>
            <a:r>
              <a:rPr sz="2400" b="1">
                <a:solidFill>
                  <a:srgbClr val="000080"/>
                </a:solidFill>
                <a:latin typeface="monospace"/>
                <a:ea typeface="monospace"/>
              </a:rPr>
              <a:t>return </a:t>
            </a:r>
            <a:r>
              <a:rPr sz="2400">
                <a:solidFill>
                  <a:srgbClr val="000000"/>
                </a:solidFill>
                <a:latin typeface="monospace"/>
                <a:ea typeface="monospace"/>
              </a:rPr>
              <a:t>x * x;</a:t>
            </a:r>
            <a:endParaRPr sz="2400">
              <a:solidFill>
                <a:srgbClr val="000000"/>
              </a:solidFill>
              <a:latin typeface="monospace"/>
              <a:ea typeface="monospace"/>
            </a:endParaRPr>
          </a:p>
          <a:p>
            <a:pPr marL="0" indent="0" algn="l" defTabSz="266700">
              <a:spcAft>
                <a:spcPct val="0"/>
              </a:spcAft>
            </a:pPr>
            <a:r>
              <a:rPr sz="2400">
                <a:solidFill>
                  <a:srgbClr val="000000"/>
                </a:solidFill>
                <a:latin typeface="monospace"/>
                <a:ea typeface="monospace"/>
              </a:rPr>
              <a:t>};</a:t>
            </a:r>
            <a:endParaRPr sz="2400">
              <a:solidFill>
                <a:srgbClr val="000000"/>
              </a:solidFill>
              <a:latin typeface="monospace"/>
              <a:ea typeface="monospace"/>
            </a:endParaRPr>
          </a:p>
          <a:p>
            <a:pPr marL="0" indent="0" algn="l" defTabSz="266700">
              <a:spcAft>
                <a:spcPct val="0"/>
              </a:spcAft>
            </a:pPr>
            <a:r>
              <a:rPr sz="2400" b="1" i="1">
                <a:solidFill>
                  <a:srgbClr val="660E7A"/>
                </a:solidFill>
                <a:latin typeface="monospace"/>
                <a:ea typeface="monospace"/>
              </a:rPr>
              <a:t>console</a:t>
            </a:r>
            <a:r>
              <a:rPr sz="2400">
                <a:solidFill>
                  <a:srgbClr val="000000"/>
                </a:solidFill>
                <a:latin typeface="monospace"/>
                <a:ea typeface="monospace"/>
              </a:rPr>
              <a:t>.</a:t>
            </a:r>
            <a:r>
              <a:rPr sz="2400">
                <a:solidFill>
                  <a:srgbClr val="914C07"/>
                </a:solidFill>
                <a:latin typeface="monospace"/>
                <a:ea typeface="monospace"/>
              </a:rPr>
              <a:t>log</a:t>
            </a:r>
            <a:r>
              <a:rPr sz="2400">
                <a:solidFill>
                  <a:srgbClr val="000000"/>
                </a:solidFill>
                <a:latin typeface="monospace"/>
                <a:ea typeface="monospace"/>
              </a:rPr>
              <a:t>(square(</a:t>
            </a:r>
            <a:r>
              <a:rPr sz="2400">
                <a:solidFill>
                  <a:srgbClr val="0000FF"/>
                </a:solidFill>
                <a:latin typeface="monospace"/>
                <a:ea typeface="monospace"/>
              </a:rPr>
              <a:t>5</a:t>
            </a:r>
            <a:r>
              <a:rPr sz="2400">
                <a:solidFill>
                  <a:srgbClr val="000000"/>
                </a:solidFill>
                <a:latin typeface="monospace"/>
                <a:ea typeface="monospace"/>
              </a:rPr>
              <a:t>)); </a:t>
            </a:r>
            <a:r>
              <a:rPr sz="2400" i="1">
                <a:solidFill>
                  <a:srgbClr val="808080"/>
                </a:solidFill>
                <a:latin typeface="monospace"/>
                <a:ea typeface="monospace"/>
              </a:rPr>
              <a:t>// 25</a:t>
            </a:r>
            <a:endParaRPr sz="2400" i="1">
              <a:solidFill>
                <a:srgbClr val="808080"/>
              </a:solidFill>
              <a:latin typeface="monospace"/>
              <a:ea typeface="monospace"/>
            </a:endParaRPr>
          </a:p>
          <a:p>
            <a:pPr marL="0" indent="0" defTabSz="266700">
              <a:spcAft>
                <a:spcPct val="0"/>
              </a:spcAft>
            </a:pPr>
            <a:r>
              <a:rPr sz="2400">
                <a:latin typeface="Calibri" panose="020F0502020204030204"/>
                <a:ea typeface="SimSun"/>
              </a:rPr>
              <a:t> </a:t>
            </a:r>
            <a:endParaRPr sz="2400">
              <a:latin typeface="Calibri" panose="020F0502020204030204"/>
              <a:ea typeface="SimSu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99135" y="581343"/>
            <a:ext cx="5080000" cy="2306955"/>
          </a:xfrm>
          <a:prstGeom prst="rect">
            <a:avLst/>
          </a:prstGeom>
        </p:spPr>
        <p:txBody>
          <a:bodyPr>
            <a:spAutoFit/>
          </a:bodyPr>
          <a:p>
            <a:r>
              <a:rPr sz="2400"/>
              <a:t>Это стандартный способ объявления функции, когда она определена с использованием ключевого слова function и доступна в любом месте её области видимости:</a:t>
            </a:r>
            <a:endParaRPr sz="2400"/>
          </a:p>
        </p:txBody>
      </p:sp>
      <p:sp>
        <p:nvSpPr>
          <p:cNvPr id="5" name="Text Box 4"/>
          <p:cNvSpPr txBox="1"/>
          <p:nvPr/>
        </p:nvSpPr>
        <p:spPr>
          <a:xfrm>
            <a:off x="6118860" y="581977"/>
            <a:ext cx="5080000" cy="1198880"/>
          </a:xfrm>
          <a:prstGeom prst="rect">
            <a:avLst/>
          </a:prstGeom>
        </p:spPr>
        <p:txBody>
          <a:bodyPr>
            <a:spAutoFit/>
          </a:bodyPr>
          <a:p>
            <a:r>
              <a:rPr sz="2400"/>
              <a:t>这是声明函数的标准方式，函数使用关键字 function 声明，并且在定义范围内的任何地方都可以使用：</a:t>
            </a:r>
            <a:endParaRPr sz="2400"/>
          </a:p>
        </p:txBody>
      </p:sp>
      <p:sp>
        <p:nvSpPr>
          <p:cNvPr id="9" name="Text Box 8"/>
          <p:cNvSpPr txBox="1"/>
          <p:nvPr/>
        </p:nvSpPr>
        <p:spPr>
          <a:xfrm>
            <a:off x="3627120" y="3598227"/>
            <a:ext cx="5080000" cy="1938020"/>
          </a:xfrm>
          <a:prstGeom prst="rect">
            <a:avLst/>
          </a:prstGeom>
        </p:spPr>
        <p:txBody>
          <a:bodyPr>
            <a:spAutoFit/>
          </a:bodyPr>
          <a:p>
            <a:pPr marL="0" indent="0" algn="l" defTabSz="266700">
              <a:spcAft>
                <a:spcPct val="0"/>
              </a:spcAft>
            </a:pPr>
            <a:r>
              <a:rPr sz="2400" b="1">
                <a:solidFill>
                  <a:srgbClr val="000080"/>
                </a:solidFill>
                <a:latin typeface="monospace"/>
                <a:ea typeface="monospace"/>
              </a:rPr>
              <a:t>function </a:t>
            </a:r>
            <a:r>
              <a:rPr sz="2400">
                <a:solidFill>
                  <a:srgbClr val="000000"/>
                </a:solidFill>
                <a:latin typeface="monospace"/>
                <a:ea typeface="monospace"/>
              </a:rPr>
              <a:t>square(x) {</a:t>
            </a:r>
            <a:endParaRPr sz="2400">
              <a:solidFill>
                <a:srgbClr val="000000"/>
              </a:solidFill>
              <a:latin typeface="monospace"/>
              <a:ea typeface="monospace"/>
            </a:endParaRPr>
          </a:p>
          <a:p>
            <a:pPr marL="0" indent="0" algn="l" defTabSz="266700">
              <a:spcAft>
                <a:spcPct val="0"/>
              </a:spcAft>
            </a:pPr>
            <a:r>
              <a:rPr sz="2400">
                <a:solidFill>
                  <a:srgbClr val="000000"/>
                </a:solidFill>
                <a:latin typeface="monospace"/>
                <a:ea typeface="monospace"/>
              </a:rPr>
              <a:t>    </a:t>
            </a:r>
            <a:r>
              <a:rPr sz="2400" b="1">
                <a:solidFill>
                  <a:srgbClr val="000080"/>
                </a:solidFill>
                <a:latin typeface="monospace"/>
                <a:ea typeface="monospace"/>
              </a:rPr>
              <a:t>return </a:t>
            </a:r>
            <a:r>
              <a:rPr sz="2400">
                <a:solidFill>
                  <a:srgbClr val="000000"/>
                </a:solidFill>
                <a:latin typeface="monospace"/>
                <a:ea typeface="monospace"/>
              </a:rPr>
              <a:t>x * x;</a:t>
            </a:r>
            <a:endParaRPr sz="2400">
              <a:solidFill>
                <a:srgbClr val="000000"/>
              </a:solidFill>
              <a:latin typeface="monospace"/>
              <a:ea typeface="monospace"/>
            </a:endParaRPr>
          </a:p>
          <a:p>
            <a:pPr marL="0" indent="0" algn="l" defTabSz="266700">
              <a:spcAft>
                <a:spcPct val="0"/>
              </a:spcAft>
            </a:pPr>
            <a:r>
              <a:rPr sz="2400">
                <a:solidFill>
                  <a:srgbClr val="000000"/>
                </a:solidFill>
                <a:latin typeface="monospace"/>
                <a:ea typeface="monospace"/>
              </a:rPr>
              <a:t>}</a:t>
            </a:r>
            <a:endParaRPr sz="2400">
              <a:solidFill>
                <a:srgbClr val="000000"/>
              </a:solidFill>
              <a:latin typeface="monospace"/>
              <a:ea typeface="monospace"/>
            </a:endParaRPr>
          </a:p>
          <a:p>
            <a:pPr marL="0" indent="0" algn="l" defTabSz="266700">
              <a:spcAft>
                <a:spcPct val="0"/>
              </a:spcAft>
            </a:pPr>
            <a:r>
              <a:rPr sz="2400" b="1" i="1">
                <a:solidFill>
                  <a:srgbClr val="660E7A"/>
                </a:solidFill>
                <a:latin typeface="monospace"/>
                <a:ea typeface="monospace"/>
              </a:rPr>
              <a:t>console</a:t>
            </a:r>
            <a:r>
              <a:rPr sz="2400">
                <a:solidFill>
                  <a:srgbClr val="000000"/>
                </a:solidFill>
                <a:latin typeface="monospace"/>
                <a:ea typeface="monospace"/>
              </a:rPr>
              <a:t>.</a:t>
            </a:r>
            <a:r>
              <a:rPr sz="2400">
                <a:solidFill>
                  <a:srgbClr val="914C07"/>
                </a:solidFill>
                <a:latin typeface="monospace"/>
                <a:ea typeface="monospace"/>
              </a:rPr>
              <a:t>log</a:t>
            </a:r>
            <a:r>
              <a:rPr sz="2400">
                <a:solidFill>
                  <a:srgbClr val="000000"/>
                </a:solidFill>
                <a:latin typeface="monospace"/>
                <a:ea typeface="monospace"/>
              </a:rPr>
              <a:t>(square(</a:t>
            </a:r>
            <a:r>
              <a:rPr sz="2400">
                <a:solidFill>
                  <a:srgbClr val="0000FF"/>
                </a:solidFill>
                <a:latin typeface="monospace"/>
                <a:ea typeface="monospace"/>
              </a:rPr>
              <a:t>5</a:t>
            </a:r>
            <a:r>
              <a:rPr sz="2400">
                <a:solidFill>
                  <a:srgbClr val="000000"/>
                </a:solidFill>
                <a:latin typeface="monospace"/>
                <a:ea typeface="monospace"/>
              </a:rPr>
              <a:t>)); </a:t>
            </a:r>
            <a:r>
              <a:rPr sz="2400" i="1">
                <a:solidFill>
                  <a:srgbClr val="808080"/>
                </a:solidFill>
                <a:latin typeface="monospace"/>
                <a:ea typeface="monospace"/>
              </a:rPr>
              <a:t>// 25</a:t>
            </a:r>
            <a:endParaRPr sz="2400" i="1">
              <a:solidFill>
                <a:srgbClr val="808080"/>
              </a:solidFill>
              <a:latin typeface="monospace"/>
              <a:ea typeface="monospace"/>
            </a:endParaRPr>
          </a:p>
          <a:p>
            <a:pPr marL="0" indent="0" defTabSz="266700">
              <a:spcAft>
                <a:spcPct val="0"/>
              </a:spcAft>
            </a:pPr>
            <a:r>
              <a:rPr sz="2400">
                <a:latin typeface="Calibri" panose="020F0502020204030204"/>
                <a:ea typeface="SimSun"/>
              </a:rPr>
              <a:t> </a:t>
            </a:r>
            <a:endParaRPr sz="2400">
              <a:latin typeface="Calibri" panose="020F0502020204030204"/>
              <a:ea typeface="SimSu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48970" y="573087"/>
            <a:ext cx="5080000" cy="1938020"/>
          </a:xfrm>
          <a:prstGeom prst="rect">
            <a:avLst/>
          </a:prstGeom>
        </p:spPr>
        <p:txBody>
          <a:bodyPr>
            <a:spAutoFit/>
          </a:bodyPr>
          <a:p>
            <a:r>
              <a:rPr sz="2400"/>
              <a:t>Стрелочные функции — это современный синтаксис для определения функций, они короче и не создают собственного контекста this:</a:t>
            </a:r>
            <a:endParaRPr sz="2400"/>
          </a:p>
        </p:txBody>
      </p:sp>
      <p:sp>
        <p:nvSpPr>
          <p:cNvPr id="5" name="Text Box 4"/>
          <p:cNvSpPr txBox="1"/>
          <p:nvPr/>
        </p:nvSpPr>
        <p:spPr>
          <a:xfrm>
            <a:off x="6200140" y="573087"/>
            <a:ext cx="5080000" cy="2061210"/>
          </a:xfrm>
          <a:prstGeom prst="rect">
            <a:avLst/>
          </a:prstGeom>
        </p:spPr>
        <p:txBody>
          <a:bodyPr>
            <a:spAutoFit/>
          </a:bodyPr>
          <a:p>
            <a:r>
              <a:rPr sz="3200"/>
              <a:t>箭头函数是一种现代的函数定义语法，书写更简洁，而且不会创建自己的 this 上下文：</a:t>
            </a:r>
            <a:endParaRPr sz="3200"/>
          </a:p>
        </p:txBody>
      </p:sp>
      <p:sp>
        <p:nvSpPr>
          <p:cNvPr id="6" name="Text Box 5"/>
          <p:cNvSpPr txBox="1"/>
          <p:nvPr/>
        </p:nvSpPr>
        <p:spPr>
          <a:xfrm>
            <a:off x="2533015" y="3617595"/>
            <a:ext cx="6863080" cy="1383665"/>
          </a:xfrm>
          <a:prstGeom prst="rect">
            <a:avLst/>
          </a:prstGeom>
        </p:spPr>
        <p:txBody>
          <a:bodyPr wrap="square">
            <a:spAutoFit/>
          </a:bodyPr>
          <a:p>
            <a:pPr marL="0" indent="0" algn="l" defTabSz="266700">
              <a:spcAft>
                <a:spcPct val="0"/>
              </a:spcAft>
            </a:pPr>
            <a:r>
              <a:rPr sz="2800" b="1">
                <a:solidFill>
                  <a:srgbClr val="000080"/>
                </a:solidFill>
                <a:latin typeface="monospace"/>
                <a:ea typeface="monospace"/>
              </a:rPr>
              <a:t>const </a:t>
            </a:r>
            <a:r>
              <a:rPr sz="2800">
                <a:solidFill>
                  <a:srgbClr val="000000"/>
                </a:solidFill>
                <a:latin typeface="monospace"/>
                <a:ea typeface="monospace"/>
              </a:rPr>
              <a:t>square = (x) =&gt; x * x;</a:t>
            </a:r>
            <a:endParaRPr sz="2800">
              <a:solidFill>
                <a:srgbClr val="000000"/>
              </a:solidFill>
              <a:latin typeface="monospace"/>
              <a:ea typeface="monospace"/>
            </a:endParaRPr>
          </a:p>
          <a:p>
            <a:pPr marL="0" indent="0" algn="l" defTabSz="266700">
              <a:spcAft>
                <a:spcPct val="0"/>
              </a:spcAft>
            </a:pPr>
            <a:r>
              <a:rPr sz="2800" b="1" i="1">
                <a:solidFill>
                  <a:srgbClr val="660E7A"/>
                </a:solidFill>
                <a:latin typeface="monospace"/>
                <a:ea typeface="monospace"/>
              </a:rPr>
              <a:t>console</a:t>
            </a:r>
            <a:r>
              <a:rPr sz="2800">
                <a:solidFill>
                  <a:srgbClr val="000000"/>
                </a:solidFill>
                <a:latin typeface="monospace"/>
                <a:ea typeface="monospace"/>
              </a:rPr>
              <a:t>.</a:t>
            </a:r>
            <a:r>
              <a:rPr sz="2800">
                <a:solidFill>
                  <a:srgbClr val="914C07"/>
                </a:solidFill>
                <a:latin typeface="monospace"/>
                <a:ea typeface="monospace"/>
              </a:rPr>
              <a:t>log</a:t>
            </a:r>
            <a:r>
              <a:rPr sz="2800">
                <a:solidFill>
                  <a:srgbClr val="000000"/>
                </a:solidFill>
                <a:latin typeface="monospace"/>
                <a:ea typeface="monospace"/>
              </a:rPr>
              <a:t>(square(</a:t>
            </a:r>
            <a:r>
              <a:rPr sz="2800">
                <a:solidFill>
                  <a:srgbClr val="0000FF"/>
                </a:solidFill>
                <a:latin typeface="monospace"/>
                <a:ea typeface="monospace"/>
              </a:rPr>
              <a:t>5</a:t>
            </a:r>
            <a:r>
              <a:rPr sz="2800">
                <a:solidFill>
                  <a:srgbClr val="000000"/>
                </a:solidFill>
                <a:latin typeface="monospace"/>
                <a:ea typeface="monospace"/>
              </a:rPr>
              <a:t>)); </a:t>
            </a:r>
            <a:r>
              <a:rPr sz="2800" i="1">
                <a:solidFill>
                  <a:srgbClr val="808080"/>
                </a:solidFill>
                <a:latin typeface="monospace"/>
                <a:ea typeface="monospace"/>
              </a:rPr>
              <a:t>// 25</a:t>
            </a:r>
            <a:endParaRPr sz="2800" i="1">
              <a:solidFill>
                <a:srgbClr val="808080"/>
              </a:solidFill>
              <a:latin typeface="monospace"/>
              <a:ea typeface="monospace"/>
            </a:endParaRPr>
          </a:p>
          <a:p>
            <a:pPr marL="0" indent="0" defTabSz="266700">
              <a:spcAft>
                <a:spcPct val="0"/>
              </a:spcAft>
            </a:pPr>
            <a:r>
              <a:rPr sz="2800">
                <a:latin typeface="Calibri" panose="020F0502020204030204"/>
                <a:ea typeface="SimSun"/>
              </a:rPr>
              <a:t> </a:t>
            </a:r>
            <a:endParaRPr sz="2800">
              <a:latin typeface="Calibri" panose="020F0502020204030204"/>
              <a:ea typeface="SimSu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78815" y="512127"/>
            <a:ext cx="5080000" cy="1938020"/>
          </a:xfrm>
          <a:prstGeom prst="rect">
            <a:avLst/>
          </a:prstGeom>
        </p:spPr>
        <p:txBody>
          <a:bodyPr>
            <a:spAutoFit/>
          </a:bodyPr>
          <a:p>
            <a:r>
              <a:rPr sz="2400"/>
              <a:t>Функции могут принимать параметры, которые задаются в скобках при объявлении. Параметры могут иметь значения по умолчанию:</a:t>
            </a:r>
            <a:endParaRPr sz="2400"/>
          </a:p>
        </p:txBody>
      </p:sp>
      <p:sp>
        <p:nvSpPr>
          <p:cNvPr id="5" name="Text Box 4"/>
          <p:cNvSpPr txBox="1"/>
          <p:nvPr/>
        </p:nvSpPr>
        <p:spPr>
          <a:xfrm>
            <a:off x="6341745" y="512127"/>
            <a:ext cx="5080000" cy="1568450"/>
          </a:xfrm>
          <a:prstGeom prst="rect">
            <a:avLst/>
          </a:prstGeom>
        </p:spPr>
        <p:txBody>
          <a:bodyPr>
            <a:spAutoFit/>
          </a:bodyPr>
          <a:p>
            <a:r>
              <a:rPr sz="3200"/>
              <a:t>函数可以接受参数，参数在声明时指定，并且可以设置默认值：</a:t>
            </a:r>
            <a:endParaRPr sz="3200"/>
          </a:p>
        </p:txBody>
      </p:sp>
      <p:sp>
        <p:nvSpPr>
          <p:cNvPr id="6" name="Text Box 5"/>
          <p:cNvSpPr txBox="1"/>
          <p:nvPr/>
        </p:nvSpPr>
        <p:spPr>
          <a:xfrm>
            <a:off x="2623820" y="3084830"/>
            <a:ext cx="7156450" cy="2245360"/>
          </a:xfrm>
          <a:prstGeom prst="rect">
            <a:avLst/>
          </a:prstGeom>
        </p:spPr>
        <p:txBody>
          <a:bodyPr wrap="square">
            <a:spAutoFit/>
          </a:bodyPr>
          <a:p>
            <a:pPr marL="0" indent="0" algn="l" defTabSz="266700">
              <a:spcAft>
                <a:spcPct val="0"/>
              </a:spcAft>
            </a:pPr>
            <a:r>
              <a:rPr sz="2800" b="1">
                <a:solidFill>
                  <a:srgbClr val="000080"/>
                </a:solidFill>
                <a:latin typeface="monospace"/>
                <a:ea typeface="monospace"/>
              </a:rPr>
              <a:t>function </a:t>
            </a:r>
            <a:r>
              <a:rPr sz="2800">
                <a:solidFill>
                  <a:srgbClr val="000000"/>
                </a:solidFill>
                <a:latin typeface="monospace"/>
                <a:ea typeface="monospace"/>
              </a:rPr>
              <a:t>greet(name = </a:t>
            </a:r>
            <a:r>
              <a:rPr sz="2800" b="1">
                <a:solidFill>
                  <a:srgbClr val="008000"/>
                </a:solidFill>
                <a:latin typeface="monospace"/>
                <a:ea typeface="monospace"/>
              </a:rPr>
              <a:t>"Guest"</a:t>
            </a:r>
            <a:r>
              <a:rPr sz="2800">
                <a:solidFill>
                  <a:srgbClr val="000000"/>
                </a:solidFill>
                <a:latin typeface="monospace"/>
                <a:ea typeface="monospace"/>
              </a:rPr>
              <a:t>) {</a:t>
            </a:r>
            <a:endParaRPr sz="2800">
              <a:solidFill>
                <a:srgbClr val="000000"/>
              </a:solidFill>
              <a:latin typeface="monospace"/>
              <a:ea typeface="monospace"/>
            </a:endParaRPr>
          </a:p>
          <a:p>
            <a:pPr marL="0" indent="0" algn="l" defTabSz="266700">
              <a:spcAft>
                <a:spcPct val="0"/>
              </a:spcAft>
            </a:pPr>
            <a:r>
              <a:rPr sz="2800">
                <a:solidFill>
                  <a:srgbClr val="000000"/>
                </a:solidFill>
                <a:latin typeface="monospace"/>
                <a:ea typeface="monospace"/>
              </a:rPr>
              <a:t>    </a:t>
            </a:r>
            <a:r>
              <a:rPr sz="2800" b="1" i="1">
                <a:solidFill>
                  <a:srgbClr val="660E7A"/>
                </a:solidFill>
                <a:latin typeface="monospace"/>
                <a:ea typeface="monospace"/>
              </a:rPr>
              <a:t>console</a:t>
            </a:r>
            <a:r>
              <a:rPr sz="2800">
                <a:solidFill>
                  <a:srgbClr val="000000"/>
                </a:solidFill>
                <a:latin typeface="monospace"/>
                <a:ea typeface="monospace"/>
              </a:rPr>
              <a:t>.</a:t>
            </a:r>
            <a:r>
              <a:rPr sz="2800">
                <a:solidFill>
                  <a:srgbClr val="914C07"/>
                </a:solidFill>
                <a:latin typeface="monospace"/>
                <a:ea typeface="monospace"/>
              </a:rPr>
              <a:t>log</a:t>
            </a:r>
            <a:r>
              <a:rPr sz="2800">
                <a:solidFill>
                  <a:srgbClr val="000000"/>
                </a:solidFill>
                <a:latin typeface="monospace"/>
                <a:ea typeface="monospace"/>
              </a:rPr>
              <a:t>(</a:t>
            </a:r>
            <a:r>
              <a:rPr sz="2800" b="1">
                <a:solidFill>
                  <a:srgbClr val="008000"/>
                </a:solidFill>
                <a:latin typeface="monospace"/>
                <a:ea typeface="monospace"/>
              </a:rPr>
              <a:t>"Hello, " </a:t>
            </a:r>
            <a:r>
              <a:rPr sz="2800">
                <a:solidFill>
                  <a:srgbClr val="000000"/>
                </a:solidFill>
                <a:latin typeface="monospace"/>
                <a:ea typeface="monospace"/>
              </a:rPr>
              <a:t>+ name);</a:t>
            </a:r>
            <a:endParaRPr sz="2800">
              <a:solidFill>
                <a:srgbClr val="000000"/>
              </a:solidFill>
              <a:latin typeface="monospace"/>
              <a:ea typeface="monospace"/>
            </a:endParaRPr>
          </a:p>
          <a:p>
            <a:pPr marL="0" indent="0" algn="l" defTabSz="266700">
              <a:spcAft>
                <a:spcPct val="0"/>
              </a:spcAft>
            </a:pPr>
            <a:r>
              <a:rPr sz="2800">
                <a:solidFill>
                  <a:srgbClr val="000000"/>
                </a:solidFill>
                <a:latin typeface="monospace"/>
                <a:ea typeface="monospace"/>
              </a:rPr>
              <a:t>}</a:t>
            </a:r>
            <a:endParaRPr sz="2800">
              <a:solidFill>
                <a:srgbClr val="000000"/>
              </a:solidFill>
              <a:latin typeface="monospace"/>
              <a:ea typeface="monospace"/>
            </a:endParaRPr>
          </a:p>
          <a:p>
            <a:pPr marL="0" indent="0" algn="l" defTabSz="266700">
              <a:spcAft>
                <a:spcPct val="0"/>
              </a:spcAft>
            </a:pPr>
            <a:r>
              <a:rPr sz="2800">
                <a:solidFill>
                  <a:srgbClr val="000000"/>
                </a:solidFill>
                <a:latin typeface="monospace"/>
                <a:ea typeface="monospace"/>
              </a:rPr>
              <a:t>greet(); </a:t>
            </a:r>
            <a:r>
              <a:rPr sz="2800" i="1">
                <a:solidFill>
                  <a:srgbClr val="808080"/>
                </a:solidFill>
                <a:latin typeface="monospace"/>
                <a:ea typeface="monospace"/>
              </a:rPr>
              <a:t>// Hello, Guest</a:t>
            </a:r>
            <a:endParaRPr sz="2800" i="1">
              <a:solidFill>
                <a:srgbClr val="808080"/>
              </a:solidFill>
              <a:latin typeface="monospace"/>
              <a:ea typeface="monospace"/>
            </a:endParaRPr>
          </a:p>
          <a:p>
            <a:pPr marL="0" indent="0" defTabSz="266700">
              <a:spcAft>
                <a:spcPct val="0"/>
              </a:spcAft>
            </a:pPr>
            <a:r>
              <a:rPr sz="2800">
                <a:latin typeface="Calibri" panose="020F0502020204030204"/>
                <a:ea typeface="SimSun"/>
              </a:rPr>
              <a:t> </a:t>
            </a:r>
            <a:endParaRPr sz="2800">
              <a:latin typeface="Calibri" panose="020F0502020204030204"/>
              <a:ea typeface="SimSu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81380" y="795972"/>
            <a:ext cx="5080000" cy="1014730"/>
          </a:xfrm>
          <a:prstGeom prst="rect">
            <a:avLst/>
          </a:prstGeom>
        </p:spPr>
        <p:txBody>
          <a:bodyPr>
            <a:spAutoFit/>
          </a:bodyPr>
          <a:p>
            <a:r>
              <a:rPr sz="2000"/>
              <a:t>Функция может возвращать значение с помощью return. Если return отсутствует, возвращается undefined:</a:t>
            </a:r>
            <a:endParaRPr sz="2000"/>
          </a:p>
        </p:txBody>
      </p:sp>
      <p:sp>
        <p:nvSpPr>
          <p:cNvPr id="3" name="Text Box 2"/>
          <p:cNvSpPr txBox="1"/>
          <p:nvPr/>
        </p:nvSpPr>
        <p:spPr>
          <a:xfrm>
            <a:off x="6392545" y="795972"/>
            <a:ext cx="5080000" cy="1198880"/>
          </a:xfrm>
          <a:prstGeom prst="rect">
            <a:avLst/>
          </a:prstGeom>
        </p:spPr>
        <p:txBody>
          <a:bodyPr>
            <a:spAutoFit/>
          </a:bodyPr>
          <a:p>
            <a:r>
              <a:rPr sz="2400"/>
              <a:t>函数可以使用 return 返回值。如果没有 return 语句，函数会返回 undefined：</a:t>
            </a:r>
            <a:endParaRPr sz="2400"/>
          </a:p>
        </p:txBody>
      </p:sp>
      <p:sp>
        <p:nvSpPr>
          <p:cNvPr id="5" name="Text Box 4"/>
          <p:cNvSpPr txBox="1"/>
          <p:nvPr/>
        </p:nvSpPr>
        <p:spPr>
          <a:xfrm>
            <a:off x="2816860" y="2803525"/>
            <a:ext cx="6558280" cy="2861310"/>
          </a:xfrm>
          <a:prstGeom prst="rect">
            <a:avLst/>
          </a:prstGeom>
        </p:spPr>
        <p:txBody>
          <a:bodyPr wrap="square">
            <a:spAutoFit/>
          </a:bodyPr>
          <a:p>
            <a:pPr marL="0" indent="0" algn="l" defTabSz="266700">
              <a:spcAft>
                <a:spcPts val="1200"/>
              </a:spcAft>
            </a:pPr>
            <a:r>
              <a:rPr sz="2800" b="1">
                <a:solidFill>
                  <a:srgbClr val="000080"/>
                </a:solidFill>
                <a:latin typeface="monospace"/>
                <a:ea typeface="monospace"/>
              </a:rPr>
              <a:t>function </a:t>
            </a:r>
            <a:r>
              <a:rPr sz="2800">
                <a:solidFill>
                  <a:srgbClr val="000000"/>
                </a:solidFill>
                <a:latin typeface="monospace"/>
                <a:ea typeface="monospace"/>
              </a:rPr>
              <a:t>add(a, b) {</a:t>
            </a:r>
            <a:endParaRPr sz="2800">
              <a:solidFill>
                <a:srgbClr val="000000"/>
              </a:solidFill>
              <a:latin typeface="monospace"/>
              <a:ea typeface="monospace"/>
            </a:endParaRPr>
          </a:p>
          <a:p>
            <a:pPr marL="0" indent="0" algn="l" defTabSz="266700">
              <a:spcAft>
                <a:spcPts val="1200"/>
              </a:spcAft>
            </a:pPr>
            <a:r>
              <a:rPr sz="2800">
                <a:solidFill>
                  <a:srgbClr val="000000"/>
                </a:solidFill>
                <a:latin typeface="monospace"/>
                <a:ea typeface="monospace"/>
              </a:rPr>
              <a:t>    </a:t>
            </a:r>
            <a:r>
              <a:rPr sz="2800" b="1">
                <a:solidFill>
                  <a:srgbClr val="000080"/>
                </a:solidFill>
                <a:latin typeface="monospace"/>
                <a:ea typeface="monospace"/>
              </a:rPr>
              <a:t>return </a:t>
            </a:r>
            <a:r>
              <a:rPr sz="2800">
                <a:solidFill>
                  <a:srgbClr val="000000"/>
                </a:solidFill>
                <a:latin typeface="monospace"/>
                <a:ea typeface="monospace"/>
              </a:rPr>
              <a:t>a + b;</a:t>
            </a:r>
            <a:endParaRPr sz="2800">
              <a:solidFill>
                <a:srgbClr val="000000"/>
              </a:solidFill>
              <a:latin typeface="monospace"/>
              <a:ea typeface="monospace"/>
            </a:endParaRPr>
          </a:p>
          <a:p>
            <a:pPr marL="0" indent="0" algn="l" defTabSz="266700">
              <a:spcAft>
                <a:spcPts val="1200"/>
              </a:spcAft>
            </a:pPr>
            <a:r>
              <a:rPr sz="2800">
                <a:solidFill>
                  <a:srgbClr val="000000"/>
                </a:solidFill>
                <a:latin typeface="monospace"/>
                <a:ea typeface="monospace"/>
              </a:rPr>
              <a:t>}</a:t>
            </a:r>
            <a:endParaRPr sz="2800">
              <a:solidFill>
                <a:srgbClr val="000000"/>
              </a:solidFill>
              <a:latin typeface="monospace"/>
              <a:ea typeface="monospace"/>
            </a:endParaRPr>
          </a:p>
          <a:p>
            <a:pPr marL="0" indent="0" algn="l" defTabSz="266700">
              <a:spcAft>
                <a:spcPts val="1200"/>
              </a:spcAft>
            </a:pPr>
            <a:r>
              <a:rPr sz="2800" b="1" i="1">
                <a:solidFill>
                  <a:srgbClr val="660E7A"/>
                </a:solidFill>
                <a:latin typeface="monospace"/>
                <a:ea typeface="monospace"/>
              </a:rPr>
              <a:t>console</a:t>
            </a:r>
            <a:r>
              <a:rPr sz="2800">
                <a:solidFill>
                  <a:srgbClr val="000000"/>
                </a:solidFill>
                <a:latin typeface="monospace"/>
                <a:ea typeface="monospace"/>
              </a:rPr>
              <a:t>.</a:t>
            </a:r>
            <a:r>
              <a:rPr sz="2800">
                <a:solidFill>
                  <a:srgbClr val="914C07"/>
                </a:solidFill>
                <a:latin typeface="monospace"/>
                <a:ea typeface="monospace"/>
              </a:rPr>
              <a:t>log</a:t>
            </a:r>
            <a:r>
              <a:rPr sz="2800">
                <a:solidFill>
                  <a:srgbClr val="000000"/>
                </a:solidFill>
                <a:latin typeface="monospace"/>
                <a:ea typeface="monospace"/>
              </a:rPr>
              <a:t>(add(</a:t>
            </a:r>
            <a:r>
              <a:rPr sz="2800">
                <a:solidFill>
                  <a:srgbClr val="0000FF"/>
                </a:solidFill>
                <a:latin typeface="monospace"/>
                <a:ea typeface="monospace"/>
              </a:rPr>
              <a:t>3</a:t>
            </a:r>
            <a:r>
              <a:rPr sz="2800">
                <a:solidFill>
                  <a:srgbClr val="000000"/>
                </a:solidFill>
                <a:latin typeface="monospace"/>
                <a:ea typeface="monospace"/>
              </a:rPr>
              <a:t>, </a:t>
            </a:r>
            <a:r>
              <a:rPr sz="2800">
                <a:solidFill>
                  <a:srgbClr val="0000FF"/>
                </a:solidFill>
                <a:latin typeface="monospace"/>
                <a:ea typeface="monospace"/>
              </a:rPr>
              <a:t>7</a:t>
            </a:r>
            <a:r>
              <a:rPr sz="2800">
                <a:solidFill>
                  <a:srgbClr val="000000"/>
                </a:solidFill>
                <a:latin typeface="monospace"/>
                <a:ea typeface="monospace"/>
              </a:rPr>
              <a:t>)); </a:t>
            </a:r>
            <a:r>
              <a:rPr sz="2800" i="1">
                <a:solidFill>
                  <a:srgbClr val="808080"/>
                </a:solidFill>
                <a:latin typeface="monospace"/>
                <a:ea typeface="monospace"/>
              </a:rPr>
              <a:t>// 10</a:t>
            </a:r>
            <a:endParaRPr sz="2800" i="1">
              <a:solidFill>
                <a:srgbClr val="808080"/>
              </a:solidFill>
              <a:latin typeface="monospace"/>
              <a:ea typeface="monospace"/>
            </a:endParaRPr>
          </a:p>
          <a:p>
            <a:pPr marL="0" indent="0" defTabSz="266700">
              <a:spcAft>
                <a:spcPct val="0"/>
              </a:spcAft>
            </a:pPr>
            <a:r>
              <a:rPr sz="2800">
                <a:latin typeface="Calibri" panose="020F0502020204030204"/>
                <a:ea typeface="SimSun"/>
              </a:rPr>
              <a:t> </a:t>
            </a:r>
            <a:endParaRPr sz="2800">
              <a:latin typeface="Calibri" panose="020F0502020204030204"/>
              <a:ea typeface="SimSu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56590" y="472123"/>
            <a:ext cx="5080000" cy="1938020"/>
          </a:xfrm>
          <a:prstGeom prst="rect">
            <a:avLst/>
          </a:prstGeom>
        </p:spPr>
        <p:txBody>
          <a:bodyPr>
            <a:spAutoFit/>
          </a:bodyPr>
          <a:p>
            <a:r>
              <a:rPr sz="2400"/>
              <a:t>Замыкание — это функция, которая «помнит» окружение, в котором она была создана. Это позволяет создавать функции с «приватными» данными:</a:t>
            </a:r>
            <a:endParaRPr sz="2400"/>
          </a:p>
        </p:txBody>
      </p:sp>
      <p:sp>
        <p:nvSpPr>
          <p:cNvPr id="3" name="Text Box 2"/>
          <p:cNvSpPr txBox="1"/>
          <p:nvPr/>
        </p:nvSpPr>
        <p:spPr>
          <a:xfrm>
            <a:off x="6022975" y="472757"/>
            <a:ext cx="5080000" cy="1198880"/>
          </a:xfrm>
          <a:prstGeom prst="rect">
            <a:avLst/>
          </a:prstGeom>
        </p:spPr>
        <p:txBody>
          <a:bodyPr>
            <a:spAutoFit/>
          </a:bodyPr>
          <a:p>
            <a:r>
              <a:rPr sz="2400"/>
              <a:t>闭包是“记住”它被创建时的环境的函数。这种特性可以创建带有“私有”数据的函数：</a:t>
            </a:r>
            <a:endParaRPr sz="2400"/>
          </a:p>
        </p:txBody>
      </p:sp>
      <p:sp>
        <p:nvSpPr>
          <p:cNvPr id="5" name="Text Box 4"/>
          <p:cNvSpPr txBox="1"/>
          <p:nvPr/>
        </p:nvSpPr>
        <p:spPr>
          <a:xfrm>
            <a:off x="3656965" y="2579688"/>
            <a:ext cx="5080000" cy="4492625"/>
          </a:xfrm>
          <a:prstGeom prst="rect">
            <a:avLst/>
          </a:prstGeom>
        </p:spPr>
        <p:txBody>
          <a:bodyPr>
            <a:spAutoFit/>
          </a:bodyPr>
          <a:p>
            <a:pPr marL="0" indent="0" algn="l" defTabSz="266700">
              <a:spcAft>
                <a:spcPts val="1200"/>
              </a:spcAft>
            </a:pPr>
            <a:r>
              <a:rPr sz="1700" b="1">
                <a:solidFill>
                  <a:srgbClr val="000080"/>
                </a:solidFill>
                <a:latin typeface="monospace"/>
                <a:ea typeface="monospace"/>
              </a:rPr>
              <a:t>function </a:t>
            </a:r>
            <a:r>
              <a:rPr sz="1700">
                <a:solidFill>
                  <a:srgbClr val="000000"/>
                </a:solidFill>
                <a:latin typeface="monospace"/>
                <a:ea typeface="monospace"/>
              </a:rPr>
              <a:t>makeCounter() {</a:t>
            </a:r>
            <a:endParaRPr sz="1700">
              <a:solidFill>
                <a:srgbClr val="000000"/>
              </a:solidFill>
              <a:latin typeface="monospace"/>
              <a:ea typeface="monospace"/>
            </a:endParaRPr>
          </a:p>
          <a:p>
            <a:pPr marL="0" indent="0" algn="l" defTabSz="266700">
              <a:spcAft>
                <a:spcPts val="1200"/>
              </a:spcAft>
            </a:pPr>
            <a:r>
              <a:rPr sz="1700">
                <a:solidFill>
                  <a:srgbClr val="000000"/>
                </a:solidFill>
                <a:latin typeface="monospace"/>
                <a:ea typeface="monospace"/>
              </a:rPr>
              <a:t>    </a:t>
            </a:r>
            <a:r>
              <a:rPr sz="1700" b="1">
                <a:solidFill>
                  <a:srgbClr val="000080"/>
                </a:solidFill>
                <a:latin typeface="monospace"/>
                <a:ea typeface="monospace"/>
              </a:rPr>
              <a:t>let </a:t>
            </a:r>
            <a:r>
              <a:rPr sz="1700">
                <a:solidFill>
                  <a:srgbClr val="458383"/>
                </a:solidFill>
                <a:latin typeface="monospace"/>
                <a:ea typeface="monospace"/>
              </a:rPr>
              <a:t>count </a:t>
            </a:r>
            <a:r>
              <a:rPr sz="1700">
                <a:solidFill>
                  <a:srgbClr val="000000"/>
                </a:solidFill>
                <a:latin typeface="monospace"/>
                <a:ea typeface="monospace"/>
              </a:rPr>
              <a:t>= </a:t>
            </a:r>
            <a:r>
              <a:rPr sz="1700">
                <a:solidFill>
                  <a:srgbClr val="0000FF"/>
                </a:solidFill>
                <a:latin typeface="monospace"/>
                <a:ea typeface="monospace"/>
              </a:rPr>
              <a:t>0</a:t>
            </a:r>
            <a:r>
              <a:rPr sz="1700">
                <a:solidFill>
                  <a:srgbClr val="000000"/>
                </a:solidFill>
                <a:latin typeface="monospace"/>
                <a:ea typeface="monospace"/>
              </a:rPr>
              <a:t>;</a:t>
            </a:r>
            <a:endParaRPr sz="1700">
              <a:solidFill>
                <a:srgbClr val="000000"/>
              </a:solidFill>
              <a:latin typeface="monospace"/>
              <a:ea typeface="monospace"/>
            </a:endParaRPr>
          </a:p>
          <a:p>
            <a:pPr marL="0" indent="0" algn="l" defTabSz="266700">
              <a:spcAft>
                <a:spcPts val="1200"/>
              </a:spcAft>
            </a:pPr>
            <a:r>
              <a:rPr sz="1700">
                <a:solidFill>
                  <a:srgbClr val="000000"/>
                </a:solidFill>
                <a:latin typeface="monospace"/>
                <a:ea typeface="monospace"/>
              </a:rPr>
              <a:t>    </a:t>
            </a:r>
            <a:r>
              <a:rPr sz="1700" b="1">
                <a:solidFill>
                  <a:srgbClr val="000080"/>
                </a:solidFill>
                <a:latin typeface="monospace"/>
                <a:ea typeface="monospace"/>
              </a:rPr>
              <a:t>return function</a:t>
            </a:r>
            <a:r>
              <a:rPr sz="1700">
                <a:solidFill>
                  <a:srgbClr val="000000"/>
                </a:solidFill>
                <a:latin typeface="monospace"/>
                <a:ea typeface="monospace"/>
              </a:rPr>
              <a:t>() {</a:t>
            </a:r>
            <a:endParaRPr sz="1700">
              <a:solidFill>
                <a:srgbClr val="000000"/>
              </a:solidFill>
              <a:latin typeface="monospace"/>
              <a:ea typeface="monospace"/>
            </a:endParaRPr>
          </a:p>
          <a:p>
            <a:pPr marL="0" indent="0" algn="l" defTabSz="266700">
              <a:spcAft>
                <a:spcPts val="1200"/>
              </a:spcAft>
            </a:pPr>
            <a:r>
              <a:rPr sz="1700">
                <a:solidFill>
                  <a:srgbClr val="000000"/>
                </a:solidFill>
                <a:latin typeface="monospace"/>
                <a:ea typeface="monospace"/>
              </a:rPr>
              <a:t>        </a:t>
            </a:r>
            <a:r>
              <a:rPr sz="1700">
                <a:solidFill>
                  <a:srgbClr val="458383"/>
                </a:solidFill>
                <a:latin typeface="monospace"/>
                <a:ea typeface="monospace"/>
              </a:rPr>
              <a:t>count </a:t>
            </a:r>
            <a:r>
              <a:rPr sz="1700">
                <a:solidFill>
                  <a:srgbClr val="000000"/>
                </a:solidFill>
                <a:latin typeface="monospace"/>
                <a:ea typeface="monospace"/>
              </a:rPr>
              <a:t>+= </a:t>
            </a:r>
            <a:r>
              <a:rPr sz="1700">
                <a:solidFill>
                  <a:srgbClr val="0000FF"/>
                </a:solidFill>
                <a:latin typeface="monospace"/>
                <a:ea typeface="monospace"/>
              </a:rPr>
              <a:t>1</a:t>
            </a:r>
            <a:r>
              <a:rPr sz="1700">
                <a:solidFill>
                  <a:srgbClr val="000000"/>
                </a:solidFill>
                <a:latin typeface="monospace"/>
                <a:ea typeface="monospace"/>
              </a:rPr>
              <a:t>;</a:t>
            </a:r>
            <a:endParaRPr sz="1700">
              <a:solidFill>
                <a:srgbClr val="000000"/>
              </a:solidFill>
              <a:latin typeface="monospace"/>
              <a:ea typeface="monospace"/>
            </a:endParaRPr>
          </a:p>
          <a:p>
            <a:pPr marL="0" indent="0" algn="l" defTabSz="266700">
              <a:spcAft>
                <a:spcPts val="1200"/>
              </a:spcAft>
            </a:pPr>
            <a:r>
              <a:rPr sz="1700">
                <a:solidFill>
                  <a:srgbClr val="000000"/>
                </a:solidFill>
                <a:latin typeface="monospace"/>
                <a:ea typeface="monospace"/>
              </a:rPr>
              <a:t>        </a:t>
            </a:r>
            <a:r>
              <a:rPr sz="1700" b="1">
                <a:solidFill>
                  <a:srgbClr val="000080"/>
                </a:solidFill>
                <a:latin typeface="monospace"/>
                <a:ea typeface="monospace"/>
              </a:rPr>
              <a:t>return </a:t>
            </a:r>
            <a:r>
              <a:rPr sz="1700">
                <a:solidFill>
                  <a:srgbClr val="458383"/>
                </a:solidFill>
                <a:latin typeface="monospace"/>
                <a:ea typeface="monospace"/>
              </a:rPr>
              <a:t>count</a:t>
            </a:r>
            <a:r>
              <a:rPr sz="1700">
                <a:solidFill>
                  <a:srgbClr val="000000"/>
                </a:solidFill>
                <a:latin typeface="monospace"/>
                <a:ea typeface="monospace"/>
              </a:rPr>
              <a:t>;</a:t>
            </a:r>
            <a:endParaRPr sz="1700">
              <a:solidFill>
                <a:srgbClr val="000000"/>
              </a:solidFill>
              <a:latin typeface="monospace"/>
              <a:ea typeface="monospace"/>
            </a:endParaRPr>
          </a:p>
          <a:p>
            <a:pPr marL="0" indent="0" algn="l" defTabSz="266700">
              <a:spcAft>
                <a:spcPts val="1200"/>
              </a:spcAft>
            </a:pPr>
            <a:r>
              <a:rPr sz="1700">
                <a:solidFill>
                  <a:srgbClr val="000000"/>
                </a:solidFill>
                <a:latin typeface="monospace"/>
                <a:ea typeface="monospace"/>
              </a:rPr>
              <a:t>    };</a:t>
            </a:r>
            <a:endParaRPr sz="1700">
              <a:solidFill>
                <a:srgbClr val="000000"/>
              </a:solidFill>
              <a:latin typeface="monospace"/>
              <a:ea typeface="monospace"/>
            </a:endParaRPr>
          </a:p>
          <a:p>
            <a:pPr marL="0" indent="0" algn="l" defTabSz="266700">
              <a:spcAft>
                <a:spcPts val="1200"/>
              </a:spcAft>
            </a:pPr>
            <a:r>
              <a:rPr sz="1700">
                <a:solidFill>
                  <a:srgbClr val="000000"/>
                </a:solidFill>
                <a:latin typeface="monospace"/>
                <a:ea typeface="monospace"/>
              </a:rPr>
              <a:t>}</a:t>
            </a:r>
            <a:endParaRPr sz="1700">
              <a:solidFill>
                <a:srgbClr val="000000"/>
              </a:solidFill>
              <a:latin typeface="monospace"/>
              <a:ea typeface="monospace"/>
            </a:endParaRPr>
          </a:p>
          <a:p>
            <a:pPr marL="0" indent="0" algn="l" defTabSz="266700">
              <a:spcAft>
                <a:spcPts val="1200"/>
              </a:spcAft>
            </a:pPr>
            <a:r>
              <a:rPr sz="1700" b="1">
                <a:solidFill>
                  <a:srgbClr val="000080"/>
                </a:solidFill>
                <a:latin typeface="monospace"/>
                <a:ea typeface="monospace"/>
              </a:rPr>
              <a:t>const </a:t>
            </a:r>
            <a:r>
              <a:rPr sz="1700">
                <a:solidFill>
                  <a:srgbClr val="458383"/>
                </a:solidFill>
                <a:latin typeface="monospace"/>
                <a:ea typeface="monospace"/>
              </a:rPr>
              <a:t>counter </a:t>
            </a:r>
            <a:r>
              <a:rPr sz="1700">
                <a:solidFill>
                  <a:srgbClr val="000000"/>
                </a:solidFill>
                <a:latin typeface="monospace"/>
                <a:ea typeface="monospace"/>
              </a:rPr>
              <a:t>= makeCounter();</a:t>
            </a:r>
            <a:endParaRPr sz="1700">
              <a:solidFill>
                <a:srgbClr val="000000"/>
              </a:solidFill>
              <a:latin typeface="monospace"/>
              <a:ea typeface="monospace"/>
            </a:endParaRPr>
          </a:p>
          <a:p>
            <a:pPr marL="0" indent="0" algn="l" defTabSz="266700">
              <a:spcAft>
                <a:spcPts val="1200"/>
              </a:spcAft>
            </a:pPr>
            <a:r>
              <a:rPr sz="1700" b="1" i="1">
                <a:solidFill>
                  <a:srgbClr val="660E7A"/>
                </a:solidFill>
                <a:latin typeface="monospace"/>
                <a:ea typeface="monospace"/>
              </a:rPr>
              <a:t>console</a:t>
            </a:r>
            <a:r>
              <a:rPr sz="1700">
                <a:solidFill>
                  <a:srgbClr val="000000"/>
                </a:solidFill>
                <a:latin typeface="monospace"/>
                <a:ea typeface="monospace"/>
              </a:rPr>
              <a:t>.</a:t>
            </a:r>
            <a:r>
              <a:rPr sz="1700">
                <a:solidFill>
                  <a:srgbClr val="914C07"/>
                </a:solidFill>
                <a:latin typeface="monospace"/>
                <a:ea typeface="monospace"/>
              </a:rPr>
              <a:t>log</a:t>
            </a:r>
            <a:r>
              <a:rPr sz="1700">
                <a:solidFill>
                  <a:srgbClr val="000000"/>
                </a:solidFill>
                <a:latin typeface="monospace"/>
                <a:ea typeface="monospace"/>
              </a:rPr>
              <a:t>(</a:t>
            </a:r>
            <a:r>
              <a:rPr sz="1700">
                <a:solidFill>
                  <a:srgbClr val="458383"/>
                </a:solidFill>
                <a:latin typeface="monospace"/>
                <a:ea typeface="monospace"/>
              </a:rPr>
              <a:t>counter</a:t>
            </a:r>
            <a:r>
              <a:rPr sz="1700">
                <a:solidFill>
                  <a:srgbClr val="000000"/>
                </a:solidFill>
                <a:latin typeface="monospace"/>
                <a:ea typeface="monospace"/>
              </a:rPr>
              <a:t>()); </a:t>
            </a:r>
            <a:r>
              <a:rPr sz="1700" i="1">
                <a:solidFill>
                  <a:srgbClr val="808080"/>
                </a:solidFill>
                <a:latin typeface="monospace"/>
                <a:ea typeface="monospace"/>
              </a:rPr>
              <a:t>// 1</a:t>
            </a:r>
            <a:endParaRPr sz="1700" i="1">
              <a:solidFill>
                <a:srgbClr val="808080"/>
              </a:solidFill>
              <a:latin typeface="monospace"/>
              <a:ea typeface="monospace"/>
            </a:endParaRPr>
          </a:p>
          <a:p>
            <a:pPr marL="0" indent="0" algn="l" defTabSz="266700">
              <a:spcAft>
                <a:spcPts val="1200"/>
              </a:spcAft>
            </a:pPr>
            <a:r>
              <a:rPr sz="1700" b="1" i="1">
                <a:solidFill>
                  <a:srgbClr val="660E7A"/>
                </a:solidFill>
                <a:latin typeface="monospace"/>
                <a:ea typeface="monospace"/>
              </a:rPr>
              <a:t>console</a:t>
            </a:r>
            <a:r>
              <a:rPr sz="1700">
                <a:solidFill>
                  <a:srgbClr val="000000"/>
                </a:solidFill>
                <a:latin typeface="monospace"/>
                <a:ea typeface="monospace"/>
              </a:rPr>
              <a:t>.</a:t>
            </a:r>
            <a:r>
              <a:rPr sz="1700">
                <a:solidFill>
                  <a:srgbClr val="914C07"/>
                </a:solidFill>
                <a:latin typeface="monospace"/>
                <a:ea typeface="monospace"/>
              </a:rPr>
              <a:t>log</a:t>
            </a:r>
            <a:r>
              <a:rPr sz="1700">
                <a:solidFill>
                  <a:srgbClr val="000000"/>
                </a:solidFill>
                <a:latin typeface="monospace"/>
                <a:ea typeface="monospace"/>
              </a:rPr>
              <a:t>(</a:t>
            </a:r>
            <a:r>
              <a:rPr sz="1700">
                <a:solidFill>
                  <a:srgbClr val="458383"/>
                </a:solidFill>
                <a:latin typeface="monospace"/>
                <a:ea typeface="monospace"/>
              </a:rPr>
              <a:t>counter</a:t>
            </a:r>
            <a:r>
              <a:rPr sz="1700">
                <a:solidFill>
                  <a:srgbClr val="000000"/>
                </a:solidFill>
                <a:latin typeface="monospace"/>
                <a:ea typeface="monospace"/>
              </a:rPr>
              <a:t>()); </a:t>
            </a:r>
            <a:r>
              <a:rPr sz="1700" i="1">
                <a:solidFill>
                  <a:srgbClr val="808080"/>
                </a:solidFill>
                <a:latin typeface="monospace"/>
                <a:ea typeface="monospace"/>
              </a:rPr>
              <a:t>// 2</a:t>
            </a:r>
            <a:endParaRPr sz="1700" i="1">
              <a:solidFill>
                <a:srgbClr val="808080"/>
              </a:solidFill>
              <a:latin typeface="monospace"/>
              <a:ea typeface="monospace"/>
            </a:endParaRPr>
          </a:p>
          <a:p>
            <a:pPr marL="0" indent="0" defTabSz="266700">
              <a:spcAft>
                <a:spcPct val="0"/>
              </a:spcAft>
            </a:pPr>
            <a:r>
              <a:rPr sz="1600">
                <a:latin typeface="Calibri" panose="020F0502020204030204"/>
                <a:ea typeface="SimSun"/>
              </a:rPr>
              <a:t> </a:t>
            </a:r>
            <a:endParaRPr sz="1600">
              <a:latin typeface="Calibri" panose="020F0502020204030204"/>
              <a:ea typeface="SimSu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831215" y="561023"/>
            <a:ext cx="5080000" cy="1630045"/>
          </a:xfrm>
          <a:prstGeom prst="rect">
            <a:avLst/>
          </a:prstGeom>
        </p:spPr>
        <p:txBody>
          <a:bodyPr>
            <a:spAutoFit/>
          </a:bodyPr>
          <a:p>
            <a:r>
              <a:rPr sz="2000"/>
              <a:t>Функции высшего порядка принимают другие функции как аргументы или возвращают функции。Пример использования функции в качестве аргумента:</a:t>
            </a:r>
            <a:endParaRPr sz="2000"/>
          </a:p>
        </p:txBody>
      </p:sp>
      <p:sp>
        <p:nvSpPr>
          <p:cNvPr id="5" name="Text Box 4"/>
          <p:cNvSpPr txBox="1"/>
          <p:nvPr/>
        </p:nvSpPr>
        <p:spPr>
          <a:xfrm>
            <a:off x="6432550" y="561023"/>
            <a:ext cx="5080000" cy="829945"/>
          </a:xfrm>
          <a:prstGeom prst="rect">
            <a:avLst/>
          </a:prstGeom>
        </p:spPr>
        <p:txBody>
          <a:bodyPr>
            <a:spAutoFit/>
          </a:bodyPr>
          <a:p>
            <a:r>
              <a:rPr sz="2400"/>
              <a:t>高阶函数可以接受其他函数作为参数或返回函数。示例：</a:t>
            </a:r>
            <a:endParaRPr sz="2400"/>
          </a:p>
        </p:txBody>
      </p:sp>
      <p:sp>
        <p:nvSpPr>
          <p:cNvPr id="6" name="Text Box 5"/>
          <p:cNvSpPr txBox="1"/>
          <p:nvPr/>
        </p:nvSpPr>
        <p:spPr>
          <a:xfrm>
            <a:off x="2448560" y="3270885"/>
            <a:ext cx="7294245" cy="1938020"/>
          </a:xfrm>
          <a:prstGeom prst="rect">
            <a:avLst/>
          </a:prstGeom>
        </p:spPr>
        <p:txBody>
          <a:bodyPr wrap="square">
            <a:spAutoFit/>
          </a:bodyPr>
          <a:p>
            <a:pPr marL="0" indent="0" algn="l" defTabSz="266700">
              <a:spcAft>
                <a:spcPct val="0"/>
              </a:spcAft>
            </a:pPr>
            <a:r>
              <a:rPr sz="2000" b="1">
                <a:solidFill>
                  <a:srgbClr val="000080"/>
                </a:solidFill>
                <a:latin typeface="monospace"/>
                <a:ea typeface="monospace"/>
              </a:rPr>
              <a:t>function </a:t>
            </a:r>
            <a:r>
              <a:rPr sz="2000">
                <a:solidFill>
                  <a:srgbClr val="000000"/>
                </a:solidFill>
                <a:latin typeface="monospace"/>
                <a:ea typeface="monospace"/>
              </a:rPr>
              <a:t>applyOperation(a, b, operation) {</a:t>
            </a:r>
            <a:endParaRPr sz="2000">
              <a:solidFill>
                <a:srgbClr val="000000"/>
              </a:solidFill>
              <a:latin typeface="monospace"/>
              <a:ea typeface="monospace"/>
            </a:endParaRPr>
          </a:p>
          <a:p>
            <a:pPr marL="0" indent="0" algn="l" defTabSz="266700">
              <a:spcAft>
                <a:spcPct val="0"/>
              </a:spcAft>
            </a:pPr>
            <a:r>
              <a:rPr sz="2000">
                <a:solidFill>
                  <a:srgbClr val="000000"/>
                </a:solidFill>
                <a:latin typeface="monospace"/>
                <a:ea typeface="monospace"/>
              </a:rPr>
              <a:t>    </a:t>
            </a:r>
            <a:r>
              <a:rPr sz="2000" b="1">
                <a:solidFill>
                  <a:srgbClr val="000080"/>
                </a:solidFill>
                <a:latin typeface="monospace"/>
                <a:ea typeface="monospace"/>
              </a:rPr>
              <a:t>return </a:t>
            </a:r>
            <a:r>
              <a:rPr sz="2000">
                <a:solidFill>
                  <a:srgbClr val="000000"/>
                </a:solidFill>
                <a:latin typeface="monospace"/>
                <a:ea typeface="monospace"/>
              </a:rPr>
              <a:t>operation(a, b);</a:t>
            </a:r>
            <a:endParaRPr sz="2000">
              <a:solidFill>
                <a:srgbClr val="000000"/>
              </a:solidFill>
              <a:latin typeface="monospace"/>
              <a:ea typeface="monospace"/>
            </a:endParaRPr>
          </a:p>
          <a:p>
            <a:pPr marL="0" indent="0" algn="l" defTabSz="266700">
              <a:spcAft>
                <a:spcPct val="0"/>
              </a:spcAft>
            </a:pPr>
            <a:r>
              <a:rPr sz="2000">
                <a:solidFill>
                  <a:srgbClr val="000000"/>
                </a:solidFill>
                <a:latin typeface="monospace"/>
                <a:ea typeface="monospace"/>
              </a:rPr>
              <a:t>}</a:t>
            </a:r>
            <a:endParaRPr sz="2000">
              <a:solidFill>
                <a:srgbClr val="000000"/>
              </a:solidFill>
              <a:latin typeface="monospace"/>
              <a:ea typeface="monospace"/>
            </a:endParaRPr>
          </a:p>
          <a:p>
            <a:pPr marL="0" indent="0" algn="l" defTabSz="266700">
              <a:spcAft>
                <a:spcPct val="0"/>
              </a:spcAft>
            </a:pPr>
            <a:r>
              <a:rPr sz="2000" b="1">
                <a:solidFill>
                  <a:srgbClr val="000080"/>
                </a:solidFill>
                <a:latin typeface="monospace"/>
                <a:ea typeface="monospace"/>
              </a:rPr>
              <a:t>const </a:t>
            </a:r>
            <a:r>
              <a:rPr sz="2000">
                <a:solidFill>
                  <a:srgbClr val="000000"/>
                </a:solidFill>
                <a:latin typeface="monospace"/>
                <a:ea typeface="monospace"/>
              </a:rPr>
              <a:t>sum = (a, b) =&gt; a + b;</a:t>
            </a:r>
            <a:endParaRPr sz="2000">
              <a:solidFill>
                <a:srgbClr val="000000"/>
              </a:solidFill>
              <a:latin typeface="monospace"/>
              <a:ea typeface="monospace"/>
            </a:endParaRPr>
          </a:p>
          <a:p>
            <a:pPr marL="0" indent="0" algn="l" defTabSz="266700">
              <a:spcAft>
                <a:spcPct val="0"/>
              </a:spcAft>
            </a:pPr>
            <a:r>
              <a:rPr sz="2000" b="1" i="1">
                <a:solidFill>
                  <a:srgbClr val="660E7A"/>
                </a:solidFill>
                <a:latin typeface="monospace"/>
                <a:ea typeface="monospace"/>
              </a:rPr>
              <a:t>console</a:t>
            </a:r>
            <a:r>
              <a:rPr sz="2000">
                <a:solidFill>
                  <a:srgbClr val="000000"/>
                </a:solidFill>
                <a:latin typeface="monospace"/>
                <a:ea typeface="monospace"/>
              </a:rPr>
              <a:t>.</a:t>
            </a:r>
            <a:r>
              <a:rPr sz="2000">
                <a:solidFill>
                  <a:srgbClr val="914C07"/>
                </a:solidFill>
                <a:latin typeface="monospace"/>
                <a:ea typeface="monospace"/>
              </a:rPr>
              <a:t>log</a:t>
            </a:r>
            <a:r>
              <a:rPr sz="2000">
                <a:solidFill>
                  <a:srgbClr val="000000"/>
                </a:solidFill>
                <a:latin typeface="monospace"/>
                <a:ea typeface="monospace"/>
              </a:rPr>
              <a:t>(applyOperation(</a:t>
            </a:r>
            <a:r>
              <a:rPr sz="2000">
                <a:solidFill>
                  <a:srgbClr val="0000FF"/>
                </a:solidFill>
                <a:latin typeface="monospace"/>
                <a:ea typeface="monospace"/>
              </a:rPr>
              <a:t>5</a:t>
            </a:r>
            <a:r>
              <a:rPr sz="2000">
                <a:solidFill>
                  <a:srgbClr val="000000"/>
                </a:solidFill>
                <a:latin typeface="monospace"/>
                <a:ea typeface="monospace"/>
              </a:rPr>
              <a:t>, </a:t>
            </a:r>
            <a:r>
              <a:rPr sz="2000">
                <a:solidFill>
                  <a:srgbClr val="0000FF"/>
                </a:solidFill>
                <a:latin typeface="monospace"/>
                <a:ea typeface="monospace"/>
              </a:rPr>
              <a:t>10</a:t>
            </a:r>
            <a:r>
              <a:rPr sz="2000">
                <a:solidFill>
                  <a:srgbClr val="000000"/>
                </a:solidFill>
                <a:latin typeface="monospace"/>
                <a:ea typeface="monospace"/>
              </a:rPr>
              <a:t>, sum)); </a:t>
            </a:r>
            <a:r>
              <a:rPr sz="2000" i="1">
                <a:solidFill>
                  <a:srgbClr val="808080"/>
                </a:solidFill>
                <a:latin typeface="monospace"/>
                <a:ea typeface="monospace"/>
              </a:rPr>
              <a:t>// 15</a:t>
            </a:r>
            <a:endParaRPr sz="2000" i="1">
              <a:solidFill>
                <a:srgbClr val="808080"/>
              </a:solidFill>
              <a:latin typeface="monospace"/>
              <a:ea typeface="monospace"/>
            </a:endParaRPr>
          </a:p>
          <a:p>
            <a:pPr marL="0" indent="0" defTabSz="266700">
              <a:spcAft>
                <a:spcPct val="0"/>
              </a:spcAft>
            </a:pPr>
            <a:r>
              <a:rPr sz="2000">
                <a:latin typeface="Calibri" panose="020F0502020204030204"/>
                <a:ea typeface="SimSun"/>
              </a:rPr>
              <a:t> </a:t>
            </a:r>
            <a:endParaRPr sz="2000">
              <a:latin typeface="Calibri" panose="020F0502020204030204"/>
              <a:ea typeface="SimSu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5300" y="223520"/>
            <a:ext cx="10577830" cy="829945"/>
          </a:xfrm>
          <a:prstGeom prst="rect">
            <a:avLst/>
          </a:prstGeom>
          <a:noFill/>
        </p:spPr>
        <p:txBody>
          <a:bodyPr wrap="square" rtlCol="0">
            <a:spAutoFit/>
          </a:bodyPr>
          <a:p>
            <a:pPr algn="just"/>
            <a:r>
              <a:rPr lang="ru-RU" altLang="en-US" sz="2400"/>
              <a:t>Так как функия - это объект её можно передавать в другую функцию!</a:t>
            </a:r>
            <a:endParaRPr lang="ru-RU" altLang="en-US" sz="2400"/>
          </a:p>
          <a:p>
            <a:pPr algn="just"/>
            <a:r>
              <a:rPr lang="ru-RU" altLang="en-US" sz="2400"/>
              <a:t>因为函数是一个对象，它可以传递到另一个函数！</a:t>
            </a:r>
            <a:endParaRPr lang="ru-RU" altLang="en-US" sz="2400"/>
          </a:p>
        </p:txBody>
      </p:sp>
      <p:sp>
        <p:nvSpPr>
          <p:cNvPr id="3" name="Text Box 2"/>
          <p:cNvSpPr txBox="1"/>
          <p:nvPr/>
        </p:nvSpPr>
        <p:spPr>
          <a:xfrm>
            <a:off x="2216785" y="2682240"/>
            <a:ext cx="5075555" cy="2676525"/>
          </a:xfrm>
          <a:prstGeom prst="rect">
            <a:avLst/>
          </a:prstGeom>
          <a:noFill/>
        </p:spPr>
        <p:txBody>
          <a:bodyPr wrap="none" rtlCol="0" anchor="t">
            <a:spAutoFit/>
          </a:bodyPr>
          <a:p>
            <a:pPr marL="0" indent="0"/>
            <a:r>
              <a:rPr lang="en-US" sz="2400">
                <a:solidFill>
                  <a:srgbClr val="0000FF"/>
                </a:solidFill>
                <a:latin typeface="Consolas" panose="020B0609020204030204" charset="0"/>
                <a:sym typeface="+mn-ea"/>
              </a:rPr>
              <a:t>function</a:t>
            </a:r>
            <a:r>
              <a:rPr lang="en-US" sz="2400">
                <a:solidFill>
                  <a:srgbClr val="000000"/>
                </a:solidFill>
                <a:latin typeface="Consolas" panose="020B0609020204030204" charset="0"/>
                <a:sym typeface="+mn-ea"/>
              </a:rPr>
              <a:t> </a:t>
            </a:r>
            <a:r>
              <a:rPr lang="en-US" sz="2400">
                <a:solidFill>
                  <a:srgbClr val="795E26"/>
                </a:solidFill>
                <a:latin typeface="Consolas" panose="020B0609020204030204" charset="0"/>
                <a:sym typeface="+mn-ea"/>
              </a:rPr>
              <a:t>square</a:t>
            </a:r>
            <a:r>
              <a:rPr lang="en-US" sz="2400">
                <a:solidFill>
                  <a:srgbClr val="000000"/>
                </a:solidFill>
                <a:latin typeface="Consolas" panose="020B0609020204030204" charset="0"/>
                <a:sym typeface="+mn-ea"/>
              </a:rPr>
              <a:t>(</a:t>
            </a:r>
            <a:r>
              <a:rPr lang="en-US" sz="2400">
                <a:solidFill>
                  <a:srgbClr val="001080"/>
                </a:solidFill>
                <a:latin typeface="Consolas" panose="020B0609020204030204" charset="0"/>
                <a:sym typeface="+mn-ea"/>
              </a:rPr>
              <a:t>number</a:t>
            </a:r>
            <a:r>
              <a:rPr lang="en-US" sz="2400">
                <a:solidFill>
                  <a:srgbClr val="000000"/>
                </a:solidFill>
                <a:latin typeface="Consolas" panose="020B0609020204030204" charset="0"/>
                <a:sym typeface="+mn-ea"/>
              </a:rPr>
              <a:t>) {  </a:t>
            </a:r>
            <a:r>
              <a:rPr lang="en-US" sz="2400">
                <a:solidFill>
                  <a:srgbClr val="AF00DB"/>
                </a:solidFill>
                <a:latin typeface="Consolas" panose="020B0609020204030204" charset="0"/>
                <a:sym typeface="+mn-ea"/>
              </a:rPr>
              <a:t>return</a:t>
            </a:r>
            <a:r>
              <a:rPr lang="en-US" sz="2400">
                <a:solidFill>
                  <a:srgbClr val="000000"/>
                </a:solidFill>
                <a:latin typeface="Consolas" panose="020B0609020204030204" charset="0"/>
                <a:sym typeface="+mn-ea"/>
              </a:rPr>
              <a:t> </a:t>
            </a:r>
            <a:r>
              <a:rPr lang="en-US" sz="2400">
                <a:solidFill>
                  <a:srgbClr val="001080"/>
                </a:solidFill>
                <a:latin typeface="Consolas" panose="020B0609020204030204" charset="0"/>
                <a:sym typeface="+mn-ea"/>
              </a:rPr>
              <a:t>number</a:t>
            </a:r>
            <a:r>
              <a:rPr lang="en-US" sz="2400">
                <a:solidFill>
                  <a:srgbClr val="000000"/>
                </a:solidFill>
                <a:latin typeface="Consolas" panose="020B0609020204030204" charset="0"/>
                <a:sym typeface="+mn-ea"/>
              </a:rPr>
              <a:t> * </a:t>
            </a:r>
            <a:r>
              <a:rPr lang="en-US" sz="2400">
                <a:solidFill>
                  <a:srgbClr val="001080"/>
                </a:solidFill>
                <a:latin typeface="Consolas" panose="020B0609020204030204" charset="0"/>
                <a:sym typeface="+mn-ea"/>
              </a:rPr>
              <a:t>number</a:t>
            </a:r>
            <a:r>
              <a:rPr lang="en-US" sz="2400">
                <a:solidFill>
                  <a:srgbClr val="000000"/>
                </a:solidFill>
                <a:latin typeface="Consolas" panose="020B0609020204030204" charset="0"/>
                <a:sym typeface="+mn-ea"/>
              </a:rPr>
              <a:t>;} </a:t>
            </a:r>
            <a:r>
              <a:rPr lang="en-US" sz="2400">
                <a:solidFill>
                  <a:srgbClr val="795E26"/>
                </a:solidFill>
                <a:latin typeface="Consolas" panose="020B0609020204030204" charset="0"/>
                <a:sym typeface="+mn-ea"/>
              </a:rPr>
              <a:t>alert</a:t>
            </a:r>
            <a:r>
              <a:rPr lang="en-US" sz="2400">
                <a:solidFill>
                  <a:srgbClr val="000000"/>
                </a:solidFill>
                <a:latin typeface="Consolas" panose="020B0609020204030204" charset="0"/>
                <a:sym typeface="+mn-ea"/>
              </a:rPr>
              <a:t>(</a:t>
            </a:r>
            <a:r>
              <a:rPr lang="en-US" sz="2400">
                <a:solidFill>
                  <a:srgbClr val="795E26"/>
                </a:solidFill>
                <a:latin typeface="Consolas" panose="020B0609020204030204" charset="0"/>
                <a:sym typeface="+mn-ea"/>
              </a:rPr>
              <a:t>square</a:t>
            </a:r>
            <a:r>
              <a:rPr lang="en-US" sz="2400">
                <a:solidFill>
                  <a:srgbClr val="000000"/>
                </a:solidFill>
                <a:latin typeface="Consolas" panose="020B0609020204030204" charset="0"/>
                <a:sym typeface="+mn-ea"/>
              </a:rPr>
              <a:t>(</a:t>
            </a:r>
            <a:r>
              <a:rPr lang="en-US" sz="2400">
                <a:solidFill>
                  <a:srgbClr val="098658"/>
                </a:solidFill>
                <a:latin typeface="Consolas" panose="020B0609020204030204" charset="0"/>
                <a:sym typeface="+mn-ea"/>
              </a:rPr>
              <a:t>2</a:t>
            </a:r>
            <a:r>
              <a:rPr lang="en-US" sz="2400">
                <a:solidFill>
                  <a:srgbClr val="000000"/>
                </a:solidFill>
                <a:latin typeface="Consolas" panose="020B0609020204030204" charset="0"/>
                <a:sym typeface="+mn-ea"/>
              </a:rPr>
              <a:t>)); </a:t>
            </a:r>
            <a:r>
              <a:rPr lang="en-US" sz="2400">
                <a:solidFill>
                  <a:srgbClr val="008000"/>
                </a:solidFill>
                <a:latin typeface="Consolas" panose="020B0609020204030204" charset="0"/>
                <a:sym typeface="+mn-ea"/>
              </a:rPr>
              <a:t>// 4</a:t>
            </a:r>
            <a:r>
              <a:rPr lang="en-US" sz="2400">
                <a:solidFill>
                  <a:srgbClr val="795E26"/>
                </a:solidFill>
                <a:latin typeface="Consolas" panose="020B0609020204030204" charset="0"/>
                <a:sym typeface="+mn-ea"/>
              </a:rPr>
              <a:t>alert</a:t>
            </a:r>
            <a:r>
              <a:rPr lang="en-US" sz="2400">
                <a:solidFill>
                  <a:srgbClr val="000000"/>
                </a:solidFill>
                <a:latin typeface="Consolas" panose="020B0609020204030204" charset="0"/>
                <a:sym typeface="+mn-ea"/>
              </a:rPr>
              <a:t>(</a:t>
            </a:r>
            <a:r>
              <a:rPr lang="en-US" sz="2400">
                <a:solidFill>
                  <a:srgbClr val="795E26"/>
                </a:solidFill>
                <a:latin typeface="Consolas" panose="020B0609020204030204" charset="0"/>
                <a:sym typeface="+mn-ea"/>
              </a:rPr>
              <a:t>square</a:t>
            </a:r>
            <a:r>
              <a:rPr lang="en-US" sz="2400">
                <a:solidFill>
                  <a:srgbClr val="000000"/>
                </a:solidFill>
                <a:latin typeface="Consolas" panose="020B0609020204030204" charset="0"/>
                <a:sym typeface="+mn-ea"/>
              </a:rPr>
              <a:t>(</a:t>
            </a:r>
            <a:r>
              <a:rPr lang="en-US" sz="2400">
                <a:solidFill>
                  <a:srgbClr val="098658"/>
                </a:solidFill>
                <a:latin typeface="Consolas" panose="020B0609020204030204" charset="0"/>
                <a:sym typeface="+mn-ea"/>
              </a:rPr>
              <a:t>9</a:t>
            </a:r>
            <a:r>
              <a:rPr lang="en-US" sz="2400">
                <a:solidFill>
                  <a:srgbClr val="000000"/>
                </a:solidFill>
                <a:latin typeface="Consolas" panose="020B0609020204030204" charset="0"/>
                <a:sym typeface="+mn-ea"/>
              </a:rPr>
              <a:t>)); </a:t>
            </a:r>
            <a:r>
              <a:rPr lang="en-US" sz="2400">
                <a:solidFill>
                  <a:srgbClr val="008000"/>
                </a:solidFill>
                <a:latin typeface="Consolas" panose="020B0609020204030204" charset="0"/>
                <a:sym typeface="+mn-ea"/>
              </a:rPr>
              <a:t>// 81</a:t>
            </a:r>
            <a:r>
              <a:rPr lang="en-US" sz="2400">
                <a:solidFill>
                  <a:srgbClr val="795E26"/>
                </a:solidFill>
                <a:latin typeface="Consolas" panose="020B0609020204030204" charset="0"/>
                <a:sym typeface="+mn-ea"/>
              </a:rPr>
              <a:t>alert</a:t>
            </a:r>
            <a:r>
              <a:rPr lang="en-US" sz="2400">
                <a:solidFill>
                  <a:srgbClr val="000000"/>
                </a:solidFill>
                <a:latin typeface="Consolas" panose="020B0609020204030204" charset="0"/>
                <a:sym typeface="+mn-ea"/>
              </a:rPr>
              <a:t>(</a:t>
            </a:r>
            <a:r>
              <a:rPr lang="en-US" sz="2400">
                <a:solidFill>
                  <a:srgbClr val="795E26"/>
                </a:solidFill>
                <a:latin typeface="Consolas" panose="020B0609020204030204" charset="0"/>
                <a:sym typeface="+mn-ea"/>
              </a:rPr>
              <a:t>square</a:t>
            </a:r>
            <a:r>
              <a:rPr lang="en-US" sz="2400">
                <a:solidFill>
                  <a:srgbClr val="000000"/>
                </a:solidFill>
                <a:latin typeface="Consolas" panose="020B0609020204030204" charset="0"/>
                <a:sym typeface="+mn-ea"/>
              </a:rPr>
              <a:t>(</a:t>
            </a:r>
            <a:r>
              <a:rPr lang="en-US" sz="2400">
                <a:solidFill>
                  <a:srgbClr val="795E26"/>
                </a:solidFill>
                <a:latin typeface="Consolas" panose="020B0609020204030204" charset="0"/>
                <a:sym typeface="+mn-ea"/>
              </a:rPr>
              <a:t>square</a:t>
            </a:r>
            <a:r>
              <a:rPr lang="en-US" sz="2400">
                <a:solidFill>
                  <a:srgbClr val="000000"/>
                </a:solidFill>
                <a:latin typeface="Consolas" panose="020B0609020204030204" charset="0"/>
                <a:sym typeface="+mn-ea"/>
              </a:rPr>
              <a:t>(</a:t>
            </a:r>
            <a:r>
              <a:rPr lang="en-US" sz="2400">
                <a:solidFill>
                  <a:srgbClr val="098658"/>
                </a:solidFill>
                <a:latin typeface="Consolas" panose="020B0609020204030204" charset="0"/>
                <a:sym typeface="+mn-ea"/>
              </a:rPr>
              <a:t>10</a:t>
            </a:r>
            <a:r>
              <a:rPr lang="en-US" sz="2400">
                <a:solidFill>
                  <a:srgbClr val="000000"/>
                </a:solidFill>
                <a:latin typeface="Consolas" panose="020B0609020204030204" charset="0"/>
                <a:sym typeface="+mn-ea"/>
              </a:rPr>
              <a:t>))); </a:t>
            </a:r>
            <a:r>
              <a:rPr lang="en-US" sz="2400">
                <a:solidFill>
                  <a:srgbClr val="008000"/>
                </a:solidFill>
                <a:latin typeface="Consolas" panose="020B0609020204030204" charset="0"/>
                <a:sym typeface="+mn-ea"/>
              </a:rPr>
              <a:t>// 10000</a:t>
            </a:r>
            <a:endParaRPr lang="en-US" sz="2400"/>
          </a:p>
        </p:txBody>
      </p:sp>
      <p:cxnSp>
        <p:nvCxnSpPr>
          <p:cNvPr id="4" name="Straight Arrow Connector 3"/>
          <p:cNvCxnSpPr/>
          <p:nvPr/>
        </p:nvCxnSpPr>
        <p:spPr>
          <a:xfrm flipH="1">
            <a:off x="7447280" y="5140960"/>
            <a:ext cx="1581785" cy="0"/>
          </a:xfrm>
          <a:prstGeom prst="straightConnector1">
            <a:avLst/>
          </a:prstGeom>
          <a:ln w="38100">
            <a:solidFill>
              <a:srgbClr val="C00000"/>
            </a:solidFill>
            <a:tailEnd type="arrow" w="med" len="med"/>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826000" y="1443990"/>
            <a:ext cx="2540000" cy="460375"/>
          </a:xfrm>
          <a:prstGeom prst="rect">
            <a:avLst/>
          </a:prstGeom>
          <a:noFill/>
        </p:spPr>
        <p:txBody>
          <a:bodyPr wrap="square" rtlCol="0" anchor="t">
            <a:spAutoFit/>
          </a:bodyPr>
          <a:p>
            <a:pPr algn="just"/>
            <a:endParaRPr lang="en-US" sz="2400"/>
          </a:p>
        </p:txBody>
      </p:sp>
      <p:sp>
        <p:nvSpPr>
          <p:cNvPr id="4" name="Text Box 3"/>
          <p:cNvSpPr txBox="1"/>
          <p:nvPr/>
        </p:nvSpPr>
        <p:spPr>
          <a:xfrm>
            <a:off x="598805" y="1075055"/>
            <a:ext cx="11193780" cy="1938020"/>
          </a:xfrm>
          <a:prstGeom prst="rect">
            <a:avLst/>
          </a:prstGeom>
          <a:noFill/>
        </p:spPr>
        <p:txBody>
          <a:bodyPr wrap="square" rtlCol="0">
            <a:spAutoFit/>
          </a:bodyPr>
          <a:p>
            <a:pPr algn="just"/>
            <a:r>
              <a:rPr lang="ru-RU" altLang="en-US" sz="2400">
                <a:latin typeface="Times New Roman Regular" panose="02020603050405020304" charset="0"/>
                <a:cs typeface="Times New Roman Regular" panose="02020603050405020304" charset="0"/>
                <a:sym typeface="+mn-ea"/>
              </a:rPr>
              <a:t>	</a:t>
            </a:r>
            <a:r>
              <a:rPr lang="en-US" sz="2400">
                <a:latin typeface="Times New Roman Regular" panose="02020603050405020304" charset="0"/>
                <a:cs typeface="Times New Roman Regular" panose="02020603050405020304" charset="0"/>
                <a:sym typeface="+mn-ea"/>
              </a:rPr>
              <a:t>В процессе выполнения задачи в теле функции могут быть вызваны другие функции для выполнения подзадач. Частный случай подвызова – когда функция вызывает сама себя. Это называется </a:t>
            </a:r>
            <a:r>
              <a:rPr lang="en-US" sz="2400" b="1">
                <a:latin typeface="Times New Roman Bold" panose="02020603050405020304" charset="0"/>
                <a:cs typeface="Times New Roman Bold" panose="02020603050405020304" charset="0"/>
                <a:sym typeface="+mn-ea"/>
              </a:rPr>
              <a:t>рекурсией</a:t>
            </a:r>
            <a:r>
              <a:rPr lang="en-US" sz="2400">
                <a:latin typeface="Times New Roman Regular" panose="02020603050405020304" charset="0"/>
                <a:cs typeface="Times New Roman Regular" panose="02020603050405020304" charset="0"/>
                <a:sym typeface="+mn-ea"/>
              </a:rPr>
              <a:t>.</a:t>
            </a:r>
            <a:endParaRPr lang="en-US" sz="2400">
              <a:latin typeface="Times New Roman Regular" panose="02020603050405020304" charset="0"/>
              <a:cs typeface="Times New Roman Regular" panose="02020603050405020304" charset="0"/>
              <a:sym typeface="+mn-ea"/>
            </a:endParaRPr>
          </a:p>
          <a:p>
            <a:pPr algn="just"/>
            <a:r>
              <a:rPr lang="en-US" sz="2400">
                <a:latin typeface="Times New Roman Regular" panose="02020603050405020304" charset="0"/>
                <a:cs typeface="Times New Roman Regular" panose="02020603050405020304" charset="0"/>
              </a:rPr>
              <a:t>在任务执行过程中，可能会调用函数体中的其他函数来执行子任务。一个特殊的例子是函数调用自己。这叫做递归。</a:t>
            </a: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75335" y="541020"/>
            <a:ext cx="11078845" cy="1938020"/>
          </a:xfrm>
          <a:prstGeom prst="rect">
            <a:avLst/>
          </a:prstGeom>
          <a:noFill/>
        </p:spPr>
        <p:txBody>
          <a:bodyPr wrap="square" rtlCol="0" anchor="t">
            <a:spAutoFit/>
          </a:bodyPr>
          <a:p>
            <a:pPr algn="just"/>
            <a:r>
              <a:rPr lang="ru-RU" altLang="en-US" sz="24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В качестве первого примера напишем функцию power(x, n), которая возводит x в натуральную степень n. Иначе говоря, умножает x на само себя n раз.</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作为第一个例子，我们写一个函数power（x，n），它将x提升为n的自然幂，换句话说，将x本身乘以n次。</a:t>
            </a:r>
            <a:endParaRPr lang="en-US" sz="2400">
              <a:latin typeface="Times New Roman Regular" panose="02020603050405020304" charset="0"/>
              <a:cs typeface="Times New Roman Regular" panose="02020603050405020304" charset="0"/>
            </a:endParaRPr>
          </a:p>
        </p:txBody>
      </p:sp>
      <p:sp>
        <p:nvSpPr>
          <p:cNvPr id="100" name="Text Box 99"/>
          <p:cNvSpPr txBox="1"/>
          <p:nvPr/>
        </p:nvSpPr>
        <p:spPr>
          <a:xfrm>
            <a:off x="1006475" y="3302000"/>
            <a:ext cx="10372725" cy="2676525"/>
          </a:xfrm>
          <a:prstGeom prst="rect">
            <a:avLst/>
          </a:prstGeom>
          <a:noFill/>
          <a:ln w="9525">
            <a:noFill/>
          </a:ln>
        </p:spPr>
        <p:txBody>
          <a:bodyPr wrap="square">
            <a:spAutoFit/>
          </a:bodyPr>
          <a:p>
            <a:pPr marL="0" indent="0"/>
            <a:r>
              <a:rPr lang="en-US" sz="2400" b="0">
                <a:solidFill>
                  <a:srgbClr val="0000FF"/>
                </a:solidFill>
                <a:latin typeface="Consolas" panose="020B0609020204030204" charset="0"/>
              </a:rPr>
              <a:t>function</a:t>
            </a:r>
            <a:r>
              <a:rPr lang="en-US" sz="2400" b="0">
                <a:solidFill>
                  <a:srgbClr val="000000"/>
                </a:solidFill>
                <a:latin typeface="Consolas" panose="020B0609020204030204" charset="0"/>
              </a:rPr>
              <a:t> </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degree</a:t>
            </a:r>
            <a:r>
              <a:rPr lang="en-US" sz="2400" b="0">
                <a:solidFill>
                  <a:srgbClr val="000000"/>
                </a:solidFill>
                <a:latin typeface="Consolas" panose="020B0609020204030204" charset="0"/>
              </a:rPr>
              <a:t>) {  </a:t>
            </a:r>
            <a:r>
              <a:rPr lang="en-US" sz="2400" b="0">
                <a:solidFill>
                  <a:srgbClr val="AF00DB"/>
                </a:solidFill>
                <a:latin typeface="Consolas" panose="020B0609020204030204" charset="0"/>
              </a:rPr>
              <a:t>return</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degree</a:t>
            </a:r>
            <a:r>
              <a:rPr lang="en-US" sz="2400" b="0">
                <a:solidFill>
                  <a:srgbClr val="000000"/>
                </a:solidFill>
                <a:latin typeface="Consolas" panose="020B0609020204030204" charset="0"/>
              </a:rPr>
              <a:t> === </a:t>
            </a:r>
            <a:r>
              <a:rPr lang="en-US" sz="2400" b="0">
                <a:solidFill>
                  <a:srgbClr val="098658"/>
                </a:solidFill>
                <a:latin typeface="Consolas" panose="020B0609020204030204" charset="0"/>
              </a:rPr>
              <a:t>1</a:t>
            </a:r>
            <a:r>
              <a:rPr lang="en-US" sz="2400" b="0">
                <a:solidFill>
                  <a:srgbClr val="000000"/>
                </a:solidFill>
                <a:latin typeface="Consolas" panose="020B0609020204030204" charset="0"/>
              </a:rPr>
              <a:t> ?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 </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number</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degree</a:t>
            </a:r>
            <a:r>
              <a:rPr lang="en-US" sz="2400" b="0">
                <a:solidFill>
                  <a:srgbClr val="000000"/>
                </a:solidFill>
                <a:latin typeface="Consolas" panose="020B0609020204030204" charset="0"/>
              </a:rPr>
              <a:t> - </a:t>
            </a:r>
            <a:r>
              <a:rPr lang="en-US" sz="2400" b="0">
                <a:solidFill>
                  <a:srgbClr val="098658"/>
                </a:solidFill>
                <a:latin typeface="Consolas" panose="020B0609020204030204" charset="0"/>
              </a:rPr>
              <a:t>1</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4</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3</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8</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4</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16</a:t>
            </a:r>
            <a:endParaRPr lang="en-US"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Rectangles 7"/>
          <p:cNvSpPr/>
          <p:nvPr/>
        </p:nvSpPr>
        <p:spPr>
          <a:xfrm>
            <a:off x="6463665" y="2305685"/>
            <a:ext cx="4599305" cy="4405630"/>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p>
            <a:pPr algn="ctr"/>
            <a:endParaRPr lang="ru-RU" altLang="en-US"/>
          </a:p>
        </p:txBody>
      </p:sp>
      <p:sp>
        <p:nvSpPr>
          <p:cNvPr id="7" name="Rectangles 6"/>
          <p:cNvSpPr/>
          <p:nvPr/>
        </p:nvSpPr>
        <p:spPr>
          <a:xfrm>
            <a:off x="222250" y="3513455"/>
            <a:ext cx="5973445" cy="3197860"/>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p>
            <a:pPr algn="ctr"/>
            <a:endParaRPr lang="ru-RU" altLang="en-US"/>
          </a:p>
        </p:txBody>
      </p:sp>
      <p:sp>
        <p:nvSpPr>
          <p:cNvPr id="2" name="Text Box 1"/>
          <p:cNvSpPr txBox="1"/>
          <p:nvPr/>
        </p:nvSpPr>
        <p:spPr>
          <a:xfrm>
            <a:off x="222250" y="476250"/>
            <a:ext cx="4912360" cy="829945"/>
          </a:xfrm>
          <a:prstGeom prst="rect">
            <a:avLst/>
          </a:prstGeom>
          <a:noFill/>
        </p:spPr>
        <p:txBody>
          <a:bodyPr wrap="none" rtlCol="0">
            <a:spAutoFit/>
          </a:bodyPr>
          <a:p>
            <a:pPr algn="l"/>
            <a:r>
              <a:rPr lang="ru-RU" altLang="en-US" sz="2400">
                <a:latin typeface="Times New Roman Regular" panose="02020603050405020304" charset="0"/>
                <a:cs typeface="Times New Roman Regular" panose="02020603050405020304" charset="0"/>
              </a:rPr>
              <a:t>Возможно два варианта реализации:</a:t>
            </a:r>
            <a:endParaRPr lang="ru-RU" altLang="en-US" sz="2400">
              <a:latin typeface="Times New Roman Regular" panose="02020603050405020304" charset="0"/>
              <a:cs typeface="Times New Roman Regular" panose="02020603050405020304" charset="0"/>
            </a:endParaRPr>
          </a:p>
          <a:p>
            <a:pPr algn="l"/>
            <a:r>
              <a:rPr lang="ru-RU" altLang="en-US" sz="2400">
                <a:latin typeface="Times New Roman Regular" panose="02020603050405020304" charset="0"/>
                <a:cs typeface="Times New Roman Regular" panose="02020603050405020304" charset="0"/>
              </a:rPr>
              <a:t>有两种实施方案：</a:t>
            </a:r>
            <a:endParaRPr lang="ru-RU" altLang="en-US" sz="2400">
              <a:latin typeface="Times New Roman Regular" panose="02020603050405020304" charset="0"/>
              <a:cs typeface="Times New Roman Regular" panose="02020603050405020304" charset="0"/>
            </a:endParaRPr>
          </a:p>
        </p:txBody>
      </p:sp>
      <p:sp>
        <p:nvSpPr>
          <p:cNvPr id="100" name="Text Box 99"/>
          <p:cNvSpPr txBox="1"/>
          <p:nvPr/>
        </p:nvSpPr>
        <p:spPr>
          <a:xfrm>
            <a:off x="222250" y="3642360"/>
            <a:ext cx="6713220" cy="2676525"/>
          </a:xfrm>
          <a:prstGeom prst="rect">
            <a:avLst/>
          </a:prstGeom>
          <a:noFill/>
          <a:ln w="9525">
            <a:noFill/>
          </a:ln>
        </p:spPr>
        <p:txBody>
          <a:bodyPr wrap="square">
            <a:spAutoFit/>
          </a:bodyPr>
          <a:p>
            <a:pPr indent="0"/>
            <a:r>
              <a:rPr lang="en-US" sz="2400" b="0">
                <a:solidFill>
                  <a:srgbClr val="0000FF"/>
                </a:solidFill>
                <a:latin typeface="Consolas" panose="020B0609020204030204" charset="0"/>
              </a:rPr>
              <a:t>function</a:t>
            </a:r>
            <a:r>
              <a:rPr lang="en-US" sz="2400" b="0">
                <a:solidFill>
                  <a:srgbClr val="000000"/>
                </a:solidFill>
                <a:latin typeface="Consolas" panose="020B0609020204030204" charset="0"/>
              </a:rPr>
              <a:t> </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n</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x</a:t>
            </a:r>
            <a:r>
              <a:rPr lang="en-US" sz="2400" b="0">
                <a:solidFill>
                  <a:srgbClr val="000000"/>
                </a:solidFill>
                <a:latin typeface="Consolas" panose="020B0609020204030204" charset="0"/>
              </a:rPr>
              <a:t>) {  </a:t>
            </a:r>
            <a:r>
              <a:rPr lang="en-US" sz="2400" b="0">
                <a:solidFill>
                  <a:srgbClr val="AF00DB"/>
                </a:solidFill>
                <a:latin typeface="Consolas" panose="020B0609020204030204" charset="0"/>
              </a:rPr>
              <a:t>return</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 </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1</a:t>
            </a:r>
            <a:r>
              <a:rPr lang="en-US" sz="2400" b="0">
                <a:solidFill>
                  <a:srgbClr val="000000"/>
                </a:solidFill>
                <a:latin typeface="Consolas" panose="020B0609020204030204" charset="0"/>
              </a:rPr>
              <a:t> ? </a:t>
            </a:r>
            <a:r>
              <a:rPr lang="en-US" sz="2400" b="0">
                <a:solidFill>
                  <a:srgbClr val="001080"/>
                </a:solidFill>
                <a:latin typeface="Consolas" panose="020B0609020204030204" charset="0"/>
              </a:rPr>
              <a:t>x </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x </a:t>
            </a:r>
            <a:r>
              <a:rPr lang="en-US" sz="2400" b="0">
                <a:solidFill>
                  <a:srgbClr val="000000"/>
                </a:solidFill>
                <a:latin typeface="Consolas" panose="020B0609020204030204" charset="0"/>
              </a:rPr>
              <a:t>* </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x</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 </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1</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4</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3</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8</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4</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16</a:t>
            </a:r>
            <a:endParaRPr lang="en-US" sz="2400"/>
          </a:p>
        </p:txBody>
      </p:sp>
      <p:sp>
        <p:nvSpPr>
          <p:cNvPr id="4" name="Text Box 3"/>
          <p:cNvSpPr txBox="1"/>
          <p:nvPr/>
        </p:nvSpPr>
        <p:spPr>
          <a:xfrm>
            <a:off x="6572250" y="2397125"/>
            <a:ext cx="5728335" cy="4154170"/>
          </a:xfrm>
          <a:prstGeom prst="rect">
            <a:avLst/>
          </a:prstGeom>
          <a:noFill/>
          <a:ln w="9525">
            <a:noFill/>
          </a:ln>
        </p:spPr>
        <p:txBody>
          <a:bodyPr wrap="square">
            <a:spAutoFit/>
          </a:bodyPr>
          <a:p>
            <a:pPr marL="0" indent="0" algn="l"/>
            <a:r>
              <a:rPr lang="en-US" sz="2400" b="0">
                <a:solidFill>
                  <a:srgbClr val="0000FF"/>
                </a:solidFill>
                <a:latin typeface="Consolas" panose="020B0609020204030204" charset="0"/>
                <a:cs typeface="Consolas" panose="020B0609020204030204" charset="0"/>
              </a:rPr>
              <a:t>function</a:t>
            </a:r>
            <a:r>
              <a:rPr lang="en-US" sz="2400" b="0">
                <a:solidFill>
                  <a:srgbClr val="3B3B3B"/>
                </a:solidFill>
                <a:latin typeface="Consolas" panose="020B0609020204030204" charset="0"/>
                <a:cs typeface="Consolas" panose="020B0609020204030204" charset="0"/>
              </a:rPr>
              <a:t> </a:t>
            </a:r>
            <a:r>
              <a:rPr lang="en-US" sz="2400" b="0">
                <a:solidFill>
                  <a:srgbClr val="795E26"/>
                </a:solidFill>
                <a:latin typeface="Consolas" panose="020B0609020204030204" charset="0"/>
                <a:cs typeface="Consolas" panose="020B0609020204030204" charset="0"/>
              </a:rPr>
              <a:t>power</a:t>
            </a:r>
            <a:r>
              <a:rPr lang="en-US" sz="2400" b="0">
                <a:solidFill>
                  <a:srgbClr val="3B3B3B"/>
                </a:solidFill>
                <a:latin typeface="Consolas" panose="020B0609020204030204" charset="0"/>
                <a:cs typeface="Consolas" panose="020B0609020204030204" charset="0"/>
              </a:rPr>
              <a:t>(</a:t>
            </a:r>
            <a:r>
              <a:rPr lang="en-US" sz="2400" b="0">
                <a:solidFill>
                  <a:srgbClr val="001080"/>
                </a:solidFill>
                <a:latin typeface="Consolas" panose="020B0609020204030204" charset="0"/>
                <a:cs typeface="Consolas" panose="020B0609020204030204" charset="0"/>
              </a:rPr>
              <a:t>x</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n</a:t>
            </a:r>
            <a:r>
              <a:rPr lang="en-US" sz="2400" b="0">
                <a:solidFill>
                  <a:srgbClr val="3B3B3B"/>
                </a:solidFill>
                <a:latin typeface="Consolas" panose="020B0609020204030204" charset="0"/>
                <a:cs typeface="Consolas" panose="020B0609020204030204" charset="0"/>
              </a:rPr>
              <a:t>) {</a:t>
            </a:r>
            <a:r>
              <a:rPr lang="en-US" sz="2400" b="0">
                <a:solidFill>
                  <a:srgbClr val="0000FF"/>
                </a:solidFill>
                <a:latin typeface="Consolas" panose="020B0609020204030204" charset="0"/>
                <a:cs typeface="Consolas" panose="020B0609020204030204" charset="0"/>
              </a:rPr>
              <a:t>  let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result</a:t>
            </a:r>
            <a:r>
              <a:rPr lang="en-US" sz="2400" b="0">
                <a:solidFill>
                  <a:srgbClr val="3B3B3B"/>
                </a:solidFill>
                <a:latin typeface="Consolas" panose="020B0609020204030204" charset="0"/>
                <a:cs typeface="Consolas" panose="020B0609020204030204" charset="0"/>
              </a:rPr>
              <a:t> </a:t>
            </a:r>
            <a:r>
              <a:rPr lang="en-US" sz="2400" b="0">
                <a:solidFill>
                  <a:srgbClr val="000000"/>
                </a:solidFill>
                <a:latin typeface="Consolas" panose="020B0609020204030204" charset="0"/>
                <a:cs typeface="Consolas" panose="020B0609020204030204" charset="0"/>
              </a:rPr>
              <a:t>=</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1</a:t>
            </a:r>
            <a:r>
              <a:rPr lang="en-US" sz="2400" b="0">
                <a:solidFill>
                  <a:srgbClr val="3B3B3B"/>
                </a:solidFill>
                <a:latin typeface="Consolas" panose="020B0609020204030204" charset="0"/>
                <a:cs typeface="Consolas" panose="020B0609020204030204" charset="0"/>
              </a:rPr>
              <a:t>;</a:t>
            </a:r>
            <a:r>
              <a:rPr lang="en-US" sz="2400" b="0">
                <a:solidFill>
                  <a:srgbClr val="AF00DB"/>
                </a:solidFill>
                <a:latin typeface="Consolas" panose="020B0609020204030204" charset="0"/>
                <a:cs typeface="Consolas" panose="020B0609020204030204" charset="0"/>
              </a:rPr>
              <a:t>  for</a:t>
            </a:r>
            <a:r>
              <a:rPr lang="en-US" sz="2400" b="0">
                <a:solidFill>
                  <a:srgbClr val="3B3B3B"/>
                </a:solidFill>
                <a:latin typeface="Consolas" panose="020B0609020204030204" charset="0"/>
                <a:cs typeface="Consolas" panose="020B0609020204030204" charset="0"/>
              </a:rPr>
              <a:t> (</a:t>
            </a:r>
            <a:r>
              <a:rPr lang="en-US" sz="2400" b="0">
                <a:solidFill>
                  <a:srgbClr val="0000FF"/>
                </a:solidFill>
                <a:latin typeface="Consolas" panose="020B0609020204030204" charset="0"/>
                <a:cs typeface="Consolas" panose="020B0609020204030204" charset="0"/>
              </a:rPr>
              <a:t>let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i</a:t>
            </a:r>
            <a:r>
              <a:rPr lang="en-US" sz="2400" b="0">
                <a:solidFill>
                  <a:srgbClr val="3B3B3B"/>
                </a:solidFill>
                <a:latin typeface="Consolas" panose="020B0609020204030204" charset="0"/>
                <a:cs typeface="Consolas" panose="020B0609020204030204" charset="0"/>
              </a:rPr>
              <a:t> </a:t>
            </a:r>
            <a:r>
              <a:rPr lang="en-US" sz="2400" b="0">
                <a:solidFill>
                  <a:srgbClr val="000000"/>
                </a:solidFill>
                <a:latin typeface="Consolas" panose="020B0609020204030204" charset="0"/>
                <a:cs typeface="Consolas" panose="020B0609020204030204" charset="0"/>
              </a:rPr>
              <a:t>=</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0</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i</a:t>
            </a:r>
            <a:r>
              <a:rPr lang="en-US" sz="2400" b="0">
                <a:solidFill>
                  <a:srgbClr val="3B3B3B"/>
                </a:solidFill>
                <a:latin typeface="Consolas" panose="020B0609020204030204" charset="0"/>
                <a:cs typeface="Consolas" panose="020B0609020204030204" charset="0"/>
              </a:rPr>
              <a:t> </a:t>
            </a:r>
            <a:r>
              <a:rPr lang="en-US" sz="2400" b="0">
                <a:solidFill>
                  <a:srgbClr val="000000"/>
                </a:solidFill>
                <a:latin typeface="Consolas" panose="020B0609020204030204" charset="0"/>
                <a:cs typeface="Consolas" panose="020B0609020204030204" charset="0"/>
              </a:rPr>
              <a:t>&lt;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n</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i</a:t>
            </a:r>
            <a:r>
              <a:rPr lang="en-US" sz="2400" b="0">
                <a:solidFill>
                  <a:srgbClr val="000000"/>
                </a:solidFill>
                <a:latin typeface="Consolas" panose="020B0609020204030204" charset="0"/>
                <a:cs typeface="Consolas" panose="020B0609020204030204" charset="0"/>
              </a:rPr>
              <a: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    result</a:t>
            </a:r>
            <a:r>
              <a:rPr lang="en-US" sz="2400" b="0">
                <a:solidFill>
                  <a:srgbClr val="3B3B3B"/>
                </a:solidFill>
                <a:latin typeface="Consolas" panose="020B0609020204030204" charset="0"/>
                <a:cs typeface="Consolas" panose="020B0609020204030204" charset="0"/>
              </a:rPr>
              <a:t> </a:t>
            </a:r>
            <a:r>
              <a:rPr lang="en-US" sz="2400" b="0">
                <a:solidFill>
                  <a:srgbClr val="000000"/>
                </a:solidFill>
                <a:latin typeface="Consolas" panose="020B0609020204030204" charset="0"/>
                <a:cs typeface="Consolas" panose="020B0609020204030204" charset="0"/>
              </a:rPr>
              <a: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x</a:t>
            </a:r>
            <a:r>
              <a:rPr lang="en-US" sz="2400" b="0">
                <a:solidFill>
                  <a:srgbClr val="3B3B3B"/>
                </a:solidFill>
                <a:latin typeface="Consolas" panose="020B0609020204030204" charset="0"/>
                <a:cs typeface="Consolas" panose="020B0609020204030204" charset="0"/>
              </a:rPr>
              <a:t>;  }</a:t>
            </a:r>
            <a:r>
              <a:rPr lang="en-US" sz="2400" b="0">
                <a:solidFill>
                  <a:srgbClr val="AF00DB"/>
                </a:solidFill>
                <a:latin typeface="Consolas" panose="020B0609020204030204" charset="0"/>
                <a:cs typeface="Consolas" panose="020B0609020204030204" charset="0"/>
              </a:rPr>
              <a:t>  return</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result</a:t>
            </a:r>
            <a:r>
              <a:rPr lang="en-US" sz="2400" b="0">
                <a:solidFill>
                  <a:srgbClr val="3B3B3B"/>
                </a:solidFill>
                <a:latin typeface="Consolas" panose="020B0609020204030204" charset="0"/>
                <a:cs typeface="Consolas" panose="020B0609020204030204" charset="0"/>
              </a:rPr>
              <a:t>;}</a:t>
            </a:r>
            <a:endParaRPr lang="en-US" sz="2400" b="0">
              <a:solidFill>
                <a:srgbClr val="795E26"/>
              </a:solidFill>
              <a:latin typeface="Consolas" panose="020B0609020204030204" charset="0"/>
              <a:cs typeface="Consolas" panose="020B0609020204030204" charset="0"/>
            </a:endParaRPr>
          </a:p>
          <a:p>
            <a:pPr marL="0" indent="0" algn="l"/>
            <a:endParaRPr lang="en-US" sz="2400" b="0">
              <a:solidFill>
                <a:srgbClr val="795E26"/>
              </a:solidFill>
              <a:latin typeface="Consolas" panose="020B0609020204030204" charset="0"/>
              <a:cs typeface="Consolas" panose="020B0609020204030204" charset="0"/>
            </a:endParaRPr>
          </a:p>
          <a:p>
            <a:pPr marL="0" indent="0" algn="l"/>
            <a:r>
              <a:rPr lang="en-US" sz="2400" b="0">
                <a:solidFill>
                  <a:srgbClr val="795E26"/>
                </a:solidFill>
                <a:latin typeface="Consolas" panose="020B0609020204030204" charset="0"/>
                <a:cs typeface="Consolas" panose="020B0609020204030204" charset="0"/>
              </a:rPr>
              <a:t>alert</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power</a:t>
            </a:r>
            <a:r>
              <a:rPr lang="en-US" sz="2400" b="0">
                <a:solidFill>
                  <a:srgbClr val="3B3B3B"/>
                </a:solidFill>
                <a:latin typeface="Consolas" panose="020B0609020204030204" charset="0"/>
                <a:cs typeface="Consolas" panose="020B0609020204030204" charset="0"/>
              </a:rPr>
              <a:t>(</a:t>
            </a:r>
            <a:r>
              <a:rPr lang="en-US" sz="2400" b="0">
                <a:solidFill>
                  <a:srgbClr val="098658"/>
                </a:solidFill>
                <a:latin typeface="Consolas" panose="020B0609020204030204" charset="0"/>
                <a:cs typeface="Consolas" panose="020B0609020204030204" charset="0"/>
              </a:rPr>
              <a:t>2</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2</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alert</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power</a:t>
            </a:r>
            <a:r>
              <a:rPr lang="en-US" sz="2400" b="0">
                <a:solidFill>
                  <a:srgbClr val="3B3B3B"/>
                </a:solidFill>
                <a:latin typeface="Consolas" panose="020B0609020204030204" charset="0"/>
                <a:cs typeface="Consolas" panose="020B0609020204030204" charset="0"/>
              </a:rPr>
              <a:t>(</a:t>
            </a:r>
            <a:r>
              <a:rPr lang="en-US" sz="2400" b="0">
                <a:solidFill>
                  <a:srgbClr val="098658"/>
                </a:solidFill>
                <a:latin typeface="Consolas" panose="020B0609020204030204" charset="0"/>
                <a:cs typeface="Consolas" panose="020B0609020204030204" charset="0"/>
              </a:rPr>
              <a:t>2</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3</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alert</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power</a:t>
            </a:r>
            <a:r>
              <a:rPr lang="en-US" sz="2400" b="0">
                <a:solidFill>
                  <a:srgbClr val="3B3B3B"/>
                </a:solidFill>
                <a:latin typeface="Consolas" panose="020B0609020204030204" charset="0"/>
                <a:cs typeface="Consolas" panose="020B0609020204030204" charset="0"/>
              </a:rPr>
              <a:t>(</a:t>
            </a:r>
            <a:r>
              <a:rPr lang="en-US" sz="2400" b="0">
                <a:solidFill>
                  <a:srgbClr val="098658"/>
                </a:solidFill>
                <a:latin typeface="Consolas" panose="020B0609020204030204" charset="0"/>
                <a:cs typeface="Consolas" panose="020B0609020204030204" charset="0"/>
              </a:rPr>
              <a:t>2</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4</a:t>
            </a:r>
            <a:r>
              <a:rPr lang="en-US" sz="2400" b="0">
                <a:solidFill>
                  <a:srgbClr val="3B3B3B"/>
                </a:solidFill>
                <a:latin typeface="Consolas" panose="020B0609020204030204" charset="0"/>
                <a:cs typeface="Consolas" panose="020B0609020204030204" charset="0"/>
              </a:rPr>
              <a:t>));</a:t>
            </a:r>
            <a:endParaRPr lang="en-US" sz="2400">
              <a:latin typeface="Consolas" panose="020B0609020204030204" charset="0"/>
              <a:cs typeface="Consolas" panose="020B0609020204030204" charset="0"/>
            </a:endParaRPr>
          </a:p>
        </p:txBody>
      </p:sp>
      <p:sp>
        <p:nvSpPr>
          <p:cNvPr id="9" name="Text Box 8"/>
          <p:cNvSpPr txBox="1"/>
          <p:nvPr/>
        </p:nvSpPr>
        <p:spPr>
          <a:xfrm>
            <a:off x="222250" y="3053080"/>
            <a:ext cx="407035" cy="460375"/>
          </a:xfrm>
          <a:prstGeom prst="rect">
            <a:avLst/>
          </a:prstGeom>
          <a:noFill/>
        </p:spPr>
        <p:txBody>
          <a:bodyPr wrap="square" rtlCol="0">
            <a:spAutoFit/>
          </a:bodyPr>
          <a:p>
            <a:r>
              <a:rPr lang="ru-RU" altLang="en-US" sz="2400" b="1">
                <a:solidFill>
                  <a:srgbClr val="FF0000"/>
                </a:solidFill>
              </a:rPr>
              <a:t>1.</a:t>
            </a:r>
            <a:endParaRPr lang="ru-RU" altLang="en-US" sz="2400" b="1">
              <a:solidFill>
                <a:srgbClr val="FF0000"/>
              </a:solidFill>
            </a:endParaRPr>
          </a:p>
        </p:txBody>
      </p:sp>
      <p:sp>
        <p:nvSpPr>
          <p:cNvPr id="10" name="Text Box 9"/>
          <p:cNvSpPr txBox="1"/>
          <p:nvPr/>
        </p:nvSpPr>
        <p:spPr>
          <a:xfrm>
            <a:off x="6463665" y="1750695"/>
            <a:ext cx="407035" cy="460375"/>
          </a:xfrm>
          <a:prstGeom prst="rect">
            <a:avLst/>
          </a:prstGeom>
          <a:noFill/>
        </p:spPr>
        <p:txBody>
          <a:bodyPr wrap="square" rtlCol="0">
            <a:spAutoFit/>
          </a:bodyPr>
          <a:p>
            <a:r>
              <a:rPr lang="ru-RU" altLang="en-US" sz="2400" b="1">
                <a:solidFill>
                  <a:srgbClr val="FF0000"/>
                </a:solidFill>
              </a:rPr>
              <a:t>2.</a:t>
            </a:r>
            <a:endParaRPr lang="ru-RU" altLang="en-US" sz="2400" b="1">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2900" y="316230"/>
            <a:ext cx="11460480" cy="2738120"/>
          </a:xfrm>
          <a:prstGeom prst="rect">
            <a:avLst/>
          </a:prstGeom>
          <a:noFill/>
        </p:spPr>
        <p:txBody>
          <a:bodyPr wrap="square" rtlCol="0" anchor="t">
            <a:spAutoFit/>
          </a:bodyPr>
          <a:p>
            <a:pPr algn="just"/>
            <a:r>
              <a:rPr lang="ru-RU" altLang="en-US" sz="28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Обратите внимание, что рекурсивный вариант отличается принципиально.</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请注意，递归变体本质上不同。</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ru-RU" altLang="en-US" sz="24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Когда функция power(x, n) вызывается, исполнение делится на две ветви:</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当POWER（x，n）函数被调用时，执行被分为两个分支：</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p:txBody>
      </p:sp>
      <p:sp>
        <p:nvSpPr>
          <p:cNvPr id="3" name="Text Box 2"/>
          <p:cNvSpPr txBox="1"/>
          <p:nvPr/>
        </p:nvSpPr>
        <p:spPr>
          <a:xfrm>
            <a:off x="2249170" y="3717925"/>
            <a:ext cx="8377555" cy="2553335"/>
          </a:xfrm>
          <a:prstGeom prst="rect">
            <a:avLst/>
          </a:prstGeom>
          <a:noFill/>
        </p:spPr>
        <p:txBody>
          <a:bodyPr wrap="square" rtlCol="0" anchor="t">
            <a:spAutoFit/>
          </a:bodyPr>
          <a:p>
            <a:r>
              <a:rPr lang="en-US" sz="3200"/>
              <a:t>                        if n==</a:t>
            </a:r>
            <a:r>
              <a:rPr lang="ru-RU" altLang="en-US" sz="3200"/>
              <a:t>=</a:t>
            </a:r>
            <a:r>
              <a:rPr lang="en-US" sz="3200"/>
              <a:t>1  = x</a:t>
            </a:r>
            <a:endParaRPr lang="en-US" sz="3200"/>
          </a:p>
          <a:p>
            <a:r>
              <a:rPr lang="en-US" sz="3200"/>
              <a:t>                      /</a:t>
            </a:r>
            <a:endParaRPr lang="en-US" sz="3200"/>
          </a:p>
          <a:p>
            <a:r>
              <a:rPr lang="en-US" sz="3200"/>
              <a:t>power(x, n) =</a:t>
            </a:r>
            <a:endParaRPr lang="en-US" sz="3200"/>
          </a:p>
          <a:p>
            <a:r>
              <a:rPr lang="en-US" sz="3200"/>
              <a:t>                      \</a:t>
            </a:r>
            <a:endParaRPr lang="en-US" sz="3200"/>
          </a:p>
          <a:p>
            <a:r>
              <a:rPr lang="en-US" sz="3200"/>
              <a:t>                        else     = x * pow(x, n - 1)</a:t>
            </a:r>
            <a:endParaRPr lang="en-US" sz="3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90195" y="303530"/>
            <a:ext cx="11481435" cy="1568450"/>
          </a:xfrm>
          <a:prstGeom prst="rect">
            <a:avLst/>
          </a:prstGeom>
          <a:noFill/>
        </p:spPr>
        <p:txBody>
          <a:bodyPr wrap="square" rtlCol="0">
            <a:spAutoFit/>
          </a:bodyPr>
          <a:p>
            <a:pPr algn="just"/>
            <a:r>
              <a:rPr lang="ru-RU" altLang="en-US" sz="24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Если n ==</a:t>
            </a:r>
            <a:r>
              <a:rPr lang="ru-RU" altLang="en-US" sz="2400">
                <a:latin typeface="Times New Roman Regular" panose="02020603050405020304" charset="0"/>
                <a:cs typeface="Times New Roman Regular" panose="02020603050405020304" charset="0"/>
              </a:rPr>
              <a:t>=</a:t>
            </a:r>
            <a:r>
              <a:rPr lang="en-US" sz="2400">
                <a:latin typeface="Times New Roman Regular" panose="02020603050405020304" charset="0"/>
                <a:cs typeface="Times New Roman Regular" panose="02020603050405020304" charset="0"/>
              </a:rPr>
              <a:t> 1, тогда всё просто. Эта ветвь называется базой рекурсии, потому что сразу же приводит к очевидному результату: power(x, 1) равно x.</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如果n=1，那么就很简单了。这个分支被称为递归基，因为它立即导致一个明显的结果：power（x，1）等于x。</a:t>
            </a:r>
            <a:endParaRPr lang="en-US" sz="2400">
              <a:latin typeface="Times New Roman Regular" panose="02020603050405020304" charset="0"/>
              <a:cs typeface="Times New Roman Regular" panose="02020603050405020304" charset="0"/>
            </a:endParaRPr>
          </a:p>
        </p:txBody>
      </p:sp>
      <p:sp>
        <p:nvSpPr>
          <p:cNvPr id="3" name="Text Box 2"/>
          <p:cNvSpPr txBox="1"/>
          <p:nvPr/>
        </p:nvSpPr>
        <p:spPr>
          <a:xfrm>
            <a:off x="2301875" y="3401060"/>
            <a:ext cx="7588250" cy="2553335"/>
          </a:xfrm>
          <a:prstGeom prst="rect">
            <a:avLst/>
          </a:prstGeom>
          <a:noFill/>
        </p:spPr>
        <p:txBody>
          <a:bodyPr wrap="square" rtlCol="0" anchor="t">
            <a:spAutoFit/>
          </a:bodyPr>
          <a:p>
            <a:r>
              <a:rPr lang="en-US" sz="3200">
                <a:sym typeface="+mn-ea"/>
              </a:rPr>
              <a:t>                    </a:t>
            </a:r>
            <a:r>
              <a:rPr lang="en-US" sz="3200">
                <a:solidFill>
                  <a:srgbClr val="FF0000"/>
                </a:solidFill>
                <a:sym typeface="+mn-ea"/>
              </a:rPr>
              <a:t>    if n==</a:t>
            </a:r>
            <a:r>
              <a:rPr lang="ru-RU" altLang="en-US" sz="3200">
                <a:solidFill>
                  <a:srgbClr val="FF0000"/>
                </a:solidFill>
                <a:sym typeface="+mn-ea"/>
              </a:rPr>
              <a:t>=</a:t>
            </a:r>
            <a:r>
              <a:rPr lang="en-US" sz="3200">
                <a:solidFill>
                  <a:srgbClr val="FF0000"/>
                </a:solidFill>
                <a:sym typeface="+mn-ea"/>
              </a:rPr>
              <a:t>1  = x</a:t>
            </a:r>
            <a:endParaRPr lang="en-US" sz="3200">
              <a:solidFill>
                <a:srgbClr val="FF0000"/>
              </a:solidFill>
            </a:endParaRPr>
          </a:p>
          <a:p>
            <a:r>
              <a:rPr lang="en-US" sz="3200">
                <a:sym typeface="+mn-ea"/>
              </a:rPr>
              <a:t>                      /</a:t>
            </a:r>
            <a:endParaRPr lang="en-US" sz="3200"/>
          </a:p>
          <a:p>
            <a:r>
              <a:rPr lang="en-US" sz="3200">
                <a:sym typeface="+mn-ea"/>
              </a:rPr>
              <a:t>power(x, n) =</a:t>
            </a:r>
            <a:endParaRPr lang="en-US" sz="3200"/>
          </a:p>
          <a:p>
            <a:r>
              <a:rPr lang="en-US" sz="3200">
                <a:sym typeface="+mn-ea"/>
              </a:rPr>
              <a:t>                      \</a:t>
            </a:r>
            <a:endParaRPr lang="en-US" sz="3200"/>
          </a:p>
          <a:p>
            <a:r>
              <a:rPr lang="en-US" sz="3200">
                <a:sym typeface="+mn-ea"/>
              </a:rPr>
              <a:t>                        else     = x * pow(x, n - 1)</a:t>
            </a:r>
            <a:endParaRPr lang="en-US" sz="3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22580" y="250825"/>
            <a:ext cx="11396345" cy="3415030"/>
          </a:xfrm>
          <a:prstGeom prst="rect">
            <a:avLst/>
          </a:prstGeom>
          <a:noFill/>
        </p:spPr>
        <p:txBody>
          <a:bodyPr wrap="square" rtlCol="0" anchor="t">
            <a:spAutoFit/>
          </a:bodyPr>
          <a:p>
            <a:pPr algn="just"/>
            <a:r>
              <a:rPr lang="ru-RU" altLang="en-US" sz="2400"/>
              <a:t>	</a:t>
            </a:r>
            <a:r>
              <a:rPr lang="en-US" sz="2400">
                <a:latin typeface="Times New Roman Regular" panose="02020603050405020304" charset="0"/>
                <a:cs typeface="Times New Roman Regular" panose="02020603050405020304" charset="0"/>
              </a:rPr>
              <a:t>Мы можем представить power(x, n) в виде: x * power(x, n - 1). Что в математике записывается как: xn = x * xn-1. </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sym typeface="+mn-ea"/>
              </a:rPr>
              <a:t>我们可以将power（x，n）表示为：x*power（x，n-1）。在数学中写为：xn=x*xn-1。</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ru-RU" altLang="en-US" sz="24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Эта ветвь – шаг рекурсии: мы сводим задачу к более простому действию (умножение на x) и более простой аналогичной задаче (power с меньшим n). Последующие шаги упрощают задачу всё больше и больше, пока n не достигает 1.</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这个分支是递归的一步：我们将问题简化为一个更简单的操作（x乘法）和一个更简单的类似问题（n小于power）。接下来的步骤使问题变得越来越简单，直到n达到1。</a:t>
            </a:r>
            <a:endParaRPr lang="en-US" sz="2400">
              <a:latin typeface="Times New Roman Regular" panose="02020603050405020304" charset="0"/>
              <a:cs typeface="Times New Roman Regular" panose="02020603050405020304" charset="0"/>
            </a:endParaRPr>
          </a:p>
        </p:txBody>
      </p:sp>
      <p:sp>
        <p:nvSpPr>
          <p:cNvPr id="5" name="Text Box 4"/>
          <p:cNvSpPr txBox="1"/>
          <p:nvPr/>
        </p:nvSpPr>
        <p:spPr>
          <a:xfrm>
            <a:off x="1787525" y="4103370"/>
            <a:ext cx="7696835" cy="2553335"/>
          </a:xfrm>
          <a:prstGeom prst="rect">
            <a:avLst/>
          </a:prstGeom>
          <a:noFill/>
        </p:spPr>
        <p:txBody>
          <a:bodyPr wrap="square" rtlCol="0" anchor="t">
            <a:spAutoFit/>
          </a:bodyPr>
          <a:p>
            <a:r>
              <a:rPr lang="en-US" sz="3200"/>
              <a:t>                        if n==1  = x</a:t>
            </a:r>
            <a:endParaRPr lang="en-US" sz="3200"/>
          </a:p>
          <a:p>
            <a:r>
              <a:rPr lang="en-US" sz="3200"/>
              <a:t>                      /</a:t>
            </a:r>
            <a:endParaRPr lang="en-US" sz="3200"/>
          </a:p>
          <a:p>
            <a:r>
              <a:rPr lang="en-US" sz="3200"/>
              <a:t>power(x, n) =</a:t>
            </a:r>
            <a:endParaRPr lang="en-US" sz="3200"/>
          </a:p>
          <a:p>
            <a:r>
              <a:rPr lang="en-US" sz="3200"/>
              <a:t>                      \</a:t>
            </a:r>
            <a:endParaRPr lang="en-US" sz="3200"/>
          </a:p>
          <a:p>
            <a:r>
              <a:rPr lang="en-US" sz="3200"/>
              <a:t>                        </a:t>
            </a:r>
            <a:r>
              <a:rPr lang="en-US" sz="3200">
                <a:solidFill>
                  <a:srgbClr val="FF0000"/>
                </a:solidFill>
              </a:rPr>
              <a:t>else     = x * pow(x, n - 1)</a:t>
            </a:r>
            <a:endParaRPr lang="en-US" sz="320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4650" y="400685"/>
            <a:ext cx="11278235" cy="829945"/>
          </a:xfrm>
          <a:prstGeom prst="rect">
            <a:avLst/>
          </a:prstGeom>
          <a:noFill/>
        </p:spPr>
        <p:txBody>
          <a:bodyPr wrap="square" rtlCol="0" anchor="t">
            <a:spAutoFit/>
          </a:bodyPr>
          <a:p>
            <a:pPr algn="just"/>
            <a:r>
              <a:rPr lang="ru-RU" altLang="en-US" sz="2400">
                <a:latin typeface="Times New Roman Regular" panose="02020603050405020304" charset="0"/>
                <a:cs typeface="Times New Roman Regular" panose="02020603050405020304" charset="0"/>
              </a:rPr>
              <a:t>Ф</a:t>
            </a:r>
            <a:r>
              <a:rPr lang="en-US" sz="2400">
                <a:latin typeface="Times New Roman Regular" panose="02020603050405020304" charset="0"/>
                <a:cs typeface="Times New Roman Regular" panose="02020603050405020304" charset="0"/>
              </a:rPr>
              <a:t>ункция power рекурсивно вызывает саму себя до n === 1.</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POWER函数递归地调用自身，直到n==1。</a:t>
            </a:r>
            <a:endParaRPr lang="en-US" sz="2400">
              <a:latin typeface="Times New Roman Regular" panose="02020603050405020304" charset="0"/>
              <a:cs typeface="Times New Roman Regular" panose="02020603050405020304" charset="0"/>
            </a:endParaRPr>
          </a:p>
        </p:txBody>
      </p:sp>
      <p:sp>
        <p:nvSpPr>
          <p:cNvPr id="3" name="Flowchart: Terminator 2"/>
          <p:cNvSpPr/>
          <p:nvPr/>
        </p:nvSpPr>
        <p:spPr>
          <a:xfrm>
            <a:off x="4538345" y="1620520"/>
            <a:ext cx="2330450" cy="842010"/>
          </a:xfrm>
          <a:prstGeom prst="flowChartTerminator">
            <a:avLst/>
          </a:prstGeom>
          <a:ln w="28575"/>
        </p:spPr>
        <p:style>
          <a:lnRef idx="2">
            <a:schemeClr val="accent2"/>
          </a:lnRef>
          <a:fillRef idx="1">
            <a:schemeClr val="lt1"/>
          </a:fillRef>
          <a:effectRef idx="0">
            <a:schemeClr val="accent2"/>
          </a:effectRef>
          <a:fontRef idx="minor">
            <a:schemeClr val="dk1"/>
          </a:fontRef>
        </p:style>
        <p:txBody>
          <a:bodyPr rtlCol="0" anchor="ctr"/>
          <a:p>
            <a:pPr algn="ctr"/>
            <a:r>
              <a:rPr lang="en-US" sz="2400">
                <a:latin typeface="Arial Regular" panose="020B0704020202020204" charset="0"/>
                <a:cs typeface="Arial Regular" panose="020B0704020202020204" charset="0"/>
              </a:rPr>
              <a:t>power(x, n)</a:t>
            </a:r>
            <a:endParaRPr lang="en-US" sz="2400">
              <a:latin typeface="Arial Regular" panose="020B0704020202020204" charset="0"/>
              <a:cs typeface="Arial Regular" panose="020B0704020202020204" charset="0"/>
            </a:endParaRPr>
          </a:p>
        </p:txBody>
      </p:sp>
      <p:sp>
        <p:nvSpPr>
          <p:cNvPr id="4" name="Diamond 3"/>
          <p:cNvSpPr/>
          <p:nvPr/>
        </p:nvSpPr>
        <p:spPr>
          <a:xfrm>
            <a:off x="4206240" y="3215640"/>
            <a:ext cx="2995295" cy="1351915"/>
          </a:xfrm>
          <a:prstGeom prst="diamond">
            <a:avLst/>
          </a:prstGeom>
          <a:ln w="28575"/>
        </p:spPr>
        <p:style>
          <a:lnRef idx="2">
            <a:schemeClr val="accent2"/>
          </a:lnRef>
          <a:fillRef idx="1">
            <a:schemeClr val="lt1"/>
          </a:fillRef>
          <a:effectRef idx="0">
            <a:schemeClr val="accent2"/>
          </a:effectRef>
          <a:fontRef idx="minor">
            <a:schemeClr val="dk1"/>
          </a:fontRef>
        </p:style>
        <p:txBody>
          <a:bodyPr rtlCol="0" anchor="ctr"/>
          <a:p>
            <a:pPr algn="ctr"/>
            <a:r>
              <a:rPr lang="en-US" sz="2400">
                <a:latin typeface="Arial Regular" panose="020B0704020202020204" charset="0"/>
                <a:cs typeface="Arial Regular" panose="020B0704020202020204" charset="0"/>
              </a:rPr>
              <a:t>n === 1</a:t>
            </a:r>
            <a:endParaRPr lang="en-US" sz="2400">
              <a:latin typeface="Arial Regular" panose="020B0704020202020204" charset="0"/>
              <a:cs typeface="Arial Regular" panose="020B0704020202020204" charset="0"/>
            </a:endParaRPr>
          </a:p>
        </p:txBody>
      </p:sp>
      <p:sp>
        <p:nvSpPr>
          <p:cNvPr id="5" name="Rectangles 4"/>
          <p:cNvSpPr/>
          <p:nvPr/>
        </p:nvSpPr>
        <p:spPr>
          <a:xfrm>
            <a:off x="1307465" y="5429250"/>
            <a:ext cx="2898775" cy="1233170"/>
          </a:xfrm>
          <a:prstGeom prst="rect">
            <a:avLst/>
          </a:prstGeom>
          <a:ln w="28575"/>
        </p:spPr>
        <p:style>
          <a:lnRef idx="2">
            <a:schemeClr val="accent2"/>
          </a:lnRef>
          <a:fillRef idx="1">
            <a:schemeClr val="lt1"/>
          </a:fillRef>
          <a:effectRef idx="0">
            <a:schemeClr val="accent2"/>
          </a:effectRef>
          <a:fontRef idx="minor">
            <a:schemeClr val="dk1"/>
          </a:fontRef>
        </p:style>
        <p:txBody>
          <a:bodyPr rtlCol="0" anchor="ctr"/>
          <a:p>
            <a:pPr algn="ctr"/>
            <a:r>
              <a:rPr lang="en-US" sz="2400">
                <a:latin typeface="Arial Regular" panose="020B0704020202020204" charset="0"/>
                <a:cs typeface="Arial Regular" panose="020B0704020202020204" charset="0"/>
              </a:rPr>
              <a:t>x</a:t>
            </a:r>
            <a:endParaRPr lang="en-US" sz="2400">
              <a:latin typeface="Arial Regular" panose="020B0704020202020204" charset="0"/>
              <a:cs typeface="Arial Regular" panose="020B0704020202020204" charset="0"/>
            </a:endParaRPr>
          </a:p>
        </p:txBody>
      </p:sp>
      <p:sp>
        <p:nvSpPr>
          <p:cNvPr id="7" name="Rectangles 6"/>
          <p:cNvSpPr/>
          <p:nvPr/>
        </p:nvSpPr>
        <p:spPr>
          <a:xfrm>
            <a:off x="7380605" y="5429250"/>
            <a:ext cx="2898775" cy="1233170"/>
          </a:xfrm>
          <a:prstGeom prst="rect">
            <a:avLst/>
          </a:prstGeom>
          <a:ln w="28575"/>
        </p:spPr>
        <p:style>
          <a:lnRef idx="2">
            <a:schemeClr val="accent2"/>
          </a:lnRef>
          <a:fillRef idx="1">
            <a:schemeClr val="lt1"/>
          </a:fillRef>
          <a:effectRef idx="0">
            <a:schemeClr val="accent2"/>
          </a:effectRef>
          <a:fontRef idx="minor">
            <a:schemeClr val="dk1"/>
          </a:fontRef>
        </p:style>
        <p:txBody>
          <a:bodyPr rtlCol="0" anchor="ctr"/>
          <a:p>
            <a:pPr algn="ctr"/>
            <a:r>
              <a:rPr lang="en-US" sz="2400">
                <a:latin typeface="Arial Regular" panose="020B0704020202020204" charset="0"/>
                <a:cs typeface="Arial Regular" panose="020B0704020202020204" charset="0"/>
              </a:rPr>
              <a:t>x * power(x, n-1)</a:t>
            </a:r>
            <a:endParaRPr lang="en-US" sz="2400">
              <a:latin typeface="Arial Regular" panose="020B0704020202020204" charset="0"/>
              <a:cs typeface="Arial Regular" panose="020B0704020202020204" charset="0"/>
            </a:endParaRPr>
          </a:p>
        </p:txBody>
      </p:sp>
      <p:cxnSp>
        <p:nvCxnSpPr>
          <p:cNvPr id="8" name="Elbow Connector 7"/>
          <p:cNvCxnSpPr/>
          <p:nvPr/>
        </p:nvCxnSpPr>
        <p:spPr>
          <a:xfrm rot="10800000" flipV="1">
            <a:off x="2757170" y="3891915"/>
            <a:ext cx="1449070" cy="1537335"/>
          </a:xfrm>
          <a:prstGeom prst="bentConnector2">
            <a:avLst/>
          </a:prstGeom>
          <a:ln w="28575">
            <a:tailEnd type="arrow" w="med" len="med"/>
          </a:ln>
        </p:spPr>
        <p:style>
          <a:lnRef idx="3">
            <a:schemeClr val="accent2"/>
          </a:lnRef>
          <a:fillRef idx="0">
            <a:schemeClr val="accent2"/>
          </a:fillRef>
          <a:effectRef idx="2">
            <a:schemeClr val="accent2"/>
          </a:effectRef>
          <a:fontRef idx="minor">
            <a:schemeClr val="tx1"/>
          </a:fontRef>
        </p:style>
      </p:cxnSp>
      <p:cxnSp>
        <p:nvCxnSpPr>
          <p:cNvPr id="10" name="Elbow Connector 9"/>
          <p:cNvCxnSpPr/>
          <p:nvPr/>
        </p:nvCxnSpPr>
        <p:spPr>
          <a:xfrm>
            <a:off x="7201535" y="3891915"/>
            <a:ext cx="1628775" cy="1537335"/>
          </a:xfrm>
          <a:prstGeom prst="bentConnector2">
            <a:avLst/>
          </a:prstGeom>
          <a:ln w="28575">
            <a:tailEnd type="arrow" w="med" len="med"/>
          </a:ln>
        </p:spPr>
        <p:style>
          <a:lnRef idx="3">
            <a:schemeClr val="accent2"/>
          </a:lnRef>
          <a:fillRef idx="0">
            <a:schemeClr val="accent2"/>
          </a:fillRef>
          <a:effectRef idx="2">
            <a:schemeClr val="accent2"/>
          </a:effectRef>
          <a:fontRef idx="minor">
            <a:schemeClr val="tx1"/>
          </a:fontRef>
        </p:style>
      </p:cxnSp>
      <p:cxnSp>
        <p:nvCxnSpPr>
          <p:cNvPr id="11" name="Elbow Connector 10"/>
          <p:cNvCxnSpPr/>
          <p:nvPr/>
        </p:nvCxnSpPr>
        <p:spPr>
          <a:xfrm flipH="1" flipV="1">
            <a:off x="5687695" y="2860675"/>
            <a:ext cx="4591685" cy="3134360"/>
          </a:xfrm>
          <a:prstGeom prst="bentConnector3">
            <a:avLst>
              <a:gd name="adj1" fmla="val -5186"/>
            </a:avLst>
          </a:prstGeom>
          <a:ln w="28575">
            <a:prstDash val="dash"/>
            <a:tailEnd type="arrow" w="med" len="med"/>
          </a:ln>
        </p:spPr>
        <p:style>
          <a:lnRef idx="3">
            <a:schemeClr val="accent2"/>
          </a:lnRef>
          <a:fillRef idx="0">
            <a:schemeClr val="accent2"/>
          </a:fillRef>
          <a:effectRef idx="2">
            <a:schemeClr val="accent2"/>
          </a:effectRef>
          <a:fontRef idx="minor">
            <a:schemeClr val="tx1"/>
          </a:fontRef>
        </p:style>
      </p:cxnSp>
      <p:cxnSp>
        <p:nvCxnSpPr>
          <p:cNvPr id="12" name="Straight Arrow Connector 11"/>
          <p:cNvCxnSpPr/>
          <p:nvPr/>
        </p:nvCxnSpPr>
        <p:spPr>
          <a:xfrm>
            <a:off x="5703570" y="2462530"/>
            <a:ext cx="635" cy="753110"/>
          </a:xfrm>
          <a:prstGeom prst="straightConnector1">
            <a:avLst/>
          </a:prstGeom>
          <a:ln w="28575">
            <a:tailEnd type="arrow" w="med" len="med"/>
          </a:ln>
        </p:spPr>
        <p:style>
          <a:lnRef idx="3">
            <a:schemeClr val="accent2"/>
          </a:lnRef>
          <a:fillRef idx="0">
            <a:schemeClr val="accent2"/>
          </a:fillRef>
          <a:effectRef idx="2">
            <a:schemeClr val="accent2"/>
          </a:effectRef>
          <a:fontRef idx="minor">
            <a:schemeClr val="tx1"/>
          </a:fontRef>
        </p:style>
      </p:cxnSp>
      <p:sp>
        <p:nvSpPr>
          <p:cNvPr id="13" name="Text Box 12"/>
          <p:cNvSpPr txBox="1"/>
          <p:nvPr/>
        </p:nvSpPr>
        <p:spPr>
          <a:xfrm>
            <a:off x="3021330" y="3523615"/>
            <a:ext cx="497205" cy="368300"/>
          </a:xfrm>
          <a:prstGeom prst="rect">
            <a:avLst/>
          </a:prstGeom>
          <a:noFill/>
        </p:spPr>
        <p:txBody>
          <a:bodyPr wrap="none" rtlCol="0">
            <a:spAutoFit/>
          </a:bodyPr>
          <a:p>
            <a:r>
              <a:rPr lang="ru-RU" altLang="en-US"/>
              <a:t>ДА</a:t>
            </a:r>
            <a:endParaRPr lang="ru-RU" altLang="en-US"/>
          </a:p>
        </p:txBody>
      </p:sp>
      <p:sp>
        <p:nvSpPr>
          <p:cNvPr id="14" name="Text Box 13"/>
          <p:cNvSpPr txBox="1"/>
          <p:nvPr/>
        </p:nvSpPr>
        <p:spPr>
          <a:xfrm>
            <a:off x="7673975" y="3523615"/>
            <a:ext cx="619125" cy="368300"/>
          </a:xfrm>
          <a:prstGeom prst="rect">
            <a:avLst/>
          </a:prstGeom>
          <a:noFill/>
        </p:spPr>
        <p:txBody>
          <a:bodyPr wrap="none" rtlCol="0">
            <a:spAutoFit/>
          </a:bodyPr>
          <a:p>
            <a:r>
              <a:rPr lang="ru-RU" altLang="en-US"/>
              <a:t>НЕТ</a:t>
            </a:r>
            <a:endParaRPr lang="ru-RU" altLang="en-US"/>
          </a:p>
        </p:txBody>
      </p:sp>
      <p:sp>
        <p:nvSpPr>
          <p:cNvPr id="15" name="Text Box 14"/>
          <p:cNvSpPr txBox="1"/>
          <p:nvPr/>
        </p:nvSpPr>
        <p:spPr>
          <a:xfrm>
            <a:off x="6960235" y="2023745"/>
            <a:ext cx="3465830" cy="706755"/>
          </a:xfrm>
          <a:prstGeom prst="rect">
            <a:avLst/>
          </a:prstGeom>
          <a:noFill/>
        </p:spPr>
        <p:txBody>
          <a:bodyPr wrap="none" rtlCol="0">
            <a:spAutoFit/>
          </a:bodyPr>
          <a:p>
            <a:pPr algn="l"/>
            <a:r>
              <a:rPr lang="ru-RU" altLang="en-US" sz="2000"/>
              <a:t>Рекурсивный вызов до</a:t>
            </a:r>
            <a:r>
              <a:rPr lang="en-US" altLang="ru-RU" sz="2000"/>
              <a:t> n === 1</a:t>
            </a:r>
            <a:endParaRPr lang="en-US" altLang="ru-RU" sz="2000"/>
          </a:p>
          <a:p>
            <a:pPr algn="l"/>
            <a:r>
              <a:rPr lang="en-US" altLang="ru-RU" sz="2000"/>
              <a:t>递归调用n==1</a:t>
            </a:r>
            <a:endParaRPr lang="en-US" altLang="ru-RU" sz="2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9110" y="1517650"/>
            <a:ext cx="10989310" cy="3969385"/>
          </a:xfrm>
          <a:prstGeom prst="rect">
            <a:avLst/>
          </a:prstGeom>
          <a:noFill/>
        </p:spPr>
        <p:txBody>
          <a:bodyPr wrap="square" rtlCol="0" anchor="t">
            <a:spAutoFit/>
          </a:bodyPr>
          <a:p>
            <a:pPr algn="just"/>
            <a:r>
              <a:rPr lang="en-US" sz="2800">
                <a:latin typeface="Times New Roman Regular" panose="02020603050405020304" charset="0"/>
                <a:cs typeface="Times New Roman Regular" panose="02020603050405020304" charset="0"/>
              </a:rPr>
              <a:t>	Например, рекурсивный вариант вычисления power(2, 4) состоит из шагов:</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例如，计算POWER（2，4）的递归变体包括步骤：</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power(2, 4) = 2 * power(2, 3)</a:t>
            </a:r>
            <a:r>
              <a:rPr lang="ru-RU" altLang="en-US" sz="2800">
                <a:latin typeface="Times New Roman Regular" panose="02020603050405020304" charset="0"/>
                <a:cs typeface="Times New Roman Regular" panose="02020603050405020304" charset="0"/>
              </a:rPr>
              <a:t> // 16</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power(2, 3) = 2 * power(2, 2)</a:t>
            </a:r>
            <a:r>
              <a:rPr lang="ru-RU" altLang="en-US" sz="2800">
                <a:latin typeface="Times New Roman Regular" panose="02020603050405020304" charset="0"/>
                <a:cs typeface="Times New Roman Regular" panose="02020603050405020304" charset="0"/>
              </a:rPr>
              <a:t> // 8</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power(2, 2) = 2 * power(2, 1)</a:t>
            </a:r>
            <a:r>
              <a:rPr lang="ru-RU" altLang="en-US" sz="2800">
                <a:latin typeface="Times New Roman Regular" panose="02020603050405020304" charset="0"/>
                <a:cs typeface="Times New Roman Regular" panose="02020603050405020304" charset="0"/>
              </a:rPr>
              <a:t> // 4</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power(2, 1) = 2</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57555" y="1075690"/>
            <a:ext cx="10949305" cy="1938020"/>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Итак, рекурсию используют, когда вычисление функции можно свести к её более простому вызову, а его – к ещё более простому и так далее, пока значение не станет очевидно.</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因此，当函数的计算可以简化为更简单的调用，并且可以简化为更简单的调用，依此类推，直到值变得明显。</a:t>
            </a: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72440" y="307975"/>
            <a:ext cx="11314430" cy="1198880"/>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Рекурсивное решение задачи обычно короче, чем итеративное (</a:t>
            </a:r>
            <a:r>
              <a:rPr lang="ru-RU" altLang="en-US" sz="2400">
                <a:latin typeface="Times New Roman Regular" panose="02020603050405020304" charset="0"/>
                <a:cs typeface="Times New Roman Regular" panose="02020603050405020304" charset="0"/>
              </a:rPr>
              <a:t>использование циклов</a:t>
            </a:r>
            <a:r>
              <a:rPr lang="en-US" sz="2400">
                <a:latin typeface="Times New Roman Regular" panose="02020603050405020304" charset="0"/>
                <a:cs typeface="Times New Roman Regular" panose="02020603050405020304" charset="0"/>
              </a:rPr>
              <a:t>).递归解通常比迭代解（循环使用）短。</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p:txBody>
      </p:sp>
      <p:sp>
        <p:nvSpPr>
          <p:cNvPr id="6" name="Rectangles 5"/>
          <p:cNvSpPr/>
          <p:nvPr/>
        </p:nvSpPr>
        <p:spPr>
          <a:xfrm>
            <a:off x="6463665" y="2305685"/>
            <a:ext cx="4599305" cy="4405630"/>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p>
            <a:pPr algn="ctr"/>
            <a:endParaRPr lang="ru-RU" altLang="en-US"/>
          </a:p>
        </p:txBody>
      </p:sp>
      <p:sp>
        <p:nvSpPr>
          <p:cNvPr id="11" name="Rectangles 10"/>
          <p:cNvSpPr/>
          <p:nvPr/>
        </p:nvSpPr>
        <p:spPr>
          <a:xfrm>
            <a:off x="222250" y="3513455"/>
            <a:ext cx="5973445" cy="3197860"/>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p>
            <a:pPr algn="ctr"/>
            <a:endParaRPr lang="ru-RU" altLang="en-US"/>
          </a:p>
        </p:txBody>
      </p:sp>
      <p:sp>
        <p:nvSpPr>
          <p:cNvPr id="12" name="Text Box 11"/>
          <p:cNvSpPr txBox="1"/>
          <p:nvPr/>
        </p:nvSpPr>
        <p:spPr>
          <a:xfrm>
            <a:off x="222250" y="3642360"/>
            <a:ext cx="6713220" cy="2676525"/>
          </a:xfrm>
          <a:prstGeom prst="rect">
            <a:avLst/>
          </a:prstGeom>
          <a:noFill/>
          <a:ln w="9525">
            <a:noFill/>
          </a:ln>
        </p:spPr>
        <p:txBody>
          <a:bodyPr wrap="square">
            <a:spAutoFit/>
          </a:bodyPr>
          <a:p>
            <a:pPr indent="0"/>
            <a:r>
              <a:rPr lang="en-US" sz="2400" b="0">
                <a:solidFill>
                  <a:srgbClr val="0000FF"/>
                </a:solidFill>
                <a:latin typeface="Consolas" panose="020B0609020204030204" charset="0"/>
              </a:rPr>
              <a:t>function</a:t>
            </a:r>
            <a:r>
              <a:rPr lang="en-US" sz="2400" b="0">
                <a:solidFill>
                  <a:srgbClr val="000000"/>
                </a:solidFill>
                <a:latin typeface="Consolas" panose="020B0609020204030204" charset="0"/>
              </a:rPr>
              <a:t> </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n</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x</a:t>
            </a:r>
            <a:r>
              <a:rPr lang="en-US" sz="2400" b="0">
                <a:solidFill>
                  <a:srgbClr val="000000"/>
                </a:solidFill>
                <a:latin typeface="Consolas" panose="020B0609020204030204" charset="0"/>
              </a:rPr>
              <a:t>) {  </a:t>
            </a:r>
            <a:r>
              <a:rPr lang="en-US" sz="2400" b="0">
                <a:solidFill>
                  <a:srgbClr val="AF00DB"/>
                </a:solidFill>
                <a:latin typeface="Consolas" panose="020B0609020204030204" charset="0"/>
              </a:rPr>
              <a:t>return</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 </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1</a:t>
            </a:r>
            <a:r>
              <a:rPr lang="en-US" sz="2400" b="0">
                <a:solidFill>
                  <a:srgbClr val="000000"/>
                </a:solidFill>
                <a:latin typeface="Consolas" panose="020B0609020204030204" charset="0"/>
              </a:rPr>
              <a:t> ? </a:t>
            </a:r>
            <a:r>
              <a:rPr lang="en-US" sz="2400" b="0">
                <a:solidFill>
                  <a:srgbClr val="001080"/>
                </a:solidFill>
                <a:latin typeface="Consolas" panose="020B0609020204030204" charset="0"/>
              </a:rPr>
              <a:t>x </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x </a:t>
            </a:r>
            <a:r>
              <a:rPr lang="en-US" sz="2400" b="0">
                <a:solidFill>
                  <a:srgbClr val="000000"/>
                </a:solidFill>
                <a:latin typeface="Consolas" panose="020B0609020204030204" charset="0"/>
              </a:rPr>
              <a:t>* </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01080"/>
                </a:solidFill>
                <a:latin typeface="Consolas" panose="020B0609020204030204" charset="0"/>
              </a:rPr>
              <a:t>x</a:t>
            </a:r>
            <a:r>
              <a:rPr lang="en-US" sz="2400" b="0">
                <a:solidFill>
                  <a:srgbClr val="000000"/>
                </a:solidFill>
                <a:latin typeface="Consolas" panose="020B0609020204030204" charset="0"/>
              </a:rPr>
              <a:t>, </a:t>
            </a:r>
            <a:r>
              <a:rPr lang="en-US" sz="2400" b="0">
                <a:solidFill>
                  <a:srgbClr val="001080"/>
                </a:solidFill>
                <a:latin typeface="Consolas" panose="020B0609020204030204" charset="0"/>
              </a:rPr>
              <a:t>n </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1</a:t>
            </a:r>
            <a:r>
              <a:rPr lang="en-US" sz="2400" b="0">
                <a:solidFill>
                  <a:srgbClr val="000000"/>
                </a:solidFill>
                <a:latin typeface="Consolas" panose="020B0609020204030204" charset="0"/>
              </a:rPr>
              <a:t>);} </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4</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3</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8</a:t>
            </a:r>
            <a:r>
              <a:rPr lang="en-US" sz="2400" b="0">
                <a:solidFill>
                  <a:srgbClr val="795E26"/>
                </a:solidFill>
                <a:latin typeface="Consolas" panose="020B0609020204030204" charset="0"/>
              </a:rPr>
              <a:t>alert</a:t>
            </a:r>
            <a:r>
              <a:rPr lang="en-US" sz="2400" b="0">
                <a:solidFill>
                  <a:srgbClr val="000000"/>
                </a:solidFill>
                <a:latin typeface="Consolas" panose="020B0609020204030204" charset="0"/>
              </a:rPr>
              <a:t>(</a:t>
            </a:r>
            <a:r>
              <a:rPr lang="en-US" sz="2400" b="0">
                <a:solidFill>
                  <a:srgbClr val="795E26"/>
                </a:solidFill>
                <a:latin typeface="Consolas" panose="020B0609020204030204" charset="0"/>
              </a:rPr>
              <a:t>power</a:t>
            </a:r>
            <a:r>
              <a:rPr lang="en-US" sz="2400" b="0">
                <a:solidFill>
                  <a:srgbClr val="000000"/>
                </a:solidFill>
                <a:latin typeface="Consolas" panose="020B0609020204030204" charset="0"/>
              </a:rPr>
              <a:t>(</a:t>
            </a:r>
            <a:r>
              <a:rPr lang="en-US" sz="2400" b="0">
                <a:solidFill>
                  <a:srgbClr val="098658"/>
                </a:solidFill>
                <a:latin typeface="Consolas" panose="020B0609020204030204" charset="0"/>
              </a:rPr>
              <a:t>2</a:t>
            </a:r>
            <a:r>
              <a:rPr lang="en-US" sz="2400" b="0">
                <a:solidFill>
                  <a:srgbClr val="000000"/>
                </a:solidFill>
                <a:latin typeface="Consolas" panose="020B0609020204030204" charset="0"/>
              </a:rPr>
              <a:t>, </a:t>
            </a:r>
            <a:r>
              <a:rPr lang="en-US" sz="2400" b="0">
                <a:solidFill>
                  <a:srgbClr val="098658"/>
                </a:solidFill>
                <a:latin typeface="Consolas" panose="020B0609020204030204" charset="0"/>
              </a:rPr>
              <a:t>4</a:t>
            </a:r>
            <a:r>
              <a:rPr lang="en-US" sz="2400" b="0">
                <a:solidFill>
                  <a:srgbClr val="000000"/>
                </a:solidFill>
                <a:latin typeface="Consolas" panose="020B0609020204030204" charset="0"/>
              </a:rPr>
              <a:t>)); </a:t>
            </a:r>
            <a:r>
              <a:rPr lang="en-US" sz="2400" b="0">
                <a:solidFill>
                  <a:srgbClr val="008000"/>
                </a:solidFill>
                <a:latin typeface="Consolas" panose="020B0609020204030204" charset="0"/>
              </a:rPr>
              <a:t>// 16</a:t>
            </a:r>
            <a:endParaRPr lang="en-US" sz="2400"/>
          </a:p>
        </p:txBody>
      </p:sp>
      <p:sp>
        <p:nvSpPr>
          <p:cNvPr id="13" name="Text Box 12"/>
          <p:cNvSpPr txBox="1"/>
          <p:nvPr/>
        </p:nvSpPr>
        <p:spPr>
          <a:xfrm>
            <a:off x="6572250" y="2406015"/>
            <a:ext cx="5728335" cy="4154170"/>
          </a:xfrm>
          <a:prstGeom prst="rect">
            <a:avLst/>
          </a:prstGeom>
          <a:noFill/>
          <a:ln w="9525">
            <a:noFill/>
          </a:ln>
        </p:spPr>
        <p:txBody>
          <a:bodyPr wrap="square">
            <a:spAutoFit/>
          </a:bodyPr>
          <a:p>
            <a:pPr marL="0" indent="0" algn="l"/>
            <a:r>
              <a:rPr lang="en-US" sz="2400" b="0">
                <a:solidFill>
                  <a:srgbClr val="0000FF"/>
                </a:solidFill>
                <a:latin typeface="Consolas" panose="020B0609020204030204" charset="0"/>
                <a:cs typeface="Consolas" panose="020B0609020204030204" charset="0"/>
              </a:rPr>
              <a:t>function</a:t>
            </a:r>
            <a:r>
              <a:rPr lang="en-US" sz="2400" b="0">
                <a:solidFill>
                  <a:srgbClr val="3B3B3B"/>
                </a:solidFill>
                <a:latin typeface="Consolas" panose="020B0609020204030204" charset="0"/>
                <a:cs typeface="Consolas" panose="020B0609020204030204" charset="0"/>
              </a:rPr>
              <a:t> </a:t>
            </a:r>
            <a:r>
              <a:rPr lang="en-US" sz="2400" b="0">
                <a:solidFill>
                  <a:srgbClr val="795E26"/>
                </a:solidFill>
                <a:latin typeface="Consolas" panose="020B0609020204030204" charset="0"/>
                <a:cs typeface="Consolas" panose="020B0609020204030204" charset="0"/>
              </a:rPr>
              <a:t>power</a:t>
            </a:r>
            <a:r>
              <a:rPr lang="en-US" sz="2400" b="0">
                <a:solidFill>
                  <a:srgbClr val="3B3B3B"/>
                </a:solidFill>
                <a:latin typeface="Consolas" panose="020B0609020204030204" charset="0"/>
                <a:cs typeface="Consolas" panose="020B0609020204030204" charset="0"/>
              </a:rPr>
              <a:t>(</a:t>
            </a:r>
            <a:r>
              <a:rPr lang="en-US" sz="2400" b="0">
                <a:solidFill>
                  <a:srgbClr val="001080"/>
                </a:solidFill>
                <a:latin typeface="Consolas" panose="020B0609020204030204" charset="0"/>
                <a:cs typeface="Consolas" panose="020B0609020204030204" charset="0"/>
              </a:rPr>
              <a:t>x</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n</a:t>
            </a:r>
            <a:r>
              <a:rPr lang="en-US" sz="2400" b="0">
                <a:solidFill>
                  <a:srgbClr val="3B3B3B"/>
                </a:solidFill>
                <a:latin typeface="Consolas" panose="020B0609020204030204" charset="0"/>
                <a:cs typeface="Consolas" panose="020B0609020204030204" charset="0"/>
              </a:rPr>
              <a:t>) {</a:t>
            </a:r>
            <a:r>
              <a:rPr lang="en-US" sz="2400" b="0">
                <a:solidFill>
                  <a:srgbClr val="0000FF"/>
                </a:solidFill>
                <a:latin typeface="Consolas" panose="020B0609020204030204" charset="0"/>
                <a:cs typeface="Consolas" panose="020B0609020204030204" charset="0"/>
              </a:rPr>
              <a:t>  let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result</a:t>
            </a:r>
            <a:r>
              <a:rPr lang="en-US" sz="2400" b="0">
                <a:solidFill>
                  <a:srgbClr val="3B3B3B"/>
                </a:solidFill>
                <a:latin typeface="Consolas" panose="020B0609020204030204" charset="0"/>
                <a:cs typeface="Consolas" panose="020B0609020204030204" charset="0"/>
              </a:rPr>
              <a:t> </a:t>
            </a:r>
            <a:r>
              <a:rPr lang="en-US" sz="2400" b="0">
                <a:solidFill>
                  <a:srgbClr val="000000"/>
                </a:solidFill>
                <a:latin typeface="Consolas" panose="020B0609020204030204" charset="0"/>
                <a:cs typeface="Consolas" panose="020B0609020204030204" charset="0"/>
              </a:rPr>
              <a:t>=</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1</a:t>
            </a:r>
            <a:r>
              <a:rPr lang="en-US" sz="2400" b="0">
                <a:solidFill>
                  <a:srgbClr val="3B3B3B"/>
                </a:solidFill>
                <a:latin typeface="Consolas" panose="020B0609020204030204" charset="0"/>
                <a:cs typeface="Consolas" panose="020B0609020204030204" charset="0"/>
              </a:rPr>
              <a:t>;</a:t>
            </a:r>
            <a:r>
              <a:rPr lang="en-US" sz="2400" b="0">
                <a:solidFill>
                  <a:srgbClr val="AF00DB"/>
                </a:solidFill>
                <a:latin typeface="Consolas" panose="020B0609020204030204" charset="0"/>
                <a:cs typeface="Consolas" panose="020B0609020204030204" charset="0"/>
              </a:rPr>
              <a:t>  for</a:t>
            </a:r>
            <a:r>
              <a:rPr lang="en-US" sz="2400" b="0">
                <a:solidFill>
                  <a:srgbClr val="3B3B3B"/>
                </a:solidFill>
                <a:latin typeface="Consolas" panose="020B0609020204030204" charset="0"/>
                <a:cs typeface="Consolas" panose="020B0609020204030204" charset="0"/>
              </a:rPr>
              <a:t> (</a:t>
            </a:r>
            <a:r>
              <a:rPr lang="en-US" sz="2400" b="0">
                <a:solidFill>
                  <a:srgbClr val="0000FF"/>
                </a:solidFill>
                <a:latin typeface="Consolas" panose="020B0609020204030204" charset="0"/>
                <a:cs typeface="Consolas" panose="020B0609020204030204" charset="0"/>
              </a:rPr>
              <a:t>let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i</a:t>
            </a:r>
            <a:r>
              <a:rPr lang="en-US" sz="2400" b="0">
                <a:solidFill>
                  <a:srgbClr val="3B3B3B"/>
                </a:solidFill>
                <a:latin typeface="Consolas" panose="020B0609020204030204" charset="0"/>
                <a:cs typeface="Consolas" panose="020B0609020204030204" charset="0"/>
              </a:rPr>
              <a:t> </a:t>
            </a:r>
            <a:r>
              <a:rPr lang="en-US" sz="2400" b="0">
                <a:solidFill>
                  <a:srgbClr val="000000"/>
                </a:solidFill>
                <a:latin typeface="Consolas" panose="020B0609020204030204" charset="0"/>
                <a:cs typeface="Consolas" panose="020B0609020204030204" charset="0"/>
              </a:rPr>
              <a:t>=</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0</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i</a:t>
            </a:r>
            <a:r>
              <a:rPr lang="en-US" sz="2400" b="0">
                <a:solidFill>
                  <a:srgbClr val="3B3B3B"/>
                </a:solidFill>
                <a:latin typeface="Consolas" panose="020B0609020204030204" charset="0"/>
                <a:cs typeface="Consolas" panose="020B0609020204030204" charset="0"/>
              </a:rPr>
              <a:t> </a:t>
            </a:r>
            <a:r>
              <a:rPr lang="en-US" sz="2400" b="0">
                <a:solidFill>
                  <a:srgbClr val="000000"/>
                </a:solidFill>
                <a:latin typeface="Consolas" panose="020B0609020204030204" charset="0"/>
                <a:cs typeface="Consolas" panose="020B0609020204030204" charset="0"/>
              </a:rPr>
              <a:t>&lt;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n</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i</a:t>
            </a:r>
            <a:r>
              <a:rPr lang="en-US" sz="2400" b="0">
                <a:solidFill>
                  <a:srgbClr val="000000"/>
                </a:solidFill>
                <a:latin typeface="Consolas" panose="020B0609020204030204" charset="0"/>
                <a:cs typeface="Consolas" panose="020B0609020204030204" charset="0"/>
              </a:rPr>
              <a: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    result</a:t>
            </a:r>
            <a:r>
              <a:rPr lang="en-US" sz="2400" b="0">
                <a:solidFill>
                  <a:srgbClr val="3B3B3B"/>
                </a:solidFill>
                <a:latin typeface="Consolas" panose="020B0609020204030204" charset="0"/>
                <a:cs typeface="Consolas" panose="020B0609020204030204" charset="0"/>
              </a:rPr>
              <a:t> </a:t>
            </a:r>
            <a:r>
              <a:rPr lang="en-US" sz="2400" b="0">
                <a:solidFill>
                  <a:srgbClr val="000000"/>
                </a:solidFill>
                <a:latin typeface="Consolas" panose="020B0609020204030204" charset="0"/>
                <a:cs typeface="Consolas" panose="020B0609020204030204" charset="0"/>
              </a:rPr>
              <a:t>*=</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x</a:t>
            </a:r>
            <a:r>
              <a:rPr lang="en-US" sz="2400" b="0">
                <a:solidFill>
                  <a:srgbClr val="3B3B3B"/>
                </a:solidFill>
                <a:latin typeface="Consolas" panose="020B0609020204030204" charset="0"/>
                <a:cs typeface="Consolas" panose="020B0609020204030204" charset="0"/>
              </a:rPr>
              <a:t>;  }</a:t>
            </a:r>
            <a:r>
              <a:rPr lang="en-US" sz="2400" b="0">
                <a:solidFill>
                  <a:srgbClr val="AF00DB"/>
                </a:solidFill>
                <a:latin typeface="Consolas" panose="020B0609020204030204" charset="0"/>
                <a:cs typeface="Consolas" panose="020B0609020204030204" charset="0"/>
              </a:rPr>
              <a:t>  return</a:t>
            </a:r>
            <a:r>
              <a:rPr lang="en-US" sz="2400" b="0">
                <a:solidFill>
                  <a:srgbClr val="3B3B3B"/>
                </a:solidFill>
                <a:latin typeface="Consolas" panose="020B0609020204030204" charset="0"/>
                <a:cs typeface="Consolas" panose="020B0609020204030204" charset="0"/>
              </a:rPr>
              <a:t> </a:t>
            </a:r>
            <a:r>
              <a:rPr lang="en-US" sz="2400" b="0">
                <a:solidFill>
                  <a:srgbClr val="001080"/>
                </a:solidFill>
                <a:latin typeface="Consolas" panose="020B0609020204030204" charset="0"/>
                <a:cs typeface="Consolas" panose="020B0609020204030204" charset="0"/>
              </a:rPr>
              <a:t>result</a:t>
            </a:r>
            <a:r>
              <a:rPr lang="en-US" sz="2400" b="0">
                <a:solidFill>
                  <a:srgbClr val="3B3B3B"/>
                </a:solidFill>
                <a:latin typeface="Consolas" panose="020B0609020204030204" charset="0"/>
                <a:cs typeface="Consolas" panose="020B0609020204030204" charset="0"/>
              </a:rPr>
              <a:t>;}</a:t>
            </a:r>
            <a:endParaRPr lang="en-US" sz="2400" b="0">
              <a:solidFill>
                <a:srgbClr val="795E26"/>
              </a:solidFill>
              <a:latin typeface="Consolas" panose="020B0609020204030204" charset="0"/>
              <a:cs typeface="Consolas" panose="020B0609020204030204" charset="0"/>
            </a:endParaRPr>
          </a:p>
          <a:p>
            <a:pPr marL="0" indent="0" algn="l"/>
            <a:endParaRPr lang="en-US" sz="2400" b="0">
              <a:solidFill>
                <a:srgbClr val="795E26"/>
              </a:solidFill>
              <a:latin typeface="Consolas" panose="020B0609020204030204" charset="0"/>
              <a:cs typeface="Consolas" panose="020B0609020204030204" charset="0"/>
            </a:endParaRPr>
          </a:p>
          <a:p>
            <a:pPr marL="0" indent="0" algn="l"/>
            <a:r>
              <a:rPr lang="en-US" sz="2400" b="0">
                <a:solidFill>
                  <a:srgbClr val="795E26"/>
                </a:solidFill>
                <a:latin typeface="Consolas" panose="020B0609020204030204" charset="0"/>
                <a:cs typeface="Consolas" panose="020B0609020204030204" charset="0"/>
              </a:rPr>
              <a:t>alert</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power</a:t>
            </a:r>
            <a:r>
              <a:rPr lang="en-US" sz="2400" b="0">
                <a:solidFill>
                  <a:srgbClr val="3B3B3B"/>
                </a:solidFill>
                <a:latin typeface="Consolas" panose="020B0609020204030204" charset="0"/>
                <a:cs typeface="Consolas" panose="020B0609020204030204" charset="0"/>
              </a:rPr>
              <a:t>(</a:t>
            </a:r>
            <a:r>
              <a:rPr lang="en-US" sz="2400" b="0">
                <a:solidFill>
                  <a:srgbClr val="098658"/>
                </a:solidFill>
                <a:latin typeface="Consolas" panose="020B0609020204030204" charset="0"/>
                <a:cs typeface="Consolas" panose="020B0609020204030204" charset="0"/>
              </a:rPr>
              <a:t>2</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2</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alert</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power</a:t>
            </a:r>
            <a:r>
              <a:rPr lang="en-US" sz="2400" b="0">
                <a:solidFill>
                  <a:srgbClr val="3B3B3B"/>
                </a:solidFill>
                <a:latin typeface="Consolas" panose="020B0609020204030204" charset="0"/>
                <a:cs typeface="Consolas" panose="020B0609020204030204" charset="0"/>
              </a:rPr>
              <a:t>(</a:t>
            </a:r>
            <a:r>
              <a:rPr lang="en-US" sz="2400" b="0">
                <a:solidFill>
                  <a:srgbClr val="098658"/>
                </a:solidFill>
                <a:latin typeface="Consolas" panose="020B0609020204030204" charset="0"/>
                <a:cs typeface="Consolas" panose="020B0609020204030204" charset="0"/>
              </a:rPr>
              <a:t>2</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3</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alert</a:t>
            </a:r>
            <a:r>
              <a:rPr lang="en-US" sz="2400" b="0">
                <a:solidFill>
                  <a:srgbClr val="3B3B3B"/>
                </a:solidFill>
                <a:latin typeface="Consolas" panose="020B0609020204030204" charset="0"/>
                <a:cs typeface="Consolas" panose="020B0609020204030204" charset="0"/>
              </a:rPr>
              <a:t>(</a:t>
            </a:r>
            <a:r>
              <a:rPr lang="en-US" sz="2400" b="0">
                <a:solidFill>
                  <a:srgbClr val="795E26"/>
                </a:solidFill>
                <a:latin typeface="Consolas" panose="020B0609020204030204" charset="0"/>
                <a:cs typeface="Consolas" panose="020B0609020204030204" charset="0"/>
              </a:rPr>
              <a:t>power</a:t>
            </a:r>
            <a:r>
              <a:rPr lang="en-US" sz="2400" b="0">
                <a:solidFill>
                  <a:srgbClr val="3B3B3B"/>
                </a:solidFill>
                <a:latin typeface="Consolas" panose="020B0609020204030204" charset="0"/>
                <a:cs typeface="Consolas" panose="020B0609020204030204" charset="0"/>
              </a:rPr>
              <a:t>(</a:t>
            </a:r>
            <a:r>
              <a:rPr lang="en-US" sz="2400" b="0">
                <a:solidFill>
                  <a:srgbClr val="098658"/>
                </a:solidFill>
                <a:latin typeface="Consolas" panose="020B0609020204030204" charset="0"/>
                <a:cs typeface="Consolas" panose="020B0609020204030204" charset="0"/>
              </a:rPr>
              <a:t>2</a:t>
            </a:r>
            <a:r>
              <a:rPr lang="en-US" sz="2400" b="0">
                <a:solidFill>
                  <a:srgbClr val="3B3B3B"/>
                </a:solidFill>
                <a:latin typeface="Consolas" panose="020B0609020204030204" charset="0"/>
                <a:cs typeface="Consolas" panose="020B0609020204030204" charset="0"/>
              </a:rPr>
              <a:t>, </a:t>
            </a:r>
            <a:r>
              <a:rPr lang="en-US" sz="2400" b="0">
                <a:solidFill>
                  <a:srgbClr val="098658"/>
                </a:solidFill>
                <a:latin typeface="Consolas" panose="020B0609020204030204" charset="0"/>
                <a:cs typeface="Consolas" panose="020B0609020204030204" charset="0"/>
              </a:rPr>
              <a:t>4</a:t>
            </a:r>
            <a:r>
              <a:rPr lang="en-US" sz="2400" b="0">
                <a:solidFill>
                  <a:srgbClr val="3B3B3B"/>
                </a:solidFill>
                <a:latin typeface="Consolas" panose="020B0609020204030204" charset="0"/>
                <a:cs typeface="Consolas" panose="020B0609020204030204" charset="0"/>
              </a:rPr>
              <a:t>));</a:t>
            </a:r>
            <a:endParaRPr lang="en-US" sz="2400">
              <a:latin typeface="Consolas" panose="020B0609020204030204" charset="0"/>
              <a:cs typeface="Consolas" panose="020B0609020204030204" charset="0"/>
            </a:endParaRPr>
          </a:p>
        </p:txBody>
      </p:sp>
      <p:sp>
        <p:nvSpPr>
          <p:cNvPr id="14" name="Text Box 13"/>
          <p:cNvSpPr txBox="1"/>
          <p:nvPr/>
        </p:nvSpPr>
        <p:spPr>
          <a:xfrm>
            <a:off x="222250" y="3053080"/>
            <a:ext cx="407035" cy="460375"/>
          </a:xfrm>
          <a:prstGeom prst="rect">
            <a:avLst/>
          </a:prstGeom>
          <a:noFill/>
        </p:spPr>
        <p:txBody>
          <a:bodyPr wrap="square" rtlCol="0">
            <a:spAutoFit/>
          </a:bodyPr>
          <a:p>
            <a:r>
              <a:rPr lang="ru-RU" altLang="en-US" sz="2400" b="1">
                <a:solidFill>
                  <a:srgbClr val="FF0000"/>
                </a:solidFill>
              </a:rPr>
              <a:t>1.</a:t>
            </a:r>
            <a:endParaRPr lang="ru-RU" altLang="en-US" sz="2400" b="1">
              <a:solidFill>
                <a:srgbClr val="FF0000"/>
              </a:solidFill>
            </a:endParaRPr>
          </a:p>
        </p:txBody>
      </p:sp>
      <p:sp>
        <p:nvSpPr>
          <p:cNvPr id="15" name="Text Box 14"/>
          <p:cNvSpPr txBox="1"/>
          <p:nvPr/>
        </p:nvSpPr>
        <p:spPr>
          <a:xfrm>
            <a:off x="6463665" y="1750695"/>
            <a:ext cx="407035" cy="460375"/>
          </a:xfrm>
          <a:prstGeom prst="rect">
            <a:avLst/>
          </a:prstGeom>
          <a:noFill/>
        </p:spPr>
        <p:txBody>
          <a:bodyPr wrap="square" rtlCol="0">
            <a:spAutoFit/>
          </a:bodyPr>
          <a:p>
            <a:r>
              <a:rPr lang="ru-RU" altLang="en-US" sz="2400" b="1">
                <a:solidFill>
                  <a:srgbClr val="FF0000"/>
                </a:solidFill>
              </a:rPr>
              <a:t>2.</a:t>
            </a:r>
            <a:endParaRPr lang="ru-RU" altLang="en-US" sz="2400" b="1">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4500" y="1284605"/>
            <a:ext cx="11302365" cy="1814830"/>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a:t>
            </a:r>
            <a:r>
              <a:rPr lang="en-US" sz="2800">
                <a:latin typeface="Times New Roman Regular" panose="02020603050405020304" charset="0"/>
                <a:cs typeface="Times New Roman Regular" panose="02020603050405020304" charset="0"/>
              </a:rPr>
              <a:t>Общее количество вложенных вызовов (включая первый) называют глубиной рекурсии. В нашем случае она будет равна n.</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嵌入调用的总数（包括第一个调用）称为递归深度。在这种情况下，它将等于n。</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13080" y="661670"/>
            <a:ext cx="11355705" cy="3538220"/>
          </a:xfrm>
          <a:prstGeom prst="rect">
            <a:avLst/>
          </a:prstGeom>
          <a:noFill/>
        </p:spPr>
        <p:txBody>
          <a:bodyPr wrap="square" rtlCol="0" anchor="t">
            <a:spAutoFit/>
          </a:bodyPr>
          <a:p>
            <a:pPr algn="just"/>
            <a:r>
              <a:rPr lang="en-US" sz="2800">
                <a:latin typeface="Times New Roman Regular" panose="02020603050405020304" charset="0"/>
                <a:cs typeface="Times New Roman Regular" panose="02020603050405020304" charset="0"/>
              </a:rPr>
              <a:t>	Максимальная глубина рекурсии ограничена движком JavaScript. Точно можно рассчитывать на 10000 вложенных вызовов, некоторые интерпретаторы допускают и больше, но для большинства из них 100000 вызовов – за пределами возможностей.</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最大递归深度仅限于JavaScript引擎。当然，你可以指望有10000个嵌套的调用，一些解释器允许更多的调用，但对于大多数解释器来说，100000个调用是不可能的。</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1025" y="1136650"/>
            <a:ext cx="11179175" cy="2306955"/>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Это ограничивает применение рекурсии, но она всё равно широко распространена: для решения большого числа задач рекурсивный способ решения даёт более простой код, который легче поддерживать.</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这限制了递归的应用，但它仍然很常见：为了解决大量问题，递归解决方法提供了更简单、更容易维护的代码。</a:t>
            </a: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82905" y="1774825"/>
            <a:ext cx="11425555" cy="2306955"/>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Теперь мы посмотрим, как работают рекурсивные вызовы.</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现在我们来看看递归调用是如何工作的。</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	Информация о процессе выполнения запущенной функции хранится в её контексте выполнения (execution context). 有关正在运行的函数的进程的信息存储在其执行上下文中。</a:t>
            </a: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758825" y="751840"/>
            <a:ext cx="10851515" cy="2306955"/>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Контекст выполнения – специальная внутренняя структура данных, которая содержит информацию о вызове функции. Она включает в себя конкретное место в коде, на котором находится интерпретатор, локальные переменные функции</a:t>
            </a:r>
            <a:r>
              <a:rPr lang="ru-RU" altLang="en-US" sz="24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и прочую служебную информацию.</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运行时上下文是一种特殊的内部数据结构，其中包含有关调用函数的信息。它包括代码中包含解释器的特定位置、局部变量函数和其他服务信息。</a:t>
            </a: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758190" y="1903730"/>
            <a:ext cx="10675620" cy="1383665"/>
          </a:xfrm>
          <a:prstGeom prst="rect">
            <a:avLst/>
          </a:prstGeom>
          <a:noFill/>
        </p:spPr>
        <p:txBody>
          <a:bodyPr wrap="square" rtlCol="0" anchor="t">
            <a:spAutoFit/>
          </a:bodyPr>
          <a:p>
            <a:pPr algn="just"/>
            <a:r>
              <a:rPr lang="en-US" sz="2800">
                <a:latin typeface="Times New Roman Regular" panose="02020603050405020304" charset="0"/>
                <a:cs typeface="Times New Roman Regular" panose="02020603050405020304" charset="0"/>
              </a:rPr>
              <a:t>	Один вызов функции имеет ровно один контекст выполнения, связанный с ним.</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一个函数调用正好有一个与其关联的执行上下文。</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65455" y="873760"/>
            <a:ext cx="11261090" cy="5631180"/>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Когда функция производит вложенный вызов, происходит следующее:</a:t>
            </a:r>
            <a:r>
              <a:rPr lang="en-US" sz="2400">
                <a:latin typeface="Times New Roman Regular" panose="02020603050405020304" charset="0"/>
                <a:cs typeface="Times New Roman Regular" panose="02020603050405020304" charset="0"/>
                <a:sym typeface="+mn-ea"/>
              </a:rPr>
              <a:t>当函数调用嵌套时，会发生以下情况：</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marL="457200" indent="-457200" algn="just">
              <a:buAutoNum type="arabicPeriod"/>
            </a:pPr>
            <a:r>
              <a:rPr lang="en-US" sz="2400">
                <a:latin typeface="Times New Roman Regular" panose="02020603050405020304" charset="0"/>
                <a:cs typeface="Times New Roman Regular" panose="02020603050405020304" charset="0"/>
              </a:rPr>
              <a:t>Выполнение текущей функции приостанавливается.</a:t>
            </a:r>
            <a:r>
              <a:rPr lang="en-US" sz="2400">
                <a:latin typeface="Times New Roman Regular" panose="02020603050405020304" charset="0"/>
                <a:cs typeface="Times New Roman Regular" panose="02020603050405020304" charset="0"/>
                <a:sym typeface="+mn-ea"/>
              </a:rPr>
              <a:t>当前功能暂停。</a:t>
            </a:r>
            <a:endParaRPr lang="en-US" sz="2400">
              <a:latin typeface="Times New Roman Regular" panose="02020603050405020304" charset="0"/>
              <a:cs typeface="Times New Roman Regular" panose="02020603050405020304" charset="0"/>
            </a:endParaRPr>
          </a:p>
          <a:p>
            <a:pPr marL="457200" indent="-457200" algn="just">
              <a:buAutoNum type="arabicPeriod"/>
            </a:pPr>
            <a:endParaRPr lang="en-US" sz="2400">
              <a:latin typeface="Times New Roman Regular" panose="02020603050405020304" charset="0"/>
              <a:cs typeface="Times New Roman Regular" panose="02020603050405020304" charset="0"/>
            </a:endParaRPr>
          </a:p>
          <a:p>
            <a:pPr marL="457200" indent="-457200" algn="just">
              <a:buAutoNum type="arabicPeriod"/>
            </a:pPr>
            <a:r>
              <a:rPr lang="en-US" sz="2400">
                <a:latin typeface="Times New Roman Regular" panose="02020603050405020304" charset="0"/>
                <a:cs typeface="Times New Roman Regular" panose="02020603050405020304" charset="0"/>
              </a:rPr>
              <a:t>Контекст выполнения, связанный с ней, запоминается в специальной структуре данных – стеке контекстов выполнения.</a:t>
            </a:r>
            <a:r>
              <a:rPr lang="en-US" sz="2400">
                <a:latin typeface="Times New Roman Regular" panose="02020603050405020304" charset="0"/>
                <a:cs typeface="Times New Roman Regular" panose="02020603050405020304" charset="0"/>
                <a:sym typeface="+mn-ea"/>
              </a:rPr>
              <a:t>与之相关的执行上下文被存储在一个特殊的数据结构中，即执行上下文堆栈。</a:t>
            </a:r>
            <a:endParaRPr lang="en-US" sz="2400">
              <a:latin typeface="Times New Roman Regular" panose="02020603050405020304" charset="0"/>
              <a:cs typeface="Times New Roman Regular" panose="02020603050405020304" charset="0"/>
            </a:endParaRPr>
          </a:p>
          <a:p>
            <a:pPr indent="0" algn="just">
              <a:buNone/>
            </a:pPr>
            <a:endParaRPr lang="en-US" sz="2400">
              <a:latin typeface="Times New Roman Regular" panose="02020603050405020304" charset="0"/>
              <a:cs typeface="Times New Roman Regular" panose="02020603050405020304" charset="0"/>
            </a:endParaRPr>
          </a:p>
          <a:p>
            <a:pPr indent="0" algn="just">
              <a:buNone/>
            </a:pPr>
            <a:r>
              <a:rPr lang="en-US" sz="2400">
                <a:latin typeface="Times New Roman Regular" panose="02020603050405020304" charset="0"/>
                <a:cs typeface="Times New Roman Regular" panose="02020603050405020304" charset="0"/>
              </a:rPr>
              <a:t>3. Выполняются вложенные вызовы, для каждого из которых создаётся свой контекст выполнения.</a:t>
            </a:r>
            <a:r>
              <a:rPr lang="en-US" sz="2400">
                <a:latin typeface="Times New Roman Regular" panose="02020603050405020304" charset="0"/>
                <a:cs typeface="Times New Roman Regular" panose="02020603050405020304" charset="0"/>
                <a:sym typeface="+mn-ea"/>
              </a:rPr>
              <a:t>执行嵌套调用，每个调用都有自己的执行上下文。</a:t>
            </a:r>
            <a:endParaRPr lang="en-US" sz="2400">
              <a:latin typeface="Times New Roman Regular" panose="02020603050405020304" charset="0"/>
              <a:cs typeface="Times New Roman Regular" panose="02020603050405020304" charset="0"/>
            </a:endParaRPr>
          </a:p>
          <a:p>
            <a:pPr indent="0" algn="just">
              <a:buNone/>
            </a:pPr>
            <a:endParaRPr lang="en-US" sz="2400">
              <a:latin typeface="Times New Roman Regular" panose="02020603050405020304" charset="0"/>
              <a:cs typeface="Times New Roman Regular" panose="02020603050405020304" charset="0"/>
            </a:endParaRPr>
          </a:p>
          <a:p>
            <a:pPr indent="0" algn="just">
              <a:buNone/>
            </a:pPr>
            <a:r>
              <a:rPr lang="en-US" sz="2400">
                <a:latin typeface="Times New Roman Regular" panose="02020603050405020304" charset="0"/>
                <a:cs typeface="Times New Roman Regular" panose="02020603050405020304" charset="0"/>
              </a:rPr>
              <a:t>4. После их завершения старый контекст достаётся из стека, и выполнение внешней функции возобновляется с того места, где она была остановлена.</a:t>
            </a:r>
            <a:endParaRPr lang="en-US" sz="2400">
              <a:latin typeface="Times New Roman Regular" panose="02020603050405020304" charset="0"/>
              <a:cs typeface="Times New Roman Regular" panose="02020603050405020304" charset="0"/>
            </a:endParaRPr>
          </a:p>
          <a:p>
            <a:pPr indent="0" algn="just">
              <a:buNone/>
            </a:pPr>
            <a:r>
              <a:rPr lang="en-US" sz="2400">
                <a:latin typeface="Times New Roman Regular" panose="02020603050405020304" charset="0"/>
                <a:cs typeface="Times New Roman Regular" panose="02020603050405020304" charset="0"/>
              </a:rPr>
              <a:t>完成后，旧上下文将从堆栈中删除，外部功能将从停止的位置恢复。</a:t>
            </a: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38835" y="1696720"/>
            <a:ext cx="10648950" cy="2306955"/>
          </a:xfrm>
          <a:prstGeom prst="rect">
            <a:avLst/>
          </a:prstGeom>
          <a:noFill/>
        </p:spPr>
        <p:txBody>
          <a:bodyPr wrap="square" rtlCol="0" anchor="t">
            <a:spAutoFit/>
          </a:bodyPr>
          <a:p>
            <a:pPr algn="just">
              <a:lnSpc>
                <a:spcPct val="150000"/>
              </a:lnSpc>
            </a:pPr>
            <a:r>
              <a:rPr lang="en-US" sz="2400">
                <a:latin typeface="Times New Roman Regular" panose="02020603050405020304" charset="0"/>
                <a:cs typeface="Times New Roman Regular" panose="02020603050405020304" charset="0"/>
              </a:rPr>
              <a:t>	Разберёмся с контекстами более подробно на примере вызова функции </a:t>
            </a:r>
            <a:r>
              <a:rPr lang="en-US" sz="2400" b="1">
                <a:latin typeface="Times New Roman Bold" panose="02020603050405020304" charset="0"/>
                <a:cs typeface="Times New Roman Bold" panose="02020603050405020304" charset="0"/>
              </a:rPr>
              <a:t>power(2, 3).</a:t>
            </a:r>
            <a:endParaRPr lang="en-US" sz="2400" b="1">
              <a:latin typeface="Times New Roman Bold" panose="02020603050405020304" charset="0"/>
              <a:cs typeface="Times New Roman Bold" panose="02020603050405020304" charset="0"/>
            </a:endParaRPr>
          </a:p>
          <a:p>
            <a:pPr algn="just">
              <a:lnSpc>
                <a:spcPct val="150000"/>
              </a:lnSpc>
            </a:pPr>
            <a:endParaRPr lang="en-US" sz="2400" b="1">
              <a:latin typeface="Times New Roman Bold" panose="02020603050405020304" charset="0"/>
              <a:cs typeface="Times New Roman Bold" panose="02020603050405020304" charset="0"/>
            </a:endParaRPr>
          </a:p>
          <a:p>
            <a:pPr algn="just">
              <a:lnSpc>
                <a:spcPct val="150000"/>
              </a:lnSpc>
            </a:pPr>
            <a:r>
              <a:rPr lang="en-US" sz="2400" b="1">
                <a:latin typeface="Times New Roman Bold" panose="02020603050405020304" charset="0"/>
                <a:cs typeface="Times New Roman Bold" panose="02020603050405020304" charset="0"/>
              </a:rPr>
              <a:t>让我们通过调用power函数（2，3）来更详细地了解上下文。</a:t>
            </a:r>
            <a:endParaRPr lang="en-US" sz="2400" b="1">
              <a:latin typeface="Times New Roman Bold" panose="02020603050405020304" charset="0"/>
              <a:cs typeface="Times New Roman Bold" panose="0202060305040502030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44220" y="1035050"/>
            <a:ext cx="11016615" cy="3107690"/>
          </a:xfrm>
          <a:prstGeom prst="rect">
            <a:avLst/>
          </a:prstGeom>
          <a:noFill/>
        </p:spPr>
        <p:txBody>
          <a:bodyPr wrap="square" rtlCol="0" anchor="t">
            <a:spAutoFit/>
          </a:bodyPr>
          <a:p>
            <a:pPr algn="just"/>
            <a:r>
              <a:rPr lang="en-US" sz="2800" b="1">
                <a:latin typeface="Times New Roman Bold" panose="02020603050405020304" charset="0"/>
                <a:cs typeface="Times New Roman Bold" panose="02020603050405020304" charset="0"/>
              </a:rPr>
              <a:t>power(2, 3)</a:t>
            </a:r>
            <a:endParaRPr lang="en-US" sz="2800" b="1">
              <a:latin typeface="Times New Roman Bold" panose="02020603050405020304" charset="0"/>
              <a:cs typeface="Times New Roman Bold"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	В начале вызова power(2, 3) контекст выполнения будет хранить переменные: x = 2, n = 3, выполнение находится на первой строке функции.</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在power（2，3）调用开始时，执行上下文将存储变量x=2，n=3，执行位于函数的第一行。</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48335" y="527050"/>
            <a:ext cx="10962640" cy="2245360"/>
          </a:xfrm>
          <a:prstGeom prst="rect">
            <a:avLst/>
          </a:prstGeom>
          <a:noFill/>
        </p:spPr>
        <p:txBody>
          <a:bodyPr wrap="square" rtlCol="0" anchor="t">
            <a:spAutoFit/>
          </a:bodyPr>
          <a:p>
            <a:r>
              <a:rPr lang="en-US" sz="2800">
                <a:latin typeface="Times New Roman Regular" panose="02020603050405020304" charset="0"/>
                <a:cs typeface="Times New Roman Regular" panose="02020603050405020304" charset="0"/>
              </a:rPr>
              <a:t>	Можно схематически изобразить это так:</a:t>
            </a:r>
            <a:r>
              <a:rPr lang="en-US" sz="2800" b="1">
                <a:latin typeface="Times New Roman Bold" panose="02020603050405020304" charset="0"/>
                <a:cs typeface="Times New Roman Bold" panose="02020603050405020304" charset="0"/>
                <a:sym typeface="+mn-ea"/>
              </a:rPr>
              <a:t>你可以把它概括为：</a:t>
            </a:r>
            <a:endParaRPr lang="en-US" sz="2800" b="1">
              <a:latin typeface="Times New Roman Bold" panose="02020603050405020304" charset="0"/>
              <a:cs typeface="Times New Roman Bold" panose="02020603050405020304" charset="0"/>
            </a:endParaRPr>
          </a:p>
          <a:p>
            <a:endParaRPr lang="en-US" sz="2800">
              <a:latin typeface="Times New Roman Regular" panose="02020603050405020304" charset="0"/>
              <a:cs typeface="Times New Roman Regular" panose="02020603050405020304" charset="0"/>
            </a:endParaRPr>
          </a:p>
          <a:p>
            <a:endParaRPr lang="en-US" sz="2800">
              <a:latin typeface="Times New Roman Regular" panose="02020603050405020304" charset="0"/>
              <a:cs typeface="Times New Roman Regular" panose="02020603050405020304" charset="0"/>
            </a:endParaRPr>
          </a:p>
          <a:p>
            <a:r>
              <a:rPr lang="en-US" sz="2800" b="1">
                <a:latin typeface="Times New Roman Bold" panose="02020603050405020304" charset="0"/>
                <a:cs typeface="Times New Roman Bold" panose="02020603050405020304" charset="0"/>
              </a:rPr>
              <a:t>Контекст: { x: 2, n: 3, строка 1 } power(2, 3)</a:t>
            </a:r>
            <a:endParaRPr lang="en-US" sz="2800" b="1">
              <a:latin typeface="Times New Roman Bold" panose="02020603050405020304" charset="0"/>
              <a:cs typeface="Times New Roman Bold" panose="02020603050405020304" charset="0"/>
            </a:endParaRPr>
          </a:p>
          <a:p>
            <a:r>
              <a:rPr lang="en-US" sz="2800" b="1">
                <a:latin typeface="Times New Roman Bold" panose="02020603050405020304" charset="0"/>
                <a:cs typeface="Times New Roman Bold" panose="02020603050405020304" charset="0"/>
              </a:rPr>
              <a:t>上下文：{x:2，n:3，字符串1}power（2，3）</a:t>
            </a:r>
            <a:endParaRPr lang="en-US" sz="2800" b="1">
              <a:latin typeface="Times New Roman Bold" panose="02020603050405020304" charset="0"/>
              <a:cs typeface="Times New Roman Bold" panose="02020603050405020304" charset="0"/>
            </a:endParaRPr>
          </a:p>
        </p:txBody>
      </p:sp>
      <p:sp>
        <p:nvSpPr>
          <p:cNvPr id="3" name="Text Box 2"/>
          <p:cNvSpPr txBox="1"/>
          <p:nvPr/>
        </p:nvSpPr>
        <p:spPr>
          <a:xfrm>
            <a:off x="784860" y="3148965"/>
            <a:ext cx="10826750" cy="2245360"/>
          </a:xfrm>
          <a:prstGeom prst="rect">
            <a:avLst/>
          </a:prstGeom>
          <a:noFill/>
        </p:spPr>
        <p:txBody>
          <a:bodyPr wrap="square" rtlCol="0" anchor="t">
            <a:spAutoFit/>
          </a:bodyPr>
          <a:p>
            <a:pPr algn="just"/>
            <a:r>
              <a:rPr lang="en-US" sz="2800">
                <a:latin typeface="Times New Roman Regular" panose="02020603050405020304" charset="0"/>
                <a:cs typeface="Times New Roman Regular" panose="02020603050405020304" charset="0"/>
              </a:rPr>
              <a:t>	Это только начало выполнения функции. Условие n === 1 ложно, поэтому выполнение идёт во вторую ветку </a:t>
            </a:r>
            <a:r>
              <a:rPr lang="en-US" sz="2800" u="sng">
                <a:latin typeface="Times New Roman Regular" panose="02020603050405020304" charset="0"/>
                <a:cs typeface="Times New Roman Regular" panose="02020603050405020304" charset="0"/>
              </a:rPr>
              <a:t>if:</a:t>
            </a:r>
            <a:r>
              <a:rPr lang="ru-RU" altLang="en-US" sz="2800" u="sng">
                <a:latin typeface="Times New Roman Regular" panose="02020603050405020304" charset="0"/>
                <a:cs typeface="Times New Roman Regular" panose="02020603050405020304" charset="0"/>
              </a:rPr>
              <a:t> pow</a:t>
            </a:r>
            <a:r>
              <a:rPr lang="en-US" altLang="ru-RU" sz="2800" u="sng">
                <a:latin typeface="Times New Roman Regular" panose="02020603050405020304" charset="0"/>
                <a:cs typeface="Times New Roman Regular" panose="02020603050405020304" charset="0"/>
              </a:rPr>
              <a:t>er</a:t>
            </a:r>
            <a:r>
              <a:rPr lang="ru-RU" altLang="en-US" sz="2800" u="sng">
                <a:latin typeface="Times New Roman Regular" panose="02020603050405020304" charset="0"/>
                <a:cs typeface="Times New Roman Regular" panose="02020603050405020304" charset="0"/>
              </a:rPr>
              <a:t>(2, 2)</a:t>
            </a:r>
            <a:endParaRPr lang="ru-RU" altLang="en-US" sz="2800" u="sng">
              <a:latin typeface="Times New Roman Regular" panose="02020603050405020304" charset="0"/>
              <a:cs typeface="Times New Roman Regular" panose="02020603050405020304" charset="0"/>
            </a:endParaRPr>
          </a:p>
          <a:p>
            <a:pPr algn="just"/>
            <a:endParaRPr lang="ru-RU" altLang="en-US" sz="2800" u="sng">
              <a:latin typeface="Times New Roman Regular" panose="02020603050405020304" charset="0"/>
              <a:cs typeface="Times New Roman Regular" panose="02020603050405020304" charset="0"/>
            </a:endParaRPr>
          </a:p>
          <a:p>
            <a:pPr algn="just"/>
            <a:r>
              <a:rPr lang="ru-RU" altLang="en-US" sz="2800" u="sng">
                <a:latin typeface="Times New Roman Regular" panose="02020603050405020304" charset="0"/>
                <a:cs typeface="Times New Roman Regular" panose="02020603050405020304" charset="0"/>
              </a:rPr>
              <a:t>这只是</a:t>
            </a:r>
            <a:r>
              <a:rPr lang="zh-CN" altLang="ru-RU" sz="2800" u="sng">
                <a:latin typeface="Times New Roman Regular" panose="02020603050405020304" charset="0"/>
                <a:cs typeface="Times New Roman Regular" panose="02020603050405020304" charset="0"/>
              </a:rPr>
              <a:t>函数</a:t>
            </a:r>
            <a:r>
              <a:rPr lang="ru-RU" altLang="en-US" sz="2800" u="sng">
                <a:latin typeface="Times New Roman Regular" panose="02020603050405020304" charset="0"/>
                <a:cs typeface="Times New Roman Regular" panose="02020603050405020304" charset="0"/>
              </a:rPr>
              <a:t>的开始。条件n==1为假，因此执行到第二个if:power（2，2）</a:t>
            </a:r>
            <a:endParaRPr lang="ru-RU" altLang="en-US" sz="2800" u="sng">
              <a:latin typeface="Times New Roman Regular" panose="02020603050405020304" charset="0"/>
              <a:cs typeface="Times New Roman Regular" panose="0202060305040502030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62940" y="683260"/>
            <a:ext cx="11179175" cy="3107690"/>
          </a:xfrm>
          <a:prstGeom prst="rect">
            <a:avLst/>
          </a:prstGeom>
          <a:noFill/>
        </p:spPr>
        <p:txBody>
          <a:bodyPr wrap="square" rtlCol="0" anchor="t">
            <a:spAutoFit/>
          </a:bodyPr>
          <a:p>
            <a:pPr algn="just"/>
            <a:r>
              <a:rPr lang="en-US" sz="2800" b="1">
                <a:latin typeface="Times New Roman Bold" panose="02020603050405020304" charset="0"/>
                <a:cs typeface="Times New Roman Bold" panose="02020603050405020304" charset="0"/>
              </a:rPr>
              <a:t>power(2, 2)</a:t>
            </a:r>
            <a:endParaRPr lang="en-US" sz="2800" b="1">
              <a:latin typeface="Times New Roman Bold" panose="02020603050405020304" charset="0"/>
              <a:cs typeface="Times New Roman Bold"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	Для выполнения вложенного вызова JavaScript запоминает текущий контекст выполнения в стеке контекстов выполнения.</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为了执行嵌套调用，JavaScript在执行上下文堆栈中记住当前执行上下文。</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95275" y="673735"/>
            <a:ext cx="11600815" cy="3784600"/>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Здесь мы вызываем ту же функцию </a:t>
            </a:r>
            <a:r>
              <a:rPr lang="en-US" sz="2400" i="1">
                <a:latin typeface="Times New Roman Italic" panose="02020603050405020304" charset="0"/>
                <a:cs typeface="Times New Roman Italic" panose="02020603050405020304" charset="0"/>
              </a:rPr>
              <a:t>power</a:t>
            </a:r>
            <a:r>
              <a:rPr lang="en-US" sz="2400">
                <a:latin typeface="Times New Roman Regular" panose="02020603050405020304" charset="0"/>
                <a:cs typeface="Times New Roman Regular" panose="02020603050405020304" charset="0"/>
              </a:rPr>
              <a:t>, однако это абсолютно неважно. Для любых функций процесс одинаков:</a:t>
            </a:r>
            <a:r>
              <a:rPr lang="en-US" sz="2400">
                <a:latin typeface="Times New Roman Regular" panose="02020603050405020304" charset="0"/>
                <a:cs typeface="Times New Roman Regular" panose="02020603050405020304" charset="0"/>
                <a:sym typeface="+mn-ea"/>
              </a:rPr>
              <a:t>在这里，我们调用相同的power函数，但这并不重要。对于任何函数，过程都是相同的：</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marL="457200" indent="-457200" algn="just">
              <a:buAutoNum type="arabicPeriod"/>
            </a:pPr>
            <a:r>
              <a:rPr lang="en-US" sz="2400">
                <a:latin typeface="Times New Roman Regular" panose="02020603050405020304" charset="0"/>
                <a:cs typeface="Times New Roman Regular" panose="02020603050405020304" charset="0"/>
              </a:rPr>
              <a:t>Текущий контекст «запоминается» на вершине стека.</a:t>
            </a:r>
            <a:r>
              <a:rPr lang="en-US" sz="2400">
                <a:latin typeface="Times New Roman Regular" panose="02020603050405020304" charset="0"/>
                <a:cs typeface="Times New Roman Regular" panose="02020603050405020304" charset="0"/>
                <a:sym typeface="+mn-ea"/>
              </a:rPr>
              <a:t>当前上下文在堆栈顶部被“记住”。</a:t>
            </a:r>
            <a:endParaRPr lang="en-US" sz="2400">
              <a:latin typeface="Times New Roman Regular" panose="02020603050405020304" charset="0"/>
              <a:cs typeface="Times New Roman Regular" panose="02020603050405020304" charset="0"/>
            </a:endParaRPr>
          </a:p>
          <a:p>
            <a:pPr marL="457200" indent="-457200" algn="just">
              <a:buAutoNum type="arabicPeriod"/>
            </a:pPr>
            <a:r>
              <a:rPr lang="en-US" sz="2400">
                <a:latin typeface="Times New Roman Regular" panose="02020603050405020304" charset="0"/>
                <a:cs typeface="Times New Roman Regular" panose="02020603050405020304" charset="0"/>
              </a:rPr>
              <a:t>Создаётся новый контекст для вложенного вызова.</a:t>
            </a:r>
            <a:r>
              <a:rPr lang="en-US" sz="2400">
                <a:latin typeface="Times New Roman Regular" panose="02020603050405020304" charset="0"/>
                <a:cs typeface="Times New Roman Regular" panose="02020603050405020304" charset="0"/>
                <a:sym typeface="+mn-ea"/>
              </a:rPr>
              <a:t>为子调用创建新上下文。</a:t>
            </a:r>
            <a:endParaRPr lang="en-US" sz="2400">
              <a:latin typeface="Times New Roman Regular" panose="02020603050405020304" charset="0"/>
              <a:cs typeface="Times New Roman Regular" panose="02020603050405020304" charset="0"/>
            </a:endParaRPr>
          </a:p>
          <a:p>
            <a:pPr marL="457200" indent="-457200" algn="just">
              <a:buAutoNum type="arabicPeriod"/>
            </a:pPr>
            <a:r>
              <a:rPr lang="en-US" sz="2400">
                <a:latin typeface="Times New Roman Regular" panose="02020603050405020304" charset="0"/>
                <a:cs typeface="Times New Roman Regular" panose="02020603050405020304" charset="0"/>
              </a:rPr>
              <a:t>Когда выполнение вложенного вызова заканчивается – контекст предыдущего вызова восстанавливается, и выполнение соответствующей функции продолжается.</a:t>
            </a:r>
            <a:endParaRPr lang="en-US" sz="2400">
              <a:latin typeface="Times New Roman Regular" panose="02020603050405020304" charset="0"/>
              <a:cs typeface="Times New Roman Regular" panose="02020603050405020304" charset="0"/>
            </a:endParaRPr>
          </a:p>
          <a:p>
            <a:pPr indent="0" algn="just">
              <a:buNone/>
            </a:pPr>
            <a:r>
              <a:rPr lang="en-US" sz="2400">
                <a:latin typeface="Times New Roman Regular" panose="02020603050405020304" charset="0"/>
                <a:cs typeface="Times New Roman Regular" panose="02020603050405020304" charset="0"/>
              </a:rPr>
              <a:t>当子调用结束时，将恢复先前调用的上下文，并继续执行相应的函数。</a:t>
            </a: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90245" y="1429385"/>
            <a:ext cx="11097260" cy="2245360"/>
          </a:xfrm>
          <a:prstGeom prst="rect">
            <a:avLst/>
          </a:prstGeom>
          <a:noFill/>
        </p:spPr>
        <p:txBody>
          <a:bodyPr wrap="square" rtlCol="0" anchor="t">
            <a:spAutoFit/>
          </a:bodyPr>
          <a:p>
            <a:pPr algn="just"/>
            <a:r>
              <a:rPr lang="en-US" sz="2800">
                <a:latin typeface="Times New Roman Regular" panose="02020603050405020304" charset="0"/>
                <a:cs typeface="Times New Roman Regular" panose="02020603050405020304" charset="0"/>
              </a:rPr>
              <a:t>Вид контекста в начале выполнения вложенного вызова power(2, 2):</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子调用POWER（2，2）开始时的上下文视图：</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b="1">
                <a:latin typeface="Times New Roman Bold" panose="02020603050405020304" charset="0"/>
                <a:cs typeface="Times New Roman Bold" panose="02020603050405020304" charset="0"/>
              </a:rPr>
              <a:t>Контекст: { x: 2, n: 2, строка 1 } power(2, 2)</a:t>
            </a:r>
            <a:endParaRPr lang="en-US" sz="2800" b="1">
              <a:latin typeface="Times New Roman Bold" panose="02020603050405020304" charset="0"/>
              <a:cs typeface="Times New Roman Bold" panose="02020603050405020304" charset="0"/>
            </a:endParaRPr>
          </a:p>
          <a:p>
            <a:pPr algn="just"/>
            <a:r>
              <a:rPr lang="en-US" sz="2800">
                <a:latin typeface="Times New Roman Regular" panose="02020603050405020304" charset="0"/>
                <a:cs typeface="Times New Roman Regular" panose="02020603050405020304" charset="0"/>
              </a:rPr>
              <a:t>Контекст: { x: 2, n: 3, строка 5 } power(2, 3)</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7055" y="367030"/>
            <a:ext cx="11234420" cy="4831080"/>
          </a:xfrm>
          <a:prstGeom prst="rect">
            <a:avLst/>
          </a:prstGeom>
          <a:noFill/>
        </p:spPr>
        <p:txBody>
          <a:bodyPr wrap="square" rtlCol="0" anchor="t">
            <a:spAutoFit/>
          </a:bodyPr>
          <a:p>
            <a:pPr algn="just"/>
            <a:r>
              <a:rPr lang="en-US" sz="2800">
                <a:latin typeface="Times New Roman Regular" panose="02020603050405020304" charset="0"/>
                <a:cs typeface="Times New Roman Regular" panose="02020603050405020304" charset="0"/>
              </a:rPr>
              <a:t>	Новый контекст выполнения находится на вершине стека (и выделен жирным), а предыдущие запомненные контексты – под ним.</a:t>
            </a:r>
            <a:r>
              <a:rPr lang="en-US" sz="2800">
                <a:latin typeface="Times New Roman Regular" panose="02020603050405020304" charset="0"/>
                <a:cs typeface="Times New Roman Regular" panose="02020603050405020304" charset="0"/>
                <a:sym typeface="+mn-ea"/>
              </a:rPr>
              <a:t>新的执行上下文位于堆栈的顶部（粗体突出显示），前面的记忆上下文位于堆栈下方。</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	Когда выполнение подвызова закончится, можно будет легко вернуться назаaд, потому что контекст сохраняет как переменные, так и точное место кода, в котором он остановился. Слово «строка» на рисунках условно, на самом деле запоминается более точное место в цепочке команд.当子字符串完成时，可以很容易地返回，因为上下文既保留变量，也保留代码停留的确切位置。图片中的“字符串”一词是有条件的，事实上，它在命令链中更准确的位置被记住。</a:t>
            </a:r>
            <a:endParaRPr lang="en-US" sz="2800">
              <a:latin typeface="Times New Roman Regular" panose="02020603050405020304" charset="0"/>
              <a:cs typeface="Times New Roman Regular" panose="02020603050405020304" charset="0"/>
            </a:endParaRPr>
          </a:p>
        </p:txBody>
      </p:sp>
      <p:sp>
        <p:nvSpPr>
          <p:cNvPr id="3" name="Text Box 2"/>
          <p:cNvSpPr txBox="1"/>
          <p:nvPr/>
        </p:nvSpPr>
        <p:spPr>
          <a:xfrm>
            <a:off x="662305" y="5249545"/>
            <a:ext cx="8975725" cy="953135"/>
          </a:xfrm>
          <a:prstGeom prst="rect">
            <a:avLst/>
          </a:prstGeom>
          <a:noFill/>
        </p:spPr>
        <p:txBody>
          <a:bodyPr wrap="square" rtlCol="0" anchor="t">
            <a:spAutoFit/>
          </a:bodyPr>
          <a:p>
            <a:pPr algn="just"/>
            <a:r>
              <a:rPr lang="en-US" sz="2800" b="1">
                <a:latin typeface="Times New Roman Bold" panose="02020603050405020304" charset="0"/>
                <a:cs typeface="Times New Roman Bold" panose="02020603050405020304" charset="0"/>
                <a:sym typeface="+mn-ea"/>
              </a:rPr>
              <a:t>Контекст: { x: 2, n: 2, строка 1 } power(2, 2)</a:t>
            </a:r>
            <a:endParaRPr lang="en-US" sz="2800" b="1">
              <a:latin typeface="Times New Roman Bold" panose="02020603050405020304" charset="0"/>
              <a:cs typeface="Times New Roman Bold" panose="02020603050405020304" charset="0"/>
            </a:endParaRPr>
          </a:p>
          <a:p>
            <a:pPr algn="just"/>
            <a:r>
              <a:rPr lang="en-US" sz="2800">
                <a:latin typeface="Times New Roman Regular" panose="02020603050405020304" charset="0"/>
                <a:cs typeface="Times New Roman Regular" panose="02020603050405020304" charset="0"/>
                <a:sym typeface="+mn-ea"/>
              </a:rPr>
              <a:t>Контекст: { x: 2, n: 3, строка 5 } power(2, 3)</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17195" y="470535"/>
            <a:ext cx="11424285" cy="5692775"/>
          </a:xfrm>
          <a:prstGeom prst="rect">
            <a:avLst/>
          </a:prstGeom>
          <a:noFill/>
        </p:spPr>
        <p:txBody>
          <a:bodyPr wrap="square" rtlCol="0" anchor="t">
            <a:spAutoFit/>
          </a:bodyPr>
          <a:p>
            <a:pPr algn="just"/>
            <a:r>
              <a:rPr lang="en-US" sz="2800" b="1">
                <a:latin typeface="Times New Roman Bold" panose="02020603050405020304" charset="0"/>
                <a:cs typeface="Times New Roman Bold" panose="02020603050405020304" charset="0"/>
                <a:sym typeface="+mn-ea"/>
              </a:rPr>
              <a:t>power(2, 1)</a:t>
            </a:r>
            <a:endParaRPr lang="en-US" sz="2800" b="1">
              <a:latin typeface="Times New Roman Bold" panose="02020603050405020304" charset="0"/>
              <a:cs typeface="Times New Roman Bold"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	Создаётся новый контекст выполнения, предыдущий контекст добавляется в стек:创建新的执行上下文，并将以前的上下文添加到堆栈中：</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b="1">
                <a:latin typeface="Times New Roman Bold" panose="02020603050405020304" charset="0"/>
                <a:cs typeface="Times New Roman Bold" panose="02020603050405020304" charset="0"/>
              </a:rPr>
              <a:t>Контекст: { x: 2, n: 1, строка 1 } power(2, 1)</a:t>
            </a:r>
            <a:endParaRPr lang="en-US" sz="2800" b="1">
              <a:latin typeface="Times New Roman Bold" panose="02020603050405020304" charset="0"/>
              <a:cs typeface="Times New Roman Bold" panose="02020603050405020304" charset="0"/>
            </a:endParaRPr>
          </a:p>
          <a:p>
            <a:pPr algn="just"/>
            <a:r>
              <a:rPr lang="en-US" sz="2800">
                <a:latin typeface="Times New Roman Regular" panose="02020603050405020304" charset="0"/>
                <a:cs typeface="Times New Roman Regular" panose="02020603050405020304" charset="0"/>
              </a:rPr>
              <a:t>Контекст: { x: 2, n: 2, строка 5 } power(2, 2)</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Контекст: { x: 2, n: 3, строка 5 } power(2, 3)</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Теперь в стеке два старых контекста и один текущий для </a:t>
            </a:r>
            <a:r>
              <a:rPr lang="en-US" sz="2800">
                <a:latin typeface="Times New Roman" panose="02020603050405020304" charset="0"/>
                <a:cs typeface="Times New Roman" panose="02020603050405020304" charset="0"/>
              </a:rPr>
              <a:t>power(2, 1)</a:t>
            </a:r>
            <a:r>
              <a:rPr lang="en-US" sz="2800">
                <a:latin typeface="Times New Roman Regular" panose="02020603050405020304" charset="0"/>
                <a:cs typeface="Times New Roman Regular" panose="02020603050405020304" charset="0"/>
              </a:rPr>
              <a:t>.</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现在堆栈中有两个旧上下文，一个当前上下文用于Power（2，1）。</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93725" y="503555"/>
            <a:ext cx="11099165" cy="2676525"/>
          </a:xfrm>
          <a:prstGeom prst="rect">
            <a:avLst/>
          </a:prstGeom>
          <a:noFill/>
        </p:spPr>
        <p:txBody>
          <a:bodyPr wrap="square" rtlCol="0" anchor="t">
            <a:spAutoFit/>
          </a:bodyPr>
          <a:p>
            <a:r>
              <a:rPr lang="en-US" sz="2800">
                <a:latin typeface="Times New Roman Regular" panose="02020603050405020304" charset="0"/>
                <a:cs typeface="Times New Roman Regular" panose="02020603050405020304" charset="0"/>
              </a:rPr>
              <a:t>Выход</a:t>
            </a:r>
            <a:r>
              <a:rPr lang="en-US" sz="2800">
                <a:latin typeface="Times New Roman Regular" panose="02020603050405020304" charset="0"/>
                <a:cs typeface="Times New Roman Regular" panose="02020603050405020304" charset="0"/>
                <a:sym typeface="+mn-ea"/>
              </a:rPr>
              <a:t>出口</a:t>
            </a:r>
            <a:endParaRPr lang="en-US" sz="2800">
              <a:latin typeface="Times New Roman Regular" panose="02020603050405020304" charset="0"/>
              <a:cs typeface="Times New Roman Regular" panose="02020603050405020304" charset="0"/>
            </a:endParaRPr>
          </a:p>
          <a:p>
            <a:endParaRPr lang="en-US" sz="2800">
              <a:latin typeface="Times New Roman Regular" panose="02020603050405020304" charset="0"/>
              <a:cs typeface="Times New Roman Regular" panose="02020603050405020304" charset="0"/>
            </a:endParaRPr>
          </a:p>
          <a:p>
            <a:r>
              <a:rPr lang="en-US" sz="2800">
                <a:latin typeface="Times New Roman Regular" panose="02020603050405020304" charset="0"/>
                <a:cs typeface="Times New Roman Regular" panose="02020603050405020304" charset="0"/>
              </a:rPr>
              <a:t>	При выполнении </a:t>
            </a:r>
            <a:r>
              <a:rPr lang="en-US" sz="2800" b="1">
                <a:latin typeface="Times New Roman Bold" panose="02020603050405020304" charset="0"/>
                <a:cs typeface="Times New Roman Bold" panose="02020603050405020304" charset="0"/>
              </a:rPr>
              <a:t>power(2, 1)</a:t>
            </a:r>
            <a:r>
              <a:rPr lang="en-US" sz="2800">
                <a:latin typeface="Times New Roman Regular" panose="02020603050405020304" charset="0"/>
                <a:cs typeface="Times New Roman Regular" panose="02020603050405020304" charset="0"/>
              </a:rPr>
              <a:t>, в отличие от предыдущих запусков, условие n === 1 истинно, поэтому выполняется первая ветка условия if:在执行power（2，1）时，与以前的运行不同，条件n==1是真的，因此条件if的第一个分支是：</a:t>
            </a:r>
            <a:endParaRPr lang="en-US" sz="2800">
              <a:latin typeface="Times New Roman Regular" panose="02020603050405020304" charset="0"/>
              <a:cs typeface="Times New Roman Regular" panose="02020603050405020304" charset="0"/>
            </a:endParaRPr>
          </a:p>
        </p:txBody>
      </p:sp>
      <p:sp>
        <p:nvSpPr>
          <p:cNvPr id="3" name="Text Box 2"/>
          <p:cNvSpPr txBox="1"/>
          <p:nvPr/>
        </p:nvSpPr>
        <p:spPr>
          <a:xfrm>
            <a:off x="1698625" y="3681730"/>
            <a:ext cx="7588250" cy="2553335"/>
          </a:xfrm>
          <a:prstGeom prst="rect">
            <a:avLst/>
          </a:prstGeom>
          <a:noFill/>
        </p:spPr>
        <p:txBody>
          <a:bodyPr wrap="square" rtlCol="0" anchor="t">
            <a:spAutoFit/>
          </a:bodyPr>
          <a:p>
            <a:r>
              <a:rPr lang="en-US" sz="3200">
                <a:sym typeface="+mn-ea"/>
              </a:rPr>
              <a:t>                    </a:t>
            </a:r>
            <a:r>
              <a:rPr lang="en-US" sz="3200">
                <a:solidFill>
                  <a:srgbClr val="FF0000"/>
                </a:solidFill>
                <a:sym typeface="+mn-ea"/>
              </a:rPr>
              <a:t>    if n==</a:t>
            </a:r>
            <a:r>
              <a:rPr lang="ru-RU" altLang="en-US" sz="3200">
                <a:solidFill>
                  <a:srgbClr val="FF0000"/>
                </a:solidFill>
                <a:sym typeface="+mn-ea"/>
              </a:rPr>
              <a:t>=</a:t>
            </a:r>
            <a:r>
              <a:rPr lang="en-US" sz="3200">
                <a:solidFill>
                  <a:srgbClr val="FF0000"/>
                </a:solidFill>
                <a:sym typeface="+mn-ea"/>
              </a:rPr>
              <a:t>1  = x</a:t>
            </a:r>
            <a:endParaRPr lang="en-US" sz="3200">
              <a:solidFill>
                <a:srgbClr val="FF0000"/>
              </a:solidFill>
            </a:endParaRPr>
          </a:p>
          <a:p>
            <a:r>
              <a:rPr lang="en-US" sz="3200">
                <a:sym typeface="+mn-ea"/>
              </a:rPr>
              <a:t>                      /</a:t>
            </a:r>
            <a:endParaRPr lang="en-US" sz="3200"/>
          </a:p>
          <a:p>
            <a:r>
              <a:rPr lang="en-US" sz="3200">
                <a:sym typeface="+mn-ea"/>
              </a:rPr>
              <a:t>power(x, n) =</a:t>
            </a:r>
            <a:endParaRPr lang="en-US" sz="3200"/>
          </a:p>
          <a:p>
            <a:r>
              <a:rPr lang="en-US" sz="3200">
                <a:sym typeface="+mn-ea"/>
              </a:rPr>
              <a:t>                      \</a:t>
            </a:r>
            <a:endParaRPr lang="en-US" sz="3200"/>
          </a:p>
          <a:p>
            <a:r>
              <a:rPr lang="en-US" sz="3200">
                <a:sym typeface="+mn-ea"/>
              </a:rPr>
              <a:t>                        else     = x * pow(x, n - 1)</a:t>
            </a:r>
            <a:endParaRPr lang="en-US" sz="32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0205" y="613410"/>
            <a:ext cx="11452225" cy="4831080"/>
          </a:xfrm>
          <a:prstGeom prst="rect">
            <a:avLst/>
          </a:prstGeom>
          <a:noFill/>
        </p:spPr>
        <p:txBody>
          <a:bodyPr wrap="square" rtlCol="0" anchor="t">
            <a:spAutoFit/>
          </a:bodyPr>
          <a:p>
            <a:pPr algn="just"/>
            <a:r>
              <a:rPr lang="en-US" sz="2800">
                <a:latin typeface="Times New Roman Regular" panose="02020603050405020304" charset="0"/>
                <a:cs typeface="Times New Roman Regular" panose="02020603050405020304" charset="0"/>
              </a:rPr>
              <a:t>	Вложенных вызовов больше нет, поэтому функция завершается, возвращая 2.</a:t>
            </a:r>
            <a:r>
              <a:rPr lang="en-US" sz="2800">
                <a:latin typeface="Times New Roman Regular" panose="02020603050405020304" charset="0"/>
                <a:cs typeface="Times New Roman Regular" panose="02020603050405020304" charset="0"/>
                <a:sym typeface="+mn-ea"/>
              </a:rPr>
              <a:t>没有嵌套的调用，因此函数结束，返回2。</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	Когда функция заканчивается, контекст её выполнения больше не нужен, поэтому он удаляется из памяти, а из стека восстанавливается предыдущий:当函数结束时，不再需要它的上下文，因此它将从内存中删除，并从堆栈中恢复上一个上下文：</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b="1">
                <a:latin typeface="Times New Roman Bold" panose="02020603050405020304" charset="0"/>
                <a:cs typeface="Times New Roman Bold" panose="02020603050405020304" charset="0"/>
              </a:rPr>
              <a:t>Контекст: { x: 2, n: 2, строка 5 } power(2, 2)</a:t>
            </a:r>
            <a:endParaRPr lang="en-US" sz="2800" b="1">
              <a:latin typeface="Times New Roman Bold" panose="02020603050405020304" charset="0"/>
              <a:cs typeface="Times New Roman Bold" panose="02020603050405020304" charset="0"/>
            </a:endParaRPr>
          </a:p>
          <a:p>
            <a:pPr algn="just"/>
            <a:r>
              <a:rPr lang="en-US" sz="2800">
                <a:latin typeface="Times New Roman Regular" panose="02020603050405020304" charset="0"/>
                <a:cs typeface="Times New Roman Regular" panose="02020603050405020304" charset="0"/>
              </a:rPr>
              <a:t>Контекст: { x: 2, n: 3, строка 5 } power(2, 3)</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1025" y="1305560"/>
            <a:ext cx="10866120" cy="4154170"/>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Возобновляется обработка вызова power(2, 2). Имея результат power(2, 1), он может закончить свою работу x * power(x, n - 1), вернув 4.</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sym typeface="+mn-ea"/>
            </a:endParaRPr>
          </a:p>
          <a:p>
            <a:pPr algn="just"/>
            <a:r>
              <a:rPr lang="en-US" sz="2400">
                <a:latin typeface="Times New Roman Regular" panose="02020603050405020304" charset="0"/>
                <a:cs typeface="Times New Roman Regular" panose="02020603050405020304" charset="0"/>
                <a:sym typeface="+mn-ea"/>
              </a:rPr>
              <a:t>恢复POWER（2，2）呼叫处理。如果结果为power（2，1），则可以通过返回4来完成x*power（x，n-1）的工作。</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Восстанавливается контекст предыдущего вызова:</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恢复以前调用的上下文：</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b="1">
                <a:latin typeface="Times New Roman Bold" panose="02020603050405020304" charset="0"/>
                <a:cs typeface="Times New Roman Bold" panose="02020603050405020304" charset="0"/>
              </a:rPr>
              <a:t>Контекст: { x: 2, n: 3, строка 5 } power(2, 3)</a:t>
            </a:r>
            <a:endParaRPr lang="en-US" sz="2400" b="1">
              <a:latin typeface="Times New Roman Bold" panose="02020603050405020304" charset="0"/>
              <a:cs typeface="Times New Roman Bold" panose="0202060305040502030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62940" y="751840"/>
            <a:ext cx="10730865" cy="4154170"/>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Самый внешний вызов заканчивает свою работу, его результат: power(2, 3) = 8.</a:t>
            </a:r>
            <a:r>
              <a:rPr lang="en-US" sz="2400">
                <a:latin typeface="Times New Roman Regular" panose="02020603050405020304" charset="0"/>
                <a:cs typeface="Times New Roman Regular" panose="02020603050405020304" charset="0"/>
                <a:sym typeface="+mn-ea"/>
              </a:rPr>
              <a:t>最外向的调用结束，其结果是power（2，3）=8。</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	Глубина рекурсии в данном случае составила 3.</a:t>
            </a:r>
            <a:r>
              <a:rPr lang="en-US" sz="2400">
                <a:latin typeface="Times New Roman Regular" panose="02020603050405020304" charset="0"/>
                <a:cs typeface="Times New Roman Regular" panose="02020603050405020304" charset="0"/>
                <a:sym typeface="+mn-ea"/>
              </a:rPr>
              <a:t>在这种情况下，递归深度为3。</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	Как видно из иллюстраций выше, глубина рекурсии равна максимальному числу контекстов, одновременно хранимых в стеке.</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如上图所示，递归深度等于同时存储在堆栈中的最大上下文数。</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9110" y="1443990"/>
            <a:ext cx="11193780" cy="4399915"/>
          </a:xfrm>
          <a:prstGeom prst="rect">
            <a:avLst/>
          </a:prstGeom>
          <a:noFill/>
        </p:spPr>
        <p:txBody>
          <a:bodyPr wrap="square" rtlCol="0" anchor="t">
            <a:spAutoFit/>
          </a:bodyPr>
          <a:p>
            <a:pPr algn="just"/>
            <a:r>
              <a:rPr lang="en-US" sz="2800">
                <a:latin typeface="Times New Roman Regular" panose="02020603050405020304" charset="0"/>
                <a:cs typeface="Times New Roman Regular" panose="02020603050405020304" charset="0"/>
              </a:rPr>
              <a:t>	Обратим внимание на требования к памяти. Рекурсия приводит к хранению всех данных для неоконченных внешних вызовов в стеке, и в данном случае это приводит к тому, что возведение в степень n хранит в памяти n различных контекстов.</a:t>
            </a:r>
            <a:r>
              <a:rPr lang="en-US" sz="2800">
                <a:latin typeface="Times New Roman Regular" panose="02020603050405020304" charset="0"/>
                <a:cs typeface="Times New Roman Regular" panose="02020603050405020304" charset="0"/>
                <a:sym typeface="+mn-ea"/>
              </a:rPr>
              <a:t>注意记忆的要求。递归将所有未完成的外部调用的数据存储在堆栈中，在这种情况下，这将导致n次递归存储在n个不同上下文的内存中。</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	Реализация возведения в степень через цикл гораздо более экономна </a:t>
            </a:r>
            <a:r>
              <a:rPr lang="en-US" sz="2800">
                <a:solidFill>
                  <a:srgbClr val="FF0000"/>
                </a:solidFill>
                <a:latin typeface="Times New Roman Regular" panose="02020603050405020304" charset="0"/>
                <a:cs typeface="Times New Roman Regular" panose="02020603050405020304" charset="0"/>
              </a:rPr>
              <a:t>(!)  </a:t>
            </a:r>
            <a:r>
              <a:rPr lang="en-US" sz="2800">
                <a:latin typeface="Times New Roman Regular" panose="02020603050405020304" charset="0"/>
                <a:cs typeface="Times New Roman Regular" panose="02020603050405020304" charset="0"/>
              </a:rPr>
              <a:t>通过循环实现幂化更经济（！）</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35280" y="371475"/>
            <a:ext cx="11465560" cy="2306955"/>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Итеративный вариант функции power использует один контекст, в котором будут последовательно меняться значения i и result. При этом объём затрачиваемой памяти небольшой, фиксированный и не зависит от n.</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POWER函数的迭代版本使用一个上下文，其中i和result值将依次更改。内存消耗量很小，固定，不依赖于n。</a:t>
            </a:r>
            <a:endParaRPr lang="en-US" sz="2400">
              <a:latin typeface="Times New Roman Regular" panose="02020603050405020304" charset="0"/>
              <a:cs typeface="Times New Roman Regular" panose="02020603050405020304" charset="0"/>
            </a:endParaRPr>
          </a:p>
        </p:txBody>
      </p:sp>
      <p:sp>
        <p:nvSpPr>
          <p:cNvPr id="3" name="Text Box 2"/>
          <p:cNvSpPr txBox="1"/>
          <p:nvPr/>
        </p:nvSpPr>
        <p:spPr>
          <a:xfrm>
            <a:off x="3528060" y="3091815"/>
            <a:ext cx="5080000" cy="3476625"/>
          </a:xfrm>
          <a:prstGeom prst="rect">
            <a:avLst/>
          </a:prstGeom>
          <a:noFill/>
          <a:ln w="9525">
            <a:noFill/>
          </a:ln>
        </p:spPr>
        <p:txBody>
          <a:bodyPr>
            <a:spAutoFit/>
          </a:bodyPr>
          <a:p>
            <a:pPr marL="0" indent="0" algn="l"/>
            <a:r>
              <a:rPr lang="en-US" sz="2000" b="0">
                <a:solidFill>
                  <a:srgbClr val="0000FF"/>
                </a:solidFill>
                <a:latin typeface="Consolas" panose="020B0609020204030204" charset="0"/>
                <a:cs typeface="Consolas" panose="020B0609020204030204" charset="0"/>
              </a:rPr>
              <a:t>function</a:t>
            </a:r>
            <a:r>
              <a:rPr lang="en-US" sz="2000" b="0">
                <a:solidFill>
                  <a:srgbClr val="3B3B3B"/>
                </a:solidFill>
                <a:latin typeface="Consolas" panose="020B0609020204030204" charset="0"/>
                <a:cs typeface="Consolas" panose="020B0609020204030204" charset="0"/>
              </a:rPr>
              <a:t> </a:t>
            </a:r>
            <a:r>
              <a:rPr lang="en-US" sz="2000" b="0">
                <a:solidFill>
                  <a:srgbClr val="795E26"/>
                </a:solidFill>
                <a:latin typeface="Consolas" panose="020B0609020204030204" charset="0"/>
                <a:cs typeface="Consolas" panose="020B0609020204030204" charset="0"/>
              </a:rPr>
              <a:t>power</a:t>
            </a:r>
            <a:r>
              <a:rPr lang="en-US" sz="2000" b="0">
                <a:solidFill>
                  <a:srgbClr val="3B3B3B"/>
                </a:solidFill>
                <a:latin typeface="Consolas" panose="020B0609020204030204" charset="0"/>
                <a:cs typeface="Consolas" panose="020B0609020204030204" charset="0"/>
              </a:rPr>
              <a:t>(</a:t>
            </a:r>
            <a:r>
              <a:rPr lang="en-US" sz="2000" b="0">
                <a:solidFill>
                  <a:srgbClr val="001080"/>
                </a:solidFill>
                <a:latin typeface="Consolas" panose="020B0609020204030204" charset="0"/>
                <a:cs typeface="Consolas" panose="020B0609020204030204" charset="0"/>
              </a:rPr>
              <a:t>x</a:t>
            </a:r>
            <a:r>
              <a:rPr lang="en-US" sz="2000" b="0">
                <a:solidFill>
                  <a:srgbClr val="3B3B3B"/>
                </a:solidFill>
                <a:latin typeface="Consolas" panose="020B0609020204030204" charset="0"/>
                <a:cs typeface="Consolas" panose="020B0609020204030204" charset="0"/>
              </a:rPr>
              <a:t>, </a:t>
            </a:r>
            <a:r>
              <a:rPr lang="en-US" sz="2000" b="0">
                <a:solidFill>
                  <a:srgbClr val="001080"/>
                </a:solidFill>
                <a:latin typeface="Consolas" panose="020B0609020204030204" charset="0"/>
                <a:cs typeface="Consolas" panose="020B0609020204030204" charset="0"/>
              </a:rPr>
              <a:t>n</a:t>
            </a:r>
            <a:r>
              <a:rPr lang="en-US" sz="2000" b="0">
                <a:solidFill>
                  <a:srgbClr val="3B3B3B"/>
                </a:solidFill>
                <a:latin typeface="Consolas" panose="020B0609020204030204" charset="0"/>
                <a:cs typeface="Consolas" panose="020B0609020204030204" charset="0"/>
              </a:rPr>
              <a:t>) {</a:t>
            </a:r>
            <a:r>
              <a:rPr lang="en-US" sz="2000" b="0">
                <a:solidFill>
                  <a:srgbClr val="0000FF"/>
                </a:solidFill>
                <a:latin typeface="Consolas" panose="020B0609020204030204" charset="0"/>
                <a:cs typeface="Consolas" panose="020B0609020204030204" charset="0"/>
              </a:rPr>
              <a:t>  let</a:t>
            </a:r>
            <a:r>
              <a:rPr lang="en-US" sz="2000" b="0">
                <a:solidFill>
                  <a:srgbClr val="3B3B3B"/>
                </a:solidFill>
                <a:latin typeface="Consolas" panose="020B0609020204030204" charset="0"/>
                <a:cs typeface="Consolas" panose="020B0609020204030204" charset="0"/>
              </a:rPr>
              <a:t> </a:t>
            </a:r>
            <a:r>
              <a:rPr lang="en-US" sz="2000" b="0">
                <a:solidFill>
                  <a:srgbClr val="001080"/>
                </a:solidFill>
                <a:latin typeface="Consolas" panose="020B0609020204030204" charset="0"/>
                <a:cs typeface="Consolas" panose="020B0609020204030204" charset="0"/>
              </a:rPr>
              <a:t>result</a:t>
            </a:r>
            <a:r>
              <a:rPr lang="en-US" sz="2000" b="0">
                <a:solidFill>
                  <a:srgbClr val="3B3B3B"/>
                </a:solidFill>
                <a:latin typeface="Consolas" panose="020B0609020204030204" charset="0"/>
                <a:cs typeface="Consolas" panose="020B0609020204030204" charset="0"/>
              </a:rPr>
              <a:t> </a:t>
            </a:r>
            <a:r>
              <a:rPr lang="en-US" sz="2000" b="0">
                <a:solidFill>
                  <a:srgbClr val="000000"/>
                </a:solidFill>
                <a:latin typeface="Consolas" panose="020B0609020204030204" charset="0"/>
                <a:cs typeface="Consolas" panose="020B0609020204030204" charset="0"/>
              </a:rPr>
              <a:t>=</a:t>
            </a:r>
            <a:r>
              <a:rPr lang="en-US" sz="2000" b="0">
                <a:solidFill>
                  <a:srgbClr val="3B3B3B"/>
                </a:solidFill>
                <a:latin typeface="Consolas" panose="020B0609020204030204" charset="0"/>
                <a:cs typeface="Consolas" panose="020B0609020204030204" charset="0"/>
              </a:rPr>
              <a:t> </a:t>
            </a:r>
            <a:r>
              <a:rPr lang="en-US" sz="2000" b="0">
                <a:solidFill>
                  <a:srgbClr val="098658"/>
                </a:solidFill>
                <a:latin typeface="Consolas" panose="020B0609020204030204" charset="0"/>
                <a:cs typeface="Consolas" panose="020B0609020204030204" charset="0"/>
              </a:rPr>
              <a:t>1</a:t>
            </a:r>
            <a:r>
              <a:rPr lang="en-US" sz="2000" b="0">
                <a:solidFill>
                  <a:srgbClr val="3B3B3B"/>
                </a:solidFill>
                <a:latin typeface="Consolas" panose="020B0609020204030204" charset="0"/>
                <a:cs typeface="Consolas" panose="020B0609020204030204" charset="0"/>
              </a:rPr>
              <a:t>;</a:t>
            </a:r>
            <a:r>
              <a:rPr lang="en-US" sz="2000" b="0">
                <a:solidFill>
                  <a:srgbClr val="AF00DB"/>
                </a:solidFill>
                <a:latin typeface="Consolas" panose="020B0609020204030204" charset="0"/>
                <a:cs typeface="Consolas" panose="020B0609020204030204" charset="0"/>
              </a:rPr>
              <a:t>  for</a:t>
            </a:r>
            <a:r>
              <a:rPr lang="en-US" sz="2000" b="0">
                <a:solidFill>
                  <a:srgbClr val="3B3B3B"/>
                </a:solidFill>
                <a:latin typeface="Consolas" panose="020B0609020204030204" charset="0"/>
                <a:cs typeface="Consolas" panose="020B0609020204030204" charset="0"/>
              </a:rPr>
              <a:t> (</a:t>
            </a:r>
            <a:r>
              <a:rPr lang="en-US" sz="2000" b="0">
                <a:solidFill>
                  <a:srgbClr val="0000FF"/>
                </a:solidFill>
                <a:latin typeface="Consolas" panose="020B0609020204030204" charset="0"/>
                <a:cs typeface="Consolas" panose="020B0609020204030204" charset="0"/>
              </a:rPr>
              <a:t>let</a:t>
            </a:r>
            <a:r>
              <a:rPr lang="en-US" sz="2000" b="0">
                <a:solidFill>
                  <a:srgbClr val="3B3B3B"/>
                </a:solidFill>
                <a:latin typeface="Consolas" panose="020B0609020204030204" charset="0"/>
                <a:cs typeface="Consolas" panose="020B0609020204030204" charset="0"/>
              </a:rPr>
              <a:t> </a:t>
            </a:r>
            <a:r>
              <a:rPr lang="en-US" sz="2000" b="0">
                <a:solidFill>
                  <a:srgbClr val="001080"/>
                </a:solidFill>
                <a:latin typeface="Consolas" panose="020B0609020204030204" charset="0"/>
                <a:cs typeface="Consolas" panose="020B0609020204030204" charset="0"/>
              </a:rPr>
              <a:t>i</a:t>
            </a:r>
            <a:r>
              <a:rPr lang="en-US" sz="2000" b="0">
                <a:solidFill>
                  <a:srgbClr val="3B3B3B"/>
                </a:solidFill>
                <a:latin typeface="Consolas" panose="020B0609020204030204" charset="0"/>
                <a:cs typeface="Consolas" panose="020B0609020204030204" charset="0"/>
              </a:rPr>
              <a:t> </a:t>
            </a:r>
            <a:r>
              <a:rPr lang="en-US" sz="2000" b="0">
                <a:solidFill>
                  <a:srgbClr val="000000"/>
                </a:solidFill>
                <a:latin typeface="Consolas" panose="020B0609020204030204" charset="0"/>
                <a:cs typeface="Consolas" panose="020B0609020204030204" charset="0"/>
              </a:rPr>
              <a:t>=</a:t>
            </a:r>
            <a:r>
              <a:rPr lang="en-US" sz="2000" b="0">
                <a:solidFill>
                  <a:srgbClr val="3B3B3B"/>
                </a:solidFill>
                <a:latin typeface="Consolas" panose="020B0609020204030204" charset="0"/>
                <a:cs typeface="Consolas" panose="020B0609020204030204" charset="0"/>
              </a:rPr>
              <a:t> </a:t>
            </a:r>
            <a:r>
              <a:rPr lang="en-US" sz="2000" b="0">
                <a:solidFill>
                  <a:srgbClr val="098658"/>
                </a:solidFill>
                <a:latin typeface="Consolas" panose="020B0609020204030204" charset="0"/>
                <a:cs typeface="Consolas" panose="020B0609020204030204" charset="0"/>
              </a:rPr>
              <a:t>0</a:t>
            </a:r>
            <a:r>
              <a:rPr lang="en-US" sz="2000" b="0">
                <a:solidFill>
                  <a:srgbClr val="3B3B3B"/>
                </a:solidFill>
                <a:latin typeface="Consolas" panose="020B0609020204030204" charset="0"/>
                <a:cs typeface="Consolas" panose="020B0609020204030204" charset="0"/>
              </a:rPr>
              <a:t>; </a:t>
            </a:r>
            <a:r>
              <a:rPr lang="en-US" sz="2000" b="0">
                <a:solidFill>
                  <a:srgbClr val="001080"/>
                </a:solidFill>
                <a:latin typeface="Consolas" panose="020B0609020204030204" charset="0"/>
                <a:cs typeface="Consolas" panose="020B0609020204030204" charset="0"/>
              </a:rPr>
              <a:t>i</a:t>
            </a:r>
            <a:r>
              <a:rPr lang="en-US" sz="2000" b="0">
                <a:solidFill>
                  <a:srgbClr val="3B3B3B"/>
                </a:solidFill>
                <a:latin typeface="Consolas" panose="020B0609020204030204" charset="0"/>
                <a:cs typeface="Consolas" panose="020B0609020204030204" charset="0"/>
              </a:rPr>
              <a:t> </a:t>
            </a:r>
            <a:r>
              <a:rPr lang="en-US" sz="2000" b="0">
                <a:solidFill>
                  <a:srgbClr val="000000"/>
                </a:solidFill>
                <a:latin typeface="Consolas" panose="020B0609020204030204" charset="0"/>
                <a:cs typeface="Consolas" panose="020B0609020204030204" charset="0"/>
              </a:rPr>
              <a:t>&lt;</a:t>
            </a:r>
            <a:r>
              <a:rPr lang="en-US" sz="2000" b="0">
                <a:solidFill>
                  <a:srgbClr val="3B3B3B"/>
                </a:solidFill>
                <a:latin typeface="Consolas" panose="020B0609020204030204" charset="0"/>
                <a:cs typeface="Consolas" panose="020B0609020204030204" charset="0"/>
              </a:rPr>
              <a:t> </a:t>
            </a:r>
            <a:r>
              <a:rPr lang="en-US" sz="2000" b="0">
                <a:solidFill>
                  <a:srgbClr val="001080"/>
                </a:solidFill>
                <a:latin typeface="Consolas" panose="020B0609020204030204" charset="0"/>
                <a:cs typeface="Consolas" panose="020B0609020204030204" charset="0"/>
              </a:rPr>
              <a:t>n</a:t>
            </a:r>
            <a:r>
              <a:rPr lang="en-US" sz="2000" b="0">
                <a:solidFill>
                  <a:srgbClr val="3B3B3B"/>
                </a:solidFill>
                <a:latin typeface="Consolas" panose="020B0609020204030204" charset="0"/>
                <a:cs typeface="Consolas" panose="020B0609020204030204" charset="0"/>
              </a:rPr>
              <a:t>; </a:t>
            </a:r>
            <a:r>
              <a:rPr lang="en-US" sz="2000" b="0">
                <a:solidFill>
                  <a:srgbClr val="001080"/>
                </a:solidFill>
                <a:latin typeface="Consolas" panose="020B0609020204030204" charset="0"/>
                <a:cs typeface="Consolas" panose="020B0609020204030204" charset="0"/>
              </a:rPr>
              <a:t>i</a:t>
            </a:r>
            <a:r>
              <a:rPr lang="en-US" sz="2000" b="0">
                <a:solidFill>
                  <a:srgbClr val="000000"/>
                </a:solidFill>
                <a:latin typeface="Consolas" panose="020B0609020204030204" charset="0"/>
                <a:cs typeface="Consolas" panose="020B0609020204030204" charset="0"/>
              </a:rPr>
              <a:t>++</a:t>
            </a:r>
            <a:r>
              <a:rPr lang="en-US" sz="2000" b="0">
                <a:solidFill>
                  <a:srgbClr val="3B3B3B"/>
                </a:solidFill>
                <a:latin typeface="Consolas" panose="020B0609020204030204" charset="0"/>
                <a:cs typeface="Consolas" panose="020B0609020204030204" charset="0"/>
              </a:rPr>
              <a:t>) {</a:t>
            </a:r>
            <a:r>
              <a:rPr lang="en-US" sz="2000" b="0">
                <a:solidFill>
                  <a:srgbClr val="001080"/>
                </a:solidFill>
                <a:latin typeface="Consolas" panose="020B0609020204030204" charset="0"/>
                <a:cs typeface="Consolas" panose="020B0609020204030204" charset="0"/>
              </a:rPr>
              <a:t>    result</a:t>
            </a:r>
            <a:r>
              <a:rPr lang="en-US" sz="2000" b="0">
                <a:solidFill>
                  <a:srgbClr val="3B3B3B"/>
                </a:solidFill>
                <a:latin typeface="Consolas" panose="020B0609020204030204" charset="0"/>
                <a:cs typeface="Consolas" panose="020B0609020204030204" charset="0"/>
              </a:rPr>
              <a:t> </a:t>
            </a:r>
            <a:r>
              <a:rPr lang="en-US" sz="2000" b="0">
                <a:solidFill>
                  <a:srgbClr val="000000"/>
                </a:solidFill>
                <a:latin typeface="Consolas" panose="020B0609020204030204" charset="0"/>
                <a:cs typeface="Consolas" panose="020B0609020204030204" charset="0"/>
              </a:rPr>
              <a:t>*=</a:t>
            </a:r>
            <a:r>
              <a:rPr lang="en-US" sz="2000" b="0">
                <a:solidFill>
                  <a:srgbClr val="3B3B3B"/>
                </a:solidFill>
                <a:latin typeface="Consolas" panose="020B0609020204030204" charset="0"/>
                <a:cs typeface="Consolas" panose="020B0609020204030204" charset="0"/>
              </a:rPr>
              <a:t> </a:t>
            </a:r>
            <a:r>
              <a:rPr lang="en-US" sz="2000" b="0">
                <a:solidFill>
                  <a:srgbClr val="001080"/>
                </a:solidFill>
                <a:latin typeface="Consolas" panose="020B0609020204030204" charset="0"/>
                <a:cs typeface="Consolas" panose="020B0609020204030204" charset="0"/>
              </a:rPr>
              <a:t>x</a:t>
            </a:r>
            <a:r>
              <a:rPr lang="en-US" sz="2000" b="0">
                <a:solidFill>
                  <a:srgbClr val="3B3B3B"/>
                </a:solidFill>
                <a:latin typeface="Consolas" panose="020B0609020204030204" charset="0"/>
                <a:cs typeface="Consolas" panose="020B0609020204030204" charset="0"/>
              </a:rPr>
              <a:t>;  }</a:t>
            </a:r>
            <a:r>
              <a:rPr lang="en-US" sz="2000" b="0">
                <a:solidFill>
                  <a:srgbClr val="AF00DB"/>
                </a:solidFill>
                <a:latin typeface="Consolas" panose="020B0609020204030204" charset="0"/>
                <a:cs typeface="Consolas" panose="020B0609020204030204" charset="0"/>
              </a:rPr>
              <a:t>  return</a:t>
            </a:r>
            <a:r>
              <a:rPr lang="en-US" sz="2000" b="0">
                <a:solidFill>
                  <a:srgbClr val="3B3B3B"/>
                </a:solidFill>
                <a:latin typeface="Consolas" panose="020B0609020204030204" charset="0"/>
                <a:cs typeface="Consolas" panose="020B0609020204030204" charset="0"/>
              </a:rPr>
              <a:t> </a:t>
            </a:r>
            <a:r>
              <a:rPr lang="en-US" sz="2000" b="0">
                <a:solidFill>
                  <a:srgbClr val="001080"/>
                </a:solidFill>
                <a:latin typeface="Consolas" panose="020B0609020204030204" charset="0"/>
                <a:cs typeface="Consolas" panose="020B0609020204030204" charset="0"/>
              </a:rPr>
              <a:t>result</a:t>
            </a:r>
            <a:r>
              <a:rPr lang="en-US" sz="2000" b="0">
                <a:solidFill>
                  <a:srgbClr val="3B3B3B"/>
                </a:solidFill>
                <a:latin typeface="Consolas" panose="020B0609020204030204" charset="0"/>
                <a:cs typeface="Consolas" panose="020B0609020204030204" charset="0"/>
              </a:rPr>
              <a:t>;}</a:t>
            </a:r>
            <a:endParaRPr lang="en-US" sz="2000" b="0">
              <a:solidFill>
                <a:srgbClr val="795E26"/>
              </a:solidFill>
              <a:latin typeface="Consolas" panose="020B0609020204030204" charset="0"/>
              <a:cs typeface="Consolas" panose="020B0609020204030204" charset="0"/>
            </a:endParaRPr>
          </a:p>
          <a:p>
            <a:pPr marL="0" indent="0" algn="l"/>
            <a:endParaRPr lang="en-US" sz="2000" b="0">
              <a:solidFill>
                <a:srgbClr val="795E26"/>
              </a:solidFill>
              <a:latin typeface="Consolas" panose="020B0609020204030204" charset="0"/>
              <a:cs typeface="Consolas" panose="020B0609020204030204" charset="0"/>
            </a:endParaRPr>
          </a:p>
          <a:p>
            <a:pPr marL="0" indent="0" algn="l"/>
            <a:r>
              <a:rPr lang="en-US" sz="2000" b="0">
                <a:solidFill>
                  <a:srgbClr val="795E26"/>
                </a:solidFill>
                <a:latin typeface="Consolas" panose="020B0609020204030204" charset="0"/>
                <a:cs typeface="Consolas" panose="020B0609020204030204" charset="0"/>
              </a:rPr>
              <a:t>alert</a:t>
            </a:r>
            <a:r>
              <a:rPr lang="en-US" sz="2000" b="0">
                <a:solidFill>
                  <a:srgbClr val="3B3B3B"/>
                </a:solidFill>
                <a:latin typeface="Consolas" panose="020B0609020204030204" charset="0"/>
                <a:cs typeface="Consolas" panose="020B0609020204030204" charset="0"/>
              </a:rPr>
              <a:t>(</a:t>
            </a:r>
            <a:r>
              <a:rPr lang="en-US" sz="2000" b="0">
                <a:solidFill>
                  <a:srgbClr val="795E26"/>
                </a:solidFill>
                <a:latin typeface="Consolas" panose="020B0609020204030204" charset="0"/>
                <a:cs typeface="Consolas" panose="020B0609020204030204" charset="0"/>
              </a:rPr>
              <a:t>power</a:t>
            </a:r>
            <a:r>
              <a:rPr lang="en-US" sz="2000" b="0">
                <a:solidFill>
                  <a:srgbClr val="3B3B3B"/>
                </a:solidFill>
                <a:latin typeface="Consolas" panose="020B0609020204030204" charset="0"/>
                <a:cs typeface="Consolas" panose="020B0609020204030204" charset="0"/>
              </a:rPr>
              <a:t>(</a:t>
            </a:r>
            <a:r>
              <a:rPr lang="en-US" sz="2000" b="0">
                <a:solidFill>
                  <a:srgbClr val="098658"/>
                </a:solidFill>
                <a:latin typeface="Consolas" panose="020B0609020204030204" charset="0"/>
                <a:cs typeface="Consolas" panose="020B0609020204030204" charset="0"/>
              </a:rPr>
              <a:t>2</a:t>
            </a:r>
            <a:r>
              <a:rPr lang="en-US" sz="2000" b="0">
                <a:solidFill>
                  <a:srgbClr val="3B3B3B"/>
                </a:solidFill>
                <a:latin typeface="Consolas" panose="020B0609020204030204" charset="0"/>
                <a:cs typeface="Consolas" panose="020B0609020204030204" charset="0"/>
              </a:rPr>
              <a:t>, </a:t>
            </a:r>
            <a:r>
              <a:rPr lang="en-US" sz="2000" b="0">
                <a:solidFill>
                  <a:srgbClr val="098658"/>
                </a:solidFill>
                <a:latin typeface="Consolas" panose="020B0609020204030204" charset="0"/>
                <a:cs typeface="Consolas" panose="020B0609020204030204" charset="0"/>
              </a:rPr>
              <a:t>2</a:t>
            </a:r>
            <a:r>
              <a:rPr lang="en-US" sz="2000" b="0">
                <a:solidFill>
                  <a:srgbClr val="3B3B3B"/>
                </a:solidFill>
                <a:latin typeface="Consolas" panose="020B0609020204030204" charset="0"/>
                <a:cs typeface="Consolas" panose="020B0609020204030204" charset="0"/>
              </a:rPr>
              <a:t>));</a:t>
            </a:r>
            <a:r>
              <a:rPr lang="en-US" sz="2000" b="0">
                <a:solidFill>
                  <a:srgbClr val="795E26"/>
                </a:solidFill>
                <a:latin typeface="Consolas" panose="020B0609020204030204" charset="0"/>
                <a:cs typeface="Consolas" panose="020B0609020204030204" charset="0"/>
              </a:rPr>
              <a:t>alert</a:t>
            </a:r>
            <a:r>
              <a:rPr lang="en-US" sz="2000" b="0">
                <a:solidFill>
                  <a:srgbClr val="3B3B3B"/>
                </a:solidFill>
                <a:latin typeface="Consolas" panose="020B0609020204030204" charset="0"/>
                <a:cs typeface="Consolas" panose="020B0609020204030204" charset="0"/>
              </a:rPr>
              <a:t>(</a:t>
            </a:r>
            <a:r>
              <a:rPr lang="en-US" sz="2000" b="0">
                <a:solidFill>
                  <a:srgbClr val="795E26"/>
                </a:solidFill>
                <a:latin typeface="Consolas" panose="020B0609020204030204" charset="0"/>
                <a:cs typeface="Consolas" panose="020B0609020204030204" charset="0"/>
              </a:rPr>
              <a:t>power</a:t>
            </a:r>
            <a:r>
              <a:rPr lang="en-US" sz="2000" b="0">
                <a:solidFill>
                  <a:srgbClr val="3B3B3B"/>
                </a:solidFill>
                <a:latin typeface="Consolas" panose="020B0609020204030204" charset="0"/>
                <a:cs typeface="Consolas" panose="020B0609020204030204" charset="0"/>
              </a:rPr>
              <a:t>(</a:t>
            </a:r>
            <a:r>
              <a:rPr lang="en-US" sz="2000" b="0">
                <a:solidFill>
                  <a:srgbClr val="098658"/>
                </a:solidFill>
                <a:latin typeface="Consolas" panose="020B0609020204030204" charset="0"/>
                <a:cs typeface="Consolas" panose="020B0609020204030204" charset="0"/>
              </a:rPr>
              <a:t>2</a:t>
            </a:r>
            <a:r>
              <a:rPr lang="en-US" sz="2000" b="0">
                <a:solidFill>
                  <a:srgbClr val="3B3B3B"/>
                </a:solidFill>
                <a:latin typeface="Consolas" panose="020B0609020204030204" charset="0"/>
                <a:cs typeface="Consolas" panose="020B0609020204030204" charset="0"/>
              </a:rPr>
              <a:t>, </a:t>
            </a:r>
            <a:r>
              <a:rPr lang="en-US" sz="2000" b="0">
                <a:solidFill>
                  <a:srgbClr val="098658"/>
                </a:solidFill>
                <a:latin typeface="Consolas" panose="020B0609020204030204" charset="0"/>
                <a:cs typeface="Consolas" panose="020B0609020204030204" charset="0"/>
              </a:rPr>
              <a:t>3</a:t>
            </a:r>
            <a:r>
              <a:rPr lang="en-US" sz="2000" b="0">
                <a:solidFill>
                  <a:srgbClr val="3B3B3B"/>
                </a:solidFill>
                <a:latin typeface="Consolas" panose="020B0609020204030204" charset="0"/>
                <a:cs typeface="Consolas" panose="020B0609020204030204" charset="0"/>
              </a:rPr>
              <a:t>));</a:t>
            </a:r>
            <a:r>
              <a:rPr lang="en-US" sz="2000" b="0">
                <a:solidFill>
                  <a:srgbClr val="795E26"/>
                </a:solidFill>
                <a:latin typeface="Consolas" panose="020B0609020204030204" charset="0"/>
                <a:cs typeface="Consolas" panose="020B0609020204030204" charset="0"/>
              </a:rPr>
              <a:t>alert</a:t>
            </a:r>
            <a:r>
              <a:rPr lang="en-US" sz="2000" b="0">
                <a:solidFill>
                  <a:srgbClr val="3B3B3B"/>
                </a:solidFill>
                <a:latin typeface="Consolas" panose="020B0609020204030204" charset="0"/>
                <a:cs typeface="Consolas" panose="020B0609020204030204" charset="0"/>
              </a:rPr>
              <a:t>(</a:t>
            </a:r>
            <a:r>
              <a:rPr lang="en-US" sz="2000" b="0">
                <a:solidFill>
                  <a:srgbClr val="795E26"/>
                </a:solidFill>
                <a:latin typeface="Consolas" panose="020B0609020204030204" charset="0"/>
                <a:cs typeface="Consolas" panose="020B0609020204030204" charset="0"/>
              </a:rPr>
              <a:t>power</a:t>
            </a:r>
            <a:r>
              <a:rPr lang="en-US" sz="2000" b="0">
                <a:solidFill>
                  <a:srgbClr val="3B3B3B"/>
                </a:solidFill>
                <a:latin typeface="Consolas" panose="020B0609020204030204" charset="0"/>
                <a:cs typeface="Consolas" panose="020B0609020204030204" charset="0"/>
              </a:rPr>
              <a:t>(</a:t>
            </a:r>
            <a:r>
              <a:rPr lang="en-US" sz="2000" b="0">
                <a:solidFill>
                  <a:srgbClr val="098658"/>
                </a:solidFill>
                <a:latin typeface="Consolas" panose="020B0609020204030204" charset="0"/>
                <a:cs typeface="Consolas" panose="020B0609020204030204" charset="0"/>
              </a:rPr>
              <a:t>2</a:t>
            </a:r>
            <a:r>
              <a:rPr lang="en-US" sz="2000" b="0">
                <a:solidFill>
                  <a:srgbClr val="3B3B3B"/>
                </a:solidFill>
                <a:latin typeface="Consolas" panose="020B0609020204030204" charset="0"/>
                <a:cs typeface="Consolas" panose="020B0609020204030204" charset="0"/>
              </a:rPr>
              <a:t>, </a:t>
            </a:r>
            <a:r>
              <a:rPr lang="en-US" sz="2000" b="0">
                <a:solidFill>
                  <a:srgbClr val="098658"/>
                </a:solidFill>
                <a:latin typeface="Consolas" panose="020B0609020204030204" charset="0"/>
                <a:cs typeface="Consolas" panose="020B0609020204030204" charset="0"/>
              </a:rPr>
              <a:t>4</a:t>
            </a:r>
            <a:r>
              <a:rPr lang="en-US" sz="2000" b="0">
                <a:solidFill>
                  <a:srgbClr val="3B3B3B"/>
                </a:solidFill>
                <a:latin typeface="Consolas" panose="020B0609020204030204" charset="0"/>
                <a:cs typeface="Consolas" panose="020B0609020204030204" charset="0"/>
              </a:rPr>
              <a:t>));</a:t>
            </a:r>
            <a:endParaRPr lang="en-US" sz="2000">
              <a:latin typeface="Consolas" panose="020B0609020204030204" charset="0"/>
              <a:cs typeface="Consolas" panose="020B060902020403020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75360" y="1871980"/>
            <a:ext cx="10241280" cy="2306955"/>
          </a:xfrm>
          <a:prstGeom prst="rect">
            <a:avLst/>
          </a:prstGeom>
          <a:noFill/>
        </p:spPr>
        <p:txBody>
          <a:bodyPr wrap="square" rtlCol="0" anchor="t">
            <a:spAutoFit/>
          </a:bodyPr>
          <a:p>
            <a:pPr algn="just">
              <a:lnSpc>
                <a:spcPct val="100000"/>
              </a:lnSpc>
            </a:pPr>
            <a:r>
              <a:rPr lang="en-US" sz="2400">
                <a:latin typeface="Times New Roman Regular" panose="02020603050405020304" charset="0"/>
                <a:cs typeface="Times New Roman Regular" panose="02020603050405020304" charset="0"/>
              </a:rPr>
              <a:t>	Любая рекурсия может быть переделана в цикл. Как правило, вариант с циклом будет эффективнее.</a:t>
            </a:r>
            <a:endParaRPr lang="en-US" sz="2400">
              <a:latin typeface="Times New Roman Regular" panose="02020603050405020304" charset="0"/>
              <a:cs typeface="Times New Roman Regular" panose="02020603050405020304" charset="0"/>
            </a:endParaRPr>
          </a:p>
          <a:p>
            <a:pPr algn="just">
              <a:lnSpc>
                <a:spcPct val="100000"/>
              </a:lnSpc>
            </a:pPr>
            <a:endParaRPr lang="en-US" sz="2400">
              <a:latin typeface="Times New Roman Regular" panose="02020603050405020304" charset="0"/>
              <a:cs typeface="Times New Roman Regular" panose="02020603050405020304" charset="0"/>
            </a:endParaRPr>
          </a:p>
          <a:p>
            <a:pPr algn="just">
              <a:lnSpc>
                <a:spcPct val="100000"/>
              </a:lnSpc>
            </a:pPr>
            <a:r>
              <a:rPr lang="en-US" sz="2400">
                <a:latin typeface="Times New Roman Regular" panose="02020603050405020304" charset="0"/>
                <a:cs typeface="Times New Roman Regular" panose="02020603050405020304" charset="0"/>
              </a:rPr>
              <a:t>任何递归都可以转换为循环。通常情况下，循环选项会更有效。</a:t>
            </a:r>
            <a:endParaRPr lang="en-US" sz="2400">
              <a:latin typeface="Times New Roman Regular" panose="02020603050405020304" charset="0"/>
              <a:cs typeface="Times New Roman Regular" panose="02020603050405020304" charset="0"/>
            </a:endParaRPr>
          </a:p>
          <a:p>
            <a:pPr algn="just">
              <a:lnSpc>
                <a:spcPct val="100000"/>
              </a:lnSpc>
            </a:pPr>
            <a:endParaRPr lang="en-US" sz="2400">
              <a:latin typeface="Times New Roman Regular" panose="02020603050405020304" charset="0"/>
              <a:cs typeface="Times New Roman Regular" panose="02020603050405020304" charset="0"/>
            </a:endParaRPr>
          </a:p>
          <a:p>
            <a:pPr algn="just">
              <a:lnSpc>
                <a:spcPct val="100000"/>
              </a:lnSpc>
            </a:pP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44500" y="733425"/>
            <a:ext cx="11302365" cy="4892675"/>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Но переделка рекурсии в цикл может быть нетривиальной, особенно когда в функции в зависимости от условий используются различные рекурсивные подвызовы, результаты которых объединяются, или когда ветвление более сложное. </a:t>
            </a:r>
            <a:r>
              <a:rPr lang="en-US" sz="2400">
                <a:latin typeface="Times New Roman Regular" panose="02020603050405020304" charset="0"/>
                <a:cs typeface="Times New Roman Regular" panose="02020603050405020304" charset="0"/>
                <a:sym typeface="+mn-ea"/>
              </a:rPr>
              <a:t>但是，将递归转换为循环可能是非平凡的，特别是当函数根据条件使用不同的递归子集并将结果合并时，或者当分支更复杂时。</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	Оптимизация может быть ненужной и совершенно нестоящей усилий. Часто код с использованием рекурсии более короткий, лёгкий для понимания и поддержки.</a:t>
            </a:r>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优化可能是不必要的，完全不必要的努力。使用递归的代码通常更短，易于理解和支持。</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67055" y="541020"/>
            <a:ext cx="11220450" cy="3046095"/>
          </a:xfrm>
          <a:prstGeom prst="rect">
            <a:avLst/>
          </a:prstGeom>
          <a:noFill/>
        </p:spPr>
        <p:txBody>
          <a:bodyPr wrap="square" rtlCol="0" anchor="t">
            <a:spAutoFit/>
          </a:bodyPr>
          <a:p>
            <a:pPr algn="just"/>
            <a:r>
              <a:rPr lang="en-US" sz="2400">
                <a:latin typeface="Times New Roman Regular" panose="02020603050405020304" charset="0"/>
                <a:cs typeface="Times New Roman Regular" panose="02020603050405020304" charset="0"/>
              </a:rPr>
              <a:t>	JavaScript – язык с сильным функционально-ориентированным уклоном. Он даёт нам много свободы. Функция может быть динамически создана, скопирована в другую переменную или передана как аргумент другой функции и позже вызвана из совершенно другого места.</a:t>
            </a:r>
            <a:r>
              <a:rPr lang="ru-RU" altLang="en-US" sz="2400">
                <a:latin typeface="Times New Roman Regular" panose="02020603050405020304" charset="0"/>
                <a:cs typeface="Times New Roman Regular" panose="02020603050405020304" charset="0"/>
              </a:rPr>
              <a:t> Как быть с переменными в функции?</a:t>
            </a:r>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r>
              <a:rPr lang="ru-RU" altLang="en-US" sz="2400">
                <a:latin typeface="Times New Roman Regular" panose="02020603050405020304" charset="0"/>
                <a:cs typeface="Times New Roman Regular" panose="02020603050405020304" charset="0"/>
              </a:rPr>
              <a:t>JavaScript是一种面向功能的语言。它给了我们很多自由。函数可以动态创建，复制到另一个变量，或者作为另一个函数的参数传递，然后从完全不同的位置调用。如何处理函数中的变量？</a:t>
            </a:r>
            <a:endParaRPr lang="ru-RU" altLang="en-US" sz="2400">
              <a:latin typeface="Times New Roman Regular" panose="02020603050405020304" charset="0"/>
              <a:cs typeface="Times New Roman Regular" panose="0202060305040502030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562610" y="735330"/>
            <a:ext cx="10767060" cy="4154170"/>
          </a:xfrm>
          <a:prstGeom prst="rect">
            <a:avLst/>
          </a:prstGeom>
          <a:noFill/>
          <a:ln w="9525">
            <a:noFill/>
          </a:ln>
        </p:spPr>
        <p:txBody>
          <a:bodyPr wrap="square">
            <a:spAutoFit/>
          </a:bodyPr>
          <a:p>
            <a:pPr marL="0" indent="449580" algn="just"/>
            <a:r>
              <a:rPr lang="en-US" sz="2400" b="0">
                <a:latin typeface="Times New Roman" panose="02020603050405020304" charset="0"/>
              </a:rPr>
              <a:t>Область видимости функций (scope). </a:t>
            </a:r>
            <a:r>
              <a:rPr lang="en-US" sz="2400">
                <a:latin typeface="Times New Roman" panose="02020603050405020304" charset="0"/>
                <a:sym typeface="+mn-ea"/>
              </a:rPr>
              <a:t>函数范围（scope）。</a:t>
            </a:r>
            <a:endParaRPr lang="en-US" sz="2400" b="0">
              <a:latin typeface="Times New Roman" panose="02020603050405020304" charset="0"/>
            </a:endParaRPr>
          </a:p>
          <a:p>
            <a:pPr marL="0" indent="449580" algn="just"/>
            <a:endParaRPr lang="en-US" sz="2400" b="0">
              <a:latin typeface="Times New Roman" panose="02020603050405020304" charset="0"/>
            </a:endParaRPr>
          </a:p>
          <a:p>
            <a:pPr marL="0" indent="449580" algn="just"/>
            <a:endParaRPr lang="en-US" sz="2400" b="0">
              <a:latin typeface="Times New Roman" panose="02020603050405020304" charset="0"/>
            </a:endParaRPr>
          </a:p>
          <a:p>
            <a:pPr marL="0" indent="449580" algn="just"/>
            <a:endParaRPr lang="en-US" sz="2400" b="0">
              <a:latin typeface="Times New Roman" panose="02020603050405020304" charset="0"/>
            </a:endParaRPr>
          </a:p>
          <a:p>
            <a:pPr marL="0" indent="449580" algn="just"/>
            <a:r>
              <a:rPr lang="en-US" sz="2400" b="0">
                <a:latin typeface="Times New Roman" panose="02020603050405020304" charset="0"/>
              </a:rPr>
              <a:t>Не все переменные одинаково доступны — всё зависит от того, в каком месте кода их объявили. Разбираемся, почему так.</a:t>
            </a:r>
            <a:endParaRPr lang="en-US" sz="2400" b="0">
              <a:latin typeface="Times New Roman" panose="02020603050405020304" charset="0"/>
            </a:endParaRPr>
          </a:p>
          <a:p>
            <a:pPr marL="0" indent="449580" algn="just"/>
            <a:r>
              <a:rPr lang="en-US" sz="2400" b="0">
                <a:latin typeface="Times New Roman" panose="02020603050405020304" charset="0"/>
              </a:rPr>
              <a:t>并不是所有的变量都是相同的，这取决于代码在哪里发布。我们知道为什么。</a:t>
            </a:r>
            <a:endParaRPr lang="en-US" sz="2400" b="0">
              <a:latin typeface="Times New Roman" panose="02020603050405020304" charset="0"/>
            </a:endParaRPr>
          </a:p>
          <a:p>
            <a:pPr marL="0" indent="449580" algn="just"/>
            <a:endParaRPr lang="en-US" sz="2400" b="0">
              <a:latin typeface="Times New Roman" panose="02020603050405020304" charset="0"/>
            </a:endParaRPr>
          </a:p>
          <a:p>
            <a:pPr marL="0" indent="449580" algn="just"/>
            <a:endParaRPr lang="en-US" sz="2400" b="0">
              <a:latin typeface="Times New Roman" panose="02020603050405020304" charset="0"/>
            </a:endParaRPr>
          </a:p>
          <a:p>
            <a:pPr marL="0" indent="449580" algn="just"/>
            <a:endParaRPr lang="en-US" sz="2400" b="0">
              <a:latin typeface="Times New Roman" panose="02020603050405020304" charset="0"/>
            </a:endParaRPr>
          </a:p>
          <a:p>
            <a:pPr marL="0" indent="449580" algn="just"/>
            <a:endParaRPr lang="en-US" sz="24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53085" y="1884045"/>
            <a:ext cx="11085195" cy="1938020"/>
          </a:xfrm>
          <a:prstGeom prst="rect">
            <a:avLst/>
          </a:prstGeom>
          <a:noFill/>
        </p:spPr>
        <p:txBody>
          <a:bodyPr wrap="square" rtlCol="0" anchor="t">
            <a:spAutoFit/>
          </a:bodyPr>
          <a:p>
            <a:pPr marL="0" indent="449580" algn="just"/>
            <a:r>
              <a:rPr lang="en-US" sz="2400">
                <a:latin typeface="Times New Roman" panose="02020603050405020304" charset="0"/>
                <a:sym typeface="+mn-ea"/>
              </a:rPr>
              <a:t>Переменные, объявленные в функции, не могут быть доступными где-нибудь вне этой функции, поэтому переменные (которые нужны именно для функции) объявляют только в scope функции.</a:t>
            </a:r>
            <a:endParaRPr lang="en-US" sz="2400">
              <a:latin typeface="Times New Roman" panose="02020603050405020304" charset="0"/>
              <a:sym typeface="+mn-ea"/>
            </a:endParaRPr>
          </a:p>
          <a:p>
            <a:pPr marL="0" indent="449580" algn="just"/>
            <a:r>
              <a:rPr lang="en-US" sz="2400"/>
              <a:t>函数中声明的变量不能在函数之外的任何地方访问，因此变量（函数所需的变量）只能在函数的范围内声明。</a:t>
            </a:r>
            <a:endParaRPr lang="en-US" sz="24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54025" y="696595"/>
            <a:ext cx="11269980" cy="3415030"/>
          </a:xfrm>
          <a:prstGeom prst="rect">
            <a:avLst/>
          </a:prstGeom>
          <a:noFill/>
          <a:ln w="9525">
            <a:noFill/>
          </a:ln>
        </p:spPr>
        <p:txBody>
          <a:bodyPr wrap="square">
            <a:spAutoFit/>
          </a:bodyPr>
          <a:p>
            <a:pPr marL="0" indent="449580" algn="just"/>
            <a:r>
              <a:rPr lang="en-US" sz="2400" b="0">
                <a:latin typeface="Times New Roman" panose="02020603050405020304" charset="0"/>
              </a:rPr>
              <a:t>При этом функция имеет доступ ко всем переменным и функциям, объявленным внутри её scope. Другими словами, функция объявленная в глобальном scope имеет доступ ко всем переменным в глобальном scope. Функция, объявленная внутри другой функции, еще имеет доступ и ко всем переменным её родительской функции и другим переменным, к которым эта родительская функция имеет доступ.</a:t>
            </a:r>
            <a:endParaRPr lang="en-US" sz="2400" b="0">
              <a:latin typeface="Times New Roman" panose="02020603050405020304" charset="0"/>
            </a:endParaRPr>
          </a:p>
          <a:p>
            <a:pPr marL="0" indent="449580" algn="just"/>
            <a:endParaRPr lang="en-US" sz="2400"/>
          </a:p>
          <a:p>
            <a:pPr marL="0" indent="449580" algn="just"/>
            <a:r>
              <a:rPr lang="en-US" sz="2400"/>
              <a:t>在这种情况下，函数可以访问其scope中声明的所有变量和函数。换句话说，在全局范围中声明的函数可以访问全局范围中的所有变量。在另一个函数中声明的函数仍然可以访问其父函数的所有变量以及该父函数可以访问的其他变量。</a:t>
            </a:r>
            <a:endParaRPr lang="en-US" sz="24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930275" y="151765"/>
            <a:ext cx="9759950" cy="6554470"/>
          </a:xfrm>
          <a:prstGeom prst="rect">
            <a:avLst/>
          </a:prstGeom>
          <a:noFill/>
          <a:ln w="9525">
            <a:noFill/>
          </a:ln>
        </p:spPr>
        <p:txBody>
          <a:bodyPr wrap="square">
            <a:spAutoFit/>
          </a:bodyPr>
          <a:p>
            <a:pPr marL="0" indent="0"/>
            <a:r>
              <a:rPr lang="en-US" sz="2000" b="0">
                <a:solidFill>
                  <a:srgbClr val="0000FF"/>
                </a:solidFill>
                <a:latin typeface="Consolas" panose="020B0609020204030204" charset="0"/>
              </a:rPr>
              <a:t>let</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20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30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name</a:t>
            </a:r>
            <a:r>
              <a:rPr lang="en-US" sz="2000" b="0">
                <a:solidFill>
                  <a:srgbClr val="000000"/>
                </a:solidFill>
                <a:latin typeface="Consolas" panose="020B0609020204030204" charset="0"/>
              </a:rPr>
              <a:t> = </a:t>
            </a:r>
            <a:r>
              <a:rPr lang="en-US" sz="2000" b="0">
                <a:solidFill>
                  <a:srgbClr val="A31515"/>
                </a:solidFill>
                <a:latin typeface="Consolas" panose="020B0609020204030204" charset="0"/>
              </a:rPr>
              <a:t>"Script"</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function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multiply</a:t>
            </a:r>
            <a:r>
              <a:rPr lang="en-US" sz="2000" b="0">
                <a:solidFill>
                  <a:srgbClr val="000000"/>
                </a:solidFill>
                <a:latin typeface="Consolas" panose="020B0609020204030204" charset="0"/>
              </a:rPr>
              <a:t>() {  </a:t>
            </a:r>
            <a:r>
              <a:rPr lang="en-US" sz="2000" b="0">
                <a:solidFill>
                  <a:srgbClr val="AF00DB"/>
                </a:solidFill>
                <a:latin typeface="Consolas" panose="020B0609020204030204" charset="0"/>
              </a:rPr>
              <a:t>return</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0000FF"/>
                </a:solidFill>
                <a:latin typeface="Consolas" panose="020B0609020204030204" charset="0"/>
              </a:rPr>
              <a:t>function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getScore</a:t>
            </a:r>
            <a:r>
              <a:rPr lang="en-US" sz="2000" b="0">
                <a:solidFill>
                  <a:srgbClr val="000000"/>
                </a:solidFill>
                <a:latin typeface="Consolas" panose="020B0609020204030204" charset="0"/>
              </a:rPr>
              <a:t>() {  </a:t>
            </a:r>
            <a:r>
              <a:rPr lang="en-US" sz="2000" b="0">
                <a:solidFill>
                  <a:srgbClr val="0000FF"/>
                </a:solidFill>
                <a:latin typeface="Consolas" panose="020B0609020204030204" charset="0"/>
              </a:rPr>
              <a:t>var</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2</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3</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function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add</a:t>
            </a:r>
            <a:r>
              <a:rPr lang="en-US" sz="2000" b="0">
                <a:solidFill>
                  <a:srgbClr val="000000"/>
                </a:solidFill>
                <a:latin typeface="Consolas" panose="020B0609020204030204" charset="0"/>
              </a:rPr>
              <a:t>() {    </a:t>
            </a:r>
            <a:r>
              <a:rPr lang="en-US" sz="2000" b="0">
                <a:solidFill>
                  <a:srgbClr val="AF00DB"/>
                </a:solidFill>
                <a:latin typeface="Consolas" panose="020B0609020204030204" charset="0"/>
              </a:rPr>
              <a:t>return</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name</a:t>
            </a:r>
            <a:r>
              <a:rPr lang="en-US" sz="2000" b="0">
                <a:solidFill>
                  <a:srgbClr val="000000"/>
                </a:solidFill>
                <a:latin typeface="Consolas" panose="020B0609020204030204" charset="0"/>
              </a:rPr>
              <a:t> + </a:t>
            </a:r>
            <a:r>
              <a:rPr lang="en-US" sz="2000" b="0">
                <a:solidFill>
                  <a:srgbClr val="A31515"/>
                </a:solidFill>
                <a:latin typeface="Consolas" panose="020B0609020204030204" charset="0"/>
              </a:rPr>
              <a:t>" scored "</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AF00DB"/>
                </a:solidFill>
                <a:latin typeface="Consolas" panose="020B0609020204030204" charset="0"/>
              </a:rPr>
              <a:t>return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add</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console</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log</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getScore</a:t>
            </a:r>
            <a:r>
              <a:rPr lang="en-US" sz="2000" b="0">
                <a:solidFill>
                  <a:srgbClr val="000000"/>
                </a:solidFill>
                <a:latin typeface="Consolas" panose="020B0609020204030204" charset="0"/>
              </a:rPr>
              <a:t>()); </a:t>
            </a:r>
            <a:r>
              <a:rPr lang="en-US" sz="2000" b="0">
                <a:solidFill>
                  <a:srgbClr val="008000"/>
                </a:solidFill>
                <a:latin typeface="Consolas" panose="020B0609020204030204" charset="0"/>
              </a:rPr>
              <a:t>// 6</a:t>
            </a:r>
            <a:r>
              <a:rPr lang="en-US" sz="2000" b="0">
                <a:solidFill>
                  <a:srgbClr val="001080"/>
                </a:solidFill>
                <a:latin typeface="Consolas" panose="020B0609020204030204" charset="0"/>
              </a:rPr>
              <a:t>console</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log</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multiply</a:t>
            </a:r>
            <a:r>
              <a:rPr lang="en-US" sz="2000" b="0">
                <a:solidFill>
                  <a:srgbClr val="000000"/>
                </a:solidFill>
                <a:latin typeface="Consolas" panose="020B0609020204030204" charset="0"/>
              </a:rPr>
              <a:t>()); </a:t>
            </a:r>
            <a:r>
              <a:rPr lang="en-US" sz="2000" b="0">
                <a:solidFill>
                  <a:srgbClr val="008000"/>
                </a:solidFill>
                <a:latin typeface="Consolas" panose="020B0609020204030204" charset="0"/>
              </a:rPr>
              <a:t>// 600</a:t>
            </a:r>
            <a:endParaRPr lang="en-US" sz="2000"/>
          </a:p>
        </p:txBody>
      </p:sp>
      <p:cxnSp>
        <p:nvCxnSpPr>
          <p:cNvPr id="2" name="Straight Arrow Connector 1"/>
          <p:cNvCxnSpPr/>
          <p:nvPr/>
        </p:nvCxnSpPr>
        <p:spPr>
          <a:xfrm flipH="1">
            <a:off x="3741420" y="1927225"/>
            <a:ext cx="2612390"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 name="Straight Arrow Connector 2"/>
          <p:cNvCxnSpPr/>
          <p:nvPr/>
        </p:nvCxnSpPr>
        <p:spPr>
          <a:xfrm flipH="1">
            <a:off x="6571615" y="4299585"/>
            <a:ext cx="1645920"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Text Box 3"/>
          <p:cNvSpPr txBox="1"/>
          <p:nvPr/>
        </p:nvSpPr>
        <p:spPr>
          <a:xfrm>
            <a:off x="5161915" y="1285240"/>
            <a:ext cx="1296035" cy="521970"/>
          </a:xfrm>
          <a:prstGeom prst="rect">
            <a:avLst/>
          </a:prstGeom>
          <a:noFill/>
        </p:spPr>
        <p:txBody>
          <a:bodyPr wrap="none" rtlCol="0">
            <a:spAutoFit/>
          </a:bodyPr>
          <a:p>
            <a:r>
              <a:rPr lang="en-US" sz="2800"/>
              <a:t>20 * 30</a:t>
            </a:r>
            <a:endParaRPr lang="en-US" sz="2800"/>
          </a:p>
        </p:txBody>
      </p:sp>
      <p:sp>
        <p:nvSpPr>
          <p:cNvPr id="5" name="Text Box 4"/>
          <p:cNvSpPr txBox="1"/>
          <p:nvPr/>
        </p:nvSpPr>
        <p:spPr>
          <a:xfrm>
            <a:off x="7316470" y="3653155"/>
            <a:ext cx="901065" cy="521970"/>
          </a:xfrm>
          <a:prstGeom prst="rect">
            <a:avLst/>
          </a:prstGeom>
          <a:noFill/>
        </p:spPr>
        <p:txBody>
          <a:bodyPr wrap="none" rtlCol="0">
            <a:spAutoFit/>
          </a:bodyPr>
          <a:p>
            <a:r>
              <a:rPr lang="en-US" sz="2800"/>
              <a:t>2 * 3</a:t>
            </a:r>
            <a:endParaRPr lang="en-US" sz="2800"/>
          </a:p>
        </p:txBody>
      </p:sp>
      <p:cxnSp>
        <p:nvCxnSpPr>
          <p:cNvPr id="6" name="Straight Arrow Connector 5"/>
          <p:cNvCxnSpPr/>
          <p:nvPr/>
        </p:nvCxnSpPr>
        <p:spPr>
          <a:xfrm>
            <a:off x="3904615" y="7687945"/>
            <a:ext cx="0" cy="133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 Box 6"/>
          <p:cNvSpPr txBox="1"/>
          <p:nvPr/>
        </p:nvSpPr>
        <p:spPr>
          <a:xfrm>
            <a:off x="7316470" y="1158875"/>
            <a:ext cx="4667885" cy="953135"/>
          </a:xfrm>
          <a:prstGeom prst="rect">
            <a:avLst/>
          </a:prstGeom>
          <a:noFill/>
        </p:spPr>
        <p:txBody>
          <a:bodyPr wrap="square" rtlCol="0">
            <a:spAutoFit/>
          </a:bodyPr>
          <a:p>
            <a:r>
              <a:rPr lang="ru-RU" altLang="en-US" sz="2800">
                <a:latin typeface="Times New Roman Regular" panose="02020603050405020304" charset="0"/>
                <a:cs typeface="Times New Roman Regular" panose="02020603050405020304" charset="0"/>
              </a:rPr>
              <a:t>Значение переменных </a:t>
            </a:r>
            <a:r>
              <a:rPr lang="en-US" altLang="ru-RU" sz="2800">
                <a:latin typeface="Times New Roman Regular" panose="02020603050405020304" charset="0"/>
                <a:cs typeface="Times New Roman Regular" panose="02020603050405020304" charset="0"/>
              </a:rPr>
              <a:t>num1 </a:t>
            </a:r>
            <a:r>
              <a:rPr lang="ru-RU" altLang="en-US" sz="2800">
                <a:latin typeface="Times New Roman Regular" panose="02020603050405020304" charset="0"/>
                <a:cs typeface="Times New Roman Regular" panose="02020603050405020304" charset="0"/>
              </a:rPr>
              <a:t>и </a:t>
            </a:r>
            <a:r>
              <a:rPr lang="en-US" altLang="ru-RU" sz="2800">
                <a:latin typeface="Times New Roman Regular" panose="02020603050405020304" charset="0"/>
                <a:cs typeface="Times New Roman Regular" panose="02020603050405020304" charset="0"/>
              </a:rPr>
              <a:t>num2</a:t>
            </a:r>
            <a:r>
              <a:rPr lang="ru-RU" altLang="en-US" sz="2800">
                <a:latin typeface="Times New Roman Regular" panose="02020603050405020304" charset="0"/>
                <a:cs typeface="Times New Roman Regular" panose="02020603050405020304" charset="0"/>
              </a:rPr>
              <a:t> разное</a:t>
            </a:r>
            <a:endParaRPr lang="ru-RU" altLang="en-US" sz="2800">
              <a:latin typeface="Times New Roman Regular" panose="02020603050405020304" charset="0"/>
              <a:cs typeface="Times New Roman Regular" panose="0202060305040502030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930275" y="151765"/>
            <a:ext cx="9759950" cy="6554470"/>
          </a:xfrm>
          <a:prstGeom prst="rect">
            <a:avLst/>
          </a:prstGeom>
          <a:noFill/>
          <a:ln w="9525">
            <a:noFill/>
          </a:ln>
        </p:spPr>
        <p:txBody>
          <a:bodyPr wrap="square">
            <a:spAutoFit/>
          </a:bodyPr>
          <a:p>
            <a:pPr marL="0" indent="0"/>
            <a:r>
              <a:rPr lang="en-US" sz="2000" b="0">
                <a:solidFill>
                  <a:srgbClr val="0000FF"/>
                </a:solidFill>
                <a:latin typeface="Consolas" panose="020B0609020204030204" charset="0"/>
              </a:rPr>
              <a:t>let</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20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30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name</a:t>
            </a:r>
            <a:r>
              <a:rPr lang="en-US" sz="2000" b="0">
                <a:solidFill>
                  <a:srgbClr val="000000"/>
                </a:solidFill>
                <a:latin typeface="Consolas" panose="020B0609020204030204" charset="0"/>
              </a:rPr>
              <a:t> = </a:t>
            </a:r>
            <a:r>
              <a:rPr lang="en-US" sz="2000" b="0">
                <a:solidFill>
                  <a:srgbClr val="A31515"/>
                </a:solidFill>
                <a:latin typeface="Consolas" panose="020B0609020204030204" charset="0"/>
              </a:rPr>
              <a:t>"Script"</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function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multiply</a:t>
            </a:r>
            <a:r>
              <a:rPr lang="en-US" sz="2000" b="0">
                <a:solidFill>
                  <a:srgbClr val="000000"/>
                </a:solidFill>
                <a:latin typeface="Consolas" panose="020B0609020204030204" charset="0"/>
              </a:rPr>
              <a:t>() {  </a:t>
            </a:r>
            <a:r>
              <a:rPr lang="en-US" sz="2000" b="0">
                <a:solidFill>
                  <a:srgbClr val="AF00DB"/>
                </a:solidFill>
                <a:latin typeface="Consolas" panose="020B0609020204030204" charset="0"/>
              </a:rPr>
              <a:t>return</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0000FF"/>
                </a:solidFill>
                <a:latin typeface="Consolas" panose="020B0609020204030204" charset="0"/>
              </a:rPr>
              <a:t>function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getScore</a:t>
            </a:r>
            <a:r>
              <a:rPr lang="en-US" sz="2000" b="0">
                <a:solidFill>
                  <a:srgbClr val="000000"/>
                </a:solidFill>
                <a:latin typeface="Consolas" panose="020B0609020204030204" charset="0"/>
              </a:rPr>
              <a:t>() {  </a:t>
            </a:r>
            <a:r>
              <a:rPr lang="en-US" sz="2000" b="0">
                <a:solidFill>
                  <a:srgbClr val="0000FF"/>
                </a:solidFill>
                <a:latin typeface="Consolas" panose="020B0609020204030204" charset="0"/>
              </a:rPr>
              <a:t>var</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2</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3</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function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add</a:t>
            </a:r>
            <a:r>
              <a:rPr lang="en-US" sz="2000" b="0">
                <a:solidFill>
                  <a:srgbClr val="000000"/>
                </a:solidFill>
                <a:latin typeface="Consolas" panose="020B0609020204030204" charset="0"/>
              </a:rPr>
              <a:t>() {    </a:t>
            </a:r>
            <a:r>
              <a:rPr lang="en-US" sz="2000" b="0">
                <a:solidFill>
                  <a:srgbClr val="AF00DB"/>
                </a:solidFill>
                <a:latin typeface="Consolas" panose="020B0609020204030204" charset="0"/>
              </a:rPr>
              <a:t>return</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name</a:t>
            </a:r>
            <a:r>
              <a:rPr lang="en-US" sz="2000" b="0">
                <a:solidFill>
                  <a:srgbClr val="000000"/>
                </a:solidFill>
                <a:latin typeface="Consolas" panose="020B0609020204030204" charset="0"/>
              </a:rPr>
              <a:t> + </a:t>
            </a:r>
            <a:r>
              <a:rPr lang="en-US" sz="2000" b="0">
                <a:solidFill>
                  <a:srgbClr val="A31515"/>
                </a:solidFill>
                <a:latin typeface="Consolas" panose="020B0609020204030204" charset="0"/>
              </a:rPr>
              <a:t>" scored "</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AF00DB"/>
                </a:solidFill>
                <a:latin typeface="Consolas" panose="020B0609020204030204" charset="0"/>
              </a:rPr>
              <a:t>return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add</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console</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log</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getScore</a:t>
            </a:r>
            <a:r>
              <a:rPr lang="en-US" sz="2000" b="0">
                <a:solidFill>
                  <a:srgbClr val="000000"/>
                </a:solidFill>
                <a:latin typeface="Consolas" panose="020B0609020204030204" charset="0"/>
              </a:rPr>
              <a:t>()); </a:t>
            </a:r>
            <a:r>
              <a:rPr lang="en-US" sz="2000" b="0">
                <a:solidFill>
                  <a:srgbClr val="008000"/>
                </a:solidFill>
                <a:latin typeface="Consolas" panose="020B0609020204030204" charset="0"/>
              </a:rPr>
              <a:t>// 6</a:t>
            </a:r>
            <a:r>
              <a:rPr lang="en-US" sz="2000" b="0">
                <a:solidFill>
                  <a:srgbClr val="001080"/>
                </a:solidFill>
                <a:latin typeface="Consolas" panose="020B0609020204030204" charset="0"/>
              </a:rPr>
              <a:t>console</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log</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multiply</a:t>
            </a:r>
            <a:r>
              <a:rPr lang="en-US" sz="2000" b="0">
                <a:solidFill>
                  <a:srgbClr val="000000"/>
                </a:solidFill>
                <a:latin typeface="Consolas" panose="020B0609020204030204" charset="0"/>
              </a:rPr>
              <a:t>()); </a:t>
            </a:r>
            <a:r>
              <a:rPr lang="en-US" sz="2000" b="0">
                <a:solidFill>
                  <a:srgbClr val="008000"/>
                </a:solidFill>
                <a:latin typeface="Consolas" panose="020B0609020204030204" charset="0"/>
              </a:rPr>
              <a:t>// 600</a:t>
            </a:r>
            <a:endParaRPr lang="en-US" sz="2000"/>
          </a:p>
        </p:txBody>
      </p:sp>
      <p:sp>
        <p:nvSpPr>
          <p:cNvPr id="6" name="Text Box 5"/>
          <p:cNvSpPr txBox="1"/>
          <p:nvPr/>
        </p:nvSpPr>
        <p:spPr>
          <a:xfrm>
            <a:off x="3950335" y="1861185"/>
            <a:ext cx="2929255" cy="521970"/>
          </a:xfrm>
          <a:prstGeom prst="rect">
            <a:avLst/>
          </a:prstGeom>
          <a:noFill/>
        </p:spPr>
        <p:txBody>
          <a:bodyPr wrap="none" rtlCol="0" anchor="t">
            <a:spAutoFit/>
          </a:bodyPr>
          <a:p>
            <a:r>
              <a:rPr lang="en-US" sz="2800">
                <a:solidFill>
                  <a:srgbClr val="000000"/>
                </a:solidFill>
                <a:latin typeface="Consolas" panose="020B0609020204030204" charset="0"/>
                <a:sym typeface="+mn-ea"/>
              </a:rPr>
              <a:t> </a:t>
            </a:r>
            <a:r>
              <a:rPr lang="en-US" sz="2800">
                <a:solidFill>
                  <a:srgbClr val="001080"/>
                </a:solidFill>
                <a:latin typeface="Consolas" panose="020B0609020204030204" charset="0"/>
                <a:sym typeface="+mn-ea"/>
              </a:rPr>
              <a:t>name</a:t>
            </a:r>
            <a:r>
              <a:rPr lang="en-US" sz="2800">
                <a:solidFill>
                  <a:srgbClr val="000000"/>
                </a:solidFill>
                <a:latin typeface="Consolas" panose="020B0609020204030204" charset="0"/>
                <a:sym typeface="+mn-ea"/>
              </a:rPr>
              <a:t> = </a:t>
            </a:r>
            <a:r>
              <a:rPr lang="en-US" sz="2800">
                <a:solidFill>
                  <a:srgbClr val="A31515"/>
                </a:solidFill>
                <a:latin typeface="Consolas" panose="020B0609020204030204" charset="0"/>
                <a:sym typeface="+mn-ea"/>
              </a:rPr>
              <a:t>"Script"</a:t>
            </a:r>
            <a:endParaRPr lang="en-US" sz="2800">
              <a:solidFill>
                <a:srgbClr val="A31515"/>
              </a:solidFill>
              <a:latin typeface="Consolas" panose="020B0609020204030204" charset="0"/>
              <a:sym typeface="+mn-ea"/>
            </a:endParaRPr>
          </a:p>
        </p:txBody>
      </p:sp>
      <p:cxnSp>
        <p:nvCxnSpPr>
          <p:cNvPr id="7" name="Straight Arrow Connector 6"/>
          <p:cNvCxnSpPr/>
          <p:nvPr/>
        </p:nvCxnSpPr>
        <p:spPr>
          <a:xfrm flipH="1" flipV="1">
            <a:off x="3237865" y="1000760"/>
            <a:ext cx="1456055" cy="73342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3060700" y="2510155"/>
            <a:ext cx="1687830" cy="16668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Text Box 8"/>
          <p:cNvSpPr txBox="1"/>
          <p:nvPr/>
        </p:nvSpPr>
        <p:spPr>
          <a:xfrm>
            <a:off x="6879590" y="2138045"/>
            <a:ext cx="5007610" cy="1198880"/>
          </a:xfrm>
          <a:prstGeom prst="rect">
            <a:avLst/>
          </a:prstGeom>
          <a:noFill/>
        </p:spPr>
        <p:txBody>
          <a:bodyPr wrap="square" rtlCol="0">
            <a:spAutoFit/>
          </a:bodyPr>
          <a:p>
            <a:pPr algn="just"/>
            <a:r>
              <a:rPr lang="ru-RU" altLang="en-US" sz="2400">
                <a:latin typeface="Times New Roman Regular" panose="02020603050405020304" charset="0"/>
                <a:cs typeface="Times New Roman Regular" panose="02020603050405020304" charset="0"/>
              </a:rPr>
              <a:t>	При этом значение переменной </a:t>
            </a:r>
            <a:r>
              <a:rPr lang="en-US" altLang="ru-RU" sz="2400">
                <a:latin typeface="Times New Roman Regular" panose="02020603050405020304" charset="0"/>
                <a:cs typeface="Times New Roman Regular" panose="02020603050405020304" charset="0"/>
              </a:rPr>
              <a:t>name === Script</a:t>
            </a:r>
            <a:r>
              <a:rPr lang="ru-RU" altLang="en-US" sz="2400">
                <a:latin typeface="Times New Roman Regular" panose="02020603050405020304" charset="0"/>
                <a:cs typeface="Times New Roman Regular" panose="02020603050405020304" charset="0"/>
              </a:rPr>
              <a:t> везде</a:t>
            </a:r>
            <a:r>
              <a:rPr lang="en-US" altLang="ru-RU" sz="2400">
                <a:latin typeface="Times New Roman Regular" panose="02020603050405020304" charset="0"/>
                <a:cs typeface="Times New Roman Regular" panose="02020603050405020304" charset="0"/>
              </a:rPr>
              <a:t>.</a:t>
            </a:r>
            <a:r>
              <a:rPr lang="ru-RU" altLang="en-US" sz="2400">
                <a:latin typeface="Times New Roman Regular" panose="02020603050405020304" charset="0"/>
                <a:cs typeface="Times New Roman Regular" panose="02020603050405020304" charset="0"/>
              </a:rPr>
              <a:t> Это глобальная область видимости.</a:t>
            </a:r>
            <a:endParaRPr lang="ru-RU" altLang="en-US" sz="2400">
              <a:latin typeface="Times New Roman Regular" panose="02020603050405020304" charset="0"/>
              <a:cs typeface="Times New Roman Regular" panose="0202060305040502030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95910" y="331470"/>
            <a:ext cx="11643360" cy="6123940"/>
          </a:xfrm>
          <a:prstGeom prst="rect">
            <a:avLst/>
          </a:prstGeom>
          <a:noFill/>
        </p:spPr>
        <p:txBody>
          <a:bodyPr wrap="square" rtlCol="0" anchor="t">
            <a:spAutoFit/>
          </a:bodyPr>
          <a:p>
            <a:pPr algn="just"/>
            <a:r>
              <a:rPr lang="ru-RU" altLang="en-US" sz="2800">
                <a:latin typeface="Times New Roman Regular" panose="02020603050405020304" charset="0"/>
                <a:cs typeface="Times New Roman Regular" panose="02020603050405020304" charset="0"/>
              </a:rPr>
              <a:t>	</a:t>
            </a:r>
            <a:r>
              <a:rPr lang="en-US" sz="2800">
                <a:latin typeface="Times New Roman Regular" panose="02020603050405020304" charset="0"/>
                <a:cs typeface="Times New Roman Regular" panose="02020603050405020304" charset="0"/>
              </a:rPr>
              <a:t>Мы знаем, что функция может получить доступ к переменным из внешнего окружения, эта возможность используется очень часто.</a:t>
            </a:r>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我们知道函数可以从外部环境访问变量，这种可能性经常被使用。</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ru-RU" altLang="en-US" sz="2800">
                <a:latin typeface="Times New Roman Regular" panose="02020603050405020304" charset="0"/>
                <a:cs typeface="Times New Roman Regular" panose="02020603050405020304" charset="0"/>
              </a:rPr>
              <a:t>	</a:t>
            </a:r>
            <a:r>
              <a:rPr lang="en-US" sz="2800">
                <a:latin typeface="Times New Roman Regular" panose="02020603050405020304" charset="0"/>
                <a:cs typeface="Times New Roman Regular" panose="02020603050405020304" charset="0"/>
              </a:rPr>
              <a:t>Но что произойдёт, когда внешние переменные изменятся? Функция получит последнее значение или то, которое существовало на момент создания функции?</a:t>
            </a:r>
            <a:r>
              <a:rPr lang="en-US" sz="2800">
                <a:latin typeface="Times New Roman Regular" panose="02020603050405020304" charset="0"/>
                <a:cs typeface="Times New Roman Regular" panose="02020603050405020304" charset="0"/>
                <a:sym typeface="+mn-ea"/>
              </a:rPr>
              <a:t>当函数移动到代码中的另一个位置并从那里调用时会发生什么——它是否可以访问其新位置的外部变量？但是当外部变量发生变化时会发生什么呢？</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ru-RU" altLang="en-US" sz="2800">
                <a:latin typeface="Times New Roman Regular" panose="02020603050405020304" charset="0"/>
                <a:cs typeface="Times New Roman Regular" panose="02020603050405020304" charset="0"/>
              </a:rPr>
              <a:t>	</a:t>
            </a:r>
            <a:r>
              <a:rPr lang="en-US" sz="2800">
                <a:latin typeface="Times New Roman Regular" panose="02020603050405020304" charset="0"/>
                <a:cs typeface="Times New Roman Regular" panose="02020603050405020304" charset="0"/>
              </a:rPr>
              <a:t>И что произойдёт, когда функция переместится в другое место в коде и будет вызвана оттуда – получит ли она доступ к внешним переменным своего нового местоположения?</a:t>
            </a:r>
            <a:r>
              <a:rPr lang="en-US" sz="2800">
                <a:latin typeface="Times New Roman Regular" panose="02020603050405020304" charset="0"/>
                <a:cs typeface="Times New Roman Regular" panose="02020603050405020304" charset="0"/>
                <a:sym typeface="+mn-ea"/>
              </a:rPr>
              <a:t>函数将获得最后一个值还是创建函数时存在的值？</a:t>
            </a:r>
            <a:endParaRPr lang="en-US" sz="2800">
              <a:latin typeface="Times New Roman Regular" panose="02020603050405020304" charset="0"/>
              <a:cs typeface="Times New Roman Regular" panose="02020603050405020304" charset="0"/>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7695" y="1630680"/>
            <a:ext cx="10976610" cy="2676525"/>
          </a:xfrm>
          <a:prstGeom prst="rect">
            <a:avLst/>
          </a:prstGeom>
          <a:noFill/>
        </p:spPr>
        <p:txBody>
          <a:bodyPr wrap="square" rtlCol="0" anchor="t">
            <a:spAutoFit/>
          </a:bodyPr>
          <a:p>
            <a:pPr algn="just"/>
            <a:r>
              <a:rPr lang="ru-RU" altLang="en-US" sz="2400">
                <a:latin typeface="Times New Roman Regular" panose="02020603050405020304" charset="0"/>
                <a:cs typeface="Times New Roman Regular" panose="02020603050405020304" charset="0"/>
              </a:rPr>
              <a:t>	</a:t>
            </a:r>
            <a:r>
              <a:rPr lang="en-US" sz="2800">
                <a:latin typeface="Times New Roman Regular" panose="02020603050405020304" charset="0"/>
                <a:cs typeface="Times New Roman Regular" panose="02020603050405020304" charset="0"/>
              </a:rPr>
              <a:t>Когда запускается функция, в начале ее вызова автоматически создается новое лексическое окружение для хранения локальных переменных и параметров вызова.</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当函数运行时，它会在调用开始时自动创建一个新的词汇环境来存储本地变量和调用参数。</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26415" y="940435"/>
            <a:ext cx="11139805" cy="3107690"/>
          </a:xfrm>
          <a:prstGeom prst="rect">
            <a:avLst/>
          </a:prstGeom>
          <a:noFill/>
        </p:spPr>
        <p:txBody>
          <a:bodyPr wrap="square" rtlCol="0" anchor="t">
            <a:spAutoFit/>
          </a:bodyPr>
          <a:p>
            <a:pPr algn="just"/>
            <a:r>
              <a:rPr lang="ru-RU" altLang="en-US" sz="2800">
                <a:latin typeface="Times New Roman Regular" panose="02020603050405020304" charset="0"/>
                <a:cs typeface="Times New Roman Regular" panose="02020603050405020304" charset="0"/>
              </a:rPr>
              <a:t>	</a:t>
            </a:r>
            <a:r>
              <a:rPr lang="en-US" sz="2800">
                <a:latin typeface="Times New Roman Regular" panose="02020603050405020304" charset="0"/>
                <a:cs typeface="Times New Roman Regular" panose="02020603050405020304" charset="0"/>
              </a:rPr>
              <a:t>«Лексическое окружение» – это объект спецификации: он существует только «теоретически» в спецификации языка для описания того, как все работает. Мы не можем получить этот объект в нашем коде и манипулировать им напрямую.</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“词汇环境”是规范的对象：它只在语言规范中“理论上”存在，以描述一切是如何工作的。我们无法在代码中获取该对象并直接操纵它。</a:t>
            </a:r>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71525" y="975360"/>
            <a:ext cx="10553700" cy="3538220"/>
          </a:xfrm>
          <a:prstGeom prst="rect">
            <a:avLst/>
          </a:prstGeom>
          <a:noFill/>
        </p:spPr>
        <p:txBody>
          <a:bodyPr wrap="square" rtlCol="0" anchor="t">
            <a:spAutoFit/>
          </a:bodyPr>
          <a:p>
            <a:pPr algn="just"/>
            <a:r>
              <a:rPr lang="ru-RU" altLang="en-US" sz="2800">
                <a:latin typeface="Times New Roman Regular" panose="02020603050405020304" charset="0"/>
                <a:cs typeface="Times New Roman Regular" panose="02020603050405020304" charset="0"/>
              </a:rPr>
              <a:t>	</a:t>
            </a:r>
            <a:r>
              <a:rPr lang="en-US" sz="2800">
                <a:latin typeface="Times New Roman Regular" panose="02020603050405020304" charset="0"/>
                <a:cs typeface="Times New Roman Regular" panose="02020603050405020304" charset="0"/>
              </a:rPr>
              <a:t>Когда код хочет получить доступ к переменной – сначала происходит поиск во внутреннем лексическом окружении, затем во внешнем, затем в следующем и так далее, до глобального.</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当代码想要访问一个变量时，首先在内部词汇环境中搜索，然后在外部词汇环境中搜索，然后在下一个词汇环境中搜索，直到全局。</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930275" y="151765"/>
            <a:ext cx="9759950" cy="6554470"/>
          </a:xfrm>
          <a:prstGeom prst="rect">
            <a:avLst/>
          </a:prstGeom>
          <a:noFill/>
          <a:ln w="9525">
            <a:noFill/>
          </a:ln>
        </p:spPr>
        <p:txBody>
          <a:bodyPr wrap="square">
            <a:spAutoFit/>
          </a:bodyPr>
          <a:p>
            <a:pPr marL="0" indent="0"/>
            <a:r>
              <a:rPr lang="en-US" sz="2000" b="0">
                <a:solidFill>
                  <a:srgbClr val="0000FF"/>
                </a:solidFill>
                <a:latin typeface="Consolas" panose="020B0609020204030204" charset="0"/>
              </a:rPr>
              <a:t>let</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20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30</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name</a:t>
            </a:r>
            <a:r>
              <a:rPr lang="en-US" sz="2000" b="0">
                <a:solidFill>
                  <a:srgbClr val="000000"/>
                </a:solidFill>
                <a:latin typeface="Consolas" panose="020B0609020204030204" charset="0"/>
              </a:rPr>
              <a:t> = </a:t>
            </a:r>
            <a:r>
              <a:rPr lang="en-US" sz="2000" b="0">
                <a:solidFill>
                  <a:srgbClr val="A31515"/>
                </a:solidFill>
                <a:latin typeface="Consolas" panose="020B0609020204030204" charset="0"/>
              </a:rPr>
              <a:t>"Script"</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function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multiply</a:t>
            </a:r>
            <a:r>
              <a:rPr lang="en-US" sz="2000" b="0">
                <a:solidFill>
                  <a:srgbClr val="000000"/>
                </a:solidFill>
                <a:latin typeface="Consolas" panose="020B0609020204030204" charset="0"/>
              </a:rPr>
              <a:t>() {  </a:t>
            </a:r>
            <a:r>
              <a:rPr lang="en-US" sz="2000" b="0">
                <a:solidFill>
                  <a:srgbClr val="AF00DB"/>
                </a:solidFill>
                <a:latin typeface="Consolas" panose="020B0609020204030204" charset="0"/>
              </a:rPr>
              <a:t>return</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0000FF"/>
                </a:solidFill>
                <a:latin typeface="Consolas" panose="020B0609020204030204" charset="0"/>
              </a:rPr>
              <a:t>function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getScore</a:t>
            </a:r>
            <a:r>
              <a:rPr lang="en-US" sz="2000" b="0">
                <a:solidFill>
                  <a:srgbClr val="000000"/>
                </a:solidFill>
                <a:latin typeface="Consolas" panose="020B0609020204030204" charset="0"/>
              </a:rPr>
              <a:t>() {  </a:t>
            </a:r>
            <a:r>
              <a:rPr lang="en-US" sz="2000" b="0">
                <a:solidFill>
                  <a:srgbClr val="0000FF"/>
                </a:solidFill>
                <a:latin typeface="Consolas" panose="020B0609020204030204" charset="0"/>
              </a:rPr>
              <a:t>var</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2</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098658"/>
                </a:solidFill>
                <a:latin typeface="Consolas" panose="020B0609020204030204" charset="0"/>
              </a:rPr>
              <a:t>3</a:t>
            </a:r>
            <a:r>
              <a:rPr lang="en-US" sz="2000" b="0">
                <a:solidFill>
                  <a:srgbClr val="000000"/>
                </a:solidFill>
                <a:latin typeface="Consolas" panose="020B0609020204030204" charset="0"/>
              </a:rPr>
              <a:t>;   </a:t>
            </a:r>
            <a:r>
              <a:rPr lang="en-US" sz="2000" b="0">
                <a:solidFill>
                  <a:srgbClr val="0000FF"/>
                </a:solidFill>
                <a:latin typeface="Consolas" panose="020B0609020204030204" charset="0"/>
              </a:rPr>
              <a:t>function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add</a:t>
            </a:r>
            <a:r>
              <a:rPr lang="en-US" sz="2000" b="0">
                <a:solidFill>
                  <a:srgbClr val="000000"/>
                </a:solidFill>
                <a:latin typeface="Consolas" panose="020B0609020204030204" charset="0"/>
              </a:rPr>
              <a:t>() {    </a:t>
            </a:r>
            <a:r>
              <a:rPr lang="en-US" sz="2000" b="0">
                <a:solidFill>
                  <a:srgbClr val="AF00DB"/>
                </a:solidFill>
                <a:latin typeface="Consolas" panose="020B0609020204030204" charset="0"/>
              </a:rPr>
              <a:t>return</a:t>
            </a:r>
            <a:r>
              <a:rPr lang="en-US" sz="2000" b="0">
                <a:solidFill>
                  <a:srgbClr val="000000"/>
                </a:solidFill>
                <a:latin typeface="Consolas" panose="020B0609020204030204" charset="0"/>
              </a:rPr>
              <a:t> </a:t>
            </a:r>
            <a:r>
              <a:rPr lang="en-US" sz="2000" b="0">
                <a:solidFill>
                  <a:srgbClr val="001080"/>
                </a:solidFill>
                <a:latin typeface="Consolas" panose="020B0609020204030204" charset="0"/>
              </a:rPr>
              <a:t>name</a:t>
            </a:r>
            <a:r>
              <a:rPr lang="en-US" sz="2000" b="0">
                <a:solidFill>
                  <a:srgbClr val="000000"/>
                </a:solidFill>
                <a:latin typeface="Consolas" panose="020B0609020204030204" charset="0"/>
              </a:rPr>
              <a:t> + </a:t>
            </a:r>
            <a:r>
              <a:rPr lang="en-US" sz="2000" b="0">
                <a:solidFill>
                  <a:srgbClr val="A31515"/>
                </a:solidFill>
                <a:latin typeface="Consolas" panose="020B0609020204030204" charset="0"/>
              </a:rPr>
              <a:t>" scored "</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num1</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num2</a:t>
            </a:r>
            <a:r>
              <a:rPr lang="en-US" sz="2000" b="0">
                <a:solidFill>
                  <a:srgbClr val="000000"/>
                </a:solidFill>
                <a:latin typeface="Consolas" panose="020B0609020204030204" charset="0"/>
              </a:rPr>
              <a:t>);  }   </a:t>
            </a:r>
            <a:r>
              <a:rPr lang="en-US" sz="2000" b="0">
                <a:solidFill>
                  <a:srgbClr val="AF00DB"/>
                </a:solidFill>
                <a:latin typeface="Consolas" panose="020B0609020204030204" charset="0"/>
              </a:rPr>
              <a:t>return</a:t>
            </a:r>
            <a:r>
              <a:rPr lang="en-US" sz="2000" b="0">
                <a:solidFill>
                  <a:srgbClr val="000000"/>
                </a:solidFill>
                <a:latin typeface="Consolas" panose="020B0609020204030204" charset="0"/>
              </a:rPr>
              <a:t> </a:t>
            </a:r>
            <a:r>
              <a:rPr lang="en-US" sz="2000" b="0">
                <a:solidFill>
                  <a:srgbClr val="795E26"/>
                </a:solidFill>
                <a:latin typeface="Consolas" panose="020B0609020204030204" charset="0"/>
              </a:rPr>
              <a:t>add</a:t>
            </a:r>
            <a:r>
              <a:rPr lang="en-US" sz="2000" b="0">
                <a:solidFill>
                  <a:srgbClr val="000000"/>
                </a:solidFill>
                <a:latin typeface="Consolas" panose="020B0609020204030204" charset="0"/>
              </a:rPr>
              <a:t>();} </a:t>
            </a:r>
            <a:r>
              <a:rPr lang="en-US" sz="2000" b="0">
                <a:solidFill>
                  <a:srgbClr val="001080"/>
                </a:solidFill>
                <a:latin typeface="Consolas" panose="020B0609020204030204" charset="0"/>
              </a:rPr>
              <a:t>console</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log</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getScore</a:t>
            </a:r>
            <a:r>
              <a:rPr lang="en-US" sz="2000" b="0">
                <a:solidFill>
                  <a:srgbClr val="000000"/>
                </a:solidFill>
                <a:latin typeface="Consolas" panose="020B0609020204030204" charset="0"/>
              </a:rPr>
              <a:t>()); </a:t>
            </a:r>
            <a:r>
              <a:rPr lang="en-US" sz="2000" b="0">
                <a:solidFill>
                  <a:srgbClr val="008000"/>
                </a:solidFill>
                <a:latin typeface="Consolas" panose="020B0609020204030204" charset="0"/>
              </a:rPr>
              <a:t>// 6</a:t>
            </a:r>
            <a:r>
              <a:rPr lang="en-US" sz="2000" b="0">
                <a:solidFill>
                  <a:srgbClr val="001080"/>
                </a:solidFill>
                <a:latin typeface="Consolas" panose="020B0609020204030204" charset="0"/>
              </a:rPr>
              <a:t>console</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log</a:t>
            </a:r>
            <a:r>
              <a:rPr lang="en-US" sz="2000" b="0">
                <a:solidFill>
                  <a:srgbClr val="000000"/>
                </a:solidFill>
                <a:latin typeface="Consolas" panose="020B0609020204030204" charset="0"/>
              </a:rPr>
              <a:t>(</a:t>
            </a:r>
            <a:r>
              <a:rPr lang="en-US" sz="2000" b="0">
                <a:solidFill>
                  <a:srgbClr val="795E26"/>
                </a:solidFill>
                <a:latin typeface="Consolas" panose="020B0609020204030204" charset="0"/>
              </a:rPr>
              <a:t>multiply</a:t>
            </a:r>
            <a:r>
              <a:rPr lang="en-US" sz="2000" b="0">
                <a:solidFill>
                  <a:srgbClr val="000000"/>
                </a:solidFill>
                <a:latin typeface="Consolas" panose="020B0609020204030204" charset="0"/>
              </a:rPr>
              <a:t>()); </a:t>
            </a:r>
            <a:r>
              <a:rPr lang="en-US" sz="2000" b="0">
                <a:solidFill>
                  <a:srgbClr val="008000"/>
                </a:solidFill>
                <a:latin typeface="Consolas" panose="020B0609020204030204" charset="0"/>
              </a:rPr>
              <a:t>// 600</a:t>
            </a:r>
            <a:endParaRPr lang="en-US" sz="2000"/>
          </a:p>
        </p:txBody>
      </p:sp>
      <p:sp>
        <p:nvSpPr>
          <p:cNvPr id="2" name="Text Box 1"/>
          <p:cNvSpPr txBox="1"/>
          <p:nvPr/>
        </p:nvSpPr>
        <p:spPr>
          <a:xfrm>
            <a:off x="6313170" y="229870"/>
            <a:ext cx="5391785" cy="3538220"/>
          </a:xfrm>
          <a:prstGeom prst="rect">
            <a:avLst/>
          </a:prstGeom>
          <a:noFill/>
        </p:spPr>
        <p:txBody>
          <a:bodyPr wrap="square" rtlCol="0">
            <a:spAutoFit/>
          </a:bodyPr>
          <a:p>
            <a:pPr algn="just"/>
            <a:r>
              <a:rPr lang="ru-RU" altLang="en-US" sz="2800">
                <a:latin typeface="Times New Roman Regular" panose="02020603050405020304" charset="0"/>
                <a:cs typeface="Times New Roman Regular" panose="02020603050405020304" charset="0"/>
              </a:rPr>
              <a:t>	В нашеем примере поиск сначала происходит внутри фунции</a:t>
            </a:r>
            <a:r>
              <a:rPr lang="en-US" altLang="ru-RU" sz="2800">
                <a:latin typeface="Times New Roman Regular" panose="02020603050405020304" charset="0"/>
                <a:cs typeface="Times New Roman Regular" panose="02020603050405020304" charset="0"/>
              </a:rPr>
              <a:t> getScore().</a:t>
            </a:r>
            <a:r>
              <a:rPr lang="ru-RU" altLang="en-US" sz="2800">
                <a:latin typeface="Times New Roman Regular" panose="02020603050405020304" charset="0"/>
                <a:cs typeface="Times New Roman Regular" panose="02020603050405020304" charset="0"/>
              </a:rPr>
              <a:t> Если значние переенной не найдено, то поиск происходит по всему коду.</a:t>
            </a:r>
            <a:endParaRPr lang="ru-RU" altLang="en-US" sz="2800">
              <a:latin typeface="Times New Roman Regular" panose="02020603050405020304" charset="0"/>
              <a:cs typeface="Times New Roman Regular" panose="02020603050405020304" charset="0"/>
            </a:endParaRPr>
          </a:p>
          <a:p>
            <a:pPr algn="just"/>
            <a:r>
              <a:rPr lang="ru-RU" altLang="en-US" sz="2800">
                <a:latin typeface="Times New Roman Regular" panose="02020603050405020304" charset="0"/>
                <a:cs typeface="Times New Roman Regular" panose="02020603050405020304" charset="0"/>
              </a:rPr>
              <a:t>在我们的示例中，搜索首先在getScore（）函数中进行。如果找不到佩雷纳值，则搜索整个代码。</a:t>
            </a:r>
            <a:endParaRPr lang="ru-RU" altLang="en-US" sz="2800">
              <a:latin typeface="Times New Roman Regular" panose="02020603050405020304" charset="0"/>
              <a:cs typeface="Times New Roman Regular" panose="0202060305040502030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22300" y="652780"/>
            <a:ext cx="11111230" cy="4831080"/>
          </a:xfrm>
          <a:prstGeom prst="rect">
            <a:avLst/>
          </a:prstGeom>
          <a:noFill/>
        </p:spPr>
        <p:txBody>
          <a:bodyPr wrap="square" rtlCol="0" anchor="t">
            <a:spAutoFit/>
          </a:bodyPr>
          <a:p>
            <a:pPr algn="just"/>
            <a:r>
              <a:rPr lang="en-US" sz="2800">
                <a:latin typeface="Times New Roman Regular" panose="02020603050405020304" charset="0"/>
                <a:cs typeface="Times New Roman Regular" panose="02020603050405020304" charset="0"/>
              </a:rPr>
              <a:t>Сборка мусора</a:t>
            </a:r>
            <a:r>
              <a:rPr lang="en-US" sz="2800">
                <a:latin typeface="Times New Roman Regular" panose="02020603050405020304" charset="0"/>
                <a:cs typeface="Times New Roman Regular" panose="02020603050405020304" charset="0"/>
                <a:sym typeface="+mn-ea"/>
              </a:rPr>
              <a:t>垃圾收集</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ru-RU" altLang="en-US" sz="2800">
                <a:latin typeface="Times New Roman Regular" panose="02020603050405020304" charset="0"/>
                <a:cs typeface="Times New Roman Regular" panose="02020603050405020304" charset="0"/>
              </a:rPr>
              <a:t>	</a:t>
            </a:r>
            <a:r>
              <a:rPr lang="en-US" sz="2800">
                <a:latin typeface="Times New Roman Regular" panose="02020603050405020304" charset="0"/>
                <a:cs typeface="Times New Roman Regular" panose="02020603050405020304" charset="0"/>
              </a:rPr>
              <a:t>Обычно лексическое окружение удаляется из памяти вместе со всеми переменными после завершения вызова функции. Это связано с тем, что на него нет ссылок. Как и любой объект JavaScript, оно хранится в памяти только до тех пор, пока к нему можно обратиться.</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a:p>
            <a:pPr algn="just"/>
            <a:r>
              <a:rPr lang="en-US" sz="2800">
                <a:latin typeface="Times New Roman Regular" panose="02020603050405020304" charset="0"/>
                <a:cs typeface="Times New Roman Regular" panose="02020603050405020304" charset="0"/>
              </a:rPr>
              <a:t>通常，在函数调用完成后，词汇环境与所有变量一起从内存中删除。这是因为没有提到它。与任何JavaScript对象一样，它只存储在内存中，直到可以访问它。</a:t>
            </a:r>
            <a:endParaRPr lang="en-US" sz="2800">
              <a:latin typeface="Times New Roman Regular" panose="02020603050405020304" charset="0"/>
              <a:cs typeface="Times New Roman Regular" panose="02020603050405020304" charset="0"/>
            </a:endParaRPr>
          </a:p>
          <a:p>
            <a:pPr algn="just"/>
            <a:endParaRPr lang="en-US" sz="2800">
              <a:latin typeface="Times New Roman Regular" panose="02020603050405020304" charset="0"/>
              <a:cs typeface="Times New Roman Regular" panose="0202060305040502030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7690" y="474980"/>
            <a:ext cx="11178540" cy="3876675"/>
          </a:xfrm>
          <a:prstGeom prst="rect">
            <a:avLst/>
          </a:prstGeom>
          <a:noFill/>
        </p:spPr>
        <p:txBody>
          <a:bodyPr wrap="square" rtlCol="0" anchor="t">
            <a:spAutoFit/>
          </a:bodyPr>
          <a:p>
            <a:pPr algn="just"/>
            <a:r>
              <a:rPr lang="ru-RU" altLang="en-US" sz="24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Однако если существует вложенная функция, которая все еще доступна после завершения функции, то она имеет свойство, ссылающееся на лексическое окружение.</a:t>
            </a:r>
            <a:r>
              <a:rPr lang="en-US" sz="2400">
                <a:latin typeface="Times New Roman Regular" panose="02020603050405020304" charset="0"/>
                <a:cs typeface="Times New Roman Regular" panose="02020603050405020304" charset="0"/>
                <a:sym typeface="+mn-ea"/>
              </a:rPr>
              <a:t>但是，如果有一个子函数在函数完成后仍然可用，则它具有引用词汇环境的属性。</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ru-RU" altLang="en-US" sz="24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В этом случае лексическое окружение остается доступным даже после завершения работы функции.在这种情况下，即使在函数完成后，词汇环境仍然可用。</a:t>
            </a:r>
            <a:endParaRPr lang="en-US" sz="2400">
              <a:latin typeface="Times New Roman Regular" panose="02020603050405020304" charset="0"/>
              <a:cs typeface="Times New Roman Regular" panose="02020603050405020304" charset="0"/>
            </a:endParaRPr>
          </a:p>
          <a:p>
            <a:endParaRPr lang="en-US"/>
          </a:p>
          <a:p>
            <a:endParaRPr lang="en-US"/>
          </a:p>
          <a:p>
            <a:endParaRPr lang="en-US"/>
          </a:p>
        </p:txBody>
      </p:sp>
      <p:sp>
        <p:nvSpPr>
          <p:cNvPr id="100" name="Text Box 99"/>
          <p:cNvSpPr txBox="1"/>
          <p:nvPr/>
        </p:nvSpPr>
        <p:spPr>
          <a:xfrm>
            <a:off x="3365500" y="4288155"/>
            <a:ext cx="6195060" cy="2306955"/>
          </a:xfrm>
          <a:prstGeom prst="rect">
            <a:avLst/>
          </a:prstGeom>
          <a:noFill/>
          <a:ln w="9525">
            <a:noFill/>
          </a:ln>
        </p:spPr>
        <p:txBody>
          <a:bodyPr wrap="square">
            <a:spAutoFit/>
          </a:bodyPr>
          <a:p>
            <a:pPr marL="0" indent="0" algn="l"/>
            <a:r>
              <a:rPr lang="en-US" sz="2400" b="0">
                <a:solidFill>
                  <a:srgbClr val="0000FF"/>
                </a:solidFill>
                <a:latin typeface="Times New Roman Regular" panose="02020603050405020304" charset="0"/>
                <a:cs typeface="Times New Roman Regular" panose="02020603050405020304" charset="0"/>
              </a:rPr>
              <a:t>function</a:t>
            </a:r>
            <a:r>
              <a:rPr lang="en-US" sz="2400" b="0">
                <a:solidFill>
                  <a:srgbClr val="3B3B3B"/>
                </a:solidFill>
                <a:latin typeface="Times New Roman Regular" panose="02020603050405020304" charset="0"/>
                <a:cs typeface="Times New Roman Regular" panose="02020603050405020304" charset="0"/>
              </a:rPr>
              <a:t> </a:t>
            </a:r>
            <a:r>
              <a:rPr lang="en-US" sz="2400" b="0">
                <a:solidFill>
                  <a:srgbClr val="795E26"/>
                </a:solidFill>
                <a:latin typeface="Times New Roman Regular" panose="02020603050405020304" charset="0"/>
                <a:cs typeface="Times New Roman Regular" panose="02020603050405020304" charset="0"/>
              </a:rPr>
              <a:t>f</a:t>
            </a:r>
            <a:r>
              <a:rPr lang="en-US" sz="2400" b="0">
                <a:solidFill>
                  <a:srgbClr val="3B3B3B"/>
                </a:solidFill>
                <a:latin typeface="Times New Roman Regular" panose="02020603050405020304" charset="0"/>
                <a:cs typeface="Times New Roman Regular" panose="02020603050405020304" charset="0"/>
              </a:rPr>
              <a:t>() {</a:t>
            </a:r>
            <a:endParaRPr lang="en-US" sz="2400" b="0">
              <a:solidFill>
                <a:srgbClr val="3B3B3B"/>
              </a:solidFill>
              <a:latin typeface="Times New Roman Regular" panose="02020603050405020304" charset="0"/>
              <a:cs typeface="Times New Roman Regular" panose="02020603050405020304" charset="0"/>
            </a:endParaRPr>
          </a:p>
          <a:p>
            <a:pPr marL="0" indent="0" algn="l"/>
            <a:r>
              <a:rPr lang="en-US" sz="2400" b="0">
                <a:solidFill>
                  <a:srgbClr val="0000FF"/>
                </a:solidFill>
                <a:latin typeface="Times New Roman Regular" panose="02020603050405020304" charset="0"/>
                <a:cs typeface="Times New Roman Regular" panose="02020603050405020304" charset="0"/>
              </a:rPr>
              <a:t>    let</a:t>
            </a:r>
            <a:r>
              <a:rPr lang="en-US" sz="2400" b="0">
                <a:solidFill>
                  <a:srgbClr val="3B3B3B"/>
                </a:solidFill>
                <a:latin typeface="Times New Roman Regular" panose="02020603050405020304" charset="0"/>
                <a:cs typeface="Times New Roman Regular" panose="02020603050405020304" charset="0"/>
              </a:rPr>
              <a:t> </a:t>
            </a:r>
            <a:r>
              <a:rPr lang="en-US" sz="2400" b="0">
                <a:solidFill>
                  <a:srgbClr val="001080"/>
                </a:solidFill>
                <a:latin typeface="Times New Roman Regular" panose="02020603050405020304" charset="0"/>
                <a:cs typeface="Times New Roman Regular" panose="02020603050405020304" charset="0"/>
              </a:rPr>
              <a:t>value</a:t>
            </a:r>
            <a:r>
              <a:rPr lang="en-US" sz="2400" b="0">
                <a:solidFill>
                  <a:srgbClr val="3B3B3B"/>
                </a:solidFill>
                <a:latin typeface="Times New Roman Regular" panose="02020603050405020304" charset="0"/>
                <a:cs typeface="Times New Roman Regular" panose="02020603050405020304" charset="0"/>
              </a:rPr>
              <a:t> </a:t>
            </a:r>
            <a:r>
              <a:rPr lang="en-US" sz="2400" b="0">
                <a:solidFill>
                  <a:srgbClr val="000000"/>
                </a:solidFill>
                <a:latin typeface="Times New Roman Regular" panose="02020603050405020304" charset="0"/>
                <a:cs typeface="Times New Roman Regular" panose="02020603050405020304" charset="0"/>
              </a:rPr>
              <a:t>=</a:t>
            </a:r>
            <a:r>
              <a:rPr lang="en-US" sz="2400" b="0">
                <a:solidFill>
                  <a:srgbClr val="3B3B3B"/>
                </a:solidFill>
                <a:latin typeface="Times New Roman Regular" panose="02020603050405020304" charset="0"/>
                <a:cs typeface="Times New Roman Regular" panose="02020603050405020304" charset="0"/>
              </a:rPr>
              <a:t> ‘Hello!’;</a:t>
            </a:r>
            <a:endParaRPr lang="en-US" sz="2400" b="0">
              <a:solidFill>
                <a:srgbClr val="3B3B3B"/>
              </a:solidFill>
              <a:latin typeface="Times New Roman Regular" panose="02020603050405020304" charset="0"/>
              <a:cs typeface="Times New Roman Regular" panose="02020603050405020304" charset="0"/>
            </a:endParaRPr>
          </a:p>
          <a:p>
            <a:pPr marL="0" indent="0" algn="l"/>
            <a:r>
              <a:rPr lang="en-US" sz="2400" b="0">
                <a:solidFill>
                  <a:srgbClr val="3B3B3B"/>
                </a:solidFill>
                <a:latin typeface="Times New Roman Regular" panose="02020603050405020304" charset="0"/>
                <a:cs typeface="Times New Roman Regular" panose="02020603050405020304" charset="0"/>
              </a:rPr>
              <a:t>    </a:t>
            </a:r>
            <a:r>
              <a:rPr lang="en-US" sz="2400">
                <a:solidFill>
                  <a:srgbClr val="795E26"/>
                </a:solidFill>
                <a:latin typeface="Times New Roman Regular" panose="02020603050405020304" charset="0"/>
                <a:cs typeface="Times New Roman Regular" panose="02020603050405020304" charset="0"/>
                <a:sym typeface="+mn-ea"/>
              </a:rPr>
              <a:t>alert</a:t>
            </a:r>
            <a:r>
              <a:rPr lang="en-US" sz="2400">
                <a:solidFill>
                  <a:srgbClr val="3B3B3B"/>
                </a:solidFill>
                <a:latin typeface="Times New Roman Regular" panose="02020603050405020304" charset="0"/>
                <a:cs typeface="Times New Roman Regular" panose="02020603050405020304" charset="0"/>
                <a:sym typeface="+mn-ea"/>
              </a:rPr>
              <a:t>(</a:t>
            </a:r>
            <a:r>
              <a:rPr lang="en-US" sz="2400">
                <a:solidFill>
                  <a:srgbClr val="001080"/>
                </a:solidFill>
                <a:latin typeface="Times New Roman Regular" panose="02020603050405020304" charset="0"/>
                <a:cs typeface="Times New Roman Regular" panose="02020603050405020304" charset="0"/>
                <a:sym typeface="+mn-ea"/>
              </a:rPr>
              <a:t>value</a:t>
            </a:r>
            <a:r>
              <a:rPr lang="en-US" sz="2400">
                <a:solidFill>
                  <a:srgbClr val="3B3B3B"/>
                </a:solidFill>
                <a:latin typeface="Times New Roman Regular" panose="02020603050405020304" charset="0"/>
                <a:cs typeface="Times New Roman Regular" panose="02020603050405020304" charset="0"/>
                <a:sym typeface="+mn-ea"/>
              </a:rPr>
              <a:t>);</a:t>
            </a:r>
            <a:endParaRPr lang="en-US" sz="2400">
              <a:solidFill>
                <a:srgbClr val="3B3B3B"/>
              </a:solidFill>
              <a:latin typeface="Times New Roman Regular" panose="02020603050405020304" charset="0"/>
              <a:cs typeface="Times New Roman Regular" panose="02020603050405020304" charset="0"/>
              <a:sym typeface="+mn-ea"/>
            </a:endParaRPr>
          </a:p>
          <a:p>
            <a:pPr marL="0" indent="0" algn="l"/>
            <a:r>
              <a:rPr lang="en-US" sz="2400" b="0">
                <a:solidFill>
                  <a:srgbClr val="3B3B3B"/>
                </a:solidFill>
                <a:latin typeface="Times New Roman Regular" panose="02020603050405020304" charset="0"/>
                <a:cs typeface="Times New Roman Regular" panose="02020603050405020304" charset="0"/>
              </a:rPr>
              <a:t>}</a:t>
            </a:r>
            <a:endParaRPr lang="en-US" sz="2400" b="0">
              <a:solidFill>
                <a:srgbClr val="3B3B3B"/>
              </a:solidFill>
              <a:latin typeface="Times New Roman Regular" panose="02020603050405020304" charset="0"/>
              <a:cs typeface="Times New Roman Regular" panose="02020603050405020304" charset="0"/>
            </a:endParaRPr>
          </a:p>
          <a:p>
            <a:pPr marL="0" indent="0" algn="l"/>
            <a:r>
              <a:rPr lang="en-US" sz="2400" b="0">
                <a:solidFill>
                  <a:srgbClr val="0000FF"/>
                </a:solidFill>
                <a:latin typeface="Times New Roman Regular" panose="02020603050405020304" charset="0"/>
                <a:cs typeface="Times New Roman Regular" panose="02020603050405020304" charset="0"/>
              </a:rPr>
              <a:t>let</a:t>
            </a:r>
            <a:r>
              <a:rPr lang="en-US" sz="2400" b="0">
                <a:solidFill>
                  <a:srgbClr val="3B3B3B"/>
                </a:solidFill>
                <a:latin typeface="Times New Roman Regular" panose="02020603050405020304" charset="0"/>
                <a:cs typeface="Times New Roman Regular" panose="02020603050405020304" charset="0"/>
              </a:rPr>
              <a:t> </a:t>
            </a:r>
            <a:r>
              <a:rPr lang="en-US" sz="2400" b="0">
                <a:solidFill>
                  <a:srgbClr val="795E26"/>
                </a:solidFill>
                <a:latin typeface="Times New Roman Regular" panose="02020603050405020304" charset="0"/>
                <a:cs typeface="Times New Roman Regular" panose="02020603050405020304" charset="0"/>
              </a:rPr>
              <a:t>g</a:t>
            </a:r>
            <a:r>
              <a:rPr lang="en-US" sz="2400" b="0">
                <a:solidFill>
                  <a:srgbClr val="3B3B3B"/>
                </a:solidFill>
                <a:latin typeface="Times New Roman Regular" panose="02020603050405020304" charset="0"/>
                <a:cs typeface="Times New Roman Regular" panose="02020603050405020304" charset="0"/>
              </a:rPr>
              <a:t> </a:t>
            </a:r>
            <a:r>
              <a:rPr lang="en-US" sz="2400" b="0">
                <a:solidFill>
                  <a:srgbClr val="000000"/>
                </a:solidFill>
                <a:latin typeface="Times New Roman Regular" panose="02020603050405020304" charset="0"/>
                <a:cs typeface="Times New Roman Regular" panose="02020603050405020304" charset="0"/>
              </a:rPr>
              <a:t>=</a:t>
            </a:r>
            <a:r>
              <a:rPr lang="en-US" sz="2400" b="0">
                <a:solidFill>
                  <a:srgbClr val="3B3B3B"/>
                </a:solidFill>
                <a:latin typeface="Times New Roman Regular" panose="02020603050405020304" charset="0"/>
                <a:cs typeface="Times New Roman Regular" panose="02020603050405020304" charset="0"/>
              </a:rPr>
              <a:t> </a:t>
            </a:r>
            <a:r>
              <a:rPr lang="en-US" sz="2400" b="0">
                <a:solidFill>
                  <a:srgbClr val="795E26"/>
                </a:solidFill>
                <a:latin typeface="Times New Roman Regular" panose="02020603050405020304" charset="0"/>
                <a:cs typeface="Times New Roman Regular" panose="02020603050405020304" charset="0"/>
              </a:rPr>
              <a:t>f</a:t>
            </a:r>
            <a:r>
              <a:rPr lang="en-US" sz="2400" b="0">
                <a:solidFill>
                  <a:srgbClr val="3B3B3B"/>
                </a:solidFill>
                <a:latin typeface="Times New Roman Regular" panose="02020603050405020304" charset="0"/>
                <a:cs typeface="Times New Roman Regular" panose="02020603050405020304" charset="0"/>
              </a:rPr>
              <a:t>();</a:t>
            </a: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53085" y="456565"/>
            <a:ext cx="11180445" cy="2306955"/>
          </a:xfrm>
          <a:prstGeom prst="rect">
            <a:avLst/>
          </a:prstGeom>
          <a:noFill/>
        </p:spPr>
        <p:txBody>
          <a:bodyPr wrap="square" rtlCol="0" anchor="t">
            <a:spAutoFit/>
          </a:bodyPr>
          <a:p>
            <a:pPr algn="just"/>
            <a:r>
              <a:rPr lang="ru-RU" altLang="en-US" sz="24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Объект лексического окружения исчезает, когда становится недоступным (как и любой другой объект). Другими словами, он существует только до тех пор, пока на него ссылается хотя бы одна вложенная функция.</a:t>
            </a:r>
            <a:endParaRPr lang="en-US" sz="2400">
              <a:latin typeface="Times New Roman Regular" panose="02020603050405020304" charset="0"/>
              <a:cs typeface="Times New Roman Regular" panose="02020603050405020304" charset="0"/>
            </a:endParaRPr>
          </a:p>
          <a:p>
            <a:pPr algn="just"/>
            <a:endParaRPr lang="en-US" sz="2400">
              <a:latin typeface="Times New Roman Regular" panose="02020603050405020304" charset="0"/>
              <a:cs typeface="Times New Roman Regular" panose="02020603050405020304" charset="0"/>
            </a:endParaRPr>
          </a:p>
          <a:p>
            <a:pPr algn="just"/>
            <a:r>
              <a:rPr lang="en-US" sz="2400">
                <a:latin typeface="Times New Roman Regular" panose="02020603050405020304" charset="0"/>
                <a:cs typeface="Times New Roman Regular" panose="02020603050405020304" charset="0"/>
              </a:rPr>
              <a:t>词汇环境的对象在变得不可用时消失（就像任何其他对象一样）。换句话说，它只存在于至少一个嵌入函数引用它的情况下。</a:t>
            </a:r>
            <a:endParaRPr lang="en-US" sz="2400">
              <a:latin typeface="Times New Roman Regular" panose="02020603050405020304" charset="0"/>
              <a:cs typeface="Times New Roman Regular" panose="02020603050405020304" charset="0"/>
            </a:endParaRPr>
          </a:p>
        </p:txBody>
      </p:sp>
      <p:sp>
        <p:nvSpPr>
          <p:cNvPr id="3" name="Text Box 2"/>
          <p:cNvSpPr txBox="1"/>
          <p:nvPr/>
        </p:nvSpPr>
        <p:spPr>
          <a:xfrm>
            <a:off x="3369945" y="3828415"/>
            <a:ext cx="5547360" cy="2306955"/>
          </a:xfrm>
          <a:prstGeom prst="rect">
            <a:avLst/>
          </a:prstGeom>
          <a:noFill/>
        </p:spPr>
        <p:txBody>
          <a:bodyPr wrap="square" rtlCol="0" anchor="t">
            <a:spAutoFit/>
          </a:bodyPr>
          <a:p>
            <a:pPr marL="0" indent="0" algn="l"/>
            <a:r>
              <a:rPr lang="en-US">
                <a:solidFill>
                  <a:srgbClr val="0000FF"/>
                </a:solidFill>
                <a:latin typeface="Menlo" panose="020B0609030804020204" charset="0"/>
                <a:cs typeface="SimSun" pitchFamily="2" charset="-122"/>
                <a:sym typeface="+mn-ea"/>
              </a:rPr>
              <a:t>function</a:t>
            </a:r>
            <a:r>
              <a:rPr lang="en-US">
                <a:solidFill>
                  <a:srgbClr val="3B3B3B"/>
                </a:solidFill>
                <a:latin typeface="Menlo" panose="020B0609030804020204" charset="0"/>
                <a:cs typeface="SimSun" pitchFamily="2" charset="-122"/>
                <a:sym typeface="+mn-ea"/>
              </a:rPr>
              <a:t> </a:t>
            </a:r>
            <a:r>
              <a:rPr lang="en-US">
                <a:solidFill>
                  <a:srgbClr val="795E26"/>
                </a:solidFill>
                <a:latin typeface="Menlo" panose="020B0609030804020204" charset="0"/>
                <a:cs typeface="SimSun" pitchFamily="2" charset="-122"/>
                <a:sym typeface="+mn-ea"/>
              </a:rPr>
              <a:t>f</a:t>
            </a:r>
            <a:r>
              <a:rPr lang="en-US">
                <a:solidFill>
                  <a:srgbClr val="3B3B3B"/>
                </a:solidFill>
                <a:latin typeface="Menlo" panose="020B0609030804020204" charset="0"/>
                <a:cs typeface="SimSun" pitchFamily="2" charset="-122"/>
                <a:sym typeface="+mn-ea"/>
              </a:rPr>
              <a:t>() {</a:t>
            </a:r>
            <a:endParaRPr lang="en-US" b="0">
              <a:solidFill>
                <a:srgbClr val="3B3B3B"/>
              </a:solidFill>
              <a:latin typeface="Menlo" panose="020B0609030804020204" charset="0"/>
              <a:cs typeface="SimSun" pitchFamily="2" charset="-122"/>
            </a:endParaRPr>
          </a:p>
          <a:p>
            <a:pPr marL="0" indent="0" algn="l"/>
            <a:r>
              <a:rPr lang="en-US">
                <a:solidFill>
                  <a:srgbClr val="0000FF"/>
                </a:solidFill>
                <a:latin typeface="Menlo" panose="020B0609030804020204" charset="0"/>
                <a:cs typeface="SimSun" pitchFamily="2" charset="-122"/>
                <a:sym typeface="+mn-ea"/>
              </a:rPr>
              <a:t>    let</a:t>
            </a:r>
            <a:r>
              <a:rPr lang="en-US">
                <a:solidFill>
                  <a:srgbClr val="3B3B3B"/>
                </a:solidFill>
                <a:latin typeface="Menlo" panose="020B0609030804020204" charset="0"/>
                <a:cs typeface="SimSun" pitchFamily="2" charset="-122"/>
                <a:sym typeface="+mn-ea"/>
              </a:rPr>
              <a:t> </a:t>
            </a:r>
            <a:r>
              <a:rPr lang="en-US">
                <a:solidFill>
                  <a:srgbClr val="001080"/>
                </a:solidFill>
                <a:latin typeface="Menlo" panose="020B0609030804020204" charset="0"/>
                <a:cs typeface="SimSun" pitchFamily="2" charset="-122"/>
                <a:sym typeface="+mn-ea"/>
              </a:rPr>
              <a:t>value</a:t>
            </a:r>
            <a:r>
              <a:rPr lang="en-US">
                <a:solidFill>
                  <a:srgbClr val="3B3B3B"/>
                </a:solidFill>
                <a:latin typeface="Menlo" panose="020B0609030804020204" charset="0"/>
                <a:cs typeface="SimSun" pitchFamily="2" charset="-122"/>
                <a:sym typeface="+mn-ea"/>
              </a:rPr>
              <a:t> </a:t>
            </a:r>
            <a:r>
              <a:rPr lang="en-US">
                <a:solidFill>
                  <a:srgbClr val="000000"/>
                </a:solidFill>
                <a:latin typeface="Menlo" panose="020B0609030804020204" charset="0"/>
                <a:cs typeface="SimSun" pitchFamily="2" charset="-122"/>
                <a:sym typeface="+mn-ea"/>
              </a:rPr>
              <a:t>=</a:t>
            </a:r>
            <a:r>
              <a:rPr lang="en-US">
                <a:solidFill>
                  <a:srgbClr val="3B3B3B"/>
                </a:solidFill>
                <a:latin typeface="Menlo" panose="020B0609030804020204" charset="0"/>
                <a:cs typeface="SimSun" pitchFamily="2" charset="-122"/>
                <a:sym typeface="+mn-ea"/>
              </a:rPr>
              <a:t> ‘Hello!’;</a:t>
            </a:r>
            <a:endParaRPr lang="en-US" b="0">
              <a:solidFill>
                <a:srgbClr val="3B3B3B"/>
              </a:solidFill>
              <a:latin typeface="Menlo" panose="020B0609030804020204" charset="0"/>
              <a:cs typeface="SimSun" pitchFamily="2" charset="-122"/>
            </a:endParaRPr>
          </a:p>
          <a:p>
            <a:pPr marL="0" indent="0" algn="l"/>
            <a:r>
              <a:rPr lang="en-US">
                <a:solidFill>
                  <a:srgbClr val="3B3B3B"/>
                </a:solidFill>
                <a:latin typeface="Menlo" panose="020B0609030804020204" charset="0"/>
                <a:cs typeface="SimSun" pitchFamily="2" charset="-122"/>
                <a:sym typeface="+mn-ea"/>
              </a:rPr>
              <a:t>    </a:t>
            </a:r>
            <a:r>
              <a:rPr lang="en-US">
                <a:solidFill>
                  <a:srgbClr val="795E26"/>
                </a:solidFill>
                <a:latin typeface="Menlo" panose="020B0609030804020204" charset="0"/>
                <a:cs typeface="SimSun" pitchFamily="2" charset="-122"/>
                <a:sym typeface="+mn-ea"/>
              </a:rPr>
              <a:t>alert</a:t>
            </a:r>
            <a:r>
              <a:rPr lang="en-US">
                <a:solidFill>
                  <a:srgbClr val="3B3B3B"/>
                </a:solidFill>
                <a:latin typeface="Menlo" panose="020B0609030804020204" charset="0"/>
                <a:cs typeface="SimSun" pitchFamily="2" charset="-122"/>
                <a:sym typeface="+mn-ea"/>
              </a:rPr>
              <a:t>(</a:t>
            </a:r>
            <a:r>
              <a:rPr lang="en-US">
                <a:solidFill>
                  <a:srgbClr val="001080"/>
                </a:solidFill>
                <a:latin typeface="Menlo" panose="020B0609030804020204" charset="0"/>
                <a:cs typeface="SimSun" pitchFamily="2" charset="-122"/>
                <a:sym typeface="+mn-ea"/>
              </a:rPr>
              <a:t>value</a:t>
            </a:r>
            <a:r>
              <a:rPr lang="en-US">
                <a:solidFill>
                  <a:srgbClr val="3B3B3B"/>
                </a:solidFill>
                <a:latin typeface="Menlo" panose="020B0609030804020204" charset="0"/>
                <a:cs typeface="SimSun" pitchFamily="2" charset="-122"/>
                <a:sym typeface="+mn-ea"/>
              </a:rPr>
              <a:t>);</a:t>
            </a:r>
            <a:endParaRPr lang="en-US">
              <a:solidFill>
                <a:srgbClr val="3B3B3B"/>
              </a:solidFill>
              <a:latin typeface="Menlo" panose="020B0609030804020204" charset="0"/>
              <a:cs typeface="SimSun" pitchFamily="2" charset="-122"/>
              <a:sym typeface="+mn-ea"/>
            </a:endParaRPr>
          </a:p>
          <a:p>
            <a:pPr marL="0" indent="0" algn="l"/>
            <a:r>
              <a:rPr lang="en-US">
                <a:solidFill>
                  <a:srgbClr val="3B3B3B"/>
                </a:solidFill>
                <a:latin typeface="Menlo" panose="020B0609030804020204" charset="0"/>
                <a:cs typeface="SimSun" pitchFamily="2" charset="-122"/>
                <a:sym typeface="+mn-ea"/>
              </a:rPr>
              <a:t>}</a:t>
            </a:r>
            <a:endParaRPr lang="en-US" b="0">
              <a:solidFill>
                <a:srgbClr val="3B3B3B"/>
              </a:solidFill>
              <a:latin typeface="Menlo" panose="020B0609030804020204" charset="0"/>
              <a:cs typeface="SimSun" pitchFamily="2" charset="-122"/>
            </a:endParaRPr>
          </a:p>
          <a:p>
            <a:pPr marL="0" indent="0" algn="l"/>
            <a:r>
              <a:rPr lang="en-US">
                <a:solidFill>
                  <a:srgbClr val="0000FF"/>
                </a:solidFill>
                <a:latin typeface="Menlo" panose="020B0609030804020204" charset="0"/>
                <a:cs typeface="SimSun" pitchFamily="2" charset="-122"/>
                <a:sym typeface="+mn-ea"/>
              </a:rPr>
              <a:t>let</a:t>
            </a:r>
            <a:r>
              <a:rPr lang="en-US">
                <a:solidFill>
                  <a:srgbClr val="3B3B3B"/>
                </a:solidFill>
                <a:latin typeface="Menlo" panose="020B0609030804020204" charset="0"/>
                <a:cs typeface="SimSun" pitchFamily="2" charset="-122"/>
                <a:sym typeface="+mn-ea"/>
              </a:rPr>
              <a:t> </a:t>
            </a:r>
            <a:r>
              <a:rPr lang="en-US">
                <a:solidFill>
                  <a:srgbClr val="795E26"/>
                </a:solidFill>
                <a:latin typeface="Menlo" panose="020B0609030804020204" charset="0"/>
                <a:cs typeface="SimSun" pitchFamily="2" charset="-122"/>
                <a:sym typeface="+mn-ea"/>
              </a:rPr>
              <a:t>g</a:t>
            </a:r>
            <a:r>
              <a:rPr lang="en-US">
                <a:solidFill>
                  <a:srgbClr val="3B3B3B"/>
                </a:solidFill>
                <a:latin typeface="Menlo" panose="020B0609030804020204" charset="0"/>
                <a:cs typeface="SimSun" pitchFamily="2" charset="-122"/>
                <a:sym typeface="+mn-ea"/>
              </a:rPr>
              <a:t> </a:t>
            </a:r>
            <a:r>
              <a:rPr lang="en-US">
                <a:solidFill>
                  <a:srgbClr val="000000"/>
                </a:solidFill>
                <a:latin typeface="Menlo" panose="020B0609030804020204" charset="0"/>
                <a:cs typeface="SimSun" pitchFamily="2" charset="-122"/>
                <a:sym typeface="+mn-ea"/>
              </a:rPr>
              <a:t>=</a:t>
            </a:r>
            <a:r>
              <a:rPr lang="en-US">
                <a:solidFill>
                  <a:srgbClr val="3B3B3B"/>
                </a:solidFill>
                <a:latin typeface="Menlo" panose="020B0609030804020204" charset="0"/>
                <a:cs typeface="SimSun" pitchFamily="2" charset="-122"/>
                <a:sym typeface="+mn-ea"/>
              </a:rPr>
              <a:t> </a:t>
            </a:r>
            <a:r>
              <a:rPr lang="en-US">
                <a:solidFill>
                  <a:srgbClr val="795E26"/>
                </a:solidFill>
                <a:latin typeface="Menlo" panose="020B0609030804020204" charset="0"/>
                <a:cs typeface="SimSun" pitchFamily="2" charset="-122"/>
                <a:sym typeface="+mn-ea"/>
              </a:rPr>
              <a:t>f</a:t>
            </a:r>
            <a:r>
              <a:rPr lang="en-US">
                <a:solidFill>
                  <a:srgbClr val="3B3B3B"/>
                </a:solidFill>
                <a:latin typeface="Menlo" panose="020B0609030804020204" charset="0"/>
                <a:cs typeface="SimSun" pitchFamily="2" charset="-122"/>
                <a:sym typeface="+mn-ea"/>
              </a:rPr>
              <a:t>();</a:t>
            </a:r>
            <a:endParaRPr lang="en-US">
              <a:solidFill>
                <a:srgbClr val="3B3B3B"/>
              </a:solidFill>
              <a:latin typeface="Menlo" panose="020B0609030804020204" charset="0"/>
              <a:cs typeface="SimSun" pitchFamily="2" charset="-122"/>
              <a:sym typeface="+mn-ea"/>
            </a:endParaRPr>
          </a:p>
          <a:p>
            <a:pPr marL="0" indent="0" algn="l"/>
            <a:r>
              <a:rPr lang="en-US">
                <a:solidFill>
                  <a:srgbClr val="0000FF"/>
                </a:solidFill>
                <a:latin typeface="Menlo" panose="020B0609030804020204" charset="0"/>
                <a:cs typeface="SimSun" pitchFamily="2" charset="-122"/>
                <a:sym typeface="+mn-ea"/>
              </a:rPr>
              <a:t>let</a:t>
            </a:r>
            <a:r>
              <a:rPr lang="en-US">
                <a:solidFill>
                  <a:srgbClr val="3B3B3B"/>
                </a:solidFill>
                <a:latin typeface="Menlo" panose="020B0609030804020204" charset="0"/>
                <a:cs typeface="SimSun" pitchFamily="2" charset="-122"/>
                <a:sym typeface="+mn-ea"/>
              </a:rPr>
              <a:t> </a:t>
            </a:r>
            <a:r>
              <a:rPr lang="en-US">
                <a:solidFill>
                  <a:srgbClr val="795E26"/>
                </a:solidFill>
                <a:latin typeface="Menlo" panose="020B0609030804020204" charset="0"/>
                <a:cs typeface="SimSun" pitchFamily="2" charset="-122"/>
                <a:sym typeface="+mn-ea"/>
              </a:rPr>
              <a:t>g</a:t>
            </a:r>
            <a:r>
              <a:rPr lang="en-US">
                <a:solidFill>
                  <a:srgbClr val="3B3B3B"/>
                </a:solidFill>
                <a:latin typeface="Menlo" panose="020B0609030804020204" charset="0"/>
                <a:cs typeface="SimSun" pitchFamily="2" charset="-122"/>
                <a:sym typeface="+mn-ea"/>
              </a:rPr>
              <a:t> </a:t>
            </a:r>
            <a:r>
              <a:rPr lang="en-US">
                <a:solidFill>
                  <a:srgbClr val="000000"/>
                </a:solidFill>
                <a:latin typeface="Menlo" panose="020B0609030804020204" charset="0"/>
                <a:cs typeface="SimSun" pitchFamily="2" charset="-122"/>
                <a:sym typeface="+mn-ea"/>
              </a:rPr>
              <a:t>=</a:t>
            </a:r>
            <a:r>
              <a:rPr lang="en-US">
                <a:solidFill>
                  <a:srgbClr val="3B3B3B"/>
                </a:solidFill>
                <a:latin typeface="Menlo" panose="020B0609030804020204" charset="0"/>
                <a:cs typeface="SimSun" pitchFamily="2" charset="-122"/>
                <a:sym typeface="+mn-ea"/>
              </a:rPr>
              <a:t> </a:t>
            </a:r>
            <a:r>
              <a:rPr lang="en-US">
                <a:solidFill>
                  <a:srgbClr val="0000FF"/>
                </a:solidFill>
                <a:latin typeface="Menlo" panose="020B0609030804020204" charset="0"/>
                <a:cs typeface="SimSun" pitchFamily="2" charset="-122"/>
                <a:sym typeface="+mn-ea"/>
              </a:rPr>
              <a:t>null</a:t>
            </a:r>
            <a:r>
              <a:rPr lang="en-US">
                <a:solidFill>
                  <a:srgbClr val="3B3B3B"/>
                </a:solidFill>
                <a:latin typeface="Menlo" panose="020B0609030804020204" charset="0"/>
                <a:cs typeface="SimSun" pitchFamily="2" charset="-122"/>
                <a:sym typeface="+mn-ea"/>
              </a:rPr>
              <a:t>;</a:t>
            </a:r>
            <a:endParaRPr lang="en-US"/>
          </a:p>
          <a:p>
            <a:pPr marL="0" indent="0" algn="l"/>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575945" y="408940"/>
            <a:ext cx="11148695" cy="3046095"/>
          </a:xfrm>
          <a:prstGeom prst="rect">
            <a:avLst/>
          </a:prstGeom>
          <a:noFill/>
          <a:ln w="9525">
            <a:noFill/>
          </a:ln>
        </p:spPr>
        <p:txBody>
          <a:bodyPr wrap="square">
            <a:spAutoFit/>
          </a:bodyPr>
          <a:p>
            <a:pPr marL="0" indent="0" algn="just"/>
            <a:r>
              <a:rPr lang="ru-RU" altLang="en-US" sz="2400" b="0">
                <a:latin typeface="Times New Roman" panose="02020603050405020304" charset="0"/>
              </a:rPr>
              <a:t>	</a:t>
            </a:r>
            <a:r>
              <a:rPr lang="en-US" sz="2400" b="0">
                <a:latin typeface="Times New Roman" panose="02020603050405020304" charset="0"/>
              </a:rPr>
              <a:t>Теперь, когда мы знаем как работать с функциями и циклами, давайте с помощью них создадим небольшой “пиксельный арт”. Пиксельная арт (или пиксельная графика) — это форма цифрового изображения, созданного на компьютере, где изображение редактируется на уровне пикселей.</a:t>
            </a:r>
            <a:endParaRPr lang="en-US" sz="2400" b="0">
              <a:latin typeface="Times New Roman" panose="02020603050405020304" charset="0"/>
            </a:endParaRPr>
          </a:p>
          <a:p>
            <a:pPr marL="0" indent="0" algn="just"/>
            <a:endParaRPr lang="en-US" sz="2400"/>
          </a:p>
          <a:p>
            <a:pPr marL="0" indent="0" algn="just"/>
            <a:r>
              <a:rPr lang="en-US" sz="2400"/>
              <a:t>现在我们知道如何使用函数和循环，让我们用它们来创建一个小的像素艺术。像素艺术（或像素图形）是在计算机上创建的数字图像的一种形式，图像在像素级别进行编辑。</a:t>
            </a:r>
            <a:endParaRPr lang="en-US" sz="2400"/>
          </a:p>
        </p:txBody>
      </p:sp>
      <p:pic>
        <p:nvPicPr>
          <p:cNvPr id="148" name="image32.png"/>
          <p:cNvPicPr preferRelativeResize="0"/>
          <p:nvPr/>
        </p:nvPicPr>
        <p:blipFill>
          <a:blip r:embed="rId1"/>
          <a:srcRect/>
          <a:stretch>
            <a:fillRect/>
          </a:stretch>
        </p:blipFill>
        <p:spPr>
          <a:xfrm>
            <a:off x="4074478" y="4574858"/>
            <a:ext cx="3171825" cy="2143125"/>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429250" y="1949450"/>
            <a:ext cx="6158230" cy="3784600"/>
          </a:xfrm>
          <a:prstGeom prst="rect">
            <a:avLst/>
          </a:prstGeom>
          <a:noFill/>
        </p:spPr>
        <p:txBody>
          <a:bodyPr wrap="square" rtlCol="0">
            <a:spAutoFit/>
          </a:bodyPr>
          <a:p>
            <a:pPr algn="just"/>
            <a:r>
              <a:rPr lang="ru-RU" altLang="en-US" sz="2400">
                <a:latin typeface="Times New Roman Regular" panose="02020603050405020304" charset="0"/>
                <a:cs typeface="Times New Roman Regular" panose="02020603050405020304" charset="0"/>
              </a:rPr>
              <a:t>	Сначала создадим функции для отрисовки наших “пикселей”. Так же будем использовать табличный тэги: </a:t>
            </a:r>
            <a:r>
              <a:rPr lang="en-US" altLang="ru-RU" sz="2400" i="1">
                <a:latin typeface="Times New Roman Italic" panose="02020603050405020304" charset="0"/>
                <a:cs typeface="Times New Roman Italic" panose="02020603050405020304" charset="0"/>
              </a:rPr>
              <a:t>table</a:t>
            </a:r>
            <a:r>
              <a:rPr lang="en-US" altLang="ru-RU" sz="2400">
                <a:latin typeface="Times New Roman Regular" panose="02020603050405020304" charset="0"/>
                <a:cs typeface="Times New Roman Regular" panose="02020603050405020304" charset="0"/>
              </a:rPr>
              <a:t>, </a:t>
            </a:r>
            <a:r>
              <a:rPr lang="en-US" altLang="ru-RU" sz="2400" i="1">
                <a:latin typeface="Times New Roman Italic" panose="02020603050405020304" charset="0"/>
                <a:cs typeface="Times New Roman Italic" panose="02020603050405020304" charset="0"/>
              </a:rPr>
              <a:t>tr</a:t>
            </a:r>
            <a:r>
              <a:rPr lang="ru-RU" altLang="en-US" sz="2400" i="1">
                <a:latin typeface="Times New Roman Italic" panose="02020603050405020304" charset="0"/>
                <a:cs typeface="Times New Roman Italic" panose="02020603050405020304" charset="0"/>
              </a:rPr>
              <a:t> </a:t>
            </a:r>
            <a:r>
              <a:rPr lang="ru-RU" altLang="en-US" sz="2400">
                <a:latin typeface="Times New Roman Regular" panose="02020603050405020304" charset="0"/>
                <a:cs typeface="Times New Roman Regular" panose="02020603050405020304" charset="0"/>
              </a:rPr>
              <a:t>и</a:t>
            </a:r>
            <a:r>
              <a:rPr lang="en-US" altLang="ru-RU" sz="2400">
                <a:latin typeface="Times New Roman Regular" panose="02020603050405020304" charset="0"/>
                <a:cs typeface="Times New Roman Regular" panose="02020603050405020304" charset="0"/>
              </a:rPr>
              <a:t> </a:t>
            </a:r>
            <a:r>
              <a:rPr lang="en-US" altLang="ru-RU" sz="2400" i="1">
                <a:latin typeface="Times New Roman Italic" panose="02020603050405020304" charset="0"/>
                <a:cs typeface="Times New Roman Italic" panose="02020603050405020304" charset="0"/>
              </a:rPr>
              <a:t>td</a:t>
            </a:r>
            <a:r>
              <a:rPr lang="ru-RU" altLang="en-US" sz="2400">
                <a:latin typeface="Times New Roman Regular" panose="02020603050405020304" charset="0"/>
                <a:cs typeface="Times New Roman Regular" panose="02020603050405020304" charset="0"/>
              </a:rPr>
              <a:t>.</a:t>
            </a:r>
            <a:endParaRPr lang="ru-RU" altLang="en-US" sz="2400">
              <a:latin typeface="Times New Roman Regular" panose="02020603050405020304" charset="0"/>
              <a:cs typeface="Times New Roman Regular" panose="02020603050405020304" charset="0"/>
            </a:endParaRPr>
          </a:p>
          <a:p>
            <a:pPr algn="just"/>
            <a:r>
              <a:rPr lang="ru-RU" altLang="en-US" sz="2400">
                <a:latin typeface="Times New Roman Regular" panose="02020603050405020304" charset="0"/>
                <a:cs typeface="Times New Roman Regular" panose="02020603050405020304" charset="0"/>
              </a:rPr>
              <a:t>首先，我们将创建用于绘制“像素”的函数。我们还将使用表标签：Table，TR和TD。</a:t>
            </a:r>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r>
              <a:rPr lang="ru-RU" altLang="en-US" sz="2400">
                <a:latin typeface="Times New Roman Regular" panose="02020603050405020304" charset="0"/>
                <a:cs typeface="Times New Roman Regular" panose="02020603050405020304" charset="0"/>
              </a:rPr>
              <a:t> </a:t>
            </a:r>
            <a:r>
              <a:rPr lang="ru-RU" altLang="en-US"/>
              <a:t>	</a:t>
            </a:r>
            <a:endParaRPr lang="ru-RU" altLang="en-US"/>
          </a:p>
        </p:txBody>
      </p:sp>
      <p:sp>
        <p:nvSpPr>
          <p:cNvPr id="6" name="Text Box 5"/>
          <p:cNvSpPr txBox="1"/>
          <p:nvPr/>
        </p:nvSpPr>
        <p:spPr>
          <a:xfrm>
            <a:off x="224155" y="333375"/>
            <a:ext cx="8010525" cy="5077460"/>
          </a:xfrm>
          <a:prstGeom prst="rect">
            <a:avLst/>
          </a:prstGeom>
          <a:noFill/>
          <a:ln w="9525">
            <a:noFill/>
          </a:ln>
        </p:spPr>
        <p:txBody>
          <a:bodyPr wrap="square">
            <a:spAutoFit/>
          </a:bodyPr>
          <a:p>
            <a:pPr marL="0" indent="0"/>
            <a:r>
              <a:rPr lang="en-US" b="0">
                <a:solidFill>
                  <a:srgbClr val="0000FF"/>
                </a:solidFill>
                <a:latin typeface="Consolas" panose="020B0609020204030204" charset="0"/>
              </a:rPr>
              <a:t>const</a:t>
            </a:r>
            <a:r>
              <a:rPr lang="en-US" b="0">
                <a:latin typeface="Consolas" panose="020B0609020204030204" charset="0"/>
              </a:rPr>
              <a:t> </a:t>
            </a:r>
            <a:r>
              <a:rPr lang="en-US" b="0">
                <a:solidFill>
                  <a:srgbClr val="0070C1"/>
                </a:solidFill>
                <a:latin typeface="Consolas" panose="020B0609020204030204" charset="0"/>
              </a:rPr>
              <a:t>size</a:t>
            </a:r>
            <a:r>
              <a:rPr lang="en-US" b="0">
                <a:latin typeface="Consolas" panose="020B0609020204030204" charset="0"/>
              </a:rPr>
              <a:t> = </a:t>
            </a:r>
            <a:r>
              <a:rPr lang="en-US" b="0">
                <a:solidFill>
                  <a:srgbClr val="098658"/>
                </a:solidFill>
                <a:latin typeface="Consolas" panose="020B0609020204030204" charset="0"/>
              </a:rPr>
              <a:t>10</a:t>
            </a:r>
            <a:r>
              <a:rPr lang="en-US" b="0">
                <a:latin typeface="Consolas" panose="020B0609020204030204" charset="0"/>
              </a:rPr>
              <a:t>; </a:t>
            </a:r>
            <a:r>
              <a:rPr lang="en-US" b="0">
                <a:solidFill>
                  <a:srgbClr val="0000FF"/>
                </a:solidFill>
                <a:latin typeface="Consolas" panose="020B0609020204030204" charset="0"/>
              </a:rPr>
              <a:t>function</a:t>
            </a:r>
            <a:r>
              <a:rPr lang="en-US" b="0">
                <a:latin typeface="Consolas" panose="020B0609020204030204" charset="0"/>
              </a:rPr>
              <a:t> </a:t>
            </a:r>
            <a:r>
              <a:rPr lang="en-US" b="0">
                <a:solidFill>
                  <a:srgbClr val="795E26"/>
                </a:solidFill>
                <a:latin typeface="Consolas" panose="020B0609020204030204" charset="0"/>
              </a:rPr>
              <a:t>print</a:t>
            </a:r>
            <a:r>
              <a:rPr lang="en-US" b="0">
                <a:latin typeface="Consolas" panose="020B0609020204030204" charset="0"/>
              </a:rPr>
              <a:t>(</a:t>
            </a:r>
            <a:r>
              <a:rPr lang="en-US" b="0">
                <a:solidFill>
                  <a:srgbClr val="001080"/>
                </a:solidFill>
                <a:latin typeface="Consolas" panose="020B0609020204030204" charset="0"/>
              </a:rPr>
              <a:t>color</a:t>
            </a:r>
            <a:r>
              <a:rPr lang="en-US" b="0">
                <a:latin typeface="Consolas" panose="020B0609020204030204" charset="0"/>
              </a:rPr>
              <a:t>) {  </a:t>
            </a:r>
            <a:r>
              <a:rPr lang="en-US" b="0">
                <a:solidFill>
                  <a:srgbClr val="0000FF"/>
                </a:solidFill>
                <a:latin typeface="Consolas" panose="020B0609020204030204" charset="0"/>
              </a:rPr>
              <a:t>let</a:t>
            </a:r>
            <a:r>
              <a:rPr lang="en-US" b="0">
                <a:latin typeface="Consolas" panose="020B0609020204030204" charset="0"/>
              </a:rPr>
              <a:t> </a:t>
            </a:r>
            <a:r>
              <a:rPr lang="en-US" b="0">
                <a:solidFill>
                  <a:srgbClr val="001080"/>
                </a:solidFill>
                <a:latin typeface="Consolas" panose="020B0609020204030204" charset="0"/>
              </a:rPr>
              <a:t>style</a:t>
            </a:r>
            <a:r>
              <a:rPr lang="en-US" b="0">
                <a:latin typeface="Consolas" panose="020B0609020204030204" charset="0"/>
              </a:rPr>
              <a:t> = </a:t>
            </a:r>
            <a:r>
              <a:rPr lang="en-US" b="0">
                <a:solidFill>
                  <a:srgbClr val="A31515"/>
                </a:solidFill>
                <a:latin typeface="Consolas" panose="020B0609020204030204" charset="0"/>
              </a:rPr>
              <a:t>`height: </a:t>
            </a:r>
            <a:r>
              <a:rPr lang="en-US" b="0">
                <a:solidFill>
                  <a:srgbClr val="0000FF"/>
                </a:solidFill>
                <a:latin typeface="Consolas" panose="020B0609020204030204" charset="0"/>
              </a:rPr>
              <a:t>${</a:t>
            </a:r>
            <a:r>
              <a:rPr lang="en-US" b="0">
                <a:solidFill>
                  <a:srgbClr val="0070C1"/>
                </a:solidFill>
                <a:latin typeface="Consolas" panose="020B0609020204030204" charset="0"/>
              </a:rPr>
              <a:t>size</a:t>
            </a:r>
            <a:r>
              <a:rPr lang="en-US" b="0">
                <a:solidFill>
                  <a:srgbClr val="0000FF"/>
                </a:solidFill>
                <a:latin typeface="Consolas" panose="020B0609020204030204" charset="0"/>
              </a:rPr>
              <a:t>}</a:t>
            </a:r>
            <a:r>
              <a:rPr lang="en-US" b="0">
                <a:solidFill>
                  <a:srgbClr val="A31515"/>
                </a:solidFill>
                <a:latin typeface="Consolas" panose="020B0609020204030204" charset="0"/>
              </a:rPr>
              <a:t>px;width: </a:t>
            </a:r>
            <a:r>
              <a:rPr lang="en-US" b="0">
                <a:solidFill>
                  <a:srgbClr val="0000FF"/>
                </a:solidFill>
                <a:latin typeface="Consolas" panose="020B0609020204030204" charset="0"/>
              </a:rPr>
              <a:t>${</a:t>
            </a:r>
            <a:r>
              <a:rPr lang="en-US" b="0">
                <a:solidFill>
                  <a:srgbClr val="0070C1"/>
                </a:solidFill>
                <a:latin typeface="Consolas" panose="020B0609020204030204" charset="0"/>
              </a:rPr>
              <a:t>size</a:t>
            </a:r>
            <a:r>
              <a:rPr lang="en-US" b="0">
                <a:solidFill>
                  <a:srgbClr val="0000FF"/>
                </a:solidFill>
                <a:latin typeface="Consolas" panose="020B0609020204030204" charset="0"/>
              </a:rPr>
              <a:t>}</a:t>
            </a:r>
            <a:r>
              <a:rPr lang="en-US" b="0">
                <a:solidFill>
                  <a:srgbClr val="A31515"/>
                </a:solidFill>
                <a:latin typeface="Consolas" panose="020B0609020204030204" charset="0"/>
              </a:rPr>
              <a:t>px; background: </a:t>
            </a:r>
            <a:r>
              <a:rPr lang="en-US" b="0">
                <a:solidFill>
                  <a:srgbClr val="0000FF"/>
                </a:solidFill>
                <a:latin typeface="Consolas" panose="020B0609020204030204" charset="0"/>
              </a:rPr>
              <a:t>${</a:t>
            </a:r>
            <a:r>
              <a:rPr lang="en-US" b="0">
                <a:solidFill>
                  <a:srgbClr val="001080"/>
                </a:solidFill>
                <a:latin typeface="Consolas" panose="020B0609020204030204" charset="0"/>
              </a:rPr>
              <a:t>color</a:t>
            </a:r>
            <a:r>
              <a:rPr lang="en-US" b="0">
                <a:solidFill>
                  <a:srgbClr val="0000FF"/>
                </a:solidFill>
                <a:latin typeface="Consolas" panose="020B0609020204030204" charset="0"/>
              </a:rPr>
              <a:t>}</a:t>
            </a:r>
            <a:r>
              <a:rPr lang="en-US" b="0">
                <a:solidFill>
                  <a:srgbClr val="A31515"/>
                </a:solidFill>
                <a:latin typeface="Consolas" panose="020B0609020204030204" charset="0"/>
              </a:rPr>
              <a:t>`</a:t>
            </a:r>
            <a:r>
              <a:rPr lang="en-US" b="0">
                <a:latin typeface="Consolas" panose="020B0609020204030204" charset="0"/>
              </a:rPr>
              <a:t>;  </a:t>
            </a:r>
            <a:r>
              <a:rPr lang="en-US" b="0">
                <a:solidFill>
                  <a:srgbClr val="001080"/>
                </a:solidFill>
                <a:latin typeface="Consolas" panose="020B0609020204030204" charset="0"/>
              </a:rPr>
              <a:t>document</a:t>
            </a:r>
            <a:r>
              <a:rPr lang="en-US" b="0">
                <a:latin typeface="Consolas" panose="020B0609020204030204" charset="0"/>
              </a:rPr>
              <a:t>.</a:t>
            </a:r>
            <a:r>
              <a:rPr lang="en-US" b="0">
                <a:solidFill>
                  <a:srgbClr val="795E26"/>
                </a:solidFill>
                <a:latin typeface="Consolas" panose="020B0609020204030204" charset="0"/>
              </a:rPr>
              <a:t>write</a:t>
            </a:r>
            <a:r>
              <a:rPr lang="en-US" b="0">
                <a:latin typeface="Consolas" panose="020B0609020204030204" charset="0"/>
              </a:rPr>
              <a:t>(</a:t>
            </a:r>
            <a:r>
              <a:rPr lang="en-US" b="0">
                <a:solidFill>
                  <a:srgbClr val="A31515"/>
                </a:solidFill>
                <a:latin typeface="Consolas" panose="020B0609020204030204" charset="0"/>
              </a:rPr>
              <a:t>`&lt;td style='</a:t>
            </a:r>
            <a:r>
              <a:rPr lang="en-US" b="0">
                <a:solidFill>
                  <a:srgbClr val="0000FF"/>
                </a:solidFill>
                <a:latin typeface="Consolas" panose="020B0609020204030204" charset="0"/>
              </a:rPr>
              <a:t>${</a:t>
            </a:r>
            <a:r>
              <a:rPr lang="en-US" b="0">
                <a:solidFill>
                  <a:srgbClr val="001080"/>
                </a:solidFill>
                <a:latin typeface="Consolas" panose="020B0609020204030204" charset="0"/>
              </a:rPr>
              <a:t>style</a:t>
            </a:r>
            <a:r>
              <a:rPr lang="en-US" b="0">
                <a:solidFill>
                  <a:srgbClr val="0000FF"/>
                </a:solidFill>
                <a:latin typeface="Consolas" panose="020B0609020204030204" charset="0"/>
              </a:rPr>
              <a:t>}</a:t>
            </a:r>
            <a:r>
              <a:rPr lang="en-US" b="0">
                <a:solidFill>
                  <a:srgbClr val="A31515"/>
                </a:solidFill>
                <a:latin typeface="Consolas" panose="020B0609020204030204" charset="0"/>
              </a:rPr>
              <a:t>'&gt;&lt;/td&gt;`</a:t>
            </a:r>
            <a:r>
              <a:rPr lang="en-US" b="0">
                <a:latin typeface="Consolas" panose="020B0609020204030204" charset="0"/>
              </a:rPr>
              <a:t>);} </a:t>
            </a:r>
            <a:r>
              <a:rPr lang="en-US" b="0">
                <a:solidFill>
                  <a:srgbClr val="0000FF"/>
                </a:solidFill>
                <a:latin typeface="Consolas" panose="020B0609020204030204" charset="0"/>
              </a:rPr>
              <a:t>function</a:t>
            </a:r>
            <a:r>
              <a:rPr lang="en-US" b="0">
                <a:latin typeface="Consolas" panose="020B0609020204030204" charset="0"/>
              </a:rPr>
              <a:t> </a:t>
            </a:r>
            <a:r>
              <a:rPr lang="en-US" b="0">
                <a:solidFill>
                  <a:srgbClr val="795E26"/>
                </a:solidFill>
                <a:latin typeface="Consolas" panose="020B0609020204030204" charset="0"/>
              </a:rPr>
              <a:t>blackPixel</a:t>
            </a:r>
            <a:r>
              <a:rPr lang="en-US" b="0">
                <a:latin typeface="Consolas" panose="020B0609020204030204" charset="0"/>
              </a:rPr>
              <a:t>() {  </a:t>
            </a:r>
            <a:r>
              <a:rPr lang="en-US" b="0">
                <a:solidFill>
                  <a:srgbClr val="795E26"/>
                </a:solidFill>
                <a:latin typeface="Consolas" panose="020B0609020204030204" charset="0"/>
              </a:rPr>
              <a:t>print</a:t>
            </a:r>
            <a:r>
              <a:rPr lang="en-US" b="0">
                <a:latin typeface="Consolas" panose="020B0609020204030204" charset="0"/>
              </a:rPr>
              <a:t>(</a:t>
            </a:r>
            <a:r>
              <a:rPr lang="en-US" b="0">
                <a:solidFill>
                  <a:srgbClr val="A31515"/>
                </a:solidFill>
                <a:latin typeface="Consolas" panose="020B0609020204030204" charset="0"/>
              </a:rPr>
              <a:t>'black'</a:t>
            </a:r>
            <a:r>
              <a:rPr lang="en-US" b="0">
                <a:latin typeface="Consolas" panose="020B0609020204030204" charset="0"/>
              </a:rPr>
              <a:t>);} </a:t>
            </a:r>
            <a:r>
              <a:rPr lang="en-US" b="0">
                <a:solidFill>
                  <a:srgbClr val="0000FF"/>
                </a:solidFill>
                <a:latin typeface="Consolas" panose="020B0609020204030204" charset="0"/>
              </a:rPr>
              <a:t>function</a:t>
            </a:r>
            <a:r>
              <a:rPr lang="en-US" b="0">
                <a:latin typeface="Consolas" panose="020B0609020204030204" charset="0"/>
              </a:rPr>
              <a:t> </a:t>
            </a:r>
            <a:r>
              <a:rPr lang="en-US" b="0">
                <a:solidFill>
                  <a:srgbClr val="795E26"/>
                </a:solidFill>
                <a:latin typeface="Consolas" panose="020B0609020204030204" charset="0"/>
              </a:rPr>
              <a:t>whitePixel</a:t>
            </a:r>
            <a:r>
              <a:rPr lang="en-US" b="0">
                <a:latin typeface="Consolas" panose="020B0609020204030204" charset="0"/>
              </a:rPr>
              <a:t>() {  </a:t>
            </a:r>
            <a:r>
              <a:rPr lang="en-US" b="0">
                <a:solidFill>
                  <a:srgbClr val="795E26"/>
                </a:solidFill>
                <a:latin typeface="Consolas" panose="020B0609020204030204" charset="0"/>
              </a:rPr>
              <a:t>print</a:t>
            </a:r>
            <a:r>
              <a:rPr lang="en-US" b="0">
                <a:latin typeface="Consolas" panose="020B0609020204030204" charset="0"/>
              </a:rPr>
              <a:t>(</a:t>
            </a:r>
            <a:r>
              <a:rPr lang="en-US" b="0">
                <a:solidFill>
                  <a:srgbClr val="A31515"/>
                </a:solidFill>
                <a:latin typeface="Consolas" panose="020B0609020204030204" charset="0"/>
              </a:rPr>
              <a:t>'white'</a:t>
            </a:r>
            <a:r>
              <a:rPr lang="en-US" b="0">
                <a:latin typeface="Consolas" panose="020B0609020204030204" charset="0"/>
              </a:rPr>
              <a:t>);} </a:t>
            </a:r>
            <a:r>
              <a:rPr lang="en-US" b="0">
                <a:solidFill>
                  <a:srgbClr val="0000FF"/>
                </a:solidFill>
                <a:latin typeface="Consolas" panose="020B0609020204030204" charset="0"/>
              </a:rPr>
              <a:t>function</a:t>
            </a:r>
            <a:r>
              <a:rPr lang="en-US" b="0">
                <a:latin typeface="Consolas" panose="020B0609020204030204" charset="0"/>
              </a:rPr>
              <a:t> </a:t>
            </a:r>
            <a:r>
              <a:rPr lang="en-US" b="0">
                <a:solidFill>
                  <a:srgbClr val="795E26"/>
                </a:solidFill>
                <a:latin typeface="Consolas" panose="020B0609020204030204" charset="0"/>
              </a:rPr>
              <a:t>pinkPixel</a:t>
            </a:r>
            <a:r>
              <a:rPr lang="en-US" b="0">
                <a:latin typeface="Consolas" panose="020B0609020204030204" charset="0"/>
              </a:rPr>
              <a:t>() {  </a:t>
            </a:r>
            <a:r>
              <a:rPr lang="en-US" b="0">
                <a:solidFill>
                  <a:srgbClr val="795E26"/>
                </a:solidFill>
                <a:latin typeface="Consolas" panose="020B0609020204030204" charset="0"/>
              </a:rPr>
              <a:t>print</a:t>
            </a:r>
            <a:r>
              <a:rPr lang="en-US" b="0">
                <a:latin typeface="Consolas" panose="020B0609020204030204" charset="0"/>
              </a:rPr>
              <a:t>(</a:t>
            </a:r>
            <a:r>
              <a:rPr lang="en-US" b="0">
                <a:solidFill>
                  <a:srgbClr val="A31515"/>
                </a:solidFill>
                <a:latin typeface="Consolas" panose="020B0609020204030204" charset="0"/>
              </a:rPr>
              <a:t>'pink'</a:t>
            </a:r>
            <a:r>
              <a:rPr lang="en-US" b="0">
                <a:latin typeface="Consolas" panose="020B0609020204030204" charset="0"/>
              </a:rPr>
              <a:t>);}</a:t>
            </a:r>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53390" y="1721485"/>
            <a:ext cx="4209415" cy="3415030"/>
          </a:xfrm>
          <a:prstGeom prst="rect">
            <a:avLst/>
          </a:prstGeom>
          <a:noFill/>
          <a:ln w="9525">
            <a:noFill/>
          </a:ln>
        </p:spPr>
        <p:txBody>
          <a:bodyPr wrap="square">
            <a:spAutoFit/>
          </a:bodyPr>
          <a:p>
            <a:pPr marL="0" indent="0"/>
            <a:r>
              <a:rPr lang="en-US" b="0">
                <a:solidFill>
                  <a:srgbClr val="001080"/>
                </a:solidFill>
                <a:latin typeface="Consolas" panose="020B0609020204030204" charset="0"/>
              </a:rPr>
              <a:t>document</a:t>
            </a:r>
            <a:r>
              <a:rPr lang="en-US" b="0">
                <a:latin typeface="Consolas" panose="020B0609020204030204" charset="0"/>
              </a:rPr>
              <a:t>.</a:t>
            </a:r>
            <a:r>
              <a:rPr lang="en-US" b="0">
                <a:solidFill>
                  <a:srgbClr val="795E26"/>
                </a:solidFill>
                <a:latin typeface="Consolas" panose="020B0609020204030204" charset="0"/>
              </a:rPr>
              <a:t>write</a:t>
            </a:r>
            <a:r>
              <a:rPr lang="en-US" b="0">
                <a:latin typeface="Consolas" panose="020B0609020204030204" charset="0"/>
              </a:rPr>
              <a:t>(</a:t>
            </a:r>
            <a:r>
              <a:rPr lang="en-US" b="0">
                <a:solidFill>
                  <a:srgbClr val="A31515"/>
                </a:solidFill>
                <a:latin typeface="Consolas" panose="020B0609020204030204" charset="0"/>
              </a:rPr>
              <a:t>"&lt;table&gt;"</a:t>
            </a:r>
            <a:r>
              <a:rPr lang="en-US" b="0">
                <a:latin typeface="Consolas" panose="020B0609020204030204" charset="0"/>
              </a:rPr>
              <a:t>); </a:t>
            </a:r>
            <a:r>
              <a:rPr lang="en-US" b="0">
                <a:solidFill>
                  <a:srgbClr val="AF00DB"/>
                </a:solidFill>
                <a:latin typeface="Consolas" panose="020B0609020204030204" charset="0"/>
              </a:rPr>
              <a:t>for</a:t>
            </a:r>
            <a:r>
              <a:rPr lang="en-US" b="0">
                <a:latin typeface="Consolas" panose="020B0609020204030204" charset="0"/>
              </a:rPr>
              <a:t> (</a:t>
            </a:r>
            <a:r>
              <a:rPr lang="en-US" b="0">
                <a:solidFill>
                  <a:srgbClr val="0000FF"/>
                </a:solidFill>
                <a:latin typeface="Consolas" panose="020B0609020204030204" charset="0"/>
              </a:rPr>
              <a:t>let</a:t>
            </a:r>
            <a:r>
              <a:rPr lang="en-US" b="0">
                <a:latin typeface="Consolas" panose="020B0609020204030204" charset="0"/>
              </a:rPr>
              <a:t> </a:t>
            </a:r>
            <a:r>
              <a:rPr lang="en-US" b="0">
                <a:solidFill>
                  <a:srgbClr val="001080"/>
                </a:solidFill>
                <a:latin typeface="Consolas" panose="020B0609020204030204" charset="0"/>
              </a:rPr>
              <a:t>i</a:t>
            </a:r>
            <a:r>
              <a:rPr lang="en-US" b="0">
                <a:latin typeface="Consolas" panose="020B0609020204030204" charset="0"/>
              </a:rPr>
              <a:t> = </a:t>
            </a:r>
            <a:r>
              <a:rPr lang="en-US" b="0">
                <a:solidFill>
                  <a:srgbClr val="098658"/>
                </a:solidFill>
                <a:latin typeface="Consolas" panose="020B0609020204030204" charset="0"/>
              </a:rPr>
              <a:t>1</a:t>
            </a:r>
            <a:r>
              <a:rPr lang="en-US" b="0">
                <a:latin typeface="Consolas" panose="020B0609020204030204" charset="0"/>
              </a:rPr>
              <a:t>; </a:t>
            </a:r>
            <a:r>
              <a:rPr lang="en-US" b="0">
                <a:solidFill>
                  <a:srgbClr val="001080"/>
                </a:solidFill>
                <a:latin typeface="Consolas" panose="020B0609020204030204" charset="0"/>
              </a:rPr>
              <a:t>i</a:t>
            </a:r>
            <a:r>
              <a:rPr lang="en-US" b="0">
                <a:latin typeface="Consolas" panose="020B0609020204030204" charset="0"/>
              </a:rPr>
              <a:t> &lt;= </a:t>
            </a:r>
            <a:r>
              <a:rPr lang="en-US" b="0">
                <a:solidFill>
                  <a:srgbClr val="098658"/>
                </a:solidFill>
                <a:latin typeface="Consolas" panose="020B0609020204030204" charset="0"/>
              </a:rPr>
              <a:t>15</a:t>
            </a:r>
            <a:r>
              <a:rPr lang="en-US" b="0">
                <a:latin typeface="Consolas" panose="020B0609020204030204" charset="0"/>
              </a:rPr>
              <a:t>; </a:t>
            </a:r>
            <a:r>
              <a:rPr lang="en-US" b="0">
                <a:solidFill>
                  <a:srgbClr val="001080"/>
                </a:solidFill>
                <a:latin typeface="Consolas" panose="020B0609020204030204" charset="0"/>
              </a:rPr>
              <a:t>i</a:t>
            </a:r>
            <a:r>
              <a:rPr lang="en-US" b="0">
                <a:latin typeface="Consolas" panose="020B0609020204030204" charset="0"/>
              </a:rPr>
              <a:t>++) {  </a:t>
            </a:r>
            <a:r>
              <a:rPr lang="en-US" b="0">
                <a:solidFill>
                  <a:srgbClr val="001080"/>
                </a:solidFill>
                <a:latin typeface="Consolas" panose="020B0609020204030204" charset="0"/>
              </a:rPr>
              <a:t>document</a:t>
            </a:r>
            <a:r>
              <a:rPr lang="en-US" b="0">
                <a:latin typeface="Consolas" panose="020B0609020204030204" charset="0"/>
              </a:rPr>
              <a:t>.</a:t>
            </a:r>
            <a:r>
              <a:rPr lang="en-US" b="0">
                <a:solidFill>
                  <a:srgbClr val="795E26"/>
                </a:solidFill>
                <a:latin typeface="Consolas" panose="020B0609020204030204" charset="0"/>
              </a:rPr>
              <a:t>write</a:t>
            </a:r>
            <a:r>
              <a:rPr lang="en-US" b="0">
                <a:latin typeface="Consolas" panose="020B0609020204030204" charset="0"/>
              </a:rPr>
              <a:t>(</a:t>
            </a:r>
            <a:r>
              <a:rPr lang="en-US" b="0">
                <a:solidFill>
                  <a:srgbClr val="A31515"/>
                </a:solidFill>
                <a:latin typeface="Consolas" panose="020B0609020204030204" charset="0"/>
              </a:rPr>
              <a:t>"&lt;tr&gt;"</a:t>
            </a:r>
            <a:r>
              <a:rPr lang="en-US" b="0">
                <a:latin typeface="Consolas" panose="020B0609020204030204" charset="0"/>
              </a:rPr>
              <a:t>);  </a:t>
            </a:r>
            <a:r>
              <a:rPr lang="en-US" b="0">
                <a:solidFill>
                  <a:srgbClr val="AF00DB"/>
                </a:solidFill>
                <a:latin typeface="Consolas" panose="020B0609020204030204" charset="0"/>
              </a:rPr>
              <a:t>for</a:t>
            </a:r>
            <a:r>
              <a:rPr lang="en-US" b="0">
                <a:latin typeface="Consolas" panose="020B0609020204030204" charset="0"/>
              </a:rPr>
              <a:t> (</a:t>
            </a:r>
            <a:r>
              <a:rPr lang="en-US" b="0">
                <a:solidFill>
                  <a:srgbClr val="0000FF"/>
                </a:solidFill>
                <a:latin typeface="Consolas" panose="020B0609020204030204" charset="0"/>
              </a:rPr>
              <a:t>let</a:t>
            </a:r>
            <a:r>
              <a:rPr lang="en-US" b="0">
                <a:latin typeface="Consolas" panose="020B0609020204030204" charset="0"/>
              </a:rPr>
              <a:t> </a:t>
            </a:r>
            <a:r>
              <a:rPr lang="en-US" b="0">
                <a:solidFill>
                  <a:srgbClr val="001080"/>
                </a:solidFill>
                <a:latin typeface="Consolas" panose="020B0609020204030204" charset="0"/>
              </a:rPr>
              <a:t>j</a:t>
            </a:r>
            <a:r>
              <a:rPr lang="en-US" b="0">
                <a:latin typeface="Consolas" panose="020B0609020204030204" charset="0"/>
              </a:rPr>
              <a:t> = </a:t>
            </a:r>
            <a:r>
              <a:rPr lang="en-US" b="0">
                <a:solidFill>
                  <a:srgbClr val="098658"/>
                </a:solidFill>
                <a:latin typeface="Consolas" panose="020B0609020204030204" charset="0"/>
              </a:rPr>
              <a:t>1</a:t>
            </a:r>
            <a:r>
              <a:rPr lang="en-US" b="0">
                <a:latin typeface="Consolas" panose="020B0609020204030204" charset="0"/>
              </a:rPr>
              <a:t>; </a:t>
            </a:r>
            <a:r>
              <a:rPr lang="en-US" b="0">
                <a:solidFill>
                  <a:srgbClr val="001080"/>
                </a:solidFill>
                <a:latin typeface="Consolas" panose="020B0609020204030204" charset="0"/>
              </a:rPr>
              <a:t>j</a:t>
            </a:r>
            <a:r>
              <a:rPr lang="en-US" b="0">
                <a:latin typeface="Consolas" panose="020B0609020204030204" charset="0"/>
              </a:rPr>
              <a:t> &lt;= </a:t>
            </a:r>
            <a:r>
              <a:rPr lang="en-US" b="0">
                <a:solidFill>
                  <a:srgbClr val="098658"/>
                </a:solidFill>
                <a:latin typeface="Consolas" panose="020B0609020204030204" charset="0"/>
              </a:rPr>
              <a:t>23</a:t>
            </a:r>
            <a:r>
              <a:rPr lang="en-US" b="0">
                <a:latin typeface="Consolas" panose="020B0609020204030204" charset="0"/>
              </a:rPr>
              <a:t>; </a:t>
            </a:r>
            <a:r>
              <a:rPr lang="en-US" b="0">
                <a:solidFill>
                  <a:srgbClr val="001080"/>
                </a:solidFill>
                <a:latin typeface="Consolas" panose="020B0609020204030204" charset="0"/>
              </a:rPr>
              <a:t>j</a:t>
            </a:r>
            <a:r>
              <a:rPr lang="en-US" b="0">
                <a:latin typeface="Consolas" panose="020B0609020204030204" charset="0"/>
              </a:rPr>
              <a:t>++) {</a:t>
            </a:r>
            <a:endParaRPr lang="en-US" b="0">
              <a:latin typeface="Consolas" panose="020B0609020204030204" charset="0"/>
            </a:endParaRPr>
          </a:p>
          <a:p>
            <a:pPr marL="0" indent="0"/>
            <a:r>
              <a:rPr lang="en-US" b="0">
                <a:latin typeface="Consolas" panose="020B0609020204030204" charset="0"/>
              </a:rPr>
              <a:t>      // TODO   }    </a:t>
            </a:r>
            <a:r>
              <a:rPr lang="en-US" b="0">
                <a:solidFill>
                  <a:srgbClr val="001080"/>
                </a:solidFill>
                <a:latin typeface="Consolas" panose="020B0609020204030204" charset="0"/>
              </a:rPr>
              <a:t>document</a:t>
            </a:r>
            <a:r>
              <a:rPr lang="en-US" b="0">
                <a:latin typeface="Consolas" panose="020B0609020204030204" charset="0"/>
              </a:rPr>
              <a:t>.</a:t>
            </a:r>
            <a:r>
              <a:rPr lang="en-US" b="0">
                <a:solidFill>
                  <a:srgbClr val="795E26"/>
                </a:solidFill>
                <a:latin typeface="Consolas" panose="020B0609020204030204" charset="0"/>
              </a:rPr>
              <a:t>write</a:t>
            </a:r>
            <a:r>
              <a:rPr lang="en-US" b="0">
                <a:latin typeface="Consolas" panose="020B0609020204030204" charset="0"/>
              </a:rPr>
              <a:t>(</a:t>
            </a:r>
            <a:r>
              <a:rPr lang="en-US" b="0">
                <a:solidFill>
                  <a:srgbClr val="A31515"/>
                </a:solidFill>
                <a:latin typeface="Consolas" panose="020B0609020204030204" charset="0"/>
              </a:rPr>
              <a:t>"&lt;/tr&gt;"</a:t>
            </a:r>
            <a:r>
              <a:rPr lang="en-US" b="0">
                <a:latin typeface="Consolas" panose="020B0609020204030204" charset="0"/>
              </a:rPr>
              <a:t>);}  </a:t>
            </a:r>
            <a:r>
              <a:rPr lang="en-US" b="0">
                <a:solidFill>
                  <a:srgbClr val="001080"/>
                </a:solidFill>
                <a:latin typeface="Consolas" panose="020B0609020204030204" charset="0"/>
              </a:rPr>
              <a:t>document</a:t>
            </a:r>
            <a:r>
              <a:rPr lang="en-US" b="0">
                <a:latin typeface="Consolas" panose="020B0609020204030204" charset="0"/>
              </a:rPr>
              <a:t>.</a:t>
            </a:r>
            <a:r>
              <a:rPr lang="en-US" b="0">
                <a:solidFill>
                  <a:srgbClr val="795E26"/>
                </a:solidFill>
                <a:latin typeface="Consolas" panose="020B0609020204030204" charset="0"/>
              </a:rPr>
              <a:t>write</a:t>
            </a:r>
            <a:r>
              <a:rPr lang="en-US" b="0">
                <a:latin typeface="Consolas" panose="020B0609020204030204" charset="0"/>
              </a:rPr>
              <a:t>(</a:t>
            </a:r>
            <a:r>
              <a:rPr lang="en-US" b="0">
                <a:solidFill>
                  <a:srgbClr val="A31515"/>
                </a:solidFill>
                <a:latin typeface="Consolas" panose="020B0609020204030204" charset="0"/>
              </a:rPr>
              <a:t>"&lt;/table&gt;"</a:t>
            </a:r>
            <a:r>
              <a:rPr lang="en-US" b="0">
                <a:latin typeface="Consolas" panose="020B0609020204030204" charset="0"/>
              </a:rPr>
              <a:t>);</a:t>
            </a:r>
            <a:endParaRPr lang="en-US"/>
          </a:p>
        </p:txBody>
      </p:sp>
      <p:sp>
        <p:nvSpPr>
          <p:cNvPr id="5" name="Text Box 4"/>
          <p:cNvSpPr txBox="1"/>
          <p:nvPr/>
        </p:nvSpPr>
        <p:spPr>
          <a:xfrm>
            <a:off x="5429250" y="1721485"/>
            <a:ext cx="6158230" cy="2676525"/>
          </a:xfrm>
          <a:prstGeom prst="rect">
            <a:avLst/>
          </a:prstGeom>
          <a:noFill/>
        </p:spPr>
        <p:txBody>
          <a:bodyPr wrap="square" rtlCol="0">
            <a:spAutoFit/>
          </a:bodyPr>
          <a:p>
            <a:pPr algn="just"/>
            <a:r>
              <a:rPr lang="ru-RU" altLang="en-US" sz="2400">
                <a:latin typeface="Times New Roman Regular" panose="02020603050405020304" charset="0"/>
                <a:cs typeface="Times New Roman Regular" panose="02020603050405020304" charset="0"/>
              </a:rPr>
              <a:t>	Зададим основу скрипта: объявим циклы и создадим каркас таблицы.</a:t>
            </a:r>
            <a:endParaRPr lang="ru-RU" altLang="en-US" sz="2400">
              <a:latin typeface="Times New Roman Regular" panose="02020603050405020304" charset="0"/>
              <a:cs typeface="Times New Roman Regular" panose="02020603050405020304" charset="0"/>
            </a:endParaRPr>
          </a:p>
          <a:p>
            <a:pPr algn="just"/>
            <a:r>
              <a:rPr lang="ru-RU" altLang="en-US" sz="2400">
                <a:latin typeface="Times New Roman Regular" panose="02020603050405020304" charset="0"/>
                <a:cs typeface="Times New Roman Regular" panose="02020603050405020304" charset="0"/>
              </a:rPr>
              <a:t>让我们定义脚本的基础：宣布循环并创建表框架。</a:t>
            </a:r>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r>
              <a:rPr lang="ru-RU" altLang="en-US" sz="2400">
                <a:latin typeface="Times New Roman Regular" panose="02020603050405020304" charset="0"/>
                <a:cs typeface="Times New Roman Regular" panose="02020603050405020304" charset="0"/>
              </a:rPr>
              <a:t> </a:t>
            </a:r>
            <a:r>
              <a:rPr lang="ru-RU" altLang="en-US"/>
              <a:t>	</a:t>
            </a:r>
            <a:endParaRPr lang="ru-RU"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97485" y="197485"/>
            <a:ext cx="6517640" cy="6462395"/>
          </a:xfrm>
          <a:prstGeom prst="rect">
            <a:avLst/>
          </a:prstGeom>
          <a:noFill/>
        </p:spPr>
        <p:txBody>
          <a:bodyPr wrap="none" rtlCol="0" anchor="t">
            <a:spAutoFit/>
          </a:bodyPr>
          <a:p>
            <a:r>
              <a:rPr lang="en-US">
                <a:solidFill>
                  <a:srgbClr val="AF00DB"/>
                </a:solidFill>
                <a:latin typeface="Consolas" panose="020B0609020204030204" charset="0"/>
                <a:sym typeface="+mn-ea"/>
              </a:rPr>
              <a:t>if</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1</a:t>
            </a:r>
            <a:r>
              <a:rPr lang="en-US">
                <a:latin typeface="Consolas" panose="020B0609020204030204" charset="0"/>
                <a:sym typeface="+mn-ea"/>
              </a:rPr>
              <a:t> &amp;&amp; ((</a:t>
            </a:r>
            <a:r>
              <a:rPr lang="en-US">
                <a:solidFill>
                  <a:srgbClr val="001080"/>
                </a:solidFill>
                <a:latin typeface="Consolas" panose="020B0609020204030204" charset="0"/>
                <a:sym typeface="+mn-ea"/>
              </a:rPr>
              <a:t>j</a:t>
            </a:r>
            <a:r>
              <a:rPr lang="en-US">
                <a:latin typeface="Consolas" panose="020B0609020204030204" charset="0"/>
                <a:sym typeface="+mn-ea"/>
              </a:rPr>
              <a:t> &gt;= </a:t>
            </a:r>
            <a:r>
              <a:rPr lang="en-US">
                <a:solidFill>
                  <a:srgbClr val="098658"/>
                </a:solidFill>
                <a:latin typeface="Consolas" panose="020B0609020204030204" charset="0"/>
                <a:sym typeface="+mn-ea"/>
              </a:rPr>
              <a:t>5</a:t>
            </a:r>
            <a:r>
              <a:rPr lang="en-US">
                <a:latin typeface="Consolas" panose="020B0609020204030204" charset="0"/>
                <a:sym typeface="+mn-ea"/>
              </a:rPr>
              <a:t> &amp;&amp; </a:t>
            </a:r>
            <a:r>
              <a:rPr lang="en-US">
                <a:solidFill>
                  <a:srgbClr val="001080"/>
                </a:solidFill>
                <a:latin typeface="Consolas" panose="020B0609020204030204" charset="0"/>
                <a:sym typeface="+mn-ea"/>
              </a:rPr>
              <a:t>j</a:t>
            </a:r>
            <a:r>
              <a:rPr lang="en-US">
                <a:latin typeface="Consolas" panose="020B0609020204030204" charset="0"/>
                <a:sym typeface="+mn-ea"/>
              </a:rPr>
              <a:t> &lt;= </a:t>
            </a:r>
            <a:r>
              <a:rPr lang="en-US">
                <a:solidFill>
                  <a:srgbClr val="098658"/>
                </a:solidFill>
                <a:latin typeface="Consolas" panose="020B0609020204030204" charset="0"/>
                <a:sym typeface="+mn-ea"/>
              </a:rPr>
              <a:t>6</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&gt;= </a:t>
            </a:r>
            <a:r>
              <a:rPr lang="en-US">
                <a:solidFill>
                  <a:srgbClr val="098658"/>
                </a:solidFill>
                <a:latin typeface="Consolas" panose="020B0609020204030204" charset="0"/>
                <a:sym typeface="+mn-ea"/>
              </a:rPr>
              <a:t>18</a:t>
            </a:r>
            <a:r>
              <a:rPr lang="en-US">
                <a:latin typeface="Consolas" panose="020B0609020204030204" charset="0"/>
                <a:sym typeface="+mn-ea"/>
              </a:rPr>
              <a:t> &amp;&amp; </a:t>
            </a:r>
            <a:r>
              <a:rPr lang="en-US">
                <a:solidFill>
                  <a:srgbClr val="001080"/>
                </a:solidFill>
                <a:latin typeface="Consolas" panose="020B0609020204030204" charset="0"/>
                <a:sym typeface="+mn-ea"/>
              </a:rPr>
              <a:t>j</a:t>
            </a:r>
            <a:r>
              <a:rPr lang="en-US">
                <a:latin typeface="Consolas" panose="020B0609020204030204" charset="0"/>
                <a:sym typeface="+mn-ea"/>
              </a:rPr>
              <a:t> &lt;= </a:t>
            </a:r>
            <a:r>
              <a:rPr lang="en-US">
                <a:solidFill>
                  <a:srgbClr val="098658"/>
                </a:solidFill>
                <a:latin typeface="Consolas" panose="020B0609020204030204" charset="0"/>
                <a:sym typeface="+mn-ea"/>
              </a:rPr>
              <a:t>19</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2</a:t>
            </a:r>
            <a:r>
              <a:rPr lang="en-US">
                <a:latin typeface="Consolas" panose="020B0609020204030204" charset="0"/>
                <a:sym typeface="+mn-ea"/>
              </a:rPr>
              <a:t> &amp;&amp;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4</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7</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17</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20</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3</a:t>
            </a:r>
            <a:r>
              <a:rPr lang="en-US">
                <a:latin typeface="Consolas" panose="020B0609020204030204" charset="0"/>
                <a:sym typeface="+mn-ea"/>
              </a:rPr>
              <a:t> &amp;&amp;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4</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7</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17</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20</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4</a:t>
            </a:r>
            <a:r>
              <a:rPr lang="en-US">
                <a:latin typeface="Consolas" panose="020B0609020204030204" charset="0"/>
                <a:sym typeface="+mn-ea"/>
              </a:rPr>
              <a:t> &amp;&amp;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3</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&gt;= </a:t>
            </a:r>
            <a:r>
              <a:rPr lang="en-US">
                <a:solidFill>
                  <a:srgbClr val="098658"/>
                </a:solidFill>
                <a:latin typeface="Consolas" panose="020B0609020204030204" charset="0"/>
                <a:sym typeface="+mn-ea"/>
              </a:rPr>
              <a:t>8</a:t>
            </a:r>
            <a:r>
              <a:rPr lang="en-US">
                <a:latin typeface="Consolas" panose="020B0609020204030204" charset="0"/>
                <a:sym typeface="+mn-ea"/>
              </a:rPr>
              <a:t> &amp;&amp; </a:t>
            </a:r>
            <a:r>
              <a:rPr lang="en-US">
                <a:solidFill>
                  <a:srgbClr val="001080"/>
                </a:solidFill>
                <a:latin typeface="Consolas" panose="020B0609020204030204" charset="0"/>
                <a:sym typeface="+mn-ea"/>
              </a:rPr>
              <a:t>j</a:t>
            </a:r>
            <a:r>
              <a:rPr lang="en-US">
                <a:latin typeface="Consolas" panose="020B0609020204030204" charset="0"/>
                <a:sym typeface="+mn-ea"/>
              </a:rPr>
              <a:t> &lt;= </a:t>
            </a:r>
            <a:r>
              <a:rPr lang="en-US">
                <a:solidFill>
                  <a:srgbClr val="098658"/>
                </a:solidFill>
                <a:latin typeface="Consolas" panose="020B0609020204030204" charset="0"/>
                <a:sym typeface="+mn-ea"/>
              </a:rPr>
              <a:t>16</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21</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5</a:t>
            </a:r>
            <a:r>
              <a:rPr lang="en-US">
                <a:latin typeface="Consolas" panose="020B0609020204030204" charset="0"/>
                <a:sym typeface="+mn-ea"/>
              </a:rPr>
              <a:t> &amp;&amp;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3</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21</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6</a:t>
            </a:r>
            <a:r>
              <a:rPr lang="en-US">
                <a:latin typeface="Consolas" panose="020B0609020204030204" charset="0"/>
                <a:sym typeface="+mn-ea"/>
              </a:rPr>
              <a:t> &amp;&amp;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2</a:t>
            </a:r>
            <a:r>
              <a:rPr lang="en-US">
                <a:latin typeface="Consolas" panose="020B0609020204030204" charset="0"/>
                <a:sym typeface="+mn-ea"/>
              </a:rPr>
              <a:t> || </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22</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7</a:t>
            </a:r>
            <a:r>
              <a:rPr lang="en-US">
                <a:latin typeface="Consolas" panose="020B0609020204030204" charset="0"/>
                <a:sym typeface="+mn-ea"/>
              </a:rPr>
              <a:t> &amp;&amp; ([</a:t>
            </a:r>
            <a:r>
              <a:rPr lang="en-US">
                <a:solidFill>
                  <a:srgbClr val="098658"/>
                </a:solidFill>
                <a:latin typeface="Consolas" panose="020B0609020204030204" charset="0"/>
                <a:sym typeface="+mn-ea"/>
              </a:rPr>
              <a:t>2</a:t>
            </a:r>
            <a:r>
              <a:rPr lang="en-US">
                <a:latin typeface="Consolas" panose="020B0609020204030204" charset="0"/>
                <a:sym typeface="+mn-ea"/>
              </a:rPr>
              <a:t>, </a:t>
            </a:r>
            <a:r>
              <a:rPr lang="en-US">
                <a:solidFill>
                  <a:srgbClr val="098658"/>
                </a:solidFill>
                <a:latin typeface="Consolas" panose="020B0609020204030204" charset="0"/>
                <a:sym typeface="+mn-ea"/>
              </a:rPr>
              <a:t>22</a:t>
            </a:r>
            <a:r>
              <a:rPr lang="en-US">
                <a:latin typeface="Consolas" panose="020B0609020204030204" charset="0"/>
                <a:sym typeface="+mn-ea"/>
              </a:rPr>
              <a:t>, </a:t>
            </a:r>
            <a:r>
              <a:rPr lang="en-US">
                <a:solidFill>
                  <a:srgbClr val="098658"/>
                </a:solidFill>
                <a:latin typeface="Consolas" panose="020B0609020204030204" charset="0"/>
                <a:sym typeface="+mn-ea"/>
              </a:rPr>
              <a:t>4</a:t>
            </a:r>
            <a:r>
              <a:rPr lang="en-US">
                <a:latin typeface="Consolas" panose="020B0609020204030204" charset="0"/>
                <a:sym typeface="+mn-ea"/>
              </a:rPr>
              <a:t>, </a:t>
            </a:r>
            <a:r>
              <a:rPr lang="en-US">
                <a:solidFill>
                  <a:srgbClr val="098658"/>
                </a:solidFill>
                <a:latin typeface="Consolas" panose="020B0609020204030204" charset="0"/>
                <a:sym typeface="+mn-ea"/>
              </a:rPr>
              <a:t>7</a:t>
            </a:r>
            <a:r>
              <a:rPr lang="en-US">
                <a:latin typeface="Consolas" panose="020B0609020204030204" charset="0"/>
                <a:sym typeface="+mn-ea"/>
              </a:rPr>
              <a:t>, </a:t>
            </a:r>
            <a:r>
              <a:rPr lang="en-US">
                <a:solidFill>
                  <a:srgbClr val="098658"/>
                </a:solidFill>
                <a:latin typeface="Consolas" panose="020B0609020204030204" charset="0"/>
                <a:sym typeface="+mn-ea"/>
              </a:rPr>
              <a:t>8</a:t>
            </a:r>
            <a:r>
              <a:rPr lang="en-US">
                <a:latin typeface="Consolas" panose="020B0609020204030204" charset="0"/>
                <a:sym typeface="+mn-ea"/>
              </a:rPr>
              <a:t>, </a:t>
            </a:r>
            <a:r>
              <a:rPr lang="en-US">
                <a:solidFill>
                  <a:srgbClr val="098658"/>
                </a:solidFill>
                <a:latin typeface="Consolas" panose="020B0609020204030204" charset="0"/>
                <a:sym typeface="+mn-ea"/>
              </a:rPr>
              <a:t>16</a:t>
            </a:r>
            <a:r>
              <a:rPr lang="en-US">
                <a:latin typeface="Consolas" panose="020B0609020204030204" charset="0"/>
                <a:sym typeface="+mn-ea"/>
              </a:rPr>
              <a:t>, </a:t>
            </a:r>
            <a:r>
              <a:rPr lang="en-US">
                <a:solidFill>
                  <a:srgbClr val="098658"/>
                </a:solidFill>
                <a:latin typeface="Consolas" panose="020B0609020204030204" charset="0"/>
                <a:sym typeface="+mn-ea"/>
              </a:rPr>
              <a:t>17</a:t>
            </a:r>
            <a:r>
              <a:rPr lang="en-US">
                <a:latin typeface="Consolas" panose="020B0609020204030204" charset="0"/>
                <a:sym typeface="+mn-ea"/>
              </a:rPr>
              <a:t>, </a:t>
            </a:r>
            <a:r>
              <a:rPr lang="en-US">
                <a:solidFill>
                  <a:srgbClr val="098658"/>
                </a:solidFill>
                <a:latin typeface="Consolas" panose="020B0609020204030204" charset="0"/>
                <a:sym typeface="+mn-ea"/>
              </a:rPr>
              <a:t>20</a:t>
            </a:r>
            <a:r>
              <a:rPr lang="en-US">
                <a:latin typeface="Consolas" panose="020B0609020204030204" charset="0"/>
                <a:sym typeface="+mn-ea"/>
              </a:rPr>
              <a:t>].</a:t>
            </a:r>
            <a:r>
              <a:rPr lang="en-US">
                <a:solidFill>
                  <a:srgbClr val="795E26"/>
                </a:solidFill>
                <a:latin typeface="Consolas" panose="020B0609020204030204" charset="0"/>
                <a:sym typeface="+mn-ea"/>
              </a:rPr>
              <a:t>includes</a:t>
            </a:r>
            <a:r>
              <a:rPr lang="en-US">
                <a:latin typeface="Consolas" panose="020B0609020204030204" charset="0"/>
                <a:sym typeface="+mn-ea"/>
              </a:rPr>
              <a:t>(</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8</a:t>
            </a:r>
            <a:r>
              <a:rPr lang="en-US">
                <a:latin typeface="Consolas" panose="020B0609020204030204" charset="0"/>
                <a:sym typeface="+mn-ea"/>
              </a:rPr>
              <a:t> &amp;&amp; ([</a:t>
            </a:r>
            <a:r>
              <a:rPr lang="en-US">
                <a:solidFill>
                  <a:srgbClr val="098658"/>
                </a:solidFill>
                <a:latin typeface="Consolas" panose="020B0609020204030204" charset="0"/>
                <a:sym typeface="+mn-ea"/>
              </a:rPr>
              <a:t>2</a:t>
            </a:r>
            <a:r>
              <a:rPr lang="en-US">
                <a:latin typeface="Consolas" panose="020B0609020204030204" charset="0"/>
                <a:sym typeface="+mn-ea"/>
              </a:rPr>
              <a:t>, </a:t>
            </a:r>
            <a:r>
              <a:rPr lang="en-US">
                <a:solidFill>
                  <a:srgbClr val="098658"/>
                </a:solidFill>
                <a:latin typeface="Consolas" panose="020B0609020204030204" charset="0"/>
                <a:sym typeface="+mn-ea"/>
              </a:rPr>
              <a:t>22</a:t>
            </a:r>
            <a:r>
              <a:rPr lang="en-US">
                <a:latin typeface="Consolas" panose="020B0609020204030204" charset="0"/>
                <a:sym typeface="+mn-ea"/>
              </a:rPr>
              <a:t>, </a:t>
            </a:r>
            <a:r>
              <a:rPr lang="en-US">
                <a:solidFill>
                  <a:srgbClr val="098658"/>
                </a:solidFill>
                <a:latin typeface="Consolas" panose="020B0609020204030204" charset="0"/>
                <a:sym typeface="+mn-ea"/>
              </a:rPr>
              <a:t>5</a:t>
            </a:r>
            <a:r>
              <a:rPr lang="en-US">
                <a:latin typeface="Consolas" panose="020B0609020204030204" charset="0"/>
                <a:sym typeface="+mn-ea"/>
              </a:rPr>
              <a:t>, </a:t>
            </a:r>
            <a:r>
              <a:rPr lang="en-US">
                <a:solidFill>
                  <a:srgbClr val="098658"/>
                </a:solidFill>
                <a:latin typeface="Consolas" panose="020B0609020204030204" charset="0"/>
                <a:sym typeface="+mn-ea"/>
              </a:rPr>
              <a:t>7</a:t>
            </a:r>
            <a:r>
              <a:rPr lang="en-US">
                <a:latin typeface="Consolas" panose="020B0609020204030204" charset="0"/>
                <a:sym typeface="+mn-ea"/>
              </a:rPr>
              <a:t>, </a:t>
            </a:r>
            <a:r>
              <a:rPr lang="en-US">
                <a:solidFill>
                  <a:srgbClr val="098658"/>
                </a:solidFill>
                <a:latin typeface="Consolas" panose="020B0609020204030204" charset="0"/>
                <a:sym typeface="+mn-ea"/>
              </a:rPr>
              <a:t>8</a:t>
            </a:r>
            <a:r>
              <a:rPr lang="en-US">
                <a:latin typeface="Consolas" panose="020B0609020204030204" charset="0"/>
                <a:sym typeface="+mn-ea"/>
              </a:rPr>
              <a:t>, </a:t>
            </a:r>
            <a:r>
              <a:rPr lang="en-US">
                <a:solidFill>
                  <a:srgbClr val="098658"/>
                </a:solidFill>
                <a:latin typeface="Consolas" panose="020B0609020204030204" charset="0"/>
                <a:sym typeface="+mn-ea"/>
              </a:rPr>
              <a:t>16</a:t>
            </a:r>
            <a:r>
              <a:rPr lang="en-US">
                <a:latin typeface="Consolas" panose="020B0609020204030204" charset="0"/>
                <a:sym typeface="+mn-ea"/>
              </a:rPr>
              <a:t>, </a:t>
            </a:r>
            <a:r>
              <a:rPr lang="en-US">
                <a:solidFill>
                  <a:srgbClr val="098658"/>
                </a:solidFill>
                <a:latin typeface="Consolas" panose="020B0609020204030204" charset="0"/>
                <a:sym typeface="+mn-ea"/>
              </a:rPr>
              <a:t>17</a:t>
            </a:r>
            <a:r>
              <a:rPr lang="en-US">
                <a:latin typeface="Consolas" panose="020B0609020204030204" charset="0"/>
                <a:sym typeface="+mn-ea"/>
              </a:rPr>
              <a:t>, </a:t>
            </a:r>
            <a:r>
              <a:rPr lang="en-US">
                <a:solidFill>
                  <a:srgbClr val="098658"/>
                </a:solidFill>
                <a:latin typeface="Consolas" panose="020B0609020204030204" charset="0"/>
                <a:sym typeface="+mn-ea"/>
              </a:rPr>
              <a:t>19</a:t>
            </a:r>
            <a:r>
              <a:rPr lang="en-US">
                <a:latin typeface="Consolas" panose="020B0609020204030204" charset="0"/>
                <a:sym typeface="+mn-ea"/>
              </a:rPr>
              <a:t>, </a:t>
            </a:r>
            <a:r>
              <a:rPr lang="en-US">
                <a:solidFill>
                  <a:srgbClr val="098658"/>
                </a:solidFill>
                <a:latin typeface="Consolas" panose="020B0609020204030204" charset="0"/>
                <a:sym typeface="+mn-ea"/>
              </a:rPr>
              <a:t>12</a:t>
            </a:r>
            <a:r>
              <a:rPr lang="en-US">
                <a:latin typeface="Consolas" panose="020B0609020204030204" charset="0"/>
                <a:sym typeface="+mn-ea"/>
              </a:rPr>
              <a:t>].</a:t>
            </a:r>
            <a:r>
              <a:rPr lang="en-US">
                <a:solidFill>
                  <a:srgbClr val="795E26"/>
                </a:solidFill>
                <a:latin typeface="Consolas" panose="020B0609020204030204" charset="0"/>
                <a:sym typeface="+mn-ea"/>
              </a:rPr>
              <a:t>includes</a:t>
            </a:r>
            <a:r>
              <a:rPr lang="en-US">
                <a:latin typeface="Consolas" panose="020B0609020204030204" charset="0"/>
                <a:sym typeface="+mn-ea"/>
              </a:rPr>
              <a:t>(</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9</a:t>
            </a:r>
            <a:r>
              <a:rPr lang="en-US">
                <a:latin typeface="Consolas" panose="020B0609020204030204" charset="0"/>
                <a:sym typeface="+mn-ea"/>
              </a:rPr>
              <a:t> &amp;&amp; ([</a:t>
            </a:r>
            <a:r>
              <a:rPr lang="en-US">
                <a:solidFill>
                  <a:srgbClr val="098658"/>
                </a:solidFill>
                <a:latin typeface="Consolas" panose="020B0609020204030204" charset="0"/>
                <a:sym typeface="+mn-ea"/>
              </a:rPr>
              <a:t>1</a:t>
            </a:r>
            <a:r>
              <a:rPr lang="en-US">
                <a:latin typeface="Consolas" panose="020B0609020204030204" charset="0"/>
                <a:sym typeface="+mn-ea"/>
              </a:rPr>
              <a:t>, </a:t>
            </a:r>
            <a:r>
              <a:rPr lang="en-US">
                <a:solidFill>
                  <a:srgbClr val="098658"/>
                </a:solidFill>
                <a:latin typeface="Consolas" panose="020B0609020204030204" charset="0"/>
                <a:sym typeface="+mn-ea"/>
              </a:rPr>
              <a:t>23</a:t>
            </a:r>
            <a:r>
              <a:rPr lang="en-US">
                <a:latin typeface="Consolas" panose="020B0609020204030204" charset="0"/>
                <a:sym typeface="+mn-ea"/>
              </a:rPr>
              <a:t>, </a:t>
            </a:r>
            <a:r>
              <a:rPr lang="en-US">
                <a:solidFill>
                  <a:srgbClr val="098658"/>
                </a:solidFill>
                <a:latin typeface="Consolas" panose="020B0609020204030204" charset="0"/>
                <a:sym typeface="+mn-ea"/>
              </a:rPr>
              <a:t>4</a:t>
            </a:r>
            <a:r>
              <a:rPr lang="en-US">
                <a:latin typeface="Consolas" panose="020B0609020204030204" charset="0"/>
                <a:sym typeface="+mn-ea"/>
              </a:rPr>
              <a:t>, </a:t>
            </a:r>
            <a:r>
              <a:rPr lang="en-US">
                <a:solidFill>
                  <a:srgbClr val="098658"/>
                </a:solidFill>
                <a:latin typeface="Consolas" panose="020B0609020204030204" charset="0"/>
                <a:sym typeface="+mn-ea"/>
              </a:rPr>
              <a:t>20</a:t>
            </a:r>
            <a:r>
              <a:rPr lang="en-US">
                <a:latin typeface="Consolas" panose="020B0609020204030204" charset="0"/>
                <a:sym typeface="+mn-ea"/>
              </a:rPr>
              <a:t>, </a:t>
            </a:r>
            <a:r>
              <a:rPr lang="en-US">
                <a:solidFill>
                  <a:srgbClr val="098658"/>
                </a:solidFill>
                <a:latin typeface="Consolas" panose="020B0609020204030204" charset="0"/>
                <a:sym typeface="+mn-ea"/>
              </a:rPr>
              <a:t>11</a:t>
            </a:r>
            <a:r>
              <a:rPr lang="en-US">
                <a:latin typeface="Consolas" panose="020B0609020204030204" charset="0"/>
                <a:sym typeface="+mn-ea"/>
              </a:rPr>
              <a:t>, </a:t>
            </a:r>
            <a:r>
              <a:rPr lang="en-US">
                <a:solidFill>
                  <a:srgbClr val="098658"/>
                </a:solidFill>
                <a:latin typeface="Consolas" panose="020B0609020204030204" charset="0"/>
                <a:sym typeface="+mn-ea"/>
              </a:rPr>
              <a:t>12</a:t>
            </a:r>
            <a:r>
              <a:rPr lang="en-US">
                <a:latin typeface="Consolas" panose="020B0609020204030204" charset="0"/>
                <a:sym typeface="+mn-ea"/>
              </a:rPr>
              <a:t>, </a:t>
            </a:r>
            <a:r>
              <a:rPr lang="en-US">
                <a:solidFill>
                  <a:srgbClr val="098658"/>
                </a:solidFill>
                <a:latin typeface="Consolas" panose="020B0609020204030204" charset="0"/>
                <a:sym typeface="+mn-ea"/>
              </a:rPr>
              <a:t>13</a:t>
            </a:r>
            <a:r>
              <a:rPr lang="en-US">
                <a:latin typeface="Consolas" panose="020B0609020204030204" charset="0"/>
                <a:sym typeface="+mn-ea"/>
              </a:rPr>
              <a:t>].</a:t>
            </a:r>
            <a:r>
              <a:rPr lang="en-US">
                <a:solidFill>
                  <a:srgbClr val="795E26"/>
                </a:solidFill>
                <a:latin typeface="Consolas" panose="020B0609020204030204" charset="0"/>
                <a:sym typeface="+mn-ea"/>
              </a:rPr>
              <a:t>includes</a:t>
            </a:r>
            <a:r>
              <a:rPr lang="en-US">
                <a:latin typeface="Consolas" panose="020B0609020204030204" charset="0"/>
                <a:sym typeface="+mn-ea"/>
              </a:rPr>
              <a:t>(</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98658"/>
                </a:solidFill>
                <a:latin typeface="Consolas" panose="020B0609020204030204" charset="0"/>
                <a:sym typeface="+mn-ea"/>
              </a:rPr>
              <a:t>10</a:t>
            </a:r>
            <a:r>
              <a:rPr lang="en-US">
                <a:latin typeface="Consolas" panose="020B0609020204030204" charset="0"/>
                <a:sym typeface="+mn-ea"/>
              </a:rPr>
              <a:t>, </a:t>
            </a:r>
            <a:r>
              <a:rPr lang="en-US">
                <a:solidFill>
                  <a:srgbClr val="098658"/>
                </a:solidFill>
                <a:latin typeface="Consolas" panose="020B0609020204030204" charset="0"/>
                <a:sym typeface="+mn-ea"/>
              </a:rPr>
              <a:t>11</a:t>
            </a:r>
            <a:r>
              <a:rPr lang="en-US">
                <a:latin typeface="Consolas" panose="020B0609020204030204" charset="0"/>
                <a:sym typeface="+mn-ea"/>
              </a:rPr>
              <a:t>, </a:t>
            </a:r>
            <a:r>
              <a:rPr lang="en-US">
                <a:solidFill>
                  <a:srgbClr val="098658"/>
                </a:solidFill>
                <a:latin typeface="Consolas" panose="020B0609020204030204" charset="0"/>
                <a:sym typeface="+mn-ea"/>
              </a:rPr>
              <a:t>12</a:t>
            </a:r>
            <a:r>
              <a:rPr lang="en-US">
                <a:latin typeface="Consolas" panose="020B0609020204030204" charset="0"/>
                <a:sym typeface="+mn-ea"/>
              </a:rPr>
              <a:t>, </a:t>
            </a:r>
            <a:r>
              <a:rPr lang="en-US">
                <a:solidFill>
                  <a:srgbClr val="098658"/>
                </a:solidFill>
                <a:latin typeface="Consolas" panose="020B0609020204030204" charset="0"/>
                <a:sym typeface="+mn-ea"/>
              </a:rPr>
              <a:t>13</a:t>
            </a:r>
            <a:r>
              <a:rPr lang="en-US">
                <a:latin typeface="Consolas" panose="020B0609020204030204" charset="0"/>
                <a:sym typeface="+mn-ea"/>
              </a:rPr>
              <a:t>, </a:t>
            </a:r>
            <a:r>
              <a:rPr lang="en-US">
                <a:solidFill>
                  <a:srgbClr val="098658"/>
                </a:solidFill>
                <a:latin typeface="Consolas" panose="020B0609020204030204" charset="0"/>
                <a:sym typeface="+mn-ea"/>
              </a:rPr>
              <a:t>14</a:t>
            </a:r>
            <a:r>
              <a:rPr lang="en-US">
                <a:latin typeface="Consolas" panose="020B0609020204030204" charset="0"/>
                <a:sym typeface="+mn-ea"/>
              </a:rPr>
              <a:t>].</a:t>
            </a:r>
            <a:r>
              <a:rPr lang="en-US">
                <a:solidFill>
                  <a:srgbClr val="795E26"/>
                </a:solidFill>
                <a:latin typeface="Consolas" panose="020B0609020204030204" charset="0"/>
                <a:sym typeface="+mn-ea"/>
              </a:rPr>
              <a:t>includes</a:t>
            </a:r>
            <a:r>
              <a:rPr lang="en-US">
                <a:latin typeface="Consolas" panose="020B0609020204030204" charset="0"/>
                <a:sym typeface="+mn-ea"/>
              </a:rPr>
              <a:t>(</a:t>
            </a:r>
            <a:r>
              <a:rPr lang="en-US">
                <a:solidFill>
                  <a:srgbClr val="001080"/>
                </a:solidFill>
                <a:latin typeface="Consolas" panose="020B0609020204030204" charset="0"/>
                <a:sym typeface="+mn-ea"/>
              </a:rPr>
              <a:t>i</a:t>
            </a:r>
            <a:r>
              <a:rPr lang="en-US">
                <a:latin typeface="Consolas" panose="020B0609020204030204" charset="0"/>
                <a:sym typeface="+mn-ea"/>
              </a:rPr>
              <a:t>) &amp;&amp; [</a:t>
            </a:r>
            <a:r>
              <a:rPr lang="en-US">
                <a:solidFill>
                  <a:srgbClr val="098658"/>
                </a:solidFill>
                <a:latin typeface="Consolas" panose="020B0609020204030204" charset="0"/>
                <a:sym typeface="+mn-ea"/>
              </a:rPr>
              <a:t>1</a:t>
            </a:r>
            <a:r>
              <a:rPr lang="en-US">
                <a:latin typeface="Consolas" panose="020B0609020204030204" charset="0"/>
                <a:sym typeface="+mn-ea"/>
              </a:rPr>
              <a:t>, </a:t>
            </a:r>
            <a:r>
              <a:rPr lang="en-US">
                <a:solidFill>
                  <a:srgbClr val="098658"/>
                </a:solidFill>
                <a:latin typeface="Consolas" panose="020B0609020204030204" charset="0"/>
                <a:sym typeface="+mn-ea"/>
              </a:rPr>
              <a:t>23</a:t>
            </a:r>
            <a:r>
              <a:rPr lang="en-US">
                <a:latin typeface="Consolas" panose="020B0609020204030204" charset="0"/>
                <a:sym typeface="+mn-ea"/>
              </a:rPr>
              <a:t>].</a:t>
            </a:r>
            <a:r>
              <a:rPr lang="en-US">
                <a:solidFill>
                  <a:srgbClr val="795E26"/>
                </a:solidFill>
                <a:latin typeface="Consolas" panose="020B0609020204030204" charset="0"/>
                <a:sym typeface="+mn-ea"/>
              </a:rPr>
              <a:t>includes</a:t>
            </a:r>
            <a:r>
              <a:rPr lang="en-US">
                <a:latin typeface="Consolas" panose="020B0609020204030204" charset="0"/>
                <a:sym typeface="+mn-ea"/>
              </a:rPr>
              <a:t>(</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15</a:t>
            </a:r>
            <a:r>
              <a:rPr lang="en-US">
                <a:latin typeface="Consolas" panose="020B0609020204030204" charset="0"/>
                <a:sym typeface="+mn-ea"/>
              </a:rPr>
              <a:t>)    ) {      </a:t>
            </a:r>
            <a:r>
              <a:rPr lang="en-US">
                <a:solidFill>
                  <a:srgbClr val="795E26"/>
                </a:solidFill>
                <a:latin typeface="Consolas" panose="020B0609020204030204" charset="0"/>
                <a:sym typeface="+mn-ea"/>
              </a:rPr>
              <a:t>blackPixel</a:t>
            </a:r>
            <a:r>
              <a:rPr lang="en-US">
                <a:latin typeface="Consolas" panose="020B0609020204030204" charset="0"/>
                <a:sym typeface="+mn-ea"/>
              </a:rPr>
              <a:t>();      </a:t>
            </a:r>
            <a:r>
              <a:rPr lang="en-US">
                <a:solidFill>
                  <a:srgbClr val="AF00DB"/>
                </a:solidFill>
                <a:latin typeface="Consolas" panose="020B0609020204030204" charset="0"/>
                <a:sym typeface="+mn-ea"/>
              </a:rPr>
              <a:t>continue</a:t>
            </a:r>
            <a:r>
              <a:rPr lang="en-US">
                <a:latin typeface="Consolas" panose="020B0609020204030204" charset="0"/>
                <a:sym typeface="+mn-ea"/>
              </a:rPr>
              <a:t>;    }     </a:t>
            </a:r>
            <a:r>
              <a:rPr lang="en-US">
                <a:solidFill>
                  <a:srgbClr val="AF00DB"/>
                </a:solidFill>
                <a:latin typeface="Consolas" panose="020B0609020204030204" charset="0"/>
                <a:sym typeface="+mn-ea"/>
              </a:rPr>
              <a:t>if</a:t>
            </a:r>
            <a:r>
              <a:rPr lang="en-US">
                <a:latin typeface="Consolas" panose="020B0609020204030204" charset="0"/>
                <a:sym typeface="+mn-ea"/>
              </a:rPr>
              <a:t> (</a:t>
            </a:r>
            <a:r>
              <a:rPr lang="en-US">
                <a:solidFill>
                  <a:srgbClr val="001080"/>
                </a:solidFill>
                <a:latin typeface="Consolas" panose="020B0609020204030204" charset="0"/>
                <a:sym typeface="+mn-ea"/>
              </a:rPr>
              <a:t>i</a:t>
            </a:r>
            <a:r>
              <a:rPr lang="en-US">
                <a:latin typeface="Consolas" panose="020B0609020204030204" charset="0"/>
                <a:sym typeface="+mn-ea"/>
              </a:rPr>
              <a:t> === </a:t>
            </a:r>
            <a:r>
              <a:rPr lang="en-US">
                <a:solidFill>
                  <a:srgbClr val="098658"/>
                </a:solidFill>
                <a:latin typeface="Consolas" panose="020B0609020204030204" charset="0"/>
                <a:sym typeface="+mn-ea"/>
              </a:rPr>
              <a:t>9</a:t>
            </a:r>
            <a:r>
              <a:rPr lang="en-US">
                <a:latin typeface="Consolas" panose="020B0609020204030204" charset="0"/>
                <a:sym typeface="+mn-ea"/>
              </a:rPr>
              <a:t> &amp;&amp; [</a:t>
            </a:r>
            <a:r>
              <a:rPr lang="en-US">
                <a:solidFill>
                  <a:srgbClr val="098658"/>
                </a:solidFill>
                <a:latin typeface="Consolas" panose="020B0609020204030204" charset="0"/>
                <a:sym typeface="+mn-ea"/>
              </a:rPr>
              <a:t>6</a:t>
            </a:r>
            <a:r>
              <a:rPr lang="en-US">
                <a:latin typeface="Consolas" panose="020B0609020204030204" charset="0"/>
                <a:sym typeface="+mn-ea"/>
              </a:rPr>
              <a:t>, </a:t>
            </a:r>
            <a:r>
              <a:rPr lang="en-US">
                <a:solidFill>
                  <a:srgbClr val="098658"/>
                </a:solidFill>
                <a:latin typeface="Consolas" panose="020B0609020204030204" charset="0"/>
                <a:sym typeface="+mn-ea"/>
              </a:rPr>
              <a:t>7</a:t>
            </a:r>
            <a:r>
              <a:rPr lang="en-US">
                <a:latin typeface="Consolas" panose="020B0609020204030204" charset="0"/>
                <a:sym typeface="+mn-ea"/>
              </a:rPr>
              <a:t>, </a:t>
            </a:r>
            <a:r>
              <a:rPr lang="en-US">
                <a:solidFill>
                  <a:srgbClr val="098658"/>
                </a:solidFill>
                <a:latin typeface="Consolas" panose="020B0609020204030204" charset="0"/>
                <a:sym typeface="+mn-ea"/>
              </a:rPr>
              <a:t>17</a:t>
            </a:r>
            <a:r>
              <a:rPr lang="en-US">
                <a:latin typeface="Consolas" panose="020B0609020204030204" charset="0"/>
                <a:sym typeface="+mn-ea"/>
              </a:rPr>
              <a:t>, </a:t>
            </a:r>
            <a:r>
              <a:rPr lang="en-US">
                <a:solidFill>
                  <a:srgbClr val="098658"/>
                </a:solidFill>
                <a:latin typeface="Consolas" panose="020B0609020204030204" charset="0"/>
                <a:sym typeface="+mn-ea"/>
              </a:rPr>
              <a:t>18</a:t>
            </a:r>
            <a:r>
              <a:rPr lang="en-US">
                <a:latin typeface="Consolas" panose="020B0609020204030204" charset="0"/>
                <a:sym typeface="+mn-ea"/>
              </a:rPr>
              <a:t>].</a:t>
            </a:r>
            <a:r>
              <a:rPr lang="en-US">
                <a:solidFill>
                  <a:srgbClr val="795E26"/>
                </a:solidFill>
                <a:latin typeface="Consolas" panose="020B0609020204030204" charset="0"/>
                <a:sym typeface="+mn-ea"/>
              </a:rPr>
              <a:t>includes</a:t>
            </a:r>
            <a:r>
              <a:rPr lang="en-US">
                <a:latin typeface="Consolas" panose="020B0609020204030204" charset="0"/>
                <a:sym typeface="+mn-ea"/>
              </a:rPr>
              <a:t>(</a:t>
            </a:r>
            <a:r>
              <a:rPr lang="en-US">
                <a:solidFill>
                  <a:srgbClr val="001080"/>
                </a:solidFill>
                <a:latin typeface="Consolas" panose="020B0609020204030204" charset="0"/>
                <a:sym typeface="+mn-ea"/>
              </a:rPr>
              <a:t>j</a:t>
            </a:r>
            <a:r>
              <a:rPr lang="en-US">
                <a:latin typeface="Consolas" panose="020B0609020204030204" charset="0"/>
                <a:sym typeface="+mn-ea"/>
              </a:rPr>
              <a:t>)) {      </a:t>
            </a:r>
            <a:r>
              <a:rPr lang="en-US">
                <a:solidFill>
                  <a:srgbClr val="795E26"/>
                </a:solidFill>
                <a:latin typeface="Consolas" panose="020B0609020204030204" charset="0"/>
                <a:sym typeface="+mn-ea"/>
              </a:rPr>
              <a:t>pinkPixel</a:t>
            </a:r>
            <a:r>
              <a:rPr lang="en-US">
                <a:latin typeface="Consolas" panose="020B0609020204030204" charset="0"/>
                <a:sym typeface="+mn-ea"/>
              </a:rPr>
              <a:t>();      </a:t>
            </a:r>
            <a:r>
              <a:rPr lang="en-US">
                <a:solidFill>
                  <a:srgbClr val="AF00DB"/>
                </a:solidFill>
                <a:latin typeface="Consolas" panose="020B0609020204030204" charset="0"/>
                <a:sym typeface="+mn-ea"/>
              </a:rPr>
              <a:t>continue</a:t>
            </a:r>
            <a:r>
              <a:rPr lang="en-US">
                <a:latin typeface="Consolas" panose="020B0609020204030204" charset="0"/>
                <a:sym typeface="+mn-ea"/>
              </a:rPr>
              <a:t>;    }     </a:t>
            </a:r>
            <a:r>
              <a:rPr lang="en-US">
                <a:solidFill>
                  <a:srgbClr val="795E26"/>
                </a:solidFill>
                <a:latin typeface="Consolas" panose="020B0609020204030204" charset="0"/>
                <a:sym typeface="+mn-ea"/>
              </a:rPr>
              <a:t>whitePixel</a:t>
            </a:r>
            <a:r>
              <a:rPr lang="en-US">
                <a:latin typeface="Consolas" panose="020B0609020204030204" charset="0"/>
                <a:sym typeface="+mn-ea"/>
              </a:rPr>
              <a:t>();</a:t>
            </a:r>
            <a:endParaRPr lang="en-US"/>
          </a:p>
        </p:txBody>
      </p:sp>
      <p:pic>
        <p:nvPicPr>
          <p:cNvPr id="148" name="image32.png"/>
          <p:cNvPicPr preferRelativeResize="0"/>
          <p:nvPr/>
        </p:nvPicPr>
        <p:blipFill>
          <a:blip r:embed="rId1"/>
          <a:srcRect/>
          <a:stretch>
            <a:fillRect/>
          </a:stretch>
        </p:blipFill>
        <p:spPr>
          <a:xfrm>
            <a:off x="8007033" y="4357053"/>
            <a:ext cx="3171825" cy="2143125"/>
          </a:xfrm>
          <a:prstGeom prst="rect">
            <a:avLst/>
          </a:prstGeom>
        </p:spPr>
      </p:pic>
      <p:sp>
        <p:nvSpPr>
          <p:cNvPr id="5" name="Text Box 4"/>
          <p:cNvSpPr txBox="1"/>
          <p:nvPr/>
        </p:nvSpPr>
        <p:spPr>
          <a:xfrm>
            <a:off x="7725410" y="1216025"/>
            <a:ext cx="4368800" cy="2676525"/>
          </a:xfrm>
          <a:prstGeom prst="rect">
            <a:avLst/>
          </a:prstGeom>
          <a:noFill/>
        </p:spPr>
        <p:txBody>
          <a:bodyPr wrap="square" rtlCol="0">
            <a:spAutoFit/>
          </a:bodyPr>
          <a:p>
            <a:pPr algn="just"/>
            <a:r>
              <a:rPr lang="ru-RU" altLang="en-US" sz="2400">
                <a:latin typeface="Times New Roman Regular" panose="02020603050405020304" charset="0"/>
                <a:cs typeface="Times New Roman Regular" panose="02020603050405020304" charset="0"/>
              </a:rPr>
              <a:t>	И наконец добавим условия для отрисовки цвета “пикселя”.最后，添加像素颜色的条件。</a:t>
            </a:r>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r>
              <a:rPr lang="ru-RU" altLang="en-US" sz="2400">
                <a:latin typeface="Times New Roman Regular" panose="02020603050405020304" charset="0"/>
                <a:cs typeface="Times New Roman Regular" panose="02020603050405020304" charset="0"/>
              </a:rPr>
              <a:t> </a:t>
            </a:r>
            <a:r>
              <a:rPr lang="ru-RU" altLang="en-US"/>
              <a:t>	</a:t>
            </a:r>
            <a:endParaRPr lang="ru-RU"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83235" y="306070"/>
            <a:ext cx="11414125" cy="4154170"/>
          </a:xfrm>
          <a:prstGeom prst="rect">
            <a:avLst/>
          </a:prstGeom>
          <a:noFill/>
        </p:spPr>
        <p:txBody>
          <a:bodyPr wrap="square" rtlCol="0" anchor="t">
            <a:spAutoFit/>
          </a:bodyPr>
          <a:p>
            <a:pPr algn="just"/>
            <a:r>
              <a:rPr lang="ru-RU" altLang="en-US" sz="2400">
                <a:latin typeface="Times New Roman Regular" panose="02020603050405020304" charset="0"/>
                <a:cs typeface="Times New Roman Regular" panose="02020603050405020304" charset="0"/>
              </a:rPr>
              <a:t>	Самостоятельно расширим функционал программы. Пользователь с помощью диалоговых окон вводит два числа, которые хочет умножить. Скрипт отображает страницу с таблицей умножения, где результат умножения двух введенных чисел выделен с помощью стилей, например ячейка с результирующим значением имеет красный фон. Пример: пользователь ввел число 5 и 3, ячейка со значением 15 выделена цветом.我们将自行扩大方案的功能。用户使用对话框输入两个要乘法的数字。脚本显示一个带有乘法表的页面，其中两个输入的数字的乘法结果用样式突出显示，例如，具有结果值的单元格具有红色背景。例如：用户输入了数字5和3，值为15的单元格用颜色表示。</a:t>
            </a:r>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a:p>
            <a:pPr algn="just"/>
            <a:endParaRPr lang="ru-RU" altLang="en-US" sz="2400">
              <a:latin typeface="Times New Roman Regular" panose="02020603050405020304" charset="0"/>
              <a:cs typeface="Times New Roman Regular" panose="02020603050405020304" charset="0"/>
            </a:endParaRPr>
          </a:p>
        </p:txBody>
      </p:sp>
      <p:pic>
        <p:nvPicPr>
          <p:cNvPr id="172" name="image40.png"/>
          <p:cNvPicPr preferRelativeResize="0"/>
          <p:nvPr/>
        </p:nvPicPr>
        <p:blipFill>
          <a:blip r:embed="rId1"/>
          <a:srcRect/>
          <a:stretch>
            <a:fillRect/>
          </a:stretch>
        </p:blipFill>
        <p:spPr>
          <a:xfrm>
            <a:off x="4687570" y="3950335"/>
            <a:ext cx="2816860" cy="282194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943610" y="1332230"/>
            <a:ext cx="10740390" cy="1568450"/>
          </a:xfrm>
          <a:prstGeom prst="rect">
            <a:avLst/>
          </a:prstGeom>
          <a:noFill/>
          <a:ln w="9525">
            <a:noFill/>
          </a:ln>
        </p:spPr>
        <p:txBody>
          <a:bodyPr wrap="square">
            <a:spAutoFit/>
          </a:bodyPr>
          <a:p>
            <a:pPr marL="0" indent="0" algn="just"/>
            <a:r>
              <a:rPr lang="en-US" sz="2400" b="0">
                <a:latin typeface="Times New Roman" panose="02020603050405020304" charset="0"/>
              </a:rPr>
              <a:t>	Постарайтесь самостоятельно придумать и воссоздать свой индивидуальный пиксельный арт, с использованием функций и циклов.</a:t>
            </a:r>
            <a:endParaRPr lang="en-US" sz="2400" b="0">
              <a:latin typeface="Times New Roman" panose="02020603050405020304" charset="0"/>
            </a:endParaRPr>
          </a:p>
          <a:p>
            <a:pPr marL="0" indent="0" algn="just"/>
            <a:endParaRPr lang="en-US" sz="2400"/>
          </a:p>
          <a:p>
            <a:pPr marL="0" indent="0" algn="just"/>
            <a:r>
              <a:rPr lang="en-US" sz="2400"/>
              <a:t>尝试自己发明和重新创造你的个人像素艺术，使用功能和循环。</a:t>
            </a:r>
            <a:endParaRPr lang="en-US" sz="24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00685" y="1347470"/>
            <a:ext cx="11111230" cy="2306955"/>
          </a:xfrm>
          <a:prstGeom prst="rect">
            <a:avLst/>
          </a:prstGeom>
          <a:noFill/>
        </p:spPr>
        <p:txBody>
          <a:bodyPr wrap="square" rtlCol="0" anchor="t">
            <a:spAutoFit/>
          </a:bodyPr>
          <a:p>
            <a:pPr marL="0" indent="0" algn="just"/>
            <a:r>
              <a:rPr lang="ru-RU" altLang="en-US" sz="2400">
                <a:latin typeface="Times New Roman Regular" panose="02020603050405020304" charset="0"/>
                <a:cs typeface="Times New Roman Regular" panose="02020603050405020304" charset="0"/>
                <a:sym typeface="+mn-ea"/>
              </a:rPr>
              <a:t>	За время занятия Вы изучили в</a:t>
            </a:r>
            <a:r>
              <a:rPr lang="en-US" sz="2400">
                <a:latin typeface="Times New Roman Regular" panose="02020603050405020304" charset="0"/>
                <a:cs typeface="Times New Roman Regular" panose="02020603050405020304" charset="0"/>
                <a:sym typeface="+mn-ea"/>
              </a:rPr>
              <a:t>озможност</a:t>
            </a:r>
            <a:r>
              <a:rPr lang="ru-RU" altLang="en-US" sz="2400">
                <a:latin typeface="Times New Roman Regular" panose="02020603050405020304" charset="0"/>
                <a:cs typeface="Times New Roman Regular" panose="02020603050405020304" charset="0"/>
                <a:sym typeface="+mn-ea"/>
              </a:rPr>
              <a:t>ь</a:t>
            </a:r>
            <a:r>
              <a:rPr lang="en-US" sz="2400">
                <a:latin typeface="Times New Roman Regular" panose="02020603050405020304" charset="0"/>
                <a:cs typeface="Times New Roman Regular" panose="02020603050405020304" charset="0"/>
                <a:sym typeface="+mn-ea"/>
              </a:rPr>
              <a:t> прерывания циклов программно и переход к следующей итерации</a:t>
            </a:r>
            <a:r>
              <a:rPr lang="ru-RU" altLang="en-US" sz="2400">
                <a:latin typeface="Times New Roman Regular" panose="02020603050405020304" charset="0"/>
                <a:cs typeface="Times New Roman Regular" panose="02020603050405020304" charset="0"/>
                <a:sym typeface="+mn-ea"/>
              </a:rPr>
              <a:t>. Познакомились </a:t>
            </a:r>
            <a:r>
              <a:rPr lang="en-US" sz="2400">
                <a:latin typeface="Times New Roman Regular" panose="02020603050405020304" charset="0"/>
                <a:cs typeface="Times New Roman Regular" panose="02020603050405020304" charset="0"/>
                <a:sym typeface="+mn-ea"/>
              </a:rPr>
              <a:t>с понятием “Рекурсия”</a:t>
            </a:r>
            <a:r>
              <a:rPr lang="ru-RU" altLang="en-US" sz="2400">
                <a:latin typeface="Times New Roman Regular" panose="02020603050405020304" charset="0"/>
                <a:cs typeface="Times New Roman Regular" panose="02020603050405020304" charset="0"/>
                <a:sym typeface="+mn-ea"/>
              </a:rPr>
              <a:t> и </a:t>
            </a:r>
            <a:r>
              <a:rPr lang="ru-RU" sz="2400">
                <a:latin typeface="Times New Roman Regular" panose="02020603050405020304" charset="0"/>
                <a:cs typeface="Times New Roman Regular" panose="02020603050405020304" charset="0"/>
                <a:sym typeface="+mn-ea"/>
              </a:rPr>
              <a:t>закрепили </a:t>
            </a:r>
            <a:r>
              <a:rPr lang="en-US" sz="2400">
                <a:latin typeface="Times New Roman Regular" panose="02020603050405020304" charset="0"/>
                <a:cs typeface="Times New Roman Regular" panose="02020603050405020304" charset="0"/>
                <a:sym typeface="+mn-ea"/>
              </a:rPr>
              <a:t>изученный материал путем </a:t>
            </a:r>
            <a:r>
              <a:rPr lang="ru-RU" altLang="en-US" sz="2400">
                <a:latin typeface="Times New Roman Regular" panose="02020603050405020304" charset="0"/>
                <a:cs typeface="Times New Roman Regular" panose="02020603050405020304" charset="0"/>
                <a:sym typeface="+mn-ea"/>
              </a:rPr>
              <a:t>запуска и изучения предложенного скрипта</a:t>
            </a:r>
            <a:r>
              <a:rPr lang="en-US" sz="2400">
                <a:latin typeface="Times New Roman Regular" panose="02020603050405020304" charset="0"/>
                <a:cs typeface="Times New Roman Regular" panose="02020603050405020304" charset="0"/>
                <a:sym typeface="+mn-ea"/>
              </a:rPr>
              <a:t>.</a:t>
            </a:r>
            <a:endParaRPr lang="en-US" sz="2400">
              <a:latin typeface="Times New Roman Regular" panose="02020603050405020304" charset="0"/>
              <a:cs typeface="Times New Roman Regular" panose="02020603050405020304" charset="0"/>
              <a:sym typeface="+mn-ea"/>
            </a:endParaRPr>
          </a:p>
          <a:p>
            <a:pPr marL="0" indent="0" algn="just"/>
            <a:endParaRPr lang="en-US" sz="2400"/>
          </a:p>
          <a:p>
            <a:pPr marL="0" indent="0" algn="just"/>
            <a:r>
              <a:rPr lang="en-US" sz="2400"/>
              <a:t>在课程中，您学习了如何以编程方式中断循环并切换到下一个迭代。熟悉了“递归”的概念，并通过运行和研究所提供的脚本来固定所研究的材料。</a:t>
            </a:r>
            <a:endParaRPr lang="en-US" sz="2400"/>
          </a:p>
        </p:txBody>
      </p:sp>
    </p:spTree>
  </p:cSld>
  <p:clrMapOvr>
    <a:masterClrMapping/>
  </p:clrMapOvr>
</p:sld>
</file>

<file path=ppt/tags/tag1.xml><?xml version="1.0" encoding="utf-8"?>
<p:tagLst xmlns:p="http://schemas.openxmlformats.org/presentationml/2006/main">
  <p:tag name="KSO_WM_UNIT_TABLE_BEAUTIFY" val="smartTable{0503d3dd-c10e-4982-9e1d-b4ea75133cad}"/>
</p:tagLst>
</file>

<file path=ppt/tags/tag2.xml><?xml version="1.0" encoding="utf-8"?>
<p:tagLst xmlns:p="http://schemas.openxmlformats.org/presentationml/2006/main">
  <p:tag name="KSO_WPP_MARK_KEY" val="4ac3db29-e98b-44c2-b5fc-dfbaa2f2dbf5"/>
  <p:tag name="COMMONDATA" val="eyJoZGlkIjoiZmUxODg5ZWNkYzgwMjRiYjUyNDAzNzllNWYwZDhjMDA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27518</Words>
  <Application>WPS Writer</Application>
  <PresentationFormat>Widescreen</PresentationFormat>
  <Paragraphs>878</Paragraphs>
  <Slides>86</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86</vt:i4>
      </vt:variant>
    </vt:vector>
  </HeadingPairs>
  <TitlesOfParts>
    <vt:vector size="111" baseType="lpstr">
      <vt:lpstr>Arial</vt:lpstr>
      <vt:lpstr>SimSun</vt:lpstr>
      <vt:lpstr>Wingdings</vt:lpstr>
      <vt:lpstr>Calibri</vt:lpstr>
      <vt:lpstr>Arial</vt:lpstr>
      <vt:lpstr>Helvetica Neue</vt:lpstr>
      <vt:lpstr>Times New Roman</vt:lpstr>
      <vt:lpstr>Times New Roman</vt:lpstr>
      <vt:lpstr>Arial Regular</vt:lpstr>
      <vt:lpstr>Times New Roman Regular</vt:lpstr>
      <vt:lpstr>Consolas</vt:lpstr>
      <vt:lpstr>苹方-简</vt:lpstr>
      <vt:lpstr>SimSun</vt:lpstr>
      <vt:lpstr>宋体-简</vt:lpstr>
      <vt:lpstr>Microsoft YaHei</vt:lpstr>
      <vt:lpstr>汉仪旗黑</vt:lpstr>
      <vt:lpstr>Arial Unicode MS</vt:lpstr>
      <vt:lpstr>Calibri Light</vt:lpstr>
      <vt:lpstr>Menlo</vt:lpstr>
      <vt:lpstr>monospace</vt:lpstr>
      <vt:lpstr>Thonburi</vt:lpstr>
      <vt:lpstr>SimSun</vt:lpstr>
      <vt:lpstr>Times New Roman Bold</vt:lpstr>
      <vt:lpstr>Times New Roman Italic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valeriakhlyzoa</dc:creator>
  <cp:lastModifiedBy>valeriakhlyzoa</cp:lastModifiedBy>
  <cp:revision>125</cp:revision>
  <dcterms:created xsi:type="dcterms:W3CDTF">2025-12-05T07:26:42Z</dcterms:created>
  <dcterms:modified xsi:type="dcterms:W3CDTF">2025-12-05T07:26:42Z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1033-12.1.23152.23152</vt:lpwstr>
  </property>
  <property fmtid="{D5CDD505-2E9C-101B-9397-08002B2CF9AE}" pid="3" name="ICV">
    <vt:lpwstr>57F89F3A42EE96855A792C67B19A6D40_43</vt:lpwstr>
  </property>
</Properties>
</file>