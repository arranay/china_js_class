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5"/>
  </p:notesMasterIdLst>
  <p:sldIdLst>
    <p:sldId id="256" r:id="rId3"/>
    <p:sldId id="257" r:id="rId4"/>
    <p:sldId id="265" r:id="rId5"/>
    <p:sldId id="272" r:id="rId6"/>
    <p:sldId id="266" r:id="rId7"/>
    <p:sldId id="267" r:id="rId8"/>
    <p:sldId id="268" r:id="rId9"/>
    <p:sldId id="269" r:id="rId10"/>
    <p:sldId id="264" r:id="rId11"/>
    <p:sldId id="273" r:id="rId12"/>
    <p:sldId id="274" r:id="rId13"/>
    <p:sldId id="275" r:id="rId14"/>
    <p:sldId id="276" r:id="rId15"/>
    <p:sldId id="283" r:id="rId16"/>
    <p:sldId id="277" r:id="rId17"/>
    <p:sldId id="278" r:id="rId18"/>
    <p:sldId id="347" r:id="rId19"/>
    <p:sldId id="279" r:id="rId20"/>
    <p:sldId id="280" r:id="rId21"/>
    <p:sldId id="281" r:id="rId22"/>
    <p:sldId id="282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348" r:id="rId33"/>
    <p:sldId id="293" r:id="rId34"/>
    <p:sldId id="294" r:id="rId35"/>
    <p:sldId id="295" r:id="rId36"/>
    <p:sldId id="296" r:id="rId37"/>
    <p:sldId id="349" r:id="rId38"/>
    <p:sldId id="350" r:id="rId39"/>
    <p:sldId id="302" r:id="rId40"/>
    <p:sldId id="303" r:id="rId41"/>
    <p:sldId id="351" r:id="rId42"/>
    <p:sldId id="352" r:id="rId43"/>
    <p:sldId id="35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2" r:id="rId80"/>
    <p:sldId id="343" r:id="rId81"/>
    <p:sldId id="344" r:id="rId82"/>
    <p:sldId id="345" r:id="rId83"/>
    <p:sldId id="346" r:id="rId84"/>
  </p:sldIdLst>
  <p:sldSz cx="12192000" cy="6858000"/>
  <p:notesSz cx="6858000" cy="9144000"/>
  <p:custDataLst>
    <p:tags r:id="rId8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9" Type="http://schemas.openxmlformats.org/officeDocument/2006/relationships/tags" Target="tags/tag1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notesMaster" Target="notesMasters/notesMaster1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"/>
          <p:cNvSpPr txBox="1"/>
          <p:nvPr/>
        </p:nvSpPr>
        <p:spPr>
          <a:xfrm>
            <a:off x="763905" y="1649730"/>
            <a:ext cx="109474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«Разработка веб-интерфейсного скрипта»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前端脚本开发”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Основы JavaScript. Переменные и типы данных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JavaScript基础。变量和数据类型</a:t>
            </a:r>
            <a:endParaRPr lang="en-US" sz="36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8;p1"/>
          <p:cNvSpPr txBox="1"/>
          <p:nvPr/>
        </p:nvSpPr>
        <p:spPr>
          <a:xfrm>
            <a:off x="7090410" y="5497830"/>
            <a:ext cx="495236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38785" y="267970"/>
            <a:ext cx="54381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>
                <a:latin typeface="Arial Regular" panose="020B0704020202020204" charset="0"/>
                <a:cs typeface="Arial Regular" panose="020B0704020202020204" charset="0"/>
              </a:rPr>
              <a:t>ЦЕЛЬ РАБОТЫ   工作目标</a:t>
            </a:r>
            <a:endParaRPr 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38785" y="1203960"/>
            <a:ext cx="114452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sz="2400"/>
              <a:t>Изучить типы данных в языке JavaScript;</a:t>
            </a:r>
            <a:endParaRPr lang="en-US" sz="2400"/>
          </a:p>
          <a:p>
            <a:pPr algn="just"/>
            <a:r>
              <a:rPr lang="en-US" sz="2800"/>
              <a:t>学习JavaScript语言中的数据类型；</a:t>
            </a:r>
            <a:endParaRPr lang="en-US" sz="2800"/>
          </a:p>
          <a:p>
            <a:pPr algn="just"/>
            <a:endParaRPr lang="en-US" sz="2400"/>
          </a:p>
          <a:p>
            <a:pPr algn="just"/>
            <a:r>
              <a:rPr lang="en-US" sz="2400"/>
              <a:t>Изучить возможность выполнения арифметических операций в языке JavaScript;</a:t>
            </a:r>
            <a:endParaRPr lang="en-US" sz="2400"/>
          </a:p>
          <a:p>
            <a:pPr algn="just"/>
            <a:r>
              <a:rPr lang="en-US" sz="2800"/>
              <a:t>学习在JavaScript语言中执行算术运算的可能性；</a:t>
            </a:r>
            <a:endParaRPr lang="en-US" sz="2800"/>
          </a:p>
          <a:p>
            <a:pPr algn="just"/>
            <a:endParaRPr lang="en-US" sz="2400"/>
          </a:p>
          <a:p>
            <a:pPr algn="just"/>
            <a:r>
              <a:rPr lang="en-US" sz="2400"/>
              <a:t>Познакомиться со специальными методами, которые можно использовать со строками </a:t>
            </a:r>
            <a:r>
              <a:rPr lang="ru-RU" altLang="en-US" sz="2400"/>
              <a:t>и числами</a:t>
            </a:r>
            <a:r>
              <a:rPr lang="en-US" sz="2400"/>
              <a:t>.</a:t>
            </a:r>
            <a:endParaRPr lang="en-US" sz="2400"/>
          </a:p>
          <a:p>
            <a:pPr algn="just"/>
            <a:endParaRPr lang="en-US"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10235" y="1093470"/>
            <a:ext cx="10972165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Arial Regular" panose="020B0704020202020204" charset="0"/>
                <a:cs typeface="Arial Regular" panose="020B0704020202020204" charset="0"/>
              </a:rPr>
              <a:t>Для хранения данных в программе используются переменные и константы. Переменные предназначены для хранения временных данных или таких данных, которые в процессе работы могут менять свое значение. </a:t>
            </a:r>
            <a:endParaRPr lang="en-US" sz="2400" b="0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19685" algn="just">
              <a:lnSpc>
                <a:spcPct val="150000"/>
              </a:lnSpc>
            </a:pPr>
            <a:endParaRPr lang="zh-CN" sz="2400" b="0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19685" algn="just">
              <a:lnSpc>
                <a:spcPct val="150000"/>
              </a:lnSpc>
            </a:pPr>
            <a:r>
              <a:rPr lang="zh-CN" sz="2800" b="0">
                <a:latin typeface="Arial Regular" panose="020B0704020202020204" charset="0"/>
                <a:cs typeface="Arial Regular" panose="020B0704020202020204" charset="0"/>
              </a:rPr>
              <a:t>该程序使用变量和常量来存储数据。变量用于存储一些临时数据或可以在操作过程中更改其值的数据。</a:t>
            </a:r>
            <a:endParaRPr 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10235" y="1093470"/>
            <a:ext cx="10972165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Arial Regular" panose="020B0704020202020204" charset="0"/>
                <a:cs typeface="Arial Regular" panose="020B0704020202020204" charset="0"/>
              </a:rPr>
              <a:t>Константы, наоборот, предназначены для хранения неизменных данных, значение которых должно оставаться постоянным в течение всей программы. </a:t>
            </a:r>
            <a:endParaRPr lang="en-US" sz="2400" b="0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10160" algn="just">
              <a:lnSpc>
                <a:spcPct val="150000"/>
              </a:lnSpc>
            </a:pPr>
            <a:r>
              <a:rPr lang="zh-CN" sz="2800" b="0">
                <a:latin typeface="Arial Regular" panose="020B0704020202020204" charset="0"/>
                <a:cs typeface="Arial Regular" panose="020B0704020202020204" charset="0"/>
              </a:rPr>
              <a:t>另一方面，常量旨在存储不可变数据，其值必须在整个程序中保持不变。</a:t>
            </a:r>
            <a:endParaRPr 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1014730" y="1370330"/>
            <a:ext cx="1016254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</a:rPr>
              <a:t>Мы можем использовать переменные для хранения товаров, посетителей и других данных. Для создания переменной в </a:t>
            </a:r>
            <a:r>
              <a:rPr lang="en-US" sz="2800" b="0" i="1">
                <a:latin typeface="Times New Roman" panose="02020603050405020304" charset="0"/>
              </a:rPr>
              <a:t>JavaScript</a:t>
            </a:r>
            <a:r>
              <a:rPr lang="en-US" sz="2800" b="0">
                <a:latin typeface="Times New Roman" panose="02020603050405020304" charset="0"/>
              </a:rPr>
              <a:t> используйте ключевое слово </a:t>
            </a:r>
            <a:r>
              <a:rPr lang="en-US" sz="2800" b="0" i="1">
                <a:latin typeface="Times New Roman" panose="02020603050405020304" charset="0"/>
              </a:rPr>
              <a:t>let</a:t>
            </a:r>
            <a:r>
              <a:rPr lang="en-US" sz="2800" b="0">
                <a:latin typeface="Times New Roman" panose="02020603050405020304" charset="0"/>
              </a:rPr>
              <a:t>.</a:t>
            </a:r>
            <a:endParaRPr lang="en-US" sz="2800" b="0"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8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我们可以使用变量来存储产品、访问者和其他数据。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要在 JavaScript 中创建变量，  请使用 let 关键字。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98830" y="868680"/>
            <a:ext cx="105943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/>
            <a:r>
              <a:rPr lang="en-US" sz="2400" b="0">
                <a:latin typeface="Times New Roman" panose="02020603050405020304" charset="0"/>
              </a:rPr>
              <a:t>Давайте объявим переменную, запишем туда текстовое сообщение и покажем на экране.</a:t>
            </a:r>
            <a:endParaRPr lang="en-US" sz="2400" b="0">
              <a:latin typeface="Times New Roman" panose="02020603050405020304" charset="0"/>
            </a:endParaRPr>
          </a:p>
          <a:p>
            <a:pPr indent="449580" algn="just"/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449580" algn="just"/>
            <a:r>
              <a:rPr lang="zh-CN" sz="2800" b="0">
                <a:cs typeface="Times New Roman" panose="02020603050405020304" charset="0"/>
              </a:rPr>
              <a:t>让我们声明一个变量，在那里写一条文本消息，然后显示在屏幕上。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798830" y="3858578"/>
            <a:ext cx="50800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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709670"/>
            <a:ext cx="5727700" cy="1866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84835" y="316865"/>
            <a:ext cx="1102233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00000"/>
              </a:lnSpc>
            </a:pPr>
            <a:r>
              <a:rPr lang="en-US" sz="2400" b="0">
                <a:latin typeface="Times New Roman" panose="02020603050405020304" charset="0"/>
              </a:rPr>
              <a:t>Для краткости можно совместить объявление переменной и запись данных в одну строку. Или объявить несколько переменных в одной строке.</a:t>
            </a:r>
            <a:endParaRPr lang="en-US" sz="2400" b="0">
              <a:latin typeface="Times New Roman" panose="02020603050405020304" charset="0"/>
            </a:endParaRPr>
          </a:p>
          <a:p>
            <a:pPr indent="449580" algn="just">
              <a:lnSpc>
                <a:spcPct val="10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449580" algn="just">
              <a:lnSpc>
                <a:spcPct val="100000"/>
              </a:lnSpc>
            </a:pPr>
            <a:r>
              <a:rPr lang="zh-CN" sz="2800" b="0">
                <a:cs typeface="Times New Roman" panose="02020603050405020304" charset="0"/>
              </a:rPr>
              <a:t>为简洁起见，可以将声明变量和将数据写入单个字符串相结合。或者在一行上声明多个变量。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5360" y="2621280"/>
            <a:ext cx="770064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'Anna'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30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1170" y="4186555"/>
            <a:ext cx="5778500" cy="1892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16255" y="1543050"/>
            <a:ext cx="1115949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Такой способ может показаться короче, но не рекомендуется использовать его. Для лучшей читаемости лучше объявлять каждую переменную на новой строке. Многострочный вариант немного длиннее, но легче для чтения.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此方法可能看起来更短，但不建议这样做。为了提高可读性，最好在新行上声明每个变量。多行版本稍长，但更易于阅读。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1864995" y="407670"/>
            <a:ext cx="774065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    name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'Anna'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    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30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0535" y="2908300"/>
            <a:ext cx="5778500" cy="18923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86130" y="5253990"/>
            <a:ext cx="10841990" cy="1291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*Процесс сложения строк, вторая строка примера, называется конкатенацией.</a:t>
            </a:r>
            <a:endParaRPr lang="en-US" sz="2400" b="0"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*添加字符串的过程（示例的第二行）称为串联。 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6575" y="1305560"/>
            <a:ext cx="1111948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В некоторых старых скриптах Вы можете обнаружить вместо ключевого слова </a:t>
            </a:r>
            <a:r>
              <a:rPr lang="en-US" sz="2400" b="0" i="1">
                <a:latin typeface="Times New Roman" panose="02020603050405020304" charset="0"/>
              </a:rPr>
              <a:t>let</a:t>
            </a:r>
            <a:r>
              <a:rPr lang="en-US" sz="2400" b="0">
                <a:latin typeface="Times New Roman" panose="02020603050405020304" charset="0"/>
              </a:rPr>
              <a:t> слово </a:t>
            </a:r>
            <a:r>
              <a:rPr lang="en-US" sz="2400" b="0" i="1">
                <a:latin typeface="Times New Roman" panose="02020603050405020304" charset="0"/>
              </a:rPr>
              <a:t>var</a:t>
            </a:r>
            <a:r>
              <a:rPr lang="en-US" sz="2400" b="0">
                <a:latin typeface="Times New Roman" panose="02020603050405020304" charset="0"/>
              </a:rPr>
              <a:t>. Ключевое слово </a:t>
            </a:r>
            <a:r>
              <a:rPr lang="en-US" sz="2400" b="0" i="1">
                <a:latin typeface="Times New Roman" panose="02020603050405020304" charset="0"/>
              </a:rPr>
              <a:t>var</a:t>
            </a:r>
            <a:r>
              <a:rPr lang="en-US" sz="2400" b="0">
                <a:latin typeface="Times New Roman" panose="02020603050405020304" charset="0"/>
              </a:rPr>
              <a:t> – почти то же самое, что и </a:t>
            </a:r>
            <a:r>
              <a:rPr lang="en-US" sz="2400" b="0" i="1">
                <a:latin typeface="Times New Roman" panose="02020603050405020304" charset="0"/>
              </a:rPr>
              <a:t>let</a:t>
            </a:r>
            <a:r>
              <a:rPr lang="en-US" sz="2400" b="0">
                <a:latin typeface="Times New Roman" panose="02020603050405020304" charset="0"/>
              </a:rPr>
              <a:t>. Оно объявляет переменную, но немного по-другому, </a:t>
            </a:r>
            <a:r>
              <a:rPr lang="en-US" sz="2400" b="0" i="1">
                <a:latin typeface="Times New Roman" panose="02020603050405020304" charset="0"/>
              </a:rPr>
              <a:t>«устаревшим»</a:t>
            </a:r>
            <a:r>
              <a:rPr lang="en-US" sz="2400" b="0">
                <a:latin typeface="Times New Roman" panose="02020603050405020304" charset="0"/>
              </a:rPr>
              <a:t> способом.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在一些较旧的脚本中，您可能会找到一个关键字而不是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让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词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是</a:t>
            </a:r>
            <a:r>
              <a:rPr lang="zh-CN" sz="2800" b="0">
                <a:cs typeface="Times New Roman" panose="02020603050405020304" charset="0"/>
              </a:rPr>
              <a:t>.关键词 </a:t>
            </a:r>
            <a:r>
              <a:rPr lang="zh-CN" sz="2800" b="0" i="1">
                <a:cs typeface="Times New Roman" panose="02020603050405020304" charset="0"/>
              </a:rPr>
              <a:t>是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– 几乎相同 </a:t>
            </a:r>
            <a:r>
              <a:rPr lang="zh-CN" sz="2800" b="0" i="1">
                <a:cs typeface="Times New Roman" panose="02020603050405020304" charset="0"/>
              </a:rPr>
              <a:t>让</a:t>
            </a:r>
            <a:r>
              <a:rPr lang="zh-CN" sz="2800" b="0">
                <a:cs typeface="Times New Roman" panose="02020603050405020304" charset="0"/>
              </a:rPr>
              <a:t>.它声明了一个变量，但方式略有不同， </a:t>
            </a:r>
            <a:r>
              <a:rPr lang="zh-CN" sz="2800" b="0" i="1">
                <a:cs typeface="Times New Roman" panose="02020603050405020304" charset="0"/>
              </a:rPr>
              <a:t>“已过时”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道路。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859790" y="1159510"/>
            <a:ext cx="10471785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С помощью ключевого слова </a:t>
            </a:r>
            <a:r>
              <a:rPr lang="en-US" sz="2400" b="0" i="1">
                <a:latin typeface="Times New Roman" panose="02020603050405020304" charset="0"/>
              </a:rPr>
              <a:t>const</a:t>
            </a:r>
            <a:r>
              <a:rPr lang="en-US" sz="2400" b="0">
                <a:latin typeface="Times New Roman" panose="02020603050405020304" charset="0"/>
              </a:rPr>
              <a:t> можно определить константу, которая, как и переменная, хранит значение, однако это значение не может быть изменено. Если мы попробуем изменить ее значение, то мы столкнемся с ошибкой.</a:t>
            </a:r>
            <a:endParaRPr lang="en-US" sz="2400" b="0"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可以使用</a:t>
            </a:r>
            <a:r>
              <a:rPr lang="en-US" sz="2800" b="0">
                <a:latin typeface="Times New Roman" panose="02020603050405020304" charset="0"/>
              </a:rPr>
              <a:t> const</a:t>
            </a:r>
            <a:r>
              <a:rPr lang="en-US" sz="2800" b="0" i="1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关键字</a:t>
            </a:r>
            <a:r>
              <a:rPr lang="zh-CN" sz="2800" b="0">
                <a:cs typeface="Times New Roman" panose="02020603050405020304" charset="0"/>
              </a:rPr>
              <a:t>定义一个常量，该常量</a:t>
            </a:r>
            <a:r>
              <a:rPr lang="en-US" sz="2800" b="0">
                <a:latin typeface="Times New Roman" panose="02020603050405020304" charset="0"/>
              </a:rPr>
              <a:t>  </a:t>
            </a:r>
            <a:r>
              <a:rPr lang="zh-CN" sz="2800" b="0">
                <a:cs typeface="Times New Roman" panose="02020603050405020304" charset="0"/>
              </a:rPr>
              <a:t>与变量一样存储一个值，但该值无法更改。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如果我们尝试更改其值，我们将遇到错误。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66445" y="2192020"/>
            <a:ext cx="8964295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'JavaScript!!!!!!!'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second_message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second_message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'JavaScript!!!!!!!'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second_message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66445" y="366395"/>
            <a:ext cx="10267315" cy="1537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Данный скрипт не сработает, а в консоли появится ошибка.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/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此脚本将不起作用，并且控制台中将出现错误。</a:t>
            </a:r>
            <a:r>
              <a:rPr lang="en-US" sz="1400" b="0">
                <a:solidFill>
                  <a:srgbClr val="000000"/>
                </a:solidFill>
                <a:latin typeface="Times New Roman" panose="02020603050405020304" charset="0"/>
              </a:rPr>
              <a:t> </a:t>
            </a:r>
            <a:endParaRPr lang="en-US"/>
          </a:p>
        </p:txBody>
      </p:sp>
      <p:pic>
        <p:nvPicPr>
          <p:cNvPr id="239" name="image10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3263900" y="4848225"/>
            <a:ext cx="6015990" cy="155638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871855" y="1229360"/>
            <a:ext cx="1071689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/>
            <a:r>
              <a:rPr lang="en-US" sz="2400" b="0">
                <a:latin typeface="Times New Roman" panose="02020603050405020304" charset="0"/>
              </a:rPr>
              <a:t>Когда использовать переменные, а когда константы? Если вы уверены, что значение в процессе программы не будет изменяться, тогда это значение определяется в виде константы. Если неизвестно, будет ли значение меняться или нет, то рекомендуется определить значение как константу. А в случае, если далее потребуется его изменить, то просто можно изменить определение значения с const на let.</a:t>
            </a:r>
            <a:endParaRPr lang="en-US" sz="2400" b="0">
              <a:latin typeface="Times New Roman" panose="02020603050405020304" charset="0"/>
            </a:endParaRPr>
          </a:p>
          <a:p>
            <a:pPr marL="0" indent="449580" algn="just"/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49580" algn="just"/>
            <a:r>
              <a:rPr lang="zh-CN" sz="2800" b="0">
                <a:cs typeface="Times New Roman" panose="02020603050405020304" charset="0"/>
              </a:rPr>
              <a:t>何时使用变量，何时使用常量？如果确定该值在程序过程中不会更改，则此值定义为常量。如果您不知道该值是否会更改，那么最好将该值定义为常量。如果以后需要更改它，可以简单地将值的定义从 const 更改为 let。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1039495" y="1628775"/>
            <a:ext cx="10113645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/>
            <a:r>
              <a:rPr lang="en-US" sz="2400"/>
              <a:t>В JavaScript есть два ограничения, касающиеся имён переменных:</a:t>
            </a:r>
            <a:endParaRPr lang="en-US" sz="2400"/>
          </a:p>
          <a:p>
            <a:pPr marL="0" indent="449580" algn="just"/>
            <a:r>
              <a:rPr lang="en-US" sz="2400"/>
              <a:t>1.Имя переменной должно содержать только буквы, цифры или символы $ и _;</a:t>
            </a:r>
            <a:endParaRPr lang="en-US" sz="2400"/>
          </a:p>
          <a:p>
            <a:pPr marL="0" indent="449580" algn="just"/>
            <a:r>
              <a:rPr lang="en-US" sz="2400"/>
              <a:t>2.Первый символ не должен быть цифрой. </a:t>
            </a:r>
            <a:endParaRPr lang="en-US" sz="2400"/>
          </a:p>
          <a:p>
            <a:pPr marL="0" indent="449580" algn="just"/>
            <a:endParaRPr lang="en-US" sz="2400"/>
          </a:p>
          <a:p>
            <a:pPr marL="0" indent="449580" algn="just"/>
            <a:r>
              <a:rPr lang="en-US" sz="2800"/>
              <a:t>JavaScript 在变量名称方面有两个限制：</a:t>
            </a:r>
            <a:endParaRPr lang="en-US" sz="2800"/>
          </a:p>
          <a:p>
            <a:pPr marL="0" indent="449580" algn="just"/>
            <a:r>
              <a:rPr lang="en-US" sz="2800"/>
              <a:t>一.变量名称只能包含字母、数字或符号 $ 和 _;</a:t>
            </a:r>
            <a:endParaRPr lang="en-US" sz="2800"/>
          </a:p>
          <a:p>
            <a:pPr marL="0" indent="449580" algn="just"/>
            <a:r>
              <a:rPr lang="en-US" sz="2800"/>
              <a:t>二.第一个字符不应是数字。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72110" y="1043940"/>
            <a:ext cx="1144841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Значение в JavaScript всегда относится к данным определённого типа. Например, это может быть строка или число. Переменная в JavaScript может содержать любые данные. В один момент там может быть строка, а в другой – число. Все используемые данные в JavaScript имеют определенный тип.</a:t>
            </a:r>
            <a:endParaRPr lang="en-US" sz="2400" b="0"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r>
              <a:rPr lang="zh-CN" sz="2400" b="0">
                <a:cs typeface="Times New Roman" panose="02020603050405020304" charset="0"/>
              </a:rPr>
              <a:t>JavaScript 中的值始终是指特定类型的数据。例如，它可以是字符串或数字。JavaScript 中的变量可以包含任何数据。在某一时刻可能有一个字符串，在另一时刻可能有一个数字。JavaScript 中使用的所有数据都属于某种类型。</a:t>
            </a:r>
            <a:endParaRPr 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5445" y="822325"/>
            <a:ext cx="1142111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2400">
                <a:latin typeface="Times New Roman" panose="02020603050405020304" charset="0"/>
                <a:sym typeface="+mn-ea"/>
              </a:rPr>
              <a:t> В JavaScript имеется </a:t>
            </a:r>
            <a:r>
              <a:rPr lang="ru-RU" altLang="en-US" sz="2400">
                <a:latin typeface="Times New Roman" panose="02020603050405020304" charset="0"/>
                <a:sym typeface="+mn-ea"/>
              </a:rPr>
              <a:t>шесть </a:t>
            </a:r>
            <a:r>
              <a:rPr lang="en-US" sz="2400">
                <a:latin typeface="Times New Roman" panose="02020603050405020304" charset="0"/>
                <a:sym typeface="+mn-ea"/>
              </a:rPr>
              <a:t>типов данных:</a:t>
            </a:r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● String: представляет строку;</a:t>
            </a:r>
            <a:endParaRPr lang="en-US" sz="2400"/>
          </a:p>
          <a:p>
            <a:pPr algn="just"/>
            <a:r>
              <a:rPr lang="en-US" sz="2400"/>
              <a:t>表示一个字符串;</a:t>
            </a:r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● Number: представляет числовое значение;</a:t>
            </a:r>
            <a:endParaRPr lang="en-US" sz="2400"/>
          </a:p>
          <a:p>
            <a:pPr algn="just"/>
            <a:r>
              <a:rPr lang="en-US" sz="2400"/>
              <a:t>表示一个数值</a:t>
            </a:r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● BigInt: предназначен для представления очень больших целых чисел;</a:t>
            </a:r>
            <a:endParaRPr lang="en-US" sz="2400"/>
          </a:p>
          <a:p>
            <a:pPr algn="just"/>
            <a:r>
              <a:rPr lang="en-US" sz="2400"/>
              <a:t>旨在表示非常大的整数</a:t>
            </a:r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● Boolean: представляет логическое значение true или false;</a:t>
            </a:r>
            <a:endParaRPr lang="en-US" sz="2400"/>
          </a:p>
          <a:p>
            <a:pPr algn="just"/>
            <a:r>
              <a:rPr lang="en-US" sz="2400"/>
              <a:t>表示布尔值 true 或 false</a:t>
            </a:r>
            <a:endParaRPr lang="en-US" sz="2400"/>
          </a:p>
          <a:p>
            <a:pPr algn="just"/>
            <a:endParaRPr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5445" y="835660"/>
            <a:ext cx="114211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>
                <a:latin typeface="Times New Roman" panose="02020603050405020304" charset="0"/>
                <a:sym typeface="+mn-ea"/>
              </a:rPr>
              <a:t> </a:t>
            </a:r>
            <a:r>
              <a:rPr lang="en-US" sz="2400">
                <a:latin typeface="Times New Roman" panose="02020603050405020304" charset="0"/>
                <a:sym typeface="+mn-ea"/>
              </a:rPr>
              <a:t>В JavaScript имеется </a:t>
            </a:r>
            <a:r>
              <a:rPr lang="ru-RU" altLang="en-US" sz="2400">
                <a:latin typeface="Times New Roman" panose="02020603050405020304" charset="0"/>
                <a:sym typeface="+mn-ea"/>
              </a:rPr>
              <a:t>шесть </a:t>
            </a:r>
            <a:r>
              <a:rPr lang="en-US" sz="2400">
                <a:latin typeface="Times New Roman" panose="02020603050405020304" charset="0"/>
                <a:sym typeface="+mn-ea"/>
              </a:rPr>
              <a:t>типов данных:</a:t>
            </a:r>
            <a:endParaRPr lang="en-US" sz="2400">
              <a:latin typeface="Times New Roman" panose="02020603050405020304" charset="0"/>
              <a:sym typeface="+mn-ea"/>
            </a:endParaRPr>
          </a:p>
          <a:p>
            <a:pPr algn="just"/>
            <a:endParaRPr lang="en-US" sz="2400"/>
          </a:p>
          <a:p>
            <a:pPr algn="just"/>
            <a:r>
              <a:rPr lang="en-US" sz="2400">
                <a:sym typeface="+mn-ea"/>
              </a:rPr>
              <a:t>● </a:t>
            </a:r>
            <a:r>
              <a:rPr lang="en-US" sz="2400"/>
              <a:t>Undefined: представляет одно специальное значение - undefined и указывает, что значение не установлено;</a:t>
            </a:r>
            <a:endParaRPr lang="en-US" sz="2400"/>
          </a:p>
          <a:p>
            <a:pPr algn="just"/>
            <a:r>
              <a:rPr lang="en-US" sz="2400"/>
              <a:t>未定义：表示单个特殊值 undefined，并指示未设置该值</a:t>
            </a:r>
            <a:endParaRPr lang="en-US" sz="2400"/>
          </a:p>
          <a:p>
            <a:pPr algn="just"/>
            <a:endParaRPr lang="en-US" sz="2400"/>
          </a:p>
          <a:p>
            <a:pPr algn="just"/>
            <a:r>
              <a:rPr lang="en-US" sz="2400"/>
              <a:t>● Null: представляет одно специальное значение - null и указывает на отсутствие значения;</a:t>
            </a:r>
            <a:endParaRPr lang="en-US" sz="2400"/>
          </a:p>
          <a:p>
            <a:pPr algn="just"/>
            <a:r>
              <a:rPr lang="en-US" sz="2400"/>
              <a:t>表示单个特殊值 - null，不表示任何值</a:t>
            </a:r>
            <a:endParaRPr lang="en-US" sz="2400"/>
          </a:p>
          <a:p>
            <a:pPr indent="0" algn="just">
              <a:buFont typeface="Arial" panose="020B0704020202020204" pitchFamily="34" charset="0"/>
              <a:buNone/>
            </a:pPr>
            <a:endParaRPr lang="en-US" sz="2400">
              <a:sym typeface="+mn-ea"/>
            </a:endParaRPr>
          </a:p>
          <a:p>
            <a:pPr indent="0" algn="just">
              <a:buFont typeface="Arial" panose="020B0704020202020204" pitchFamily="34" charset="0"/>
              <a:buNone/>
            </a:pPr>
            <a:r>
              <a:rPr lang="en-US" sz="2400">
                <a:sym typeface="+mn-ea"/>
              </a:rPr>
              <a:t>● </a:t>
            </a:r>
            <a:r>
              <a:rPr lang="en-US" sz="2400"/>
              <a:t>Object: представляет комплексный объект;</a:t>
            </a:r>
            <a:endParaRPr lang="en-US" sz="2400"/>
          </a:p>
          <a:p>
            <a:pPr algn="just"/>
            <a:r>
              <a:rPr lang="en-US" sz="2400"/>
              <a:t>表示复杂对象</a:t>
            </a:r>
            <a:endParaRPr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97560" y="1229360"/>
            <a:ext cx="10789285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54038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Первые шесть типов представляют примитивные типы данных. Последний тип - </a:t>
            </a:r>
            <a:r>
              <a:rPr lang="en-US" sz="2400" b="0" i="1">
                <a:latin typeface="Times New Roman" panose="02020603050405020304" charset="0"/>
              </a:rPr>
              <a:t>Object</a:t>
            </a:r>
            <a:r>
              <a:rPr lang="en-US" sz="2400" b="0">
                <a:latin typeface="Times New Roman" panose="02020603050405020304" charset="0"/>
              </a:rPr>
              <a:t> представляет сложный, комплексный тип данных, который состоит из значений примитивных типов или других объектов. Рассмотрим основные примитивные типы данных.</a:t>
            </a:r>
            <a:endParaRPr lang="en-US" sz="2400" b="0">
              <a:latin typeface="Times New Roman" panose="02020603050405020304" charset="0"/>
            </a:endParaRPr>
          </a:p>
          <a:p>
            <a:pPr marL="0" indent="540385" algn="just">
              <a:lnSpc>
                <a:spcPct val="150000"/>
              </a:lnSpc>
            </a:pPr>
            <a:endParaRPr lang="en-US" sz="28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40385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前六种类型表示基元数据类型。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最后一个类型</a:t>
            </a:r>
            <a:r>
              <a:rPr lang="en-US" sz="2800" b="0">
                <a:latin typeface="Times New Roman" panose="02020603050405020304" charset="0"/>
              </a:rPr>
              <a:t> Object</a:t>
            </a:r>
            <a:r>
              <a:rPr lang="en-US" sz="2800" b="0" i="1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表示由基元类型或其他对象的值组成的复杂数据类型。</a:t>
            </a:r>
            <a:r>
              <a:rPr lang="en-US" sz="2800" b="0" i="1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让我们看一下主要的基元数据类型。</a:t>
            </a:r>
            <a:endParaRPr lang="zh-CN" sz="2800" b="0" i="1"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14960" y="265430"/>
            <a:ext cx="11562080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54038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Ранее мы работали только с типом </a:t>
            </a:r>
            <a:r>
              <a:rPr lang="en-US" sz="2400" b="0" i="1">
                <a:latin typeface="Times New Roman" panose="02020603050405020304" charset="0"/>
              </a:rPr>
              <a:t>String</a:t>
            </a:r>
            <a:r>
              <a:rPr lang="en-US" sz="2400" b="0">
                <a:latin typeface="Times New Roman" panose="02020603050405020304" charset="0"/>
              </a:rPr>
              <a:t> - тип данных, значениями которого является произвольная последовательность (строка) символов алфавита. Значение переменных данного типа должно быть заключено в кавычки: двойные, одинарные или обратные.</a:t>
            </a:r>
            <a:endParaRPr lang="en-US" sz="2400" b="0">
              <a:latin typeface="Times New Roman" panose="02020603050405020304" charset="0"/>
            </a:endParaRPr>
          </a:p>
          <a:p>
            <a:pPr marL="0" indent="540385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36195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以前，我们只使用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en-US" sz="2800" b="0" i="1">
                <a:latin typeface="Times New Roman" panose="02020603050405020304" charset="0"/>
              </a:rPr>
              <a:t>String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类型 - 一种数据类型，其值是字母字符的任意序列（字符串）。 此类型的变量的值必须用引号括起来：double、single 或 inverse。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39030" y="4934267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"text 1"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'text 2'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`text 3`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89330" y="609600"/>
            <a:ext cx="1051496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Если внутри строки встречаются кавычки, то мы их должны </a:t>
            </a:r>
            <a:r>
              <a:rPr lang="en-US" sz="2400" b="0" i="1">
                <a:latin typeface="Times New Roman" panose="02020603050405020304" charset="0"/>
              </a:rPr>
              <a:t>экранировать</a:t>
            </a:r>
            <a:r>
              <a:rPr lang="en-US" sz="2400" b="0">
                <a:latin typeface="Times New Roman" panose="02020603050405020304" charset="0"/>
              </a:rPr>
              <a:t> слешем. Или мы можем использовать кавычки другого типа.</a:t>
            </a:r>
            <a:endParaRPr lang="en-US" sz="2400" b="0">
              <a:latin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如果字符串内有引号，我们应该用斜杠</a:t>
            </a:r>
            <a:r>
              <a:rPr lang="zh-CN" sz="2800" b="0" i="1">
                <a:cs typeface="Times New Roman" panose="02020603050405020304" charset="0"/>
              </a:rPr>
              <a:t>转义</a:t>
            </a:r>
            <a:r>
              <a:rPr lang="zh-CN" sz="2800" b="0">
                <a:cs typeface="Times New Roman" panose="02020603050405020304" charset="0"/>
              </a:rPr>
              <a:t>它们。</a:t>
            </a:r>
            <a:r>
              <a:rPr lang="en-US" sz="2800" b="0">
                <a:latin typeface="Times New Roman" panose="02020603050405020304" charset="0"/>
              </a:rPr>
              <a:t>  </a:t>
            </a:r>
            <a:r>
              <a:rPr lang="zh-CN" sz="2800" b="0">
                <a:cs typeface="Times New Roman" panose="02020603050405020304" charset="0"/>
              </a:rPr>
              <a:t>或者我们可以使用另一种类型的引号。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18895" y="4248150"/>
            <a:ext cx="50800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just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"text 1 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\"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text 2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\"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"text 1 'text 2'"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/>
          </a:p>
        </p:txBody>
      </p:sp>
      <p:pic>
        <p:nvPicPr>
          <p:cNvPr id="238" name="image8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5249545" y="3687445"/>
            <a:ext cx="6008370" cy="18275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848995" y="321310"/>
            <a:ext cx="1066800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Использование косых кавычек позволяет нам применять такой прием как интерполяция - встраивать данные в строку. </a:t>
            </a:r>
            <a:endParaRPr lang="en-US" sz="2400" b="0">
              <a:latin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斜杠引号的使用允许我们使用插值这样的技术 - 将数据嵌入到字符串中。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848995" y="3625532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"Anna"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text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`Name: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text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endParaRPr lang="en-US" sz="2000"/>
          </a:p>
        </p:txBody>
      </p:sp>
      <p:pic>
        <p:nvPicPr>
          <p:cNvPr id="243" name="image4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6031230" y="3367405"/>
            <a:ext cx="5485765" cy="15303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98195" y="434340"/>
            <a:ext cx="1083246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Напишем небольшой скрипт, который должен спрашивать у пользователя имя, возраст и знак зодиака, и выводить полученную информацию на страницу.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让我们编写一个小脚本，询问用户姓名、年龄和星座，并在页面上显示信息。</a:t>
            </a:r>
            <a:endParaRPr lang="zh-CN" sz="2800" b="0"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19475" y="3763645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name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'Name: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'Age: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sign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'Zodiac sign: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age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sign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88720" y="1804670"/>
            <a:ext cx="981456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54038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Следующий тип, это тип </a:t>
            </a:r>
            <a:r>
              <a:rPr lang="en-US" sz="2400" b="0" i="1">
                <a:latin typeface="Times New Roman" panose="02020603050405020304" charset="0"/>
              </a:rPr>
              <a:t>Number </a:t>
            </a:r>
            <a:r>
              <a:rPr lang="en-US" sz="2400" b="0">
                <a:latin typeface="Times New Roman" panose="02020603050405020304" charset="0"/>
              </a:rPr>
              <a:t>который представляет числа в JavaScript, которые могут быть целыми или дробными.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zh-CN" sz="2400" b="0"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下一个类型是 Number 类型</a:t>
            </a:r>
            <a:r>
              <a:rPr lang="zh-CN" sz="2800" b="0" i="1">
                <a:cs typeface="Times New Roman" panose="02020603050405020304" charset="0"/>
              </a:rPr>
              <a:t>，它表示 JavaScript 中的数字，</a:t>
            </a:r>
            <a:r>
              <a:rPr lang="zh-CN" sz="2800" b="0">
                <a:cs typeface="Times New Roman" panose="02020603050405020304" charset="0"/>
              </a:rPr>
              <a:t>可以是整数或分数</a:t>
            </a:r>
            <a:r>
              <a:rPr lang="en-US" altLang="zh-CN" sz="2800" b="0">
                <a:cs typeface="Times New Roman" panose="02020603050405020304" charset="0"/>
              </a:rPr>
              <a:t>.</a:t>
            </a:r>
            <a:endParaRPr lang="en-US" altLang="zh-CN" sz="2800" b="0">
              <a:cs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68985" y="1859915"/>
            <a:ext cx="10833100" cy="28517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0005" indent="63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Целые числа, например, 35. Мы можем использовать как положительные, так и отрицательные числа. Диапазон используемых чисел: от -2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r>
              <a:rPr lang="en-US" sz="2400" b="0">
                <a:latin typeface="Times New Roman" panose="02020603050405020304" charset="0"/>
              </a:rPr>
              <a:t> до 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r>
              <a:rPr lang="en-US" sz="2400" b="0" baseline="30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endParaRPr lang="en-US" sz="2400" b="0" baseline="30000">
              <a:latin typeface="Times New Roman" panose="02020603050405020304" charset="0"/>
              <a:cs typeface="Times New Roman" panose="02020603050405020304" charset="0"/>
            </a:endParaRPr>
          </a:p>
          <a:p>
            <a:pPr marL="40005" indent="635" algn="just">
              <a:lnSpc>
                <a:spcPct val="150000"/>
              </a:lnSpc>
            </a:pPr>
            <a:endParaRPr lang="en-US" sz="2400" b="0" baseline="30000">
              <a:latin typeface="Times New Roman" panose="02020603050405020304" charset="0"/>
              <a:cs typeface="Times New Roman" panose="02020603050405020304" charset="0"/>
            </a:endParaRPr>
          </a:p>
          <a:p>
            <a:pPr marL="40005" indent="635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整数，例如，35。我们可以使用正数和负数。使用的数字范围：</a:t>
            </a:r>
            <a:r>
              <a:rPr lang="en-US" sz="2800" b="0">
                <a:latin typeface="Times New Roman" panose="02020603050405020304" charset="0"/>
              </a:rPr>
              <a:t>-2</a:t>
            </a:r>
            <a:r>
              <a:rPr lang="en-US" sz="2800" b="0" baseline="30000">
                <a:latin typeface="Times New Roman" panose="02020603050405020304" charset="0"/>
              </a:rPr>
              <a:t>53</a:t>
            </a:r>
            <a:r>
              <a:rPr lang="en-US" sz="2800" b="0">
                <a:latin typeface="Times New Roman" panose="02020603050405020304" charset="0"/>
              </a:rPr>
              <a:t> до 2</a:t>
            </a:r>
            <a:r>
              <a:rPr lang="en-US" sz="2800" b="0" baseline="30000">
                <a:latin typeface="Times New Roman" panose="02020603050405020304" charset="0"/>
              </a:rPr>
              <a:t>53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977265" y="1541145"/>
            <a:ext cx="10238105" cy="37750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12700" indent="-1270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	Дробные числа (числа с плавающей точкой). В качестве разделителя дробной и целой части применяется точка, например, 3.5575. Опять же можно использовать как положительные, так и отрицательные числа. Для чисел с плавающей точкой используется тот же диапазон: от -2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r>
              <a:rPr lang="en-US" sz="2400" b="0">
                <a:latin typeface="Times New Roman" panose="02020603050405020304" charset="0"/>
              </a:rPr>
              <a:t> до 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endParaRPr lang="en-US" sz="2400" b="0" baseline="30000">
              <a:latin typeface="Times New Roman" panose="02020603050405020304" charset="0"/>
            </a:endParaRPr>
          </a:p>
          <a:p>
            <a:pPr marL="12700" indent="-12700" algn="just">
              <a:lnSpc>
                <a:spcPct val="150000"/>
              </a:lnSpc>
            </a:pPr>
            <a:endParaRPr lang="en-US" sz="2400" b="0" baseline="300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-12700" algn="just">
              <a:lnSpc>
                <a:spcPct val="150000"/>
              </a:lnSpc>
            </a:pPr>
            <a:r>
              <a:rPr lang="en-US" altLang="zh-CN" sz="2400" b="0">
                <a:cs typeface="Times New Roman" panose="02020603050405020304" charset="0"/>
              </a:rPr>
              <a:t>		</a:t>
            </a:r>
            <a:r>
              <a:rPr lang="zh-CN" sz="2400" b="0">
                <a:cs typeface="Times New Roman" panose="02020603050405020304" charset="0"/>
              </a:rPr>
              <a:t>小数（浮点数）。点用作小数和整数分隔符，例如 3.5575。同样，可以使用正数和负数。对于浮点数，使用相同的范围：</a:t>
            </a:r>
            <a:r>
              <a:rPr lang="en-US" sz="2400" b="0">
                <a:latin typeface="Times New Roman" panose="02020603050405020304" charset="0"/>
              </a:rPr>
              <a:t>от -2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r>
              <a:rPr lang="en-US" sz="2400" b="0">
                <a:latin typeface="Times New Roman" panose="02020603050405020304" charset="0"/>
              </a:rPr>
              <a:t> до 2</a:t>
            </a:r>
            <a:r>
              <a:rPr lang="en-US" sz="2400" b="0" baseline="30000">
                <a:latin typeface="Times New Roman" panose="02020603050405020304" charset="0"/>
              </a:rPr>
              <a:t>53</a:t>
            </a:r>
            <a:endParaRPr 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54355" y="1236980"/>
            <a:ext cx="11083290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5021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Существует множество операций для чисел, например, умножение </a:t>
            </a:r>
            <a:r>
              <a:rPr lang="en-US" sz="2400" b="0" i="1">
                <a:latin typeface="Times New Roman" panose="02020603050405020304" charset="0"/>
              </a:rPr>
              <a:t>*</a:t>
            </a:r>
            <a:r>
              <a:rPr lang="en-US" sz="2400" b="0">
                <a:latin typeface="Times New Roman" panose="02020603050405020304" charset="0"/>
              </a:rPr>
              <a:t>, деление </a:t>
            </a:r>
            <a:r>
              <a:rPr lang="en-US" sz="2400" b="0" i="1">
                <a:latin typeface="Times New Roman" panose="02020603050405020304" charset="0"/>
              </a:rPr>
              <a:t>/</a:t>
            </a:r>
            <a:r>
              <a:rPr lang="en-US" sz="2400" b="0">
                <a:latin typeface="Times New Roman" panose="02020603050405020304" charset="0"/>
              </a:rPr>
              <a:t>, сложение </a:t>
            </a:r>
            <a:r>
              <a:rPr lang="en-US" sz="2400" b="0" i="1">
                <a:latin typeface="Times New Roman" panose="02020603050405020304" charset="0"/>
              </a:rPr>
              <a:t>+</a:t>
            </a:r>
            <a:r>
              <a:rPr lang="en-US" sz="2400" b="0">
                <a:latin typeface="Times New Roman" panose="02020603050405020304" charset="0"/>
              </a:rPr>
              <a:t>, вычитание </a:t>
            </a:r>
            <a:r>
              <a:rPr lang="en-US" sz="2400" b="0" i="1">
                <a:latin typeface="Times New Roman" panose="02020603050405020304" charset="0"/>
              </a:rPr>
              <a:t>-</a:t>
            </a:r>
            <a:r>
              <a:rPr lang="en-US" sz="2400" b="0">
                <a:latin typeface="Times New Roman" panose="02020603050405020304" charset="0"/>
              </a:rPr>
              <a:t> и так далее. Кроме обычных чисел, существуют так называемые «специальные числовые значения», которые относятся к этому типу данных: </a:t>
            </a:r>
            <a:r>
              <a:rPr lang="en-US" sz="2400" b="0" i="1">
                <a:latin typeface="Times New Roman" panose="02020603050405020304" charset="0"/>
              </a:rPr>
              <a:t>Infinity</a:t>
            </a:r>
            <a:r>
              <a:rPr lang="en-US" sz="2400" b="0">
                <a:latin typeface="Times New Roman" panose="02020603050405020304" charset="0"/>
              </a:rPr>
              <a:t> и </a:t>
            </a:r>
            <a:r>
              <a:rPr lang="en-US" sz="2400" b="0" i="1">
                <a:latin typeface="Times New Roman" panose="02020603050405020304" charset="0"/>
              </a:rPr>
              <a:t>NaN</a:t>
            </a:r>
            <a:r>
              <a:rPr lang="en-US" sz="2400" b="0">
                <a:latin typeface="Times New Roman" panose="02020603050405020304" charset="0"/>
              </a:rPr>
              <a:t>.</a:t>
            </a:r>
            <a:endParaRPr lang="en-US" sz="2400" b="0">
              <a:latin typeface="Times New Roman" panose="02020603050405020304" charset="0"/>
            </a:endParaRPr>
          </a:p>
          <a:p>
            <a:pPr marL="0" indent="450215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数字有很多运算，如乘法</a:t>
            </a:r>
            <a:r>
              <a:rPr lang="en-US" sz="2800" b="0" i="1">
                <a:latin typeface="Times New Roman" panose="02020603050405020304" charset="0"/>
              </a:rPr>
              <a:t>*</a:t>
            </a:r>
            <a:r>
              <a:rPr lang="zh-CN" sz="2800" b="0">
                <a:cs typeface="Times New Roman" panose="02020603050405020304" charset="0"/>
              </a:rPr>
              <a:t>、除法</a:t>
            </a:r>
            <a:r>
              <a:rPr lang="zh-CN" sz="2800" b="0" i="1">
                <a:cs typeface="Times New Roman" panose="02020603050405020304" charset="0"/>
              </a:rPr>
              <a:t>/、加法</a:t>
            </a:r>
            <a:r>
              <a:rPr lang="zh-CN" sz="2800" b="0">
                <a:cs typeface="Times New Roman" panose="02020603050405020304" charset="0"/>
              </a:rPr>
              <a:t>+、</a:t>
            </a:r>
            <a:r>
              <a:rPr lang="zh-CN" sz="2800" b="0" i="1">
                <a:cs typeface="Times New Roman" panose="02020603050405020304" charset="0"/>
              </a:rPr>
              <a:t>减法</a:t>
            </a:r>
            <a:r>
              <a:rPr lang="en-US" sz="2800" b="0" i="1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 -等。  除了常规数字之外，还有属于此类数据的所谓“特殊数值”：</a:t>
            </a:r>
            <a:r>
              <a:rPr lang="en-US" sz="2800" b="0" i="1">
                <a:latin typeface="Times New Roman" panose="02020603050405020304" charset="0"/>
              </a:rPr>
              <a:t>Infinity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和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en-US" sz="2800" b="0" i="1">
                <a:latin typeface="Times New Roman" panose="02020603050405020304" charset="0"/>
              </a:rPr>
              <a:t>NaN</a:t>
            </a:r>
            <a:r>
              <a:rPr lang="zh-CN" sz="2800" b="0">
                <a:cs typeface="Times New Roman" panose="02020603050405020304" charset="0"/>
              </a:rPr>
              <a:t>。</a:t>
            </a:r>
            <a:r>
              <a:rPr lang="en-US" sz="2800" b="0" i="1">
                <a:latin typeface="Times New Roman" panose="02020603050405020304" charset="0"/>
              </a:rPr>
              <a:t> 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910590" y="648335"/>
            <a:ext cx="10443210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5021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Разберем на примере. Запустите скрипт и проверьте результаты самостоятельно.</a:t>
            </a:r>
            <a:endParaRPr lang="en-US" sz="2400" b="0">
              <a:latin typeface="Times New Roman" panose="02020603050405020304" charset="0"/>
            </a:endParaRPr>
          </a:p>
          <a:p>
            <a:pPr indent="450215" algn="just">
              <a:lnSpc>
                <a:spcPct val="150000"/>
              </a:lnSpc>
            </a:pPr>
            <a:endParaRPr lang="en-US" sz="28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19685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让我们看一个例子。运行脚本并自行检查结果。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592195" y="4134167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+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2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/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Infinity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"text"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/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NaN</a:t>
            </a:r>
            <a:endParaRPr lang="en-US" sz="20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41680" y="1041400"/>
            <a:ext cx="10902950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Математические операции в JavaScript </a:t>
            </a:r>
            <a:r>
              <a:rPr lang="en-US" sz="2400" b="0" i="1">
                <a:latin typeface="Times New Roman" panose="02020603050405020304" charset="0"/>
              </a:rPr>
              <a:t>«безопасны»</a:t>
            </a:r>
            <a:r>
              <a:rPr lang="en-US" sz="2400" b="0">
                <a:latin typeface="Times New Roman" panose="02020603050405020304" charset="0"/>
              </a:rPr>
              <a:t>. Мы можем делать что угодно: делить на ноль, обращаться с нечисловыми строками как с числами и т.д. Скрипт никогда не остановится с фатальной ошибкой (не «умрёт»). В худшем случае мы получим NaN как результат выполнения.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8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JavaScript 中的数学运算</a:t>
            </a:r>
            <a:r>
              <a:rPr lang="zh-CN" sz="2800" b="0" i="1">
                <a:cs typeface="Times New Roman" panose="02020603050405020304" charset="0"/>
              </a:rPr>
              <a:t>是“安全的”。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我们可以做任何事情：除以零，将非数字字符串视为数字等。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脚本永远不会因致命错误而停止（它不会“死亡”）。 在最坏的情况下，我们将得到 NaN 作为执行的结果。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91185" y="659765"/>
            <a:ext cx="1095883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40385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Напишем небольшой скрипт с применением текущих знаний. Скрипт должен спрашивать у пользователя в каком году он родился и считать возраст пользователя. </a:t>
            </a:r>
            <a:endParaRPr lang="en-US" sz="2400" b="0">
              <a:latin typeface="Times New Roman" panose="02020603050405020304" charset="0"/>
            </a:endParaRPr>
          </a:p>
          <a:p>
            <a:pPr indent="540385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让我们用我们目前的知识写一个简短的脚本。该脚本应询问用户他们出生于哪一年，并计算用户的年龄。</a:t>
            </a:r>
            <a:r>
              <a:rPr lang="en-US" sz="2800" b="0">
                <a:latin typeface="Times New Roman" panose="02020603050405020304" charset="0"/>
              </a:rPr>
              <a:t> </a:t>
            </a:r>
            <a:endParaRPr lang="en-US" sz="2800" b="0">
              <a:latin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93365" y="4954905"/>
            <a:ext cx="714565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const 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prompt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'When you was born?'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2024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-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result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40385" y="1522730"/>
            <a:ext cx="1111123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sz="2400" b="0"/>
              <a:t>Тип BigInt добавлен в последних стандартах JavaScript для представления очень больших целых чисел, которые выходят за пределы диапазона типа Number. </a:t>
            </a:r>
            <a:endParaRPr sz="2400" b="0"/>
          </a:p>
          <a:p>
            <a:pPr marL="0" indent="449580" algn="just">
              <a:lnSpc>
                <a:spcPct val="150000"/>
              </a:lnSpc>
            </a:pPr>
            <a:endParaRPr sz="2400" b="0"/>
          </a:p>
          <a:p>
            <a:pPr marL="0" indent="15240" algn="just">
              <a:lnSpc>
                <a:spcPct val="150000"/>
              </a:lnSpc>
            </a:pPr>
            <a:r>
              <a:rPr sz="2800" b="0"/>
              <a:t>BigInt  类型是在最新的 JavaScript 标准中添加的，用于表示超出  Number 类型范围的非常大的整数。 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75005" y="982345"/>
            <a:ext cx="1113663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449580" algn="just">
              <a:lnSpc>
                <a:spcPct val="150000"/>
              </a:lnSpc>
            </a:pPr>
            <a:r>
              <a:rPr sz="2400">
                <a:sym typeface="+mn-ea"/>
              </a:rPr>
              <a:t>Это не значит, что мы не можем совсем работать с большими числами с помощью типа number, но работа с ними в случае с типом number будет сопряжена с проблемами. Чтобы создать значение типа BigInt, необходимо добавить n в конец числового литерала.</a:t>
            </a:r>
            <a:endParaRPr sz="2400">
              <a:sym typeface="+mn-ea"/>
            </a:endParaRPr>
          </a:p>
          <a:p>
            <a:pPr marL="0" indent="449580" algn="just">
              <a:lnSpc>
                <a:spcPct val="150000"/>
              </a:lnSpc>
            </a:pPr>
            <a:endParaRPr sz="2800">
              <a:sym typeface="+mn-ea"/>
            </a:endParaRPr>
          </a:p>
          <a:p>
            <a:pPr marL="0" indent="0" algn="just">
              <a:lnSpc>
                <a:spcPct val="150000"/>
              </a:lnSpc>
            </a:pPr>
            <a:r>
              <a:rPr sz="2800">
                <a:sym typeface="+mn-ea"/>
              </a:rPr>
              <a:t>这并不是说我们不能完全使用数字类型处理大数字，但是在数字类型的情况下使用它们会存在问题。 若要创建 BigInt 类型的值，需要在数值文本的末尾添加 n。</a:t>
            </a:r>
            <a:endParaRPr lang="en-US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767840" y="852805"/>
            <a:ext cx="86569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1234567890123456789012345678901234567890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1234567890123456789012345678901234567890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pic>
        <p:nvPicPr>
          <p:cNvPr id="240" name="image3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195830" y="2508250"/>
            <a:ext cx="7800975" cy="28384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907415" y="909955"/>
            <a:ext cx="10653395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Тип </a:t>
            </a:r>
            <a:r>
              <a:rPr lang="en-US" sz="2400" b="0" i="1">
                <a:latin typeface="Times New Roman" panose="02020603050405020304" charset="0"/>
              </a:rPr>
              <a:t>BigInt</a:t>
            </a:r>
            <a:r>
              <a:rPr lang="en-US" sz="2400" b="0">
                <a:latin typeface="Times New Roman" panose="02020603050405020304" charset="0"/>
              </a:rPr>
              <a:t> нужно использовать в ситуациях, когда программа работает с большими числами и точность вычисления играет важную роль. Попробуем провести вычисления с рассмотренными типами, чтобы увидеть разницу между ними. </a:t>
            </a:r>
            <a:endParaRPr lang="en-US" sz="2400" b="0"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en-US" sz="2800" b="0" i="1">
                <a:latin typeface="Times New Roman" panose="02020603050405020304" charset="0"/>
              </a:rPr>
              <a:t>BigInt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类型应用于程序处理大量数字且计算准确性起重要作用的情况。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让我们尝试使用所考虑的类型执行计算，以查看它们之间的区别。</a:t>
            </a:r>
            <a:r>
              <a:rPr lang="en-US" sz="1400" b="0">
                <a:latin typeface="Times New Roman" panose="02020603050405020304" charset="0"/>
              </a:rPr>
              <a:t> 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1589405" y="1844040"/>
            <a:ext cx="9012555" cy="316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1234567890123456789012345678901234567890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1234567890123456789012345678901234567890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1234567890123456789012345678901234567891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*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100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//123456789012345678901234567890123456789000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bigInt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/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//10037137318076884463515005519522232259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1.2345678901234568e+39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*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100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1.2345678901234568e+41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number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/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123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1.0037137318076885e+37</a:t>
            </a:r>
            <a:endParaRPr lang="en-US" sz="20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949960" y="889635"/>
            <a:ext cx="10708640" cy="24301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40385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Тип Boolean логические значения true (верно) и false (ложно). Рассмотренный ранее метод отображения диалогового окна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confirm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возвращает значение типа. 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540385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sz="2400" b="0" i="1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Boolean 类型 布尔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值为 true 和 false。 前面讨论的确认对话框显示方法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返回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Boolean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类型的值。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717800" y="4119245"/>
            <a:ext cx="71729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confirm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'Do you like JS?'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result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46760" y="2737485"/>
            <a:ext cx="365252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/>
              <a:t>5 &gt; 2       // true</a:t>
            </a:r>
            <a:endParaRPr lang="en-US" altLang="en-US" sz="2800"/>
          </a:p>
          <a:p>
            <a:r>
              <a:rPr lang="en-US" altLang="en-US" sz="2800"/>
              <a:t>10 === 5    // false</a:t>
            </a:r>
            <a:endParaRPr lang="en-US" altLang="en-US" sz="2800"/>
          </a:p>
          <a:p>
            <a:r>
              <a:rPr lang="en-US" altLang="en-US" sz="2800"/>
              <a:t>3 !== 1     // true</a:t>
            </a:r>
            <a:endParaRPr lang="en-US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594995" y="651510"/>
            <a:ext cx="564134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Как получить значение Boolean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-&gt; c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помощью логических операторов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69925" y="2561590"/>
            <a:ext cx="507174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/>
              <a:t>Boolean("Hello")  // true</a:t>
            </a:r>
            <a:endParaRPr lang="en-US" altLang="en-US" sz="2800"/>
          </a:p>
          <a:p>
            <a:r>
              <a:rPr lang="en-US" altLang="en-US" sz="2800"/>
              <a:t>Boolean("")       // false</a:t>
            </a:r>
            <a:endParaRPr lang="en-US" altLang="en-US" sz="2800"/>
          </a:p>
          <a:p>
            <a:r>
              <a:rPr lang="en-US" altLang="en-US" sz="2800"/>
              <a:t>Boolean(0)        // false</a:t>
            </a:r>
            <a:endParaRPr lang="en-US" altLang="en-US" sz="2800"/>
          </a:p>
          <a:p>
            <a:r>
              <a:rPr lang="en-US" altLang="en-US" sz="2800"/>
              <a:t>Boolean(123)      // true</a:t>
            </a:r>
            <a:endParaRPr lang="en-US" altLang="en-US" sz="2800"/>
          </a:p>
          <a:p>
            <a:endParaRPr lang="en-US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594995" y="651510"/>
            <a:ext cx="564134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Как получить значение Boolean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-&gt; c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помощью приведения типа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769620" y="540385"/>
            <a:ext cx="1058418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40385" algn="just">
              <a:lnSpc>
                <a:spcPct val="10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Undefined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указывает, что значение не определено или не установлено. Например, когда мы только определяем переменную без присвоения ей начального значения, она представляет тип.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540385" algn="just">
              <a:lnSpc>
                <a:spcPct val="100000"/>
              </a:lnSpc>
            </a:pPr>
            <a:endParaRPr lang="zh-CN" sz="2400" b="0" i="1">
              <a:solidFill>
                <a:srgbClr val="000000"/>
              </a:solidFill>
              <a:cs typeface="Times New Roman" panose="02020603050405020304" charset="0"/>
            </a:endParaRPr>
          </a:p>
          <a:p>
            <a:pPr indent="540385" algn="just">
              <a:lnSpc>
                <a:spcPct val="100000"/>
              </a:lnSpc>
            </a:pP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Undefined 表示该值未定义或未定义。 例如，当我们只定义一个变量而不为其分配初始值时，它表示 Undefined 类型。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142490" y="3910330"/>
            <a:ext cx="50800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8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result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8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result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8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pic>
        <p:nvPicPr>
          <p:cNvPr id="3" name="image13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5032375" y="3517265"/>
            <a:ext cx="5599430" cy="1739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609600" y="1402715"/>
            <a:ext cx="1097280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Присвоение значение null означает, что у переменной отсутствует значение.</a:t>
            </a:r>
            <a:r>
              <a:rPr lang="en-US" sz="2400" b="0">
                <a:latin typeface="Calibri" panose="020F0502020204030204" charset="0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Это специальное значение, которое представляет собой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«ничего»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«пусто»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или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«значение неизвестно»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将其设置为 null 意味着该变量没有值。 这是一个特殊值，表示  “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无”、“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空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”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或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“值未知”。 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41325" y="296545"/>
            <a:ext cx="5685155" cy="59391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Разница между undefined и null — одна из важных тем в JavaScript. 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undefined</a:t>
            </a:r>
            <a:r>
              <a:rPr lang="ru-RU" altLang="en-US" sz="2000">
                <a:latin typeface="Times New Roman" panose="02020603050405020304" charset="0"/>
                <a:cs typeface="Times New Roman" panose="02020603050405020304" charset="0"/>
              </a:rPr>
              <a:t> -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означает: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значение не определено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»</a:t>
            </a:r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Это происходит, когда переменная объявлена, но ей не присвоено значение.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undefined появляется автоматически в таких случаях: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переменная объявлена, но не инициализирована;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функция ничего не возвращает → возвращает undefined;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обращение к несуществующему свойству объекта;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обращение к элементу массива вне диапазона.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84200" y="748347"/>
            <a:ext cx="5080000" cy="5015865"/>
          </a:xfrm>
          <a:prstGeom prst="rect">
            <a:avLst/>
          </a:prstGeom>
        </p:spPr>
        <p:txBody>
          <a:bodyPr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Разница между undefined и null — одна из важных тем в JavaScript. 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null</a:t>
            </a:r>
            <a:r>
              <a:rPr lang="ru-RU" altLang="en-US" sz="2000">
                <a:latin typeface="Times New Roman" panose="02020603050405020304" charset="0"/>
                <a:cs typeface="Times New Roman" panose="02020603050405020304" charset="0"/>
              </a:rPr>
              <a:t> -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означает: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значение отсутствует намеренно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Это осознанно заданное пустое значение.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null используют, когда нужно: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указать, что объект должен быть, но его пока нет;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очистить переменную;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сбросить значение.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84200" y="638175"/>
            <a:ext cx="520065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Разница между undefined и null — одна из важных тем в JavaScript. 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048510" y="2985770"/>
            <a:ext cx="853567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>
                <a:solidFill>
                  <a:srgbClr val="0033B3"/>
                </a:solidFill>
                <a:latin typeface="JetBrains Mono"/>
                <a:ea typeface="JetBrains Mono"/>
              </a:rPr>
              <a:t>let </a:t>
            </a:r>
            <a:r>
              <a:rPr sz="1600">
                <a:solidFill>
                  <a:srgbClr val="2A8C7C"/>
                </a:solidFill>
                <a:latin typeface="JetBrains Mono"/>
                <a:ea typeface="JetBrains Mono"/>
              </a:rPr>
              <a:t>a</a:t>
            </a:r>
            <a:endParaRPr sz="1600">
              <a:solidFill>
                <a:srgbClr val="2A8C7C"/>
              </a:solidFill>
              <a:latin typeface="JetBrains Mono"/>
              <a:ea typeface="JetBrains Mono"/>
            </a:endParaRPr>
          </a:p>
          <a:p>
            <a:r>
              <a:rPr sz="1600">
                <a:solidFill>
                  <a:srgbClr val="0033B3"/>
                </a:solidFill>
                <a:latin typeface="JetBrains Mono"/>
                <a:ea typeface="JetBrains Mono"/>
              </a:rPr>
              <a:t>let </a:t>
            </a:r>
            <a:r>
              <a:rPr sz="1600">
                <a:solidFill>
                  <a:srgbClr val="2A8C7C"/>
                </a:solidFill>
                <a:latin typeface="JetBrains Mono"/>
                <a:ea typeface="JetBrains Mono"/>
              </a:rPr>
              <a:t>b </a:t>
            </a:r>
            <a:r>
              <a:rPr sz="1600">
                <a:solidFill>
                  <a:srgbClr val="0033B3"/>
                </a:solidFill>
                <a:latin typeface="JetBrains Mono"/>
                <a:ea typeface="JetBrains Mono"/>
              </a:rPr>
              <a:t>null</a:t>
            </a:r>
            <a:endParaRPr sz="1600">
              <a:solidFill>
                <a:srgbClr val="0033B3"/>
              </a:solidFill>
              <a:latin typeface="JetBrains Mono"/>
              <a:ea typeface="JetBrains Mono"/>
            </a:endParaRPr>
          </a:p>
          <a:p>
            <a:r>
              <a:rPr sz="1600">
                <a:solidFill>
                  <a:srgbClr val="830091"/>
                </a:solidFill>
                <a:latin typeface="JetBrains Mono"/>
                <a:ea typeface="JetBrains Mono"/>
              </a:rPr>
              <a:t>console</a:t>
            </a:r>
            <a:r>
              <a:rPr sz="1600">
                <a:solidFill>
                  <a:srgbClr val="914C07"/>
                </a:solidFill>
                <a:latin typeface="JetBrains Mono"/>
                <a:ea typeface="JetBrains Mono"/>
              </a:rPr>
              <a:t>log</a:t>
            </a:r>
            <a:r>
              <a:rPr sz="1600">
                <a:solidFill>
                  <a:srgbClr val="2A8C7C"/>
                </a:solidFill>
                <a:latin typeface="JetBrains Mono"/>
                <a:ea typeface="JetBrains Mono"/>
              </a:rPr>
              <a:t>a</a:t>
            </a:r>
            <a:r>
              <a:rPr sz="1600" i="1">
                <a:solidFill>
                  <a:srgbClr val="8C8C8C"/>
                </a:solidFill>
                <a:latin typeface="JetBrains Mono"/>
                <a:ea typeface="JetBrains Mono"/>
              </a:rPr>
              <a:t>// undefined — мы ничего не присваивали</a:t>
            </a:r>
            <a:endParaRPr sz="1600" i="1">
              <a:solidFill>
                <a:srgbClr val="8C8C8C"/>
              </a:solidFill>
              <a:latin typeface="JetBrains Mono"/>
              <a:ea typeface="JetBrains Mono"/>
            </a:endParaRPr>
          </a:p>
          <a:p>
            <a:r>
              <a:rPr sz="1600">
                <a:solidFill>
                  <a:srgbClr val="830091"/>
                </a:solidFill>
                <a:latin typeface="JetBrains Mono"/>
                <a:ea typeface="JetBrains Mono"/>
              </a:rPr>
              <a:t>console</a:t>
            </a:r>
            <a:r>
              <a:rPr sz="1600">
                <a:solidFill>
                  <a:srgbClr val="914C07"/>
                </a:solidFill>
                <a:latin typeface="JetBrains Mono"/>
                <a:ea typeface="JetBrains Mono"/>
              </a:rPr>
              <a:t>log</a:t>
            </a:r>
            <a:r>
              <a:rPr sz="1600">
                <a:solidFill>
                  <a:srgbClr val="2A8C7C"/>
                </a:solidFill>
                <a:latin typeface="JetBrains Mono"/>
                <a:ea typeface="JetBrains Mono"/>
              </a:rPr>
              <a:t>b</a:t>
            </a:r>
            <a:r>
              <a:rPr sz="1600" i="1">
                <a:solidFill>
                  <a:srgbClr val="8C8C8C"/>
                </a:solidFill>
                <a:latin typeface="JetBrains Mono"/>
                <a:ea typeface="JetBrains Mono"/>
              </a:rPr>
              <a:t>// null — мы специально задали пустое значение</a:t>
            </a:r>
            <a:endParaRPr sz="1600" i="1">
              <a:solidFill>
                <a:srgbClr val="8C8C8C"/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671830" y="672465"/>
            <a:ext cx="1068133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Перейдем к следующему типу -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Object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Объекты используются для хранения коллекций различных значений и более сложных сущностей. В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JavaScript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объекты используются очень часто, это одна из основ языка.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让我们继续下一个类型，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Object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对象用于存储不同值和更复杂实体的集合。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在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JavaScript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中，对象被经常使用，它们是语言的基础之一。</a:t>
            </a:r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561340" y="701675"/>
            <a:ext cx="10792460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Объект может быть создан с помощью фигурных скобок {…} с </a:t>
            </a:r>
            <a:r>
              <a:rPr lang="en-US" sz="2400" b="0">
                <a:latin typeface="Times New Roman" panose="02020603050405020304" charset="0"/>
              </a:rPr>
              <a:t>необязательным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списком свойств. Свойство – это пара «ключ: значение», где ключ – это строка (также называемая «именем свойства»), а значение может быть чем угодно.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可以使用大括号 {...} 和</a:t>
            </a:r>
            <a:r>
              <a:rPr lang="zh-CN" sz="2800" b="0">
                <a:cs typeface="Times New Roman" panose="02020603050405020304" charset="0"/>
              </a:rPr>
              <a:t>可选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的属性列表创建对象。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属性是一个键：值对，其中键是一个字符串（也称为“属性名称”），值可以是任何内容。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2869565" y="3830955"/>
            <a:ext cx="645414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{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name: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"Ann"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age: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student: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}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student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15925" y="320675"/>
            <a:ext cx="11360785" cy="3230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0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В этом примере мы рассмотрели объект пользователя, у которого есть имя, возраст и значение является ли он студентов (true – пользователь студент, false – пользователь не студент). Ознакомитесь с данным примером самостоятельно, запустив его.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在此示例中，我们查看了一个用户对象，该对象具有名称、年龄以及它是否为学生（true 是学生用户，false 是非学生用户）。通过运行它来亲自尝试此示例。</a:t>
            </a:r>
            <a:endParaRPr lang="en-US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52805" y="506730"/>
            <a:ext cx="10903585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Мы можем добавить, удалить или изменить свойства объекта следующим образом.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我们可以添加、删除或更改对象的属性，如下所示</a:t>
            </a:r>
            <a:r>
              <a:rPr lang="en-US" altLang="zh-CN" sz="2800" b="0">
                <a:solidFill>
                  <a:srgbClr val="000000"/>
                </a:solidFill>
                <a:cs typeface="Times New Roman" panose="02020603050405020304" charset="0"/>
              </a:rPr>
              <a:t>.</a:t>
            </a:r>
            <a:endParaRPr lang="en-US" altLang="zh-CN" sz="2800" b="0">
              <a:solidFill>
                <a:srgbClr val="000000"/>
              </a:solidFill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63930" y="2386965"/>
            <a:ext cx="1068070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= {  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name: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"Ann"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age: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b="0">
                <a:solidFill>
                  <a:srgbClr val="098658"/>
                </a:solidFill>
                <a:latin typeface="Consolas" panose="020B0609020204030204" charset="0"/>
              </a:rPr>
              <a:t>25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student: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,} </a:t>
            </a:r>
            <a:r>
              <a:rPr lang="en-US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student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); </a:t>
            </a:r>
            <a:r>
              <a:rPr lang="en-US" b="0">
                <a:solidFill>
                  <a:srgbClr val="0000FF"/>
                </a:solidFill>
                <a:latin typeface="Consolas" panose="020B0609020204030204" charset="0"/>
              </a:rPr>
              <a:t>delete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student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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"Ekaterina"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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SecondName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"Mary"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name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SecondName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age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b="0">
                <a:solidFill>
                  <a:srgbClr val="001080"/>
                </a:solidFill>
                <a:latin typeface="Consolas" panose="020B0609020204030204" charset="0"/>
              </a:rPr>
              <a:t>student</a:t>
            </a:r>
            <a:r>
              <a:rPr lang="en-US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30250" y="561975"/>
            <a:ext cx="10819765" cy="1999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Чтобы проверить есть ли определенной свойство в объекте используется оператор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12700" algn="just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若要检查对象中是否存在特定属性，请使用 in 运算符。 </a:t>
            </a:r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66185" y="2919730"/>
            <a:ext cx="387413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{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name: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"Ann"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age: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 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student: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}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'name'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'secondName'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user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10895" y="1569085"/>
            <a:ext cx="1057084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Объектами </a:t>
            </a:r>
            <a:r>
              <a:rPr lang="en-US" sz="2400" b="0">
                <a:latin typeface="Times New Roman" panose="02020603050405020304" charset="0"/>
              </a:rPr>
              <a:t>также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представлены массивы и даты в JavaScript. Подробнее познакомимся с ними на занятии </a:t>
            </a:r>
            <a:r>
              <a:rPr lang="en-US" sz="2400" b="0">
                <a:latin typeface="Times New Roman" panose="02020603050405020304" charset="0"/>
              </a:rPr>
              <a:t>“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Структуры данных: объекты и массивы</a:t>
            </a:r>
            <a:r>
              <a:rPr lang="en-US" sz="2400" b="0">
                <a:latin typeface="Times New Roman" panose="02020603050405020304" charset="0"/>
              </a:rPr>
              <a:t>”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对象</a:t>
            </a:r>
            <a:r>
              <a:rPr lang="zh-CN" sz="2800" b="0">
                <a:cs typeface="Times New Roman" panose="02020603050405020304" charset="0"/>
              </a:rPr>
              <a:t>在 JavaScript 中还表示数组和日期。 让我们在第 4 课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“</a:t>
            </a:r>
            <a:r>
              <a:rPr lang="zh-CN" sz="2800" b="0">
                <a:cs typeface="Times New Roman" panose="02020603050405020304" charset="0"/>
              </a:rPr>
              <a:t>数据结构：对象和数组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”</a:t>
            </a:r>
            <a:r>
              <a:rPr lang="zh-CN" sz="2800" b="0">
                <a:cs typeface="Times New Roman" panose="02020603050405020304" charset="0"/>
              </a:rPr>
              <a:t>中进一步了解它们。</a:t>
            </a:r>
            <a:endParaRPr lang="en-US" sz="2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54355" y="777240"/>
            <a:ext cx="11083290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Если при написании программы программисту нужно узнать какой тип данных используется, то это можно сделать с помощью оператора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typeof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. С его помощью можно получить тип переменной, что может быть полезно, когда в зависимости от типа переменной необходимо выполнить те или иные действия.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如果程序员在编写程序时需要知道正在使用什么类型的数据，则可以使用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typeof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运算符来完成。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它可用于获取变量的类型，当您需要根据变量类型执行某些操作时，这可能很有用。</a:t>
            </a:r>
            <a:endParaRPr lang="en-US"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73125" y="1582420"/>
            <a:ext cx="1044575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Стоит отметить, что для значения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null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оператор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typeof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значение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Object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несмотря на то, что согласно спецификации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JavaScript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значение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null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представляет отдельный тип.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449580" algn="just">
              <a:lnSpc>
                <a:spcPct val="15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2225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值得注意的是，对于 null，typeof   运算符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返回一个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Object 值，即使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JavaScript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规范声明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null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表示一个单独的类型。</a:t>
            </a:r>
            <a:endParaRPr lang="en-US" sz="2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65835" y="518795"/>
            <a:ext cx="10610850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Проверим работу оператора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typeof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на всех рассмотренных типах данных.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/>
            <a:endParaRPr lang="zh-CN" sz="24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indent="449580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让我们检查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一下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typeof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运算符对所考虑的所有数据类型的操作。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556000" y="2586990"/>
            <a:ext cx="5080000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undefined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"undefined"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"number"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10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"bigint"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"boolean"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"text"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"string"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null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"object"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[1,2,3]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"object"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 {name: ‘Ann’}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"object"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typeof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"function"</a:t>
            </a:r>
            <a:endParaRPr lang="en-US"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20065" y="1749425"/>
            <a:ext cx="1115187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Мы познакомились с главными типами в JavaScript. Теперь давайте разберем какие операции можно выполнять с каждым типом. Начнем со строк.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我们在 JavaScript 中引入了主要类型。现在让我们看一下每种类型可以执行哪些操作。让我们从线条开始。</a:t>
            </a:r>
            <a:endParaRPr lang="en-US" sz="2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52145" y="521335"/>
            <a:ext cx="10888345" cy="3230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latin typeface="Times New Roman" panose="02020603050405020304" charset="0"/>
              </a:rPr>
              <a:t>	Ранее мы уже выяснили что можем использовать двойные кавычки, одинарные, и обратные кавычки. Узнали, что такое интерполяция (встраивать данные в строку) и конкатенация (сложение строк). Вспомним это ещё раз на простом примере.</a:t>
            </a:r>
            <a:endParaRPr lang="en-US" sz="2400" b="0">
              <a:latin typeface="Times New Roman" panose="02020603050405020304" charset="0"/>
            </a:endParaRPr>
          </a:p>
          <a:p>
            <a:pPr indent="0"/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/>
            <a:r>
              <a:rPr lang="zh-CN" sz="2800" b="0">
                <a:cs typeface="Times New Roman" panose="02020603050405020304" charset="0"/>
              </a:rPr>
              <a:t>我们已经看到，我们可以使用双引号、单引号和反向引号。我们了解了什么是插值（将数据嵌入到字符串中）和串联（添加字符串）。让我们用一个简单的例子再次回顾一下。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302635" y="4098290"/>
            <a:ext cx="5080000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a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"string one"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const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b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"string two"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a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 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+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b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конкатенация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`</a:t>
            </a:r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a</a:t>
            </a:r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${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b</a:t>
            </a:r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}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`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интерполяция</a:t>
            </a:r>
            <a:r>
              <a:rPr lang="en-US" sz="1050" b="0">
                <a:solidFill>
                  <a:srgbClr val="008000"/>
                </a:solidFill>
                <a:latin typeface="Consolas" panose="020B0609020204030204" charset="0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83565" y="384810"/>
            <a:ext cx="10858500" cy="24301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Используя одинарные или двойные кавычки, мы можем объявить однострочную переменную. Использование обратных кавычек позволит вывести сообщение, состоящее из нескольких строк.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使用单引号或双引号，我们可以声明一个单行变量。使用反引号将显示一条由几行组成的消息。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583565" y="3264853"/>
            <a:ext cx="5080000" cy="25533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`My programming languages:  - JavaScript;  - Java;  - C#.`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endParaRPr lang="en-US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3131185"/>
            <a:ext cx="6042025" cy="304101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56285" y="288290"/>
            <a:ext cx="10597515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>
              <a:lnSpc>
                <a:spcPct val="10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Запустите пример с обратными кавычками, посмотрите на работу скрипта. Затем замените обратные кавычки на одинарные или двойные и посмотрите на результат.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>
              <a:lnSpc>
                <a:spcPct val="10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0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运行反引号示例，查看脚本的工作原理。然后，将反引号替换为单引号或双引号，并查看结果。</a:t>
            </a:r>
            <a:endParaRPr lang="en-US" sz="2800"/>
          </a:p>
        </p:txBody>
      </p:sp>
      <p:sp>
        <p:nvSpPr>
          <p:cNvPr id="8" name="Text Box 7"/>
          <p:cNvSpPr txBox="1"/>
          <p:nvPr/>
        </p:nvSpPr>
        <p:spPr>
          <a:xfrm>
            <a:off x="451485" y="3281045"/>
            <a:ext cx="771461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SimSun" pitchFamily="2" charset="-122"/>
              </a:rPr>
              <a:t>let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lenguageList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'My programming languages</a:t>
            </a:r>
            <a:r>
              <a:rPr lang="en-US" sz="2000" b="0">
                <a:solidFill>
                  <a:srgbClr val="CD3131"/>
                </a:solidFill>
                <a:latin typeface="Menlo" panose="020B0609030804020204" charset="0"/>
                <a:cs typeface="SimSun" pitchFamily="2" charset="-122"/>
              </a:rPr>
              <a:t>: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-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JavaScript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;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-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Java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;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-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SimSun" pitchFamily="2" charset="-122"/>
              </a:rPr>
              <a:t>C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#.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'</a:t>
            </a:r>
            <a:r>
              <a:rPr lang="en-US" sz="2000" b="0">
                <a:solidFill>
                  <a:srgbClr val="CD3131"/>
                </a:solidFill>
                <a:latin typeface="Menlo" panose="020B0609030804020204" charset="0"/>
                <a:cs typeface="SimSun" pitchFamily="2" charset="-122"/>
              </a:rPr>
              <a:t>;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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lenguageList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);</a:t>
            </a:r>
            <a:endParaRPr lang="en-US" sz="20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045" y="4291330"/>
            <a:ext cx="6448425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89280" y="662305"/>
            <a:ext cx="1101344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В строках мы можем использовать специальные символы, обозначающие, например, перенос строки или кавычки. Перепишем последний пример с обратных кавычек, на двойные кавычки с использованием специального символа\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/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21590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在字符串中，我们可以使用特殊字符来表示，例如换行符或引号。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让我们使用特殊字符 </a:t>
            </a:r>
            <a:r>
              <a:rPr lang="en-US" altLang="zh-CN" sz="2800" b="0">
                <a:solidFill>
                  <a:srgbClr val="000000"/>
                </a:solidFill>
                <a:cs typeface="Times New Roman" panose="02020603050405020304" charset="0"/>
              </a:rPr>
              <a:t>\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n 将最后一个示例从反引号重写为双引号。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699770" y="4114165"/>
            <a:ext cx="106540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"My programming languages: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 - JavaScript;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 - Java;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 - C#."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endParaRPr lang="en-US" sz="2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15645" y="200025"/>
            <a:ext cx="1063815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>
              <a:lnSpc>
                <a:spcPct val="10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Есть и другие специальные символы для форматирования строк. Специальные символы представлены в </a:t>
            </a:r>
            <a:r>
              <a:rPr lang="en-US" sz="2400" b="0">
                <a:latin typeface="Times New Roman" panose="02020603050405020304" charset="0"/>
              </a:rPr>
              <a:t>таблице.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Как вы можете видеть, все спецсимволы начинаются с обратного слеша, \ — так называемого «символа экранирования».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>
              <a:lnSpc>
                <a:spcPct val="10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00000"/>
              </a:lnSpc>
            </a:pP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还有其他特殊字符用于设置字符串格式。特殊符号显示在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400" b="0">
                <a:cs typeface="Times New Roman" panose="02020603050405020304" charset="0"/>
              </a:rPr>
              <a:t>桌子。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如您所见，所有特殊字符都以反斜杠开头，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\ </a:t>
            </a: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即所谓的“转义符号”。</a:t>
            </a:r>
            <a:endParaRPr lang="en-US" sz="2400"/>
          </a:p>
        </p:txBody>
      </p:sp>
      <p:graphicFrame>
        <p:nvGraphicFramePr>
          <p:cNvPr id="2" name="Table 1"/>
          <p:cNvGraphicFramePr/>
          <p:nvPr/>
        </p:nvGraphicFramePr>
        <p:xfrm>
          <a:off x="3097213" y="3002915"/>
          <a:ext cx="5997575" cy="1130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3775"/>
                <a:gridCol w="3733800"/>
              </a:tblGrid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Символ</a:t>
                      </a:r>
                      <a:endParaRPr lang="en-US" sz="2000" b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Описание</a:t>
                      </a:r>
                      <a:endParaRPr lang="en-US" sz="2000" b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\n</a:t>
                      </a:r>
                      <a:endParaRPr lang="en-US" sz="2000" b="0" i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Перевод строки</a:t>
                      </a:r>
                      <a:endParaRPr lang="en-US" sz="20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\', \", \`</a:t>
                      </a:r>
                      <a:endParaRPr lang="en-US" sz="2000" b="0" i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Кавычки</a:t>
                      </a:r>
                      <a:endParaRPr lang="en-US" sz="20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\\</a:t>
                      </a:r>
                      <a:endParaRPr lang="en-US" sz="2000" b="0" i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Обратный слеш</a:t>
                      </a:r>
                      <a:endParaRPr lang="en-US" sz="20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\t</a:t>
                      </a:r>
                      <a:endParaRPr lang="en-US" sz="2000" b="0" i="1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Знак табуляции</a:t>
                      </a:r>
                      <a:endParaRPr lang="en-US" sz="20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47625" marR="152400" marT="19050" marB="1905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1035685" y="4843780"/>
            <a:ext cx="10318115" cy="1791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"My programming languages: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\n\t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- 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JavaScript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\n\t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- 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Java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;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\n\t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- 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C#.</a:t>
            </a:r>
            <a:r>
              <a:rPr lang="en-US" sz="2000" b="0">
                <a:solidFill>
                  <a:srgbClr val="EE0000"/>
                </a:solidFill>
                <a:latin typeface="Consolas" panose="020B0609020204030204" charset="0"/>
              </a:rPr>
              <a:t>\'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"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console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lenguageList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1050" b="0">
                <a:solidFill>
                  <a:srgbClr val="000000"/>
                </a:solidFill>
                <a:latin typeface="Consolas" panose="020B0609020204030204" charset="0"/>
              </a:rPr>
              <a:t> 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192530" y="2228850"/>
            <a:ext cx="980630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Теперь поговорим о специальных методах, которые можно использовать со строками.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现在让我们谈谈可以用于字符串的特殊方法</a:t>
            </a:r>
            <a:r>
              <a:rPr lang="zh-CN" sz="2400" b="0">
                <a:solidFill>
                  <a:srgbClr val="000000"/>
                </a:solidFill>
                <a:cs typeface="Times New Roman" panose="02020603050405020304" charset="0"/>
              </a:rPr>
              <a:t>。</a:t>
            </a:r>
            <a:endParaRPr lang="en-US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330960" y="928370"/>
            <a:ext cx="9530080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Чтобы определить длину строки используется свойство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length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/>
            <a:endParaRPr lang="en-US" sz="2400"/>
          </a:p>
          <a:p>
            <a:pPr indent="0"/>
            <a:r>
              <a:rPr lang="en-US" sz="2800"/>
              <a:t>要确定字符串的长度，请使用 长度 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length</a:t>
            </a:r>
            <a:r>
              <a:rPr lang="en-US" sz="2800"/>
              <a:t>.</a:t>
            </a:r>
            <a:endParaRPr lang="en-US" sz="2800"/>
          </a:p>
        </p:txBody>
      </p:sp>
      <p:sp>
        <p:nvSpPr>
          <p:cNvPr id="3" name="Text Box 2"/>
          <p:cNvSpPr txBox="1"/>
          <p:nvPr/>
        </p:nvSpPr>
        <p:spPr>
          <a:xfrm>
            <a:off x="2973705" y="3134360"/>
            <a:ext cx="730440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'Hello, i am learning JavaScript!'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length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32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[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]);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H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[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length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-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]);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!</a:t>
            </a:r>
            <a:endParaRPr lang="en-US" sz="2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00100" y="521970"/>
            <a:ext cx="1074991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Если мы хотим знать есть ли определенная подстрока в искомой строке можно использовать метод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indexOf(подстрока)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Так же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indexOf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вернет позицию подстроки в искомой строке.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/>
          </a:p>
          <a:p>
            <a:pPr indent="0" algn="just"/>
            <a:r>
              <a:rPr lang="en-US" sz="2800"/>
              <a:t>如果我们想知道我们正在寻找的字符串中是否有某个子字符串，我们可以使用 indexOf（子字符串）.同样 index的 将返回子字符串在搜索字符串中的位置。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919095" y="3801745"/>
            <a:ext cx="84347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'Hello, i am learning JavaScript!'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2919095" y="4283710"/>
            <a:ext cx="84347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indexOf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'JavaScript'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21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indexOf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'Text'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-1</a:t>
            </a:r>
            <a:endParaRPr lang="en-US"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08965" y="345440"/>
            <a:ext cx="11182350" cy="36614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Если программиста не интересует индекс символа в строке, то можно использовать методы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includes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startsWith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и 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endsWith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Данные методы вернут true, если строка содержит(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includes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), </a:t>
            </a:r>
            <a:r>
              <a:rPr lang="ru-RU" altLang="en-US" sz="2400" b="0">
                <a:solidFill>
                  <a:srgbClr val="000000"/>
                </a:solidFill>
                <a:latin typeface="Times New Roman" panose="02020603050405020304" charset="0"/>
              </a:rPr>
              <a:t>начинается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(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startsWith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) или заканчивается(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endsWith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) на определённый символ или последовательность символов.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/>
          </a:p>
          <a:p>
            <a:pPr indent="0" algn="just"/>
            <a:r>
              <a:rPr lang="en-US" sz="2800"/>
              <a:t>如果程序员对字符串中字符的索引不感兴趣，那么你可以使用</a:t>
            </a:r>
            <a:r>
              <a:rPr lang="zh-CN" altLang="en-US" sz="2800"/>
              <a:t>如下方法，</a:t>
            </a:r>
            <a:r>
              <a:rPr lang="en-US" sz="2800"/>
              <a:t>包括, 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includes</a:t>
            </a:r>
            <a:r>
              <a:rPr lang="en-US" sz="28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, </a:t>
            </a:r>
            <a:r>
              <a:rPr lang="en-US" sz="28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startsWith</a:t>
            </a:r>
            <a:r>
              <a:rPr lang="en-US" sz="2800"/>
              <a:t>和  endsWith. 如果字符串包含（includes）、分配（startswith）或结尾（endswith）到特定字符或字符序列，则这些方法将返回true。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379345" y="4660265"/>
            <a:ext cx="86429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'Hello, i am learning JavaScript!'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sz="2400"/>
          </a:p>
        </p:txBody>
      </p:sp>
      <p:sp>
        <p:nvSpPr>
          <p:cNvPr id="3" name="Text Box 2"/>
          <p:cNvSpPr txBox="1"/>
          <p:nvPr/>
        </p:nvSpPr>
        <p:spPr>
          <a:xfrm>
            <a:off x="2379345" y="5341620"/>
            <a:ext cx="864298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includes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"JavaScript"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startsWith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"Hello"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endsWith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panose="020B0609020204030204" charset="0"/>
              </a:rPr>
              <a:t>"!"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true</a:t>
            </a:r>
            <a:endParaRPr lang="en-US" sz="2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64820" y="509270"/>
            <a:ext cx="1126236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	Обратная операция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str[index]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и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str.at(index) –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вернет символ в строке под конкретным индексом.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反向操作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 str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[index]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和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str.at（index） 将在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特定索引下方的字符串中返回一个字符。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889885" y="4147820"/>
            <a:ext cx="78244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'Hello, i am learning JavaScript!'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2889885" y="4559935"/>
            <a:ext cx="78244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H</a:t>
            </a:r>
            <a:endParaRPr lang="en-US" sz="2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78790" y="382905"/>
            <a:ext cx="10681335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Ещё несколько методов, которые можно использовать со строками. Метод </a:t>
            </a:r>
            <a:r>
              <a:rPr lang="en-US" sz="2400" b="0" i="1">
                <a:latin typeface="Times New Roman" panose="02020603050405020304" charset="0"/>
              </a:rPr>
              <a:t>slice()</a:t>
            </a:r>
            <a:r>
              <a:rPr lang="en-US" sz="2400" b="0">
                <a:latin typeface="Times New Roman" panose="02020603050405020304" charset="0"/>
              </a:rPr>
              <a:t> извлекает часть строки и возвращает новую строку без изменения оригинальной строки.</a:t>
            </a:r>
            <a:endParaRPr lang="en-US" sz="2400" b="0">
              <a:latin typeface="Times New Roman" panose="02020603050405020304" charset="0"/>
            </a:endParaRPr>
          </a:p>
          <a:p>
            <a:pPr indent="449580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sz="2800" b="0">
                <a:cs typeface="Times New Roman" panose="02020603050405020304" charset="0"/>
              </a:rPr>
              <a:t>以下是一些可以与字符串一起使用的方法。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 i="1">
                <a:cs typeface="Times New Roman" panose="02020603050405020304" charset="0"/>
              </a:rPr>
              <a:t>slice（）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方法检索字符串的一部分并返回一个新字符串，而不修改原始字符串。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809875" y="4508500"/>
            <a:ext cx="695134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Hello, i am learning JavaScript!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slice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6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Hello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slice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JavaScript!</a:t>
            </a:r>
            <a:endParaRPr lang="en-US"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51510" y="246380"/>
            <a:ext cx="10889615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Метод </a:t>
            </a:r>
            <a:r>
              <a:rPr lang="en-US" sz="2400" b="0" i="1">
                <a:latin typeface="Times New Roman" panose="02020603050405020304" charset="0"/>
              </a:rPr>
              <a:t>trim()</a:t>
            </a:r>
            <a:r>
              <a:rPr lang="en-US" sz="2400" b="0">
                <a:latin typeface="Times New Roman" panose="02020603050405020304" charset="0"/>
              </a:rPr>
              <a:t> удаляет пробельные символы с начала и конца строки. Пробельными символами в этом контексте считаются все собственно пробельные символы (пробел, табуляция, неразрывный пробел и прочие).</a:t>
            </a:r>
            <a:endParaRPr lang="en-US" sz="2400" b="0">
              <a:latin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endParaRPr lang="en-US" sz="2800" b="0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sz="2800" b="0" i="1">
                <a:cs typeface="Times New Roman" panose="02020603050405020304" charset="0"/>
              </a:rPr>
              <a:t>trim（）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方法从行的开头和结尾删除空格字符。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在此上下文中，空格字符都是空格字符（空格、制表符、不间断空格等）。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640965" y="4640580"/>
            <a:ext cx="78111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Hello, i am learning JavaScript!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trim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'Hello, i am learning JavaScript!'</a:t>
            </a:r>
            <a:endParaRPr lang="en-US"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18745" y="226060"/>
            <a:ext cx="11664315" cy="4799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Метод </a:t>
            </a:r>
            <a:r>
              <a:rPr lang="en-US" sz="2400" b="0" i="1">
                <a:latin typeface="Times New Roman" panose="02020603050405020304" charset="0"/>
              </a:rPr>
              <a:t>replace()</a:t>
            </a:r>
            <a:r>
              <a:rPr lang="en-US" sz="2400" b="0">
                <a:latin typeface="Times New Roman" panose="02020603050405020304" charset="0"/>
              </a:rPr>
              <a:t> возвращает новую строку с некоторыми или всеми сопоставлениями с шаблоном, замененными на заменитель. Шаблон может быть строкой или регулярным выражением, а заменитель может быть строкой или функцией, вызываемой при каждом сопоставлении.</a:t>
            </a:r>
            <a:endParaRPr lang="en-US" sz="2400" b="0">
              <a:latin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endParaRPr lang="en-US" sz="2400" b="0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20955" algn="just">
              <a:lnSpc>
                <a:spcPct val="150000"/>
              </a:lnSpc>
            </a:pPr>
            <a:r>
              <a:rPr lang="zh-CN" sz="2800" b="0" i="1">
                <a:cs typeface="Times New Roman" panose="02020603050405020304" charset="0"/>
              </a:rPr>
              <a:t>replace（）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方法返回一个新字符串，其中部分或全部模式匹配项替换为替换项。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模式可以是字符串或正则表达式，占位符可以是在每次匹配时调用的字符串或函数。</a:t>
            </a:r>
            <a:endParaRPr lang="en-US" sz="2800"/>
          </a:p>
        </p:txBody>
      </p:sp>
      <p:sp>
        <p:nvSpPr>
          <p:cNvPr id="12" name="Text Box 11"/>
          <p:cNvSpPr txBox="1"/>
          <p:nvPr/>
        </p:nvSpPr>
        <p:spPr>
          <a:xfrm>
            <a:off x="1038860" y="5218430"/>
            <a:ext cx="1031494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SimSun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SimSun" pitchFamily="2" charset="-122"/>
              </a:rPr>
              <a:t>str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 Hello, i am learning JavaScript! 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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SimSun" pitchFamily="2" charset="-122"/>
              </a:rPr>
              <a:t>str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replace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'Hello,'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'Hi!'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Menlo" panose="020B0609030804020204" charset="0"/>
                <a:cs typeface="SimSun" pitchFamily="2" charset="-122"/>
              </a:rPr>
              <a:t>// Hi! i am learning JavaScript!</a:t>
            </a:r>
            <a:endParaRPr lang="en-US"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32460" y="427990"/>
            <a:ext cx="10902315" cy="29845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Метод </a:t>
            </a:r>
            <a:r>
              <a:rPr lang="en-US" sz="2400" b="0" i="1">
                <a:latin typeface="Times New Roman" panose="02020603050405020304" charset="0"/>
              </a:rPr>
              <a:t>repeat() </a:t>
            </a:r>
            <a:r>
              <a:rPr lang="en-US" sz="2400" b="0">
                <a:latin typeface="Times New Roman" panose="02020603050405020304" charset="0"/>
              </a:rPr>
              <a:t>конструирует и возвращает новую строку, содержащую указанное количество соединенных вместе копий строки, на которой он был вызван. </a:t>
            </a:r>
            <a:endParaRPr lang="en-US" sz="2400" b="0">
              <a:latin typeface="Times New Roman" panose="02020603050405020304" charset="0"/>
            </a:endParaRPr>
          </a:p>
          <a:p>
            <a:pPr indent="0" algn="just"/>
            <a:endParaRPr lang="en-US" sz="2400" b="0" i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/>
            <a:r>
              <a:rPr lang="zh-CN" sz="2800" b="0" i="1">
                <a:cs typeface="Times New Roman" panose="02020603050405020304" charset="0"/>
              </a:rPr>
              <a:t>repeat（） </a:t>
            </a:r>
            <a:r>
              <a:rPr lang="en-US" sz="2800" b="0">
                <a:latin typeface="Times New Roman" panose="02020603050405020304" charset="0"/>
              </a:rPr>
              <a:t> </a:t>
            </a:r>
            <a:r>
              <a:rPr lang="zh-CN" sz="2800" b="0">
                <a:cs typeface="Times New Roman" panose="02020603050405020304" charset="0"/>
              </a:rPr>
              <a:t>方法构造并返回一个新行，其中包含调用它的字符串的指定数量的联接副本。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1449070" y="4223385"/>
            <a:ext cx="961390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panose="020B0609020204030204" charset="0"/>
              </a:rPr>
              <a:t>' Hello, i am learning JavaScript! '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panose="020B0609020204030204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repeat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3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Hello, i am learning JavaScript!Hello, i am learning JavaScript!Hello, i am learning JavaScript!</a:t>
            </a:r>
            <a:endParaRPr lang="en-US"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79425" y="328295"/>
            <a:ext cx="1073594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Метод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num.toString(base)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строковое представление числа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num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 системе счисления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base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base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может варьироваться от 2 до 36 (по умолчанию 10).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endParaRPr lang="en-US" sz="2400" b="0" i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r>
              <a:rPr lang="zh-CN" sz="2400" b="0" i="1">
                <a:solidFill>
                  <a:srgbClr val="000000"/>
                </a:solidFill>
                <a:cs typeface="Times New Roman" panose="02020603050405020304" charset="0"/>
              </a:rPr>
              <a:t>num.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toString（base） 方法返回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base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中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数字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num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的字符串表示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形式。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基数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的范围可以从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2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到 36（默认值为 10</a:t>
            </a:r>
            <a:r>
              <a:rPr lang="en-US" altLang="zh-CN" sz="2800" b="0">
                <a:solidFill>
                  <a:srgbClr val="000000"/>
                </a:solidFill>
                <a:cs typeface="Times New Roman" panose="02020603050405020304" charset="0"/>
              </a:rPr>
              <a:t>)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655060" y="4201795"/>
            <a:ext cx="5080000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0000FF"/>
                </a:solidFill>
                <a:latin typeface="Consolas" panose="020B0609020204030204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num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 =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255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; 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num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toString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());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255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num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toString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16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ff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num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toString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 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11111111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 </a:t>
            </a:r>
            <a:endParaRPr lang="en-US" sz="2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32510" y="1444625"/>
            <a:ext cx="10404475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	base=16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— для шестнадцатеричного представления цвета, кодировки символов и т.д., цифры могут быть 0..9 или A..F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 i="1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base=16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— 对于十六进制颜色表示、字符编码等，数字可以是 0..9 或 </a:t>
            </a:r>
            <a:r>
              <a:rPr lang="en-US" sz="28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A..F.</a:t>
            </a:r>
            <a:endParaRPr lang="en-US" sz="2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046480" y="1979295"/>
            <a:ext cx="10457815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	base=2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— обычно используется для отладки побитовых операций, цифры 0 или 1.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8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通常用于调试按位操作，数字为 0 或 1。</a:t>
            </a:r>
            <a:endParaRPr lang="en-US" sz="28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242570" y="326390"/>
            <a:ext cx="1152652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	base=36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— максимальное основание, цифры могут быть 0..9 или A..Z. То есть, используется весь латинский алфавит для представления числа. Забавно, но можно использовать 36-разрядную систему счисления для получения короткого представления большого числового идентификатора. К примеру, для создания короткой ссылки. Для этого просто преобразуем его в 36-разрядную систему счислени.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最大基数，数字可以是 0..9 或 A</a:t>
            </a:r>
            <a:r>
              <a:rPr lang="en-US" altLang="zh-CN" sz="2800" b="0">
                <a:solidFill>
                  <a:srgbClr val="000000"/>
                </a:solidFill>
                <a:cs typeface="Times New Roman" panose="02020603050405020304" charset="0"/>
              </a:rPr>
              <a:t>..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Z.也就是说，整个拉丁字母用于表示一个数字。有趣的是，您可以使用 36 位数字系统来获取大型数字标识符的简短表示形式。例如，创建短链接。为此，只需将其转换为 36 位数字系统</a:t>
            </a:r>
            <a:endParaRPr lang="en-US" sz="2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82955" y="1223010"/>
            <a:ext cx="1062609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50215" algn="just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</a:rPr>
              <a:t>Одна из часто используемых операций при работе с числами – это округление. В JavaScript есть несколько встроенных функций для работы с округлением</a:t>
            </a:r>
            <a:r>
              <a:rPr lang="en-US" sz="2400" b="0">
                <a:solidFill>
                  <a:srgbClr val="000000"/>
                </a:solidFill>
              </a:rPr>
              <a:t>.</a:t>
            </a:r>
            <a:endParaRPr lang="en-US" sz="2400" b="0">
              <a:solidFill>
                <a:srgbClr val="000000"/>
              </a:solidFill>
            </a:endParaRPr>
          </a:p>
          <a:p>
            <a:pPr marL="0" indent="450215" algn="just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</a:pPr>
            <a:r>
              <a:rPr sz="2800" b="0">
                <a:solidFill>
                  <a:srgbClr val="000000"/>
                </a:solidFill>
              </a:rPr>
              <a:t>处理数字时最常用的操作之一是舍入。 JavaScript 有几个用于处理舍入的内置函数</a:t>
            </a:r>
            <a:r>
              <a:rPr lang="en-US" sz="2800" b="0">
                <a:solidFill>
                  <a:srgbClr val="000000"/>
                </a:solidFill>
              </a:rPr>
              <a:t>.</a:t>
            </a:r>
            <a:endParaRPr lang="en-US" sz="28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14400" y="464185"/>
            <a:ext cx="10312400" cy="2368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 algn="just">
              <a:lnSpc>
                <a:spcPct val="15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Math.floor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- округление в меньшую сторону: 3.1 становится 3, а -1.1 — -2;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228600" indent="-228600" algn="just">
              <a:lnSpc>
                <a:spcPct val="150000"/>
              </a:lnSpc>
            </a:pPr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marL="228600" indent="-228600" algn="just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向下舍入：3.1 变为  3，-1.1 变为 -2;</a:t>
            </a:r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marL="228600" indent="-228600" algn="just"/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56000" y="3316605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floor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3.1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3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3530600" y="377698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floor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3.7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3</a:t>
            </a:r>
            <a:endParaRPr lang="en-US"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30910" y="946785"/>
            <a:ext cx="977138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7940"/>
            <a:r>
              <a:rPr lang="en-US" sz="24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Math.ceil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 - округление в большую сторону: 3.1 становится 4, а -1.1 — -1;</a:t>
            </a:r>
            <a:endParaRPr lang="en-US" sz="2400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  <a:p>
            <a:pPr marL="0" indent="27940"/>
            <a:endParaRPr lang="en-US" sz="2400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  <a:p>
            <a:pPr marL="228600" indent="-228600"/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四舍五入：3.1 变为 4，-1.1 变为 -1;</a:t>
            </a:r>
            <a:endParaRPr lang="zh-CN" sz="2800" b="0">
              <a:solidFill>
                <a:srgbClr val="000000"/>
              </a:solidFill>
              <a:cs typeface="Times New Roman" panose="02020603050405020304" charset="0"/>
            </a:endParaRPr>
          </a:p>
          <a:p>
            <a:pPr marL="228600" indent="-228600"/>
            <a:endParaRPr lang="en-US" sz="2800"/>
          </a:p>
        </p:txBody>
      </p:sp>
      <p:sp>
        <p:nvSpPr>
          <p:cNvPr id="100" name="Text Box 99"/>
          <p:cNvSpPr txBox="1"/>
          <p:nvPr/>
        </p:nvSpPr>
        <p:spPr>
          <a:xfrm>
            <a:off x="2731135" y="3053080"/>
            <a:ext cx="67297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8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800" b="0">
                <a:solidFill>
                  <a:srgbClr val="795E26"/>
                </a:solidFill>
                <a:latin typeface="Consolas" panose="020B0609020204030204" charset="0"/>
              </a:rPr>
              <a:t>ceil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800" b="0">
                <a:solidFill>
                  <a:srgbClr val="098658"/>
                </a:solidFill>
                <a:latin typeface="Consolas" panose="020B0609020204030204" charset="0"/>
              </a:rPr>
              <a:t>3.1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800" b="0">
                <a:solidFill>
                  <a:srgbClr val="008000"/>
                </a:solidFill>
                <a:latin typeface="Consolas" panose="020B0609020204030204" charset="0"/>
              </a:rPr>
              <a:t>// 4 </a:t>
            </a:r>
            <a:endParaRPr 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2731135" y="3575050"/>
            <a:ext cx="67297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8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8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800" b="0">
                <a:solidFill>
                  <a:srgbClr val="795E26"/>
                </a:solidFill>
                <a:latin typeface="Consolas" panose="020B0609020204030204" charset="0"/>
              </a:rPr>
              <a:t>ceil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800" b="0">
                <a:solidFill>
                  <a:srgbClr val="098658"/>
                </a:solidFill>
                <a:latin typeface="Consolas" panose="020B0609020204030204" charset="0"/>
              </a:rPr>
              <a:t>3.7</a:t>
            </a:r>
            <a:r>
              <a:rPr lang="en-US" sz="28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800" b="0">
                <a:solidFill>
                  <a:srgbClr val="008000"/>
                </a:solidFill>
                <a:latin typeface="Consolas" panose="020B0609020204030204" charset="0"/>
              </a:rPr>
              <a:t>// 4 </a:t>
            </a:r>
            <a:endParaRPr lang="en-US" sz="2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73710" y="444500"/>
            <a:ext cx="10777855" cy="1999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indent="13335"/>
            <a:r>
              <a:rPr lang="en-US" sz="24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Math.round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 - округление до ближайшего целого: 3.1 становится 3, 3.6 — 4, а -1.1 — -1;</a:t>
            </a:r>
            <a:endParaRPr lang="en-US" sz="2400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  <a:p>
            <a:pPr marL="228600" indent="-228600"/>
            <a:endParaRPr 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28600" indent="-228600"/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四舍五入到最接近的整数：3.1 变为 3,3.6 变为 4，-1.1 变为 -1;</a:t>
            </a:r>
            <a:endParaRPr lang="en-US" sz="2400" i="1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  <a:p>
            <a:endParaRPr lang="en-US" sz="2400"/>
          </a:p>
        </p:txBody>
      </p:sp>
      <p:sp>
        <p:nvSpPr>
          <p:cNvPr id="100" name="Text Box 99"/>
          <p:cNvSpPr txBox="1"/>
          <p:nvPr/>
        </p:nvSpPr>
        <p:spPr>
          <a:xfrm>
            <a:off x="3322320" y="386207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round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3.1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3</a:t>
            </a:r>
            <a:endParaRPr lang="en-US" sz="24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22955" y="442722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round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3.7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4</a:t>
            </a:r>
            <a:endParaRPr lang="en-US" sz="24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96950" y="805815"/>
            <a:ext cx="1052766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2400" i="1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	Math.trunc</a:t>
            </a:r>
            <a:r>
              <a:rPr lang="en-US" sz="240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 - производит удаление дробной части без округления: 3.1 становится 3, а -1.1 — -1.</a:t>
            </a:r>
            <a:endParaRPr lang="en-US" sz="2400">
              <a:solidFill>
                <a:srgbClr val="000000"/>
              </a:solidFill>
              <a:latin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sz="28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删除不四舍五入的小数部分：3.1 变为 3，-1.1 变为 -1</a:t>
            </a:r>
            <a:r>
              <a:rPr lang="zh-CN" sz="2400">
                <a:solidFill>
                  <a:srgbClr val="000000"/>
                </a:solidFill>
                <a:cs typeface="Times New Roman" panose="02020603050405020304" charset="0"/>
                <a:sym typeface="+mn-ea"/>
              </a:rPr>
              <a:t>。</a:t>
            </a:r>
            <a:endParaRPr lang="en-US" sz="2400"/>
          </a:p>
        </p:txBody>
      </p:sp>
      <p:sp>
        <p:nvSpPr>
          <p:cNvPr id="100" name="Text Box 99"/>
          <p:cNvSpPr txBox="1"/>
          <p:nvPr/>
        </p:nvSpPr>
        <p:spPr>
          <a:xfrm>
            <a:off x="3390265" y="3759835"/>
            <a:ext cx="50977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trunc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3.1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3</a:t>
            </a:r>
            <a:endParaRPr lang="en-US" sz="24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90265" y="4171950"/>
            <a:ext cx="50977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panose="020B0609020204030204" charset="0"/>
              </a:rPr>
              <a:t>trunc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panose="020B0609020204030204" charset="0"/>
              </a:rPr>
              <a:t>3.7</a:t>
            </a:r>
            <a:r>
              <a:rPr lang="en-US" sz="2400" b="0">
                <a:solidFill>
                  <a:srgbClr val="000000"/>
                </a:solidFill>
                <a:latin typeface="Consolas" panose="020B0609020204030204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panose="020B0609020204030204" charset="0"/>
              </a:rPr>
              <a:t>// 3</a:t>
            </a:r>
            <a:endParaRPr lang="en-US" sz="2400" b="0">
              <a:solidFill>
                <a:srgbClr val="008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33095" y="412750"/>
            <a:ext cx="1080579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Ещё одна полезная функция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, это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Math.random().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Возвращает псевдослучайное число в диапазоне от 0 (включительно) до 1 (но не включая 1).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>
              <a:lnSpc>
                <a:spcPct val="150000"/>
              </a:lnSpc>
            </a:pPr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</a:pP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另一个有用的数学函数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是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 Math.random（）。 返回介于 0（含）和 1（但不包括 1）之间的伪随机数。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444875" y="395478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random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());</a:t>
            </a:r>
            <a:endParaRPr lang="en-US" sz="2000" b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pic>
        <p:nvPicPr>
          <p:cNvPr id="244" name="image7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2959100" y="4525010"/>
            <a:ext cx="6050915" cy="18313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46735" y="1086485"/>
            <a:ext cx="1109789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max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наибольшее число из своих аргументов.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min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наименьшее число из своих аргументов.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endParaRPr lang="en-US" sz="2400" b="0" i="1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max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返回其参数的最大数量。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min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返回其参数的最小数量。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530600" y="4305617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max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3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-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5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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min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(-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-5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 </a:t>
            </a:r>
            <a:endParaRPr lang="en-US" sz="20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99770" y="996950"/>
            <a:ext cx="1056957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49580" algn="just">
              <a:lnSpc>
                <a:spcPct val="150000"/>
              </a:lnSpc>
            </a:pP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Метод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Math.pow()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основание, возведённое в степень показатель, то есть, значение выражения: основание</a:t>
            </a:r>
            <a:r>
              <a:rPr lang="en-US" sz="2400" b="0" baseline="30000">
                <a:solidFill>
                  <a:srgbClr val="000000"/>
                </a:solidFill>
                <a:latin typeface="Times New Roman" panose="02020603050405020304" charset="0"/>
              </a:rPr>
              <a:t>показатель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endParaRPr lang="en-US" sz="2400" b="0" i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449580" algn="just">
              <a:lnSpc>
                <a:spcPct val="150000"/>
              </a:lnSpc>
            </a:pP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Math.pow（）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方法返回指数指数的基数，即表达式的值：基指数。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3556000" y="404304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panose="020B0609020204030204" charset="0"/>
              </a:rPr>
              <a:t>Math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panose="020B0609020204030204" charset="0"/>
              </a:rPr>
              <a:t>pow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panose="020B0609020204030204" charset="0"/>
              </a:rPr>
              <a:t>10</a:t>
            </a:r>
            <a:r>
              <a:rPr lang="en-US" sz="2000" b="0">
                <a:solidFill>
                  <a:srgbClr val="000000"/>
                </a:solidFill>
                <a:latin typeface="Consolas" panose="020B0609020204030204" charset="0"/>
              </a:rPr>
              <a:t>)); </a:t>
            </a:r>
            <a:r>
              <a:rPr lang="en-US" sz="2000" b="0">
                <a:solidFill>
                  <a:srgbClr val="008000"/>
                </a:solidFill>
                <a:latin typeface="Consolas" panose="020B0609020204030204" charset="0"/>
              </a:rPr>
              <a:t>// 1024</a:t>
            </a:r>
            <a:endParaRPr lang="en-US" sz="2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360045" y="1134745"/>
            <a:ext cx="1147127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449580" algn="just"/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Давайте с помощью объекта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Math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реализуем функцию генерации целого рандомного числа. Метод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round()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число, округлённое к ближайшему целому.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Метод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random()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 возвращает псевдослучайное число с плавающей запятой из диапазона [0, 1), то есть, от 0 (включительно) до 1 (но не включая 1), которое затем можно отмасштабировать до нужного диапазона с помощью умножения на значение 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max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449580" algn="just"/>
            <a:endParaRPr lang="en-US" sz="24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2225" algn="just"/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让我们使用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800" b="0" i="1">
                <a:solidFill>
                  <a:srgbClr val="000000"/>
                </a:solidFill>
                <a:latin typeface="Times New Roman" panose="02020603050405020304" charset="0"/>
              </a:rPr>
              <a:t>Math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对象来实现生成整数随机数的函数。 round（） 方法返回一个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四舍五入到最接近的整数</a:t>
            </a:r>
            <a:r>
              <a:rPr lang="zh-CN" sz="2800" b="0">
                <a:solidFill>
                  <a:srgbClr val="000000"/>
                </a:solidFill>
                <a:cs typeface="Times New Roman" panose="02020603050405020304" charset="0"/>
              </a:rPr>
              <a:t>的数字。 random（） 方法从 [0， 1]  范围内返回一个伪随机浮点数，即从 0（含）到 1（但不包括 1），然后可以通过乘以最大值将其缩放到所需的范围</a:t>
            </a:r>
            <a:r>
              <a:rPr lang="zh-CN" sz="2800" b="0" i="1">
                <a:solidFill>
                  <a:srgbClr val="000000"/>
                </a:solidFill>
                <a:cs typeface="Times New Roman" panose="02020603050405020304" charset="0"/>
              </a:rPr>
              <a:t>。</a:t>
            </a:r>
            <a:r>
              <a:rPr lang="en-US" sz="2400" b="0" i="1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sz="2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617345" y="1325880"/>
            <a:ext cx="895794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just"/>
            <a:r>
              <a:rPr lang="en-US" sz="2800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function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max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 {  </a:t>
            </a:r>
            <a:r>
              <a:rPr lang="en-US" sz="2800">
                <a:solidFill>
                  <a:srgbClr val="AF00DB"/>
                </a:solidFill>
                <a:latin typeface="Consolas" panose="020B0609020204030204" charset="0"/>
                <a:sym typeface="+mn-ea"/>
              </a:rPr>
              <a:t>return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Math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round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Math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random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() * 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max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}  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98658"/>
                </a:solidFill>
                <a:latin typeface="Consolas" panose="020B0609020204030204" charset="0"/>
                <a:sym typeface="+mn-ea"/>
              </a:rPr>
              <a:t>50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));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98658"/>
                </a:solidFill>
                <a:latin typeface="Consolas" panose="020B0609020204030204" charset="0"/>
                <a:sym typeface="+mn-ea"/>
              </a:rPr>
              <a:t>5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));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98658"/>
                </a:solidFill>
                <a:latin typeface="Consolas" panose="020B0609020204030204" charset="0"/>
                <a:sym typeface="+mn-ea"/>
              </a:rPr>
              <a:t>10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));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98658"/>
                </a:solidFill>
                <a:latin typeface="Consolas" panose="020B0609020204030204" charset="0"/>
                <a:sym typeface="+mn-ea"/>
              </a:rPr>
              <a:t>1000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));</a:t>
            </a:r>
            <a:r>
              <a:rPr lang="en-US" sz="2800">
                <a:solidFill>
                  <a:srgbClr val="001080"/>
                </a:solidFill>
                <a:latin typeface="Consolas" panose="020B0609020204030204" charset="0"/>
                <a:sym typeface="+mn-ea"/>
              </a:rPr>
              <a:t>console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log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795E26"/>
                </a:solidFill>
                <a:latin typeface="Consolas" panose="020B0609020204030204" charset="0"/>
                <a:sym typeface="+mn-ea"/>
              </a:rPr>
              <a:t>generateNumber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(</a:t>
            </a:r>
            <a:r>
              <a:rPr lang="en-US" sz="2800">
                <a:solidFill>
                  <a:srgbClr val="098658"/>
                </a:solidFill>
                <a:latin typeface="Consolas" panose="020B0609020204030204" charset="0"/>
                <a:sym typeface="+mn-ea"/>
              </a:rPr>
              <a:t>3</a:t>
            </a:r>
            <a:r>
              <a:rPr lang="en-US" sz="28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));</a:t>
            </a:r>
            <a:endParaRPr lang="en-US" sz="2800">
              <a:solidFill>
                <a:srgbClr val="000000"/>
              </a:solidFill>
              <a:latin typeface="Consolas" panose="020B0609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381000" y="462280"/>
            <a:ext cx="1120838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en-US" sz="2400" b="0">
                <a:latin typeface="Times New Roman" panose="02020603050405020304" charset="0"/>
              </a:rPr>
              <a:t>	Подведем итоги. За время выполнения практической работы вы изучили типы данных в языке JavaScript, рассмотрели возможность выполнения арифметических операций в языке JavaScript. Познакомиться с</a:t>
            </a:r>
            <a:r>
              <a:rPr lang="ru-RU" altLang="en-US" sz="2400" b="0">
                <a:latin typeface="Times New Roman" panose="02020603050405020304" charset="0"/>
              </a:rPr>
              <a:t>о</a:t>
            </a:r>
            <a:r>
              <a:rPr lang="en-US" sz="2400" b="0">
                <a:latin typeface="Times New Roman" panose="02020603050405020304" charset="0"/>
              </a:rPr>
              <a:t> специальными методами, которые можно использовать со строками</a:t>
            </a:r>
            <a:r>
              <a:rPr lang="ru-RU" altLang="en-US" sz="2400" b="0">
                <a:latin typeface="Times New Roman" panose="02020603050405020304" charset="0"/>
              </a:rPr>
              <a:t> и числами</a:t>
            </a:r>
            <a:r>
              <a:rPr lang="en-US" sz="2400" b="0">
                <a:latin typeface="Times New Roman" panose="02020603050405020304" charset="0"/>
              </a:rPr>
              <a:t>.</a:t>
            </a:r>
            <a:endParaRPr lang="en-US" sz="2400" b="0">
              <a:latin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 b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af58d3df-258b-4676-829f-33ed59be0979"/>
  <p:tag name="COMMONDATA" val="eyJoZGlkIjoiZmUxODg5ZWNkYzgwMjRiYjUyNDAzNzllNWYwZDhjM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22744</Words>
  <Application>WPS Presentation</Application>
  <PresentationFormat>Widescreen</PresentationFormat>
  <Paragraphs>784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104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Arial Regular</vt:lpstr>
      <vt:lpstr>Times New Roman</vt:lpstr>
      <vt:lpstr>Consolas</vt:lpstr>
      <vt:lpstr>苹方-简</vt:lpstr>
      <vt:lpstr>SimSun</vt:lpstr>
      <vt:lpstr>宋体-简</vt:lpstr>
      <vt:lpstr>Microsoft YaHei</vt:lpstr>
      <vt:lpstr>汉仪旗黑</vt:lpstr>
      <vt:lpstr>Arial Unicode MS</vt:lpstr>
      <vt:lpstr>Calibri Light</vt:lpstr>
      <vt:lpstr>Calibri</vt:lpstr>
      <vt:lpstr>Menlo</vt:lpstr>
      <vt:lpstr>JetBrains Mono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106</cp:revision>
  <dcterms:created xsi:type="dcterms:W3CDTF">2025-11-25T07:21:40Z</dcterms:created>
  <dcterms:modified xsi:type="dcterms:W3CDTF">2025-11-25T07:21:40Z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1033-12.1.23152.23152</vt:lpwstr>
  </property>
  <property fmtid="{D5CDD505-2E9C-101B-9397-08002B2CF9AE}" pid="3" name="ICV">
    <vt:lpwstr>58BEF61DAE48435BB40B14BB029CCDA9_12</vt:lpwstr>
  </property>
</Properties>
</file>