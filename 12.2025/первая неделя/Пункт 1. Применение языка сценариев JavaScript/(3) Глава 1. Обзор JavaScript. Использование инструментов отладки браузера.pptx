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58" r:id="rId15"/>
    <p:sldId id="276" r:id="rId16"/>
    <p:sldId id="277" r:id="rId17"/>
    <p:sldId id="285" r:id="rId18"/>
    <p:sldId id="278" r:id="rId19"/>
    <p:sldId id="279" r:id="rId20"/>
    <p:sldId id="286" r:id="rId21"/>
    <p:sldId id="297" r:id="rId22"/>
    <p:sldId id="280" r:id="rId23"/>
    <p:sldId id="293" r:id="rId24"/>
    <p:sldId id="281" r:id="rId25"/>
    <p:sldId id="298" r:id="rId26"/>
    <p:sldId id="283" r:id="rId27"/>
    <p:sldId id="299" r:id="rId28"/>
    <p:sldId id="301" r:id="rId29"/>
    <p:sldId id="282" r:id="rId30"/>
    <p:sldId id="300" r:id="rId31"/>
  </p:sldIdLst>
  <p:sldSz cx="12192000" cy="6858000"/>
  <p:notesSz cx="6858000" cy="9144000"/>
  <p:embeddedFontLst>
    <p:embeddedFont>
      <p:font typeface="方正仿宋_GBK" panose="02000000000000000000" charset="-122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7;p1"/>
          <p:cNvSpPr txBox="1"/>
          <p:nvPr/>
        </p:nvSpPr>
        <p:spPr>
          <a:xfrm>
            <a:off x="281305" y="1742440"/>
            <a:ext cx="11629390" cy="322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«Разработка веб-интерфейсного скрипта»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前端脚本开发”</a:t>
            </a: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Обзор JavaScript: Использование инструментов отладки браузера</a:t>
            </a:r>
            <a:endParaRPr lang="en-US" sz="3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3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JavaScript概述</a:t>
            </a:r>
            <a:r>
              <a:rPr lang="en-US" sz="3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。</a:t>
            </a:r>
            <a:r>
              <a:rPr lang="ru-RU" altLang="en-US" sz="3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使用浏览器调试工具</a:t>
            </a:r>
            <a:endParaRPr lang="ru-RU" altLang="en-US" sz="32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Google Shape;88;p1"/>
          <p:cNvSpPr txBox="1"/>
          <p:nvPr/>
        </p:nvSpPr>
        <p:spPr>
          <a:xfrm>
            <a:off x="7517130" y="5497830"/>
            <a:ext cx="4525645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</a:t>
            </a:r>
            <a:r>
              <a:rPr lang="ru-RU" alt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информационных систем и программной инженерии </a:t>
            </a:r>
            <a:endParaRPr lang="ru-RU" altLang="en-US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764540" y="982980"/>
            <a:ext cx="10875010" cy="4154170"/>
          </a:xfrm>
          <a:prstGeom prst="rect">
            <a:avLst/>
          </a:prstGeom>
        </p:spPr>
        <p:txBody>
          <a:bodyPr wrap="square">
            <a:spAutoFit/>
          </a:bodyPr>
          <a:p>
            <a:pPr indent="457200" algn="just"/>
            <a:r>
              <a:rPr sz="2400">
                <a:latin typeface="Times New Roman Regular" panose="02020603050405020304" charset="0"/>
                <a:cs typeface="Times New Roman Regular" panose="02020603050405020304" charset="0"/>
              </a:rPr>
              <a:t>Инструменты отладки браузера помогают разработчикам анализировать и отлаживать код JavaScript, находить ошибки, отслеживать производительность и тестировать различные сценарии взаимодействия с веб-страницей. Эти инструменты встроены во все популярные браузеры, такие как Chrome, Firefox, Edge и Safari. Рассмотрим основные возможности, которые они предоставляют, а также, как эффективно использовать их для работы с JavaScript.</a:t>
            </a:r>
            <a:endParaRPr sz="24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sz="24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sz="2400"/>
              <a:t>浏览器的调试工具帮助开发人员分析和调试JavaScript代码，发现错误，监控性能，并测试与网页的交互场景。这些工具内置于所有主流浏览器中，如Chrome、Firefox、Edge和Safari。下面介绍调试工具的主要功能，并说明如何高效使用它们来处理JavaScript。</a:t>
            </a:r>
            <a:endParaRPr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60045" y="1136650"/>
            <a:ext cx="11471910" cy="45847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/>
              <a:t>Чтобы открыть инструменты разработчика в популярных браузерах:</a:t>
            </a:r>
            <a:endParaRPr sz="2400"/>
          </a:p>
          <a:p>
            <a:r>
              <a:rPr sz="2400"/>
              <a:t>在主要浏览器中，您可以通过以下方法打开开发者工具：</a:t>
            </a:r>
            <a:endParaRPr sz="2400"/>
          </a:p>
          <a:p>
            <a:endParaRPr sz="2400"/>
          </a:p>
          <a:p>
            <a:pPr>
              <a:buFont typeface="Arial" panose="020B0704020202020204"/>
              <a:buChar char="•"/>
            </a:pPr>
            <a:r>
              <a:rPr sz="2000"/>
              <a:t>Google Chrome: нажмите F12 или Ctrl+Shift+I (Windows/Linux) или Cmd+Opt+I (Mac)。</a:t>
            </a:r>
            <a:endParaRPr sz="2000"/>
          </a:p>
          <a:p>
            <a:r>
              <a:rPr sz="2000"/>
              <a:t>Google Chrome：按下F12或Ctrl+Shift+I（Windows/Linux），或Cmd+Opt+I（Mac）。</a:t>
            </a:r>
            <a:endParaRPr sz="2000"/>
          </a:p>
          <a:p>
            <a:endParaRPr sz="2000"/>
          </a:p>
          <a:p>
            <a:pPr>
              <a:buFont typeface="Arial" panose="020B0704020202020204"/>
              <a:buChar char="•"/>
            </a:pPr>
            <a:r>
              <a:rPr sz="2000"/>
              <a:t>Firefox: нажмите F12 или Ctrl+Shift+I (Windows/Linux) или Cmd+Opt+I (Mac)。</a:t>
            </a:r>
            <a:endParaRPr sz="2000"/>
          </a:p>
          <a:p>
            <a:r>
              <a:rPr sz="2000"/>
              <a:t>Firefox：按下F12或Ctrl+Shift+I（Windows/Linux），或Cmd+Opt+I（Mac）。</a:t>
            </a:r>
            <a:endParaRPr sz="2000"/>
          </a:p>
          <a:p>
            <a:endParaRPr sz="2000"/>
          </a:p>
          <a:p>
            <a:pPr>
              <a:buFont typeface="Arial" panose="020B0704020202020204"/>
              <a:buChar char="•"/>
            </a:pPr>
            <a:r>
              <a:rPr sz="2000"/>
              <a:t>Microsoft Edge: нажмите F12 или Ctrl+Shift+I。</a:t>
            </a:r>
            <a:endParaRPr sz="2000"/>
          </a:p>
          <a:p>
            <a:r>
              <a:rPr sz="2000"/>
              <a:t>Microsoft Edge：按下F12或Ctrl+Shift+I。</a:t>
            </a:r>
            <a:endParaRPr sz="2000"/>
          </a:p>
          <a:p>
            <a:endParaRPr sz="2000"/>
          </a:p>
          <a:p>
            <a:pPr>
              <a:buFont typeface="Arial" panose="020B0704020202020204"/>
              <a:buChar char="•"/>
            </a:pPr>
            <a:r>
              <a:rPr sz="2000"/>
              <a:t>Safari: включите "Показать меню разработчика" в настройках и нажмите Cmd+Opt+C。</a:t>
            </a:r>
            <a:endParaRPr sz="2000"/>
          </a:p>
          <a:p>
            <a:r>
              <a:rPr sz="2000"/>
              <a:t>Safari：在设置中启用“显示开发者菜单”，然后按Cmd+Opt+C。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723265" y="370840"/>
            <a:ext cx="10370185" cy="1938020"/>
          </a:xfrm>
          <a:prstGeom prst="rect">
            <a:avLst/>
          </a:prstGeom>
        </p:spPr>
        <p:txBody>
          <a:bodyPr wrap="square">
            <a:spAutoFit/>
          </a:bodyPr>
          <a:p>
            <a:pPr indent="457200"/>
            <a:r>
              <a:rPr sz="2400"/>
              <a:t>Открыв инструменты, вы увидите несколько вкладок. Рассмотрим основные вкладки, полезные для работы с JavaScript.</a:t>
            </a:r>
            <a:endParaRPr sz="2400"/>
          </a:p>
          <a:p>
            <a:pPr indent="457200"/>
            <a:endParaRPr sz="2400"/>
          </a:p>
          <a:p>
            <a:pPr algn="just"/>
            <a:r>
              <a:rPr sz="2400"/>
              <a:t>打开工具后，您会看到多个选项卡。我们来看看JavaScript调试中最有用的几个选项卡。</a:t>
            </a:r>
            <a:endParaRPr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0" y="3007995"/>
            <a:ext cx="6774180" cy="23221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78765" y="399415"/>
            <a:ext cx="6840220" cy="10934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400" b="1"/>
              <a:t>Основные вкладки для отладки JavaScript</a:t>
            </a:r>
            <a:endParaRPr sz="2400" b="1"/>
          </a:p>
          <a:p>
            <a:pPr>
              <a:spcAft>
                <a:spcPct val="60000"/>
              </a:spcAft>
            </a:pPr>
            <a:r>
              <a:rPr sz="2400" b="1"/>
              <a:t>JavaScript调试的主要选项卡</a:t>
            </a:r>
            <a:endParaRPr sz="2400" b="1"/>
          </a:p>
        </p:txBody>
      </p:sp>
      <p:sp>
        <p:nvSpPr>
          <p:cNvPr id="4" name="Text Box 3"/>
          <p:cNvSpPr txBox="1"/>
          <p:nvPr/>
        </p:nvSpPr>
        <p:spPr>
          <a:xfrm>
            <a:off x="1199515" y="2442845"/>
            <a:ext cx="4280535" cy="10934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400" b="1"/>
              <a:t>Console (Консоль)</a:t>
            </a:r>
            <a:endParaRPr sz="2400" b="1"/>
          </a:p>
          <a:p>
            <a:pPr>
              <a:spcAft>
                <a:spcPct val="60000"/>
              </a:spcAft>
            </a:pPr>
            <a:r>
              <a:rPr sz="2400" b="1"/>
              <a:t>Console（控制台）</a:t>
            </a:r>
            <a:endParaRPr sz="2400" b="1"/>
          </a:p>
        </p:txBody>
      </p:sp>
      <p:sp>
        <p:nvSpPr>
          <p:cNvPr id="5" name="Text Box 4"/>
          <p:cNvSpPr txBox="1"/>
          <p:nvPr/>
        </p:nvSpPr>
        <p:spPr>
          <a:xfrm>
            <a:off x="1199515" y="3797935"/>
            <a:ext cx="4281805" cy="10934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400" b="1"/>
              <a:t>Sources (Источники)</a:t>
            </a:r>
            <a:endParaRPr sz="2400" b="1"/>
          </a:p>
          <a:p>
            <a:pPr>
              <a:spcAft>
                <a:spcPct val="60000"/>
              </a:spcAft>
            </a:pPr>
            <a:r>
              <a:rPr sz="2400" b="1"/>
              <a:t>Sources（源代码）</a:t>
            </a:r>
            <a:endParaRPr sz="2400" b="1"/>
          </a:p>
        </p:txBody>
      </p:sp>
      <p:sp>
        <p:nvSpPr>
          <p:cNvPr id="6" name="Text Box 5"/>
          <p:cNvSpPr txBox="1"/>
          <p:nvPr/>
        </p:nvSpPr>
        <p:spPr>
          <a:xfrm>
            <a:off x="5923280" y="2442845"/>
            <a:ext cx="4281805" cy="10934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400" b="1"/>
              <a:t>Network (Сеть)</a:t>
            </a:r>
            <a:endParaRPr sz="2400" b="1"/>
          </a:p>
          <a:p>
            <a:pPr>
              <a:spcAft>
                <a:spcPct val="60000"/>
              </a:spcAft>
            </a:pPr>
            <a:r>
              <a:rPr sz="2400" b="1"/>
              <a:t>Network（网络）</a:t>
            </a:r>
            <a:endParaRPr sz="2400" b="1"/>
          </a:p>
        </p:txBody>
      </p:sp>
      <p:sp>
        <p:nvSpPr>
          <p:cNvPr id="7" name="Text Box 6"/>
          <p:cNvSpPr txBox="1"/>
          <p:nvPr/>
        </p:nvSpPr>
        <p:spPr>
          <a:xfrm>
            <a:off x="5923280" y="3797935"/>
            <a:ext cx="4280535" cy="10934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400" b="1"/>
              <a:t>Вкладка Elements</a:t>
            </a:r>
            <a:endParaRPr sz="2400" b="1"/>
          </a:p>
          <a:p>
            <a:pPr>
              <a:spcAft>
                <a:spcPct val="60000"/>
              </a:spcAft>
            </a:pPr>
            <a:r>
              <a:rPr sz="2400" b="1"/>
              <a:t>Elements选项卡</a:t>
            </a:r>
            <a:endParaRPr sz="2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68605" y="217170"/>
            <a:ext cx="5080000" cy="92646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000" b="1"/>
              <a:t>Вкладка Elements</a:t>
            </a:r>
            <a:endParaRPr sz="2000" b="1"/>
          </a:p>
          <a:p>
            <a:pPr>
              <a:spcAft>
                <a:spcPct val="60000"/>
              </a:spcAft>
            </a:pPr>
            <a:r>
              <a:rPr sz="2000" b="1"/>
              <a:t>Elements选项卡</a:t>
            </a:r>
            <a:endParaRPr sz="2000" b="1"/>
          </a:p>
        </p:txBody>
      </p:sp>
      <p:sp>
        <p:nvSpPr>
          <p:cNvPr id="4" name="Text Box 3"/>
          <p:cNvSpPr txBox="1"/>
          <p:nvPr/>
        </p:nvSpPr>
        <p:spPr>
          <a:xfrm>
            <a:off x="360045" y="4203700"/>
            <a:ext cx="11193780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/>
              <a:t>Elements选项卡是开发者工具中最有用的工具之一，它允许您查看和编辑网页上的HTML和CSS。借助此工具，您可以修改页面结构的元素、样式和属性，甚至可以测试响应式设计。您可以实时看到更改如何影响网站的外观和行为。</a:t>
            </a:r>
            <a:endParaRPr sz="2400"/>
          </a:p>
        </p:txBody>
      </p:sp>
      <p:sp>
        <p:nvSpPr>
          <p:cNvPr id="5" name="Text Box 4"/>
          <p:cNvSpPr txBox="1"/>
          <p:nvPr/>
        </p:nvSpPr>
        <p:spPr>
          <a:xfrm>
            <a:off x="360045" y="1497965"/>
            <a:ext cx="11193780" cy="1938020"/>
          </a:xfrm>
          <a:prstGeom prst="rect">
            <a:avLst/>
          </a:prstGeom>
        </p:spPr>
        <p:txBody>
          <a:bodyPr wrap="square">
            <a:spAutoFit/>
          </a:bodyPr>
          <a:p>
            <a:pPr indent="457200" algn="just"/>
            <a:r>
              <a:rPr sz="2400">
                <a:latin typeface="Times New Roman Regular" panose="02020603050405020304" charset="0"/>
                <a:cs typeface="Times New Roman Regular" panose="02020603050405020304" charset="0"/>
              </a:rPr>
              <a:t>Вкладка Elements — это один из самых полезных инструментов разработчика, который позволяет просматривать и редактировать HTML и CSS на веб-странице. С её помощью можно изменять элементы структуры страницы, стили, атрибуты и даже тестировать адаптивный дизайн. В реальном времени можно видеть, как изменения повлияют на внешний вид и поведение сайта. </a:t>
            </a:r>
            <a:endParaRPr sz="24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68605" y="217170"/>
            <a:ext cx="5080000" cy="92646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000" b="1"/>
              <a:t>Вкладка Elements</a:t>
            </a:r>
            <a:endParaRPr sz="2000" b="1"/>
          </a:p>
          <a:p>
            <a:pPr>
              <a:spcAft>
                <a:spcPct val="60000"/>
              </a:spcAft>
            </a:pPr>
            <a:r>
              <a:rPr sz="2000" b="1"/>
              <a:t>Elements选项卡</a:t>
            </a:r>
            <a:endParaRPr sz="2000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4845" y="1628775"/>
            <a:ext cx="578167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096000" y="133985"/>
            <a:ext cx="5955665" cy="92646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Основные возможности вкладки Elements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Elements选项卡的主要功能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78155" y="1990725"/>
            <a:ext cx="11010900" cy="39693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800" b="1"/>
              <a:t>Просмотр HTML-структуры страницы</a:t>
            </a:r>
            <a:endParaRPr sz="2800" b="1"/>
          </a:p>
          <a:p>
            <a:r>
              <a:rPr sz="2800" b="1"/>
              <a:t>查看页面的HTML结构</a:t>
            </a:r>
            <a:endParaRPr sz="2800" b="1"/>
          </a:p>
          <a:p>
            <a:endParaRPr sz="2800"/>
          </a:p>
          <a:p>
            <a:r>
              <a:rPr sz="2800"/>
              <a:t>Вкладка отображает весь HTML-код страницы в виде дерева DOM (Document Object Model), что позволяет легко находить нужные элементы и понимать структуру страницы.</a:t>
            </a:r>
            <a:endParaRPr sz="2800"/>
          </a:p>
          <a:p>
            <a:endParaRPr sz="2800"/>
          </a:p>
          <a:p>
            <a:r>
              <a:rPr sz="2800"/>
              <a:t>Elements选项卡以DOM（文档对象模型）树的形式显示整个页面的HTML代码，使您可以轻松找到所需的元素并了解页面结构。</a:t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63550" y="1623060"/>
            <a:ext cx="10681970" cy="439991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800" b="1"/>
              <a:t>Изменение HTML-кода</a:t>
            </a:r>
            <a:endParaRPr sz="2800" b="1"/>
          </a:p>
          <a:p>
            <a:r>
              <a:rPr sz="2800" b="1"/>
              <a:t>修改HTML代码</a:t>
            </a:r>
            <a:endParaRPr sz="2800" b="1"/>
          </a:p>
          <a:p>
            <a:endParaRPr sz="2800"/>
          </a:p>
          <a:p>
            <a:r>
              <a:rPr sz="2800"/>
              <a:t>Вы можете дважды кликнуть по любому элементу в дереве DOM и изменить его содержимое или атрибуты. Это полезно для тестирования изменений перед их добавлением в основной код.</a:t>
            </a:r>
            <a:endParaRPr sz="2800"/>
          </a:p>
          <a:p>
            <a:endParaRPr sz="2800"/>
          </a:p>
          <a:p>
            <a:r>
              <a:rPr sz="2800"/>
              <a:t>您可以双击DOM树中的任何元素以更改其内容或属性。这在将更改实际添加到代码之前进行测试时非常有用。</a:t>
            </a:r>
            <a:endParaRPr sz="2800"/>
          </a:p>
        </p:txBody>
      </p:sp>
      <p:sp>
        <p:nvSpPr>
          <p:cNvPr id="5" name="Text Box 4"/>
          <p:cNvSpPr txBox="1"/>
          <p:nvPr/>
        </p:nvSpPr>
        <p:spPr>
          <a:xfrm>
            <a:off x="407670" y="328295"/>
            <a:ext cx="11485880" cy="92646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Основные возможности вкладки Elements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Elements选项卡的主要功能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7670" y="1467485"/>
            <a:ext cx="11325225" cy="439991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800" b="1"/>
              <a:t>Редактирование CSS-стилей</a:t>
            </a:r>
            <a:endParaRPr sz="2800" b="1"/>
          </a:p>
          <a:p>
            <a:r>
              <a:rPr sz="2800" b="1"/>
              <a:t>编辑CSS样式</a:t>
            </a:r>
            <a:endParaRPr sz="2800" b="1"/>
          </a:p>
          <a:p>
            <a:endParaRPr sz="2800" b="1"/>
          </a:p>
          <a:p>
            <a:r>
              <a:rPr sz="2800"/>
              <a:t>В правой части вкладки вы можете просматривать и изменять CSS-стили, которые применяются к выбранному элементу. Это позволяет видеть изменения в реальном времени, что особенно полезно для настройки внешнего вида элементов.</a:t>
            </a:r>
            <a:endParaRPr sz="2800"/>
          </a:p>
          <a:p>
            <a:endParaRPr sz="2800"/>
          </a:p>
          <a:p>
            <a:r>
              <a:rPr sz="2800"/>
              <a:t>在选项卡的右侧，您可以查看并修改应用于所选元素的CSS样式。这样可以实时查看更改效果，对于调整元素外观特别有用。</a:t>
            </a:r>
            <a:endParaRPr sz="2800"/>
          </a:p>
        </p:txBody>
      </p:sp>
      <p:sp>
        <p:nvSpPr>
          <p:cNvPr id="5" name="Text Box 4"/>
          <p:cNvSpPr txBox="1"/>
          <p:nvPr/>
        </p:nvSpPr>
        <p:spPr>
          <a:xfrm>
            <a:off x="407670" y="328295"/>
            <a:ext cx="11325225" cy="92646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Основные возможности вкладки Elements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Elements选项卡的主要功能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21310" y="1426845"/>
            <a:ext cx="11478895" cy="48310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800" b="1"/>
              <a:t>Проверка и добавление псевдоклассов</a:t>
            </a:r>
            <a:endParaRPr sz="2800" b="1"/>
          </a:p>
          <a:p>
            <a:r>
              <a:rPr sz="2800" b="1"/>
              <a:t>检查和添加伪类</a:t>
            </a:r>
            <a:endParaRPr sz="2800" b="1"/>
          </a:p>
          <a:p>
            <a:endParaRPr sz="2800" b="1"/>
          </a:p>
          <a:p>
            <a:r>
              <a:rPr sz="2800"/>
              <a:t>Вы можете применять к элементам псевдоклассы, такие как :hover или :active, чтобы увидеть, как они выглядят при взаимодействии с пользователем. Например, можно активировать :hover, чтобы посмотреть, как элемент будет выглядеть при наведении мыши.</a:t>
            </a:r>
            <a:endParaRPr sz="2800"/>
          </a:p>
          <a:p>
            <a:endParaRPr sz="2800"/>
          </a:p>
          <a:p>
            <a:r>
              <a:rPr sz="2800"/>
              <a:t>您可以为元素应用伪类（例如:hover或:active），以查看用户交互时的效果。例如，可以激活:hover，查看元素在鼠标悬停时的样式。</a:t>
            </a:r>
            <a:endParaRPr sz="2800"/>
          </a:p>
        </p:txBody>
      </p:sp>
      <p:sp>
        <p:nvSpPr>
          <p:cNvPr id="5" name="Text Box 4"/>
          <p:cNvSpPr txBox="1"/>
          <p:nvPr/>
        </p:nvSpPr>
        <p:spPr>
          <a:xfrm>
            <a:off x="407670" y="328295"/>
            <a:ext cx="11325225" cy="92646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Основные возможности вкладки Elements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Elements选项卡的主要功能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407670" y="1510030"/>
            <a:ext cx="11325860" cy="39693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800" b="1"/>
              <a:t>Изменение размеров и положения элементов</a:t>
            </a:r>
            <a:endParaRPr sz="2800" b="1"/>
          </a:p>
          <a:p>
            <a:r>
              <a:rPr sz="2800" b="1"/>
              <a:t>调整元素大小和位置</a:t>
            </a:r>
            <a:endParaRPr sz="2800" b="1"/>
          </a:p>
          <a:p>
            <a:endParaRPr sz="2800"/>
          </a:p>
          <a:p>
            <a:r>
              <a:rPr sz="2800"/>
              <a:t>Вкладка Elements позволяет легко проверять отступы (margin), поля (padding) и другие параметры позиционирования. Это особенно полезно для отладки верстки и адаптивного дизайна.</a:t>
            </a:r>
            <a:endParaRPr sz="2800"/>
          </a:p>
          <a:p>
            <a:endParaRPr sz="2800"/>
          </a:p>
          <a:p>
            <a:r>
              <a:rPr sz="2800"/>
              <a:t>Elements选项卡可以轻松查看边距（margin）、填充（padding）等定位参数，对于调试布局和响应式设计特别有用。</a:t>
            </a:r>
            <a:endParaRPr sz="2800"/>
          </a:p>
        </p:txBody>
      </p:sp>
      <p:sp>
        <p:nvSpPr>
          <p:cNvPr id="5" name="Text Box 4"/>
          <p:cNvSpPr txBox="1"/>
          <p:nvPr/>
        </p:nvSpPr>
        <p:spPr>
          <a:xfrm>
            <a:off x="407670" y="328295"/>
            <a:ext cx="11325225" cy="92646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Основные возможности вкладки Elements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Elements选项卡的主要功能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07035" y="1644015"/>
            <a:ext cx="11325860" cy="3969385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None/>
            </a:pPr>
            <a:r>
              <a:rPr sz="2800" b="1"/>
              <a:t>Анализ шрифтов и других стилей</a:t>
            </a:r>
            <a:endParaRPr sz="2800" b="1"/>
          </a:p>
          <a:p>
            <a:r>
              <a:rPr sz="2800" b="1"/>
              <a:t>分析字体和其他样式</a:t>
            </a:r>
            <a:endParaRPr sz="2800" b="1"/>
          </a:p>
          <a:p>
            <a:endParaRPr sz="2800" b="1"/>
          </a:p>
          <a:p>
            <a:r>
              <a:rPr sz="2800"/>
              <a:t>Вы можете быстро проверить стили шрифтов, такие как семейство шрифтов, размер и цвет, чтобы понять, как визуально оформлен текст.</a:t>
            </a:r>
            <a:endParaRPr sz="2800"/>
          </a:p>
          <a:p>
            <a:endParaRPr sz="2800"/>
          </a:p>
          <a:p>
            <a:r>
              <a:rPr sz="2800"/>
              <a:t>您可以快速查看字体样式（如字体系列、大小和颜色），以便了解文本的视觉效果。</a:t>
            </a:r>
            <a:endParaRPr sz="2800"/>
          </a:p>
        </p:txBody>
      </p:sp>
      <p:sp>
        <p:nvSpPr>
          <p:cNvPr id="2" name="Text Box 1"/>
          <p:cNvSpPr txBox="1"/>
          <p:nvPr/>
        </p:nvSpPr>
        <p:spPr>
          <a:xfrm>
            <a:off x="407670" y="328295"/>
            <a:ext cx="11325225" cy="926465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Основные возможности вкладки Elements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  <a:p>
            <a:pPr algn="r">
              <a:spcAft>
                <a:spcPct val="60000"/>
              </a:spcAft>
            </a:pPr>
            <a:r>
              <a:rPr sz="2000" b="1">
                <a:solidFill>
                  <a:schemeClr val="accent5">
                    <a:lumMod val="50000"/>
                  </a:schemeClr>
                </a:solidFill>
              </a:rPr>
              <a:t>Elements选项卡的主要功能</a:t>
            </a:r>
            <a:endParaRPr sz="2000" b="1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64795" y="289560"/>
            <a:ext cx="11360150" cy="54813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400" b="1"/>
              <a:t>Console (Консоль)</a:t>
            </a:r>
            <a:endParaRPr sz="2400" b="1"/>
          </a:p>
          <a:p>
            <a:pPr>
              <a:spcAft>
                <a:spcPct val="60000"/>
              </a:spcAft>
            </a:pPr>
            <a:r>
              <a:rPr sz="2400" b="1"/>
              <a:t>Console（控制台）</a:t>
            </a:r>
            <a:endParaRPr sz="2400" b="1"/>
          </a:p>
          <a:p>
            <a:pPr>
              <a:spcAft>
                <a:spcPct val="60000"/>
              </a:spcAft>
            </a:pPr>
            <a:endParaRPr sz="2800" b="1"/>
          </a:p>
          <a:p>
            <a:r>
              <a:rPr sz="2000"/>
              <a:t>Консоль позволяет:</a:t>
            </a:r>
            <a:endParaRPr sz="2000"/>
          </a:p>
          <a:p>
            <a:r>
              <a:rPr sz="2000"/>
              <a:t>控制台允许：</a:t>
            </a:r>
            <a:endParaRPr sz="2000"/>
          </a:p>
          <a:p>
            <a:endParaRPr sz="2000"/>
          </a:p>
          <a:p>
            <a:pPr>
              <a:buFont typeface="Arial" panose="020B0704020202020204"/>
              <a:buChar char="•"/>
            </a:pPr>
            <a:r>
              <a:rPr sz="2000"/>
              <a:t>Выполнять команды JavaScript в реальном времени.</a:t>
            </a:r>
            <a:endParaRPr sz="2000"/>
          </a:p>
          <a:p>
            <a:r>
              <a:rPr sz="2000"/>
              <a:t>实时执行JavaScript命令。</a:t>
            </a:r>
            <a:endParaRPr sz="2000"/>
          </a:p>
          <a:p>
            <a:endParaRPr sz="2000"/>
          </a:p>
          <a:p>
            <a:pPr>
              <a:buFont typeface="Arial" panose="020B0704020202020204"/>
              <a:buChar char="•"/>
            </a:pPr>
            <a:r>
              <a:rPr sz="2000"/>
              <a:t>Просматривать сообщения об ошибках и предупреждениях.</a:t>
            </a:r>
            <a:endParaRPr sz="2000"/>
          </a:p>
          <a:p>
            <a:r>
              <a:rPr sz="2000"/>
              <a:t>查看错误和警告信息。</a:t>
            </a:r>
            <a:endParaRPr sz="2000"/>
          </a:p>
          <a:p>
            <a:endParaRPr sz="2000"/>
          </a:p>
          <a:p>
            <a:pPr>
              <a:buFont typeface="Arial" panose="020B0704020202020204"/>
              <a:buChar char="•"/>
            </a:pPr>
            <a:r>
              <a:rPr sz="2000"/>
              <a:t>Выводить данные для проверки (console.log(), console.error(), console.warn() и другие).</a:t>
            </a:r>
            <a:endParaRPr sz="2000"/>
          </a:p>
          <a:p>
            <a:r>
              <a:rPr sz="2000"/>
              <a:t>使用console.log()、console.error()、console.warn()等方法输出数据，以便检查代码状态。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55930" y="299085"/>
            <a:ext cx="987171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704020202020204"/>
              <a:buNone/>
            </a:pPr>
            <a:r>
              <a:rPr sz="2800" b="1">
                <a:sym typeface="+mn-ea"/>
              </a:rPr>
              <a:t>Выполнять команды JavaScript в реальном времени.</a:t>
            </a:r>
            <a:endParaRPr sz="2800" b="1"/>
          </a:p>
          <a:p>
            <a:r>
              <a:rPr sz="2800" b="1">
                <a:sym typeface="+mn-ea"/>
              </a:rPr>
              <a:t>实时执行JavaScript命令。</a:t>
            </a:r>
            <a:endParaRPr lang="en-US" sz="2800" b="1"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0620" y="2061845"/>
            <a:ext cx="4810125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00660" y="187325"/>
            <a:ext cx="1178052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704020202020204"/>
              <a:buNone/>
            </a:pPr>
            <a:r>
              <a:rPr sz="2800" b="1">
                <a:sym typeface="+mn-ea"/>
              </a:rPr>
              <a:t>Просматривать сообщения об ошибках и предупреждениях.</a:t>
            </a:r>
            <a:endParaRPr sz="2800" b="1"/>
          </a:p>
          <a:p>
            <a:pPr>
              <a:spcAft>
                <a:spcPct val="60000"/>
              </a:spcAft>
            </a:pPr>
            <a:r>
              <a:rPr sz="2800" b="1">
                <a:sym typeface="+mn-ea"/>
              </a:rPr>
              <a:t>查看错误和警告信息。</a:t>
            </a:r>
            <a:endParaRPr lang="en-US" sz="2800" b="1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885180" y="1426210"/>
            <a:ext cx="609600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400">
                <a:sym typeface="+mn-ea"/>
              </a:rPr>
              <a:t>Когда вы выполняете этот код в консоли, если b равно 0, будет вызвано console.error() с сообщением об ошибке. В консоли отобразится красное предупреждение, которое поможет быстро выявить причину ошибки.</a:t>
            </a:r>
            <a:endParaRPr sz="2400"/>
          </a:p>
          <a:p>
            <a:endParaRPr sz="2400"/>
          </a:p>
          <a:p>
            <a:r>
              <a:rPr sz="2400">
                <a:sym typeface="+mn-ea"/>
              </a:rPr>
              <a:t>在控制台中运行该代码时，如果b为0，将触发console.error()显示自定义错误信息。控制台会显示红色的错误提示，帮助开发者迅速定位错误原因。</a:t>
            </a:r>
            <a:endParaRPr lang="en-US" sz="240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95" y="1568450"/>
            <a:ext cx="5351780" cy="27311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55" y="4462780"/>
            <a:ext cx="4975225" cy="2012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363855" y="1648460"/>
            <a:ext cx="11448415" cy="47078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/>
              <a:t>Эта вкладка позволяет:</a:t>
            </a:r>
            <a:endParaRPr sz="2000"/>
          </a:p>
          <a:p>
            <a:r>
              <a:rPr sz="2000"/>
              <a:t>此选项卡提供：</a:t>
            </a:r>
            <a:endParaRPr sz="2000"/>
          </a:p>
          <a:p>
            <a:endParaRPr sz="2000"/>
          </a:p>
          <a:p>
            <a:pPr>
              <a:buFont typeface="Arial" panose="020B0704020202020204"/>
              <a:buChar char="•"/>
            </a:pPr>
            <a:r>
              <a:rPr sz="2000"/>
              <a:t>Просматривать все загруженные ресурсы, включая файлы JavaScript.</a:t>
            </a:r>
            <a:endParaRPr sz="2000"/>
          </a:p>
          <a:p>
            <a:r>
              <a:rPr sz="2000"/>
              <a:t>查看所有加载的资源，包括JavaScript文件。</a:t>
            </a:r>
            <a:endParaRPr sz="2000"/>
          </a:p>
          <a:p>
            <a:endParaRPr sz="2000"/>
          </a:p>
          <a:p>
            <a:pPr>
              <a:buFont typeface="Arial" panose="020B0704020202020204"/>
              <a:buChar char="•"/>
            </a:pPr>
            <a:r>
              <a:rPr sz="2000"/>
              <a:t>Устанавливать точки останова (breakpoints), чтобы остановить выполнение кода на определенной строке и исследовать его состояние.</a:t>
            </a:r>
            <a:endParaRPr sz="2000"/>
          </a:p>
          <a:p>
            <a:r>
              <a:rPr sz="2000"/>
              <a:t>设置断点（breakpoints），在特定行停止代码执行并检查其状态。</a:t>
            </a:r>
            <a:endParaRPr sz="2000"/>
          </a:p>
          <a:p>
            <a:endParaRPr sz="2000"/>
          </a:p>
          <a:p>
            <a:pPr>
              <a:buFont typeface="Arial" panose="020B0704020202020204"/>
              <a:buChar char="•"/>
            </a:pPr>
            <a:r>
              <a:rPr sz="2000"/>
              <a:t>Выполнять пошаговую отладку (с помощью функций "Step Over", "Step Into" и "Step Out").</a:t>
            </a:r>
            <a:endParaRPr sz="2000"/>
          </a:p>
          <a:p>
            <a:r>
              <a:rPr sz="2000"/>
              <a:t>步进调试（使用“Step Over”、“Step Into”和“Step Out”功能）。</a:t>
            </a:r>
            <a:endParaRPr sz="2000"/>
          </a:p>
          <a:p>
            <a:endParaRPr sz="2000"/>
          </a:p>
          <a:p>
            <a:pPr>
              <a:buFont typeface="Arial" panose="020B0704020202020204"/>
              <a:buChar char="•"/>
            </a:pPr>
            <a:r>
              <a:rPr sz="2000"/>
              <a:t>Исследовать переменные и их значения на разных этапах выполнения кода.</a:t>
            </a:r>
            <a:endParaRPr sz="2000"/>
          </a:p>
          <a:p>
            <a:r>
              <a:rPr sz="2000"/>
              <a:t>检查代码执行过程中的变量和它们的值。</a:t>
            </a:r>
            <a:endParaRPr sz="2000"/>
          </a:p>
        </p:txBody>
      </p:sp>
      <p:sp>
        <p:nvSpPr>
          <p:cNvPr id="3" name="Text Box 2"/>
          <p:cNvSpPr txBox="1"/>
          <p:nvPr/>
        </p:nvSpPr>
        <p:spPr>
          <a:xfrm>
            <a:off x="363855" y="201295"/>
            <a:ext cx="6096000" cy="1093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sz="2400" b="1">
                <a:sym typeface="+mn-ea"/>
              </a:rPr>
              <a:t>Sources (Источники)</a:t>
            </a:r>
            <a:endParaRPr sz="2400" b="1"/>
          </a:p>
          <a:p>
            <a:pPr>
              <a:spcAft>
                <a:spcPct val="60000"/>
              </a:spcAft>
            </a:pPr>
            <a:r>
              <a:rPr sz="2400" b="1">
                <a:sym typeface="+mn-ea"/>
              </a:rPr>
              <a:t>Sources（源代码）</a:t>
            </a:r>
            <a:endParaRPr 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745" y="1420495"/>
            <a:ext cx="6619875" cy="51339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27000" y="229235"/>
            <a:ext cx="116960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704020202020204"/>
              <a:buNone/>
            </a:pPr>
            <a:r>
              <a:rPr sz="2400" b="1">
                <a:sym typeface="+mn-ea"/>
              </a:rPr>
              <a:t>Просматривать все загруженные ресурсы, включая файлы JavaScript.</a:t>
            </a:r>
            <a:endParaRPr sz="2400" b="1"/>
          </a:p>
          <a:p>
            <a:r>
              <a:rPr sz="2400" b="1">
                <a:sym typeface="+mn-ea"/>
              </a:rPr>
              <a:t>查看所有加载的资源，包括JavaScript文件。</a:t>
            </a:r>
            <a:endParaRPr 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06730" y="370205"/>
            <a:ext cx="1002538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704020202020204"/>
              <a:buNone/>
            </a:pPr>
            <a:r>
              <a:rPr sz="2800" b="1">
                <a:sym typeface="+mn-ea"/>
              </a:rPr>
              <a:t>Выполнять пошаговую отладку </a:t>
            </a:r>
            <a:endParaRPr sz="2800" b="1">
              <a:sym typeface="+mn-ea"/>
            </a:endParaRPr>
          </a:p>
          <a:p>
            <a:pPr indent="0">
              <a:buFont typeface="Arial" panose="020B0704020202020204"/>
              <a:buNone/>
            </a:pPr>
            <a:r>
              <a:rPr sz="2800" b="1">
                <a:sym typeface="+mn-ea"/>
              </a:rPr>
              <a:t>步进调试</a:t>
            </a:r>
            <a:endParaRPr lang="en-US" sz="2800" b="1"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785" y="1323340"/>
            <a:ext cx="7722870" cy="50234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368300" y="1525270"/>
            <a:ext cx="11468100" cy="48310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800"/>
              <a:t>Network позволяет:</a:t>
            </a:r>
            <a:endParaRPr sz="2800"/>
          </a:p>
          <a:p>
            <a:r>
              <a:rPr sz="2800"/>
              <a:t>Network选项卡帮助：</a:t>
            </a:r>
            <a:endParaRPr sz="2800"/>
          </a:p>
          <a:p>
            <a:endParaRPr sz="2800"/>
          </a:p>
          <a:p>
            <a:pPr>
              <a:buFont typeface="Arial" panose="020B0704020202020204"/>
              <a:buChar char="•"/>
            </a:pPr>
            <a:r>
              <a:rPr sz="2800"/>
              <a:t>Отслеживать сетевые запросы, которые делает страница, включая AJAX-запросы, загрузку скриптов, изображений и других ресурсов。</a:t>
            </a:r>
            <a:endParaRPr sz="2800"/>
          </a:p>
          <a:p>
            <a:r>
              <a:rPr sz="2800"/>
              <a:t>监控页面的网络请求，包括AJAX请求、脚本加载、图片等资源。</a:t>
            </a:r>
            <a:endParaRPr sz="2800"/>
          </a:p>
          <a:p>
            <a:endParaRPr sz="2800"/>
          </a:p>
          <a:p>
            <a:pPr>
              <a:buFont typeface="Arial" panose="020B0704020202020204"/>
              <a:buChar char="•"/>
            </a:pPr>
            <a:r>
              <a:rPr sz="2800"/>
              <a:t>Проверять статус запросов, время загрузки, заголовки и ответы сервера。</a:t>
            </a:r>
            <a:endParaRPr sz="2800"/>
          </a:p>
          <a:p>
            <a:r>
              <a:rPr sz="2800"/>
              <a:t>检查请求状态、加载时间、请求头和服务器响应内容。</a:t>
            </a:r>
            <a:endParaRPr sz="2800"/>
          </a:p>
        </p:txBody>
      </p:sp>
      <p:sp>
        <p:nvSpPr>
          <p:cNvPr id="3" name="Text Box 2"/>
          <p:cNvSpPr txBox="1"/>
          <p:nvPr/>
        </p:nvSpPr>
        <p:spPr>
          <a:xfrm>
            <a:off x="368300" y="217170"/>
            <a:ext cx="6096000" cy="1093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sz="2400" b="1">
                <a:sym typeface="+mn-ea"/>
              </a:rPr>
              <a:t>Network (Сеть)</a:t>
            </a:r>
            <a:endParaRPr sz="2400" b="1"/>
          </a:p>
          <a:p>
            <a:pPr>
              <a:spcAft>
                <a:spcPct val="60000"/>
              </a:spcAft>
            </a:pPr>
            <a:r>
              <a:rPr sz="2400" b="1">
                <a:sym typeface="+mn-ea"/>
              </a:rPr>
              <a:t>Network（网络）</a:t>
            </a:r>
            <a:endParaRPr 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395" y="1833245"/>
            <a:ext cx="9172575" cy="31908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68300" y="217170"/>
            <a:ext cx="6096000" cy="1093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sz="2400" b="1">
                <a:sym typeface="+mn-ea"/>
              </a:rPr>
              <a:t>Network (Сеть)</a:t>
            </a:r>
            <a:endParaRPr sz="2400" b="1"/>
          </a:p>
          <a:p>
            <a:pPr>
              <a:spcAft>
                <a:spcPct val="60000"/>
              </a:spcAft>
            </a:pPr>
            <a:r>
              <a:rPr sz="2400" b="1">
                <a:sym typeface="+mn-ea"/>
              </a:rPr>
              <a:t>Network（网络）</a:t>
            </a:r>
            <a:endParaRPr 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65785" y="319405"/>
            <a:ext cx="10788015" cy="54273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ru-RU" sz="2400" b="1"/>
              <a:t>П</a:t>
            </a:r>
            <a:r>
              <a:rPr sz="2400" b="1"/>
              <a:t>роверка ошибок в сетевых запросах</a:t>
            </a:r>
            <a:endParaRPr sz="2400" b="1"/>
          </a:p>
          <a:p>
            <a:pPr>
              <a:spcAft>
                <a:spcPct val="60000"/>
              </a:spcAft>
            </a:pPr>
            <a:r>
              <a:rPr sz="2400" b="1">
                <a:latin typeface="Arial Bold" panose="020B0704020202020204" charset="0"/>
              </a:rPr>
              <a:t>检查网络请求错误</a:t>
            </a:r>
            <a:endParaRPr sz="2400" b="1">
              <a:latin typeface="Arial Bold" panose="020B0704020202020204" charset="0"/>
            </a:endParaRPr>
          </a:p>
          <a:p>
            <a:pPr>
              <a:spcAft>
                <a:spcPct val="60000"/>
              </a:spcAft>
            </a:pPr>
            <a:endParaRPr sz="1600" b="1">
              <a:latin typeface="Arial Bold" panose="020B0704020202020204" charset="0"/>
            </a:endParaRPr>
          </a:p>
          <a:p>
            <a:r>
              <a:rPr sz="2000">
                <a:solidFill>
                  <a:schemeClr val="tx1"/>
                </a:solidFill>
                <a:latin typeface="方正仿宋_GBK" panose="02000000000000000000" charset="-122"/>
                <a:ea typeface="方正仿宋_GBK" panose="02000000000000000000" charset="-122"/>
              </a:rPr>
              <a:t>fetch("https://example.com/api/data")
    .then(response =&gt; response.json())
    .then(data =&gt;console.log(data))
    .catch(error =&gt;console.error("Ошибка запроса:", error));
</a:t>
            </a:r>
            <a:endParaRPr sz="2000">
              <a:solidFill>
                <a:schemeClr val="tx1"/>
              </a:solidFill>
              <a:latin typeface="方正仿宋_GBK" panose="02000000000000000000" charset="-122"/>
              <a:ea typeface="方正仿宋_GBK" panose="02000000000000000000" charset="-122"/>
            </a:endParaRPr>
          </a:p>
          <a:p>
            <a:endParaRPr sz="2000"/>
          </a:p>
          <a:p>
            <a:r>
              <a:rPr sz="2000"/>
              <a:t>Когда запрос не выполняется, в консоли отображается сообщение об ошибке, а в вкладке Network можно увидеть детали запроса, включая код состояния и причину ошибки.</a:t>
            </a:r>
            <a:endParaRPr sz="2000"/>
          </a:p>
          <a:p>
            <a:endParaRPr sz="2000"/>
          </a:p>
          <a:p>
            <a:r>
              <a:rPr sz="2000"/>
              <a:t>当请求失败时，控制台会显示错误信息，并可在Network选项卡中看到请求的详细信息，包括状态代码和错误原因。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68325" y="340995"/>
            <a:ext cx="6096000" cy="1093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lang="ru-RU" sz="2400" b="1">
                <a:sym typeface="+mn-ea"/>
              </a:rPr>
              <a:t>П</a:t>
            </a:r>
            <a:r>
              <a:rPr sz="2400" b="1">
                <a:sym typeface="+mn-ea"/>
              </a:rPr>
              <a:t>роверка ошибок в сетевых запросах</a:t>
            </a:r>
            <a:endParaRPr sz="2400" b="1"/>
          </a:p>
          <a:p>
            <a:pPr>
              <a:spcAft>
                <a:spcPct val="60000"/>
              </a:spcAft>
            </a:pPr>
            <a:r>
              <a:rPr sz="2400" b="1">
                <a:latin typeface="Arial Bold" panose="020B0704020202020204" charset="0"/>
                <a:sym typeface="+mn-ea"/>
              </a:rPr>
              <a:t>检查网络请求错误</a:t>
            </a:r>
            <a:endParaRPr lang="en-US" sz="2400" b="1">
              <a:latin typeface="Arial Bold" panose="020B0704020202020204" charset="0"/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1610" y="911860"/>
            <a:ext cx="5048250" cy="5257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85" y="3135630"/>
            <a:ext cx="5781675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451485" y="1616075"/>
            <a:ext cx="11029315" cy="26765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800"/>
              <a:t>Возьмем пример скрипта, который мы создавали на прошлом занятии и попытамся отладить его, использу</a:t>
            </a:r>
            <a:r>
              <a:rPr lang="ru-RU" sz="2800"/>
              <a:t>я</a:t>
            </a:r>
            <a:r>
              <a:rPr sz="2800"/>
              <a:t> инструменты обработчика в браузере. </a:t>
            </a:r>
            <a:endParaRPr sz="2800"/>
          </a:p>
          <a:p>
            <a:endParaRPr sz="2800"/>
          </a:p>
          <a:p>
            <a:r>
              <a:rPr sz="2800"/>
              <a:t>让我们拿上节课创建的脚本示例，并尝试使用浏览器中的调试工具进行调试。</a:t>
            </a:r>
            <a:endParaRPr sz="2800"/>
          </a:p>
        </p:txBody>
      </p:sp>
      <p:sp>
        <p:nvSpPr>
          <p:cNvPr id="3" name="Text Box 2"/>
          <p:cNvSpPr txBox="1"/>
          <p:nvPr/>
        </p:nvSpPr>
        <p:spPr>
          <a:xfrm>
            <a:off x="451485" y="274955"/>
            <a:ext cx="845248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2800" b="1"/>
              <a:t>Пример</a:t>
            </a:r>
            <a:endParaRPr lang="ru-RU" altLang="en-US" sz="2800" b="1"/>
          </a:p>
          <a:p>
            <a:r>
              <a:rPr lang="ru-RU" altLang="en-US" sz="2800" b="1"/>
              <a:t>示例</a:t>
            </a:r>
            <a:endParaRPr lang="ru-RU" altLang="en-US" sz="28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05765" y="9588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ru-RU" sz="2800" b="1">
                <a:sym typeface="+mn-ea"/>
              </a:rPr>
              <a:t>app.html</a:t>
            </a:r>
            <a:endParaRPr lang="en-US" altLang="ru-RU" sz="2800" b="1"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05765" y="975995"/>
            <a:ext cx="9481820" cy="52622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Aft>
                <a:spcPct val="0"/>
              </a:spcAft>
            </a:pP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&lt;</a:t>
            </a:r>
            <a:r>
              <a:rPr sz="2800" b="1">
                <a:solidFill>
                  <a:srgbClr val="000080"/>
                </a:solidFill>
                <a:latin typeface="monospace"/>
                <a:ea typeface="monospace"/>
              </a:rPr>
              <a:t>html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&gt;</a:t>
            </a:r>
            <a:endParaRPr sz="28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&lt;</a:t>
            </a:r>
            <a:r>
              <a:rPr sz="2800" b="1">
                <a:solidFill>
                  <a:srgbClr val="000080"/>
                </a:solidFill>
                <a:latin typeface="monospace"/>
                <a:ea typeface="monospace"/>
              </a:rPr>
              <a:t>body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&gt;</a:t>
            </a:r>
            <a:endParaRPr sz="28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&lt;</a:t>
            </a:r>
            <a:r>
              <a:rPr sz="2800" b="1">
                <a:solidFill>
                  <a:srgbClr val="000080"/>
                </a:solidFill>
                <a:latin typeface="monospace"/>
                <a:ea typeface="monospace"/>
              </a:rPr>
              <a:t>p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&gt;Some text ...&lt;/</a:t>
            </a:r>
            <a:r>
              <a:rPr sz="2800" b="1">
                <a:solidFill>
                  <a:srgbClr val="000080"/>
                </a:solidFill>
                <a:latin typeface="monospace"/>
                <a:ea typeface="monospace"/>
              </a:rPr>
              <a:t>p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&gt;</a:t>
            </a:r>
            <a:endParaRPr sz="28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&lt;</a:t>
            </a:r>
            <a:r>
              <a:rPr sz="2800" b="1">
                <a:solidFill>
                  <a:srgbClr val="000080"/>
                </a:solidFill>
                <a:latin typeface="monospace"/>
                <a:ea typeface="monospace"/>
              </a:rPr>
              <a:t>script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&gt;</a:t>
            </a:r>
            <a:endParaRPr sz="28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    </a:t>
            </a:r>
            <a:r>
              <a:rPr sz="2800" b="1">
                <a:solidFill>
                  <a:srgbClr val="660E7A"/>
                </a:solidFill>
                <a:latin typeface="monospace"/>
                <a:ea typeface="monospace"/>
              </a:rPr>
              <a:t>result 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= </a:t>
            </a:r>
            <a:r>
              <a:rPr sz="2800" i="1">
                <a:solidFill>
                  <a:srgbClr val="000000"/>
                </a:solidFill>
                <a:latin typeface="monospace"/>
                <a:ea typeface="monospace"/>
              </a:rPr>
              <a:t>prompt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(</a:t>
            </a:r>
            <a:r>
              <a:rPr sz="2800" b="1">
                <a:solidFill>
                  <a:srgbClr val="008000"/>
                </a:solidFill>
                <a:latin typeface="monospace"/>
                <a:ea typeface="monospace"/>
              </a:rPr>
              <a:t>'What is your name?'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);</a:t>
            </a:r>
            <a:endParaRPr sz="28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    </a:t>
            </a:r>
            <a:r>
              <a:rPr sz="2800" b="1" i="1">
                <a:solidFill>
                  <a:srgbClr val="660E7A"/>
                </a:solidFill>
                <a:latin typeface="monospace"/>
                <a:ea typeface="monospace"/>
              </a:rPr>
              <a:t>console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.</a:t>
            </a:r>
            <a:r>
              <a:rPr sz="2800">
                <a:solidFill>
                  <a:srgbClr val="914C07"/>
                </a:solidFill>
                <a:latin typeface="monospace"/>
                <a:ea typeface="monospace"/>
              </a:rPr>
              <a:t>log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(</a:t>
            </a:r>
            <a:r>
              <a:rPr sz="2800" b="1">
                <a:solidFill>
                  <a:srgbClr val="660E7A"/>
                </a:solidFill>
                <a:latin typeface="monospace"/>
                <a:ea typeface="monospace"/>
              </a:rPr>
              <a:t>result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);</a:t>
            </a:r>
            <a:endParaRPr sz="28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    </a:t>
            </a:r>
            <a:r>
              <a:rPr sz="2800" b="1" i="1">
                <a:solidFill>
                  <a:srgbClr val="660E7A"/>
                </a:solidFill>
                <a:latin typeface="monospace"/>
                <a:ea typeface="monospace"/>
              </a:rPr>
              <a:t>document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.</a:t>
            </a:r>
            <a:r>
              <a:rPr sz="2800">
                <a:solidFill>
                  <a:srgbClr val="914C07"/>
                </a:solidFill>
                <a:latin typeface="monospace"/>
                <a:ea typeface="monospace"/>
              </a:rPr>
              <a:t>write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(</a:t>
            </a:r>
            <a:r>
              <a:rPr sz="2800" b="1">
                <a:solidFill>
                  <a:srgbClr val="008000"/>
                </a:solidFill>
                <a:latin typeface="monospace"/>
                <a:ea typeface="monospace"/>
              </a:rPr>
              <a:t>"&lt;h1&gt;"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+</a:t>
            </a:r>
            <a:r>
              <a:rPr sz="2800" b="1">
                <a:solidFill>
                  <a:srgbClr val="660E7A"/>
                </a:solidFill>
                <a:latin typeface="monospace"/>
                <a:ea typeface="monospace"/>
              </a:rPr>
              <a:t>result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+</a:t>
            </a:r>
            <a:r>
              <a:rPr sz="2800" b="1">
                <a:solidFill>
                  <a:srgbClr val="008000"/>
                </a:solidFill>
                <a:latin typeface="monospace"/>
                <a:ea typeface="monospace"/>
              </a:rPr>
              <a:t>"&lt;/h1&gt;"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);</a:t>
            </a:r>
            <a:endParaRPr sz="28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&lt;/</a:t>
            </a:r>
            <a:r>
              <a:rPr sz="2800" b="1">
                <a:solidFill>
                  <a:srgbClr val="000080"/>
                </a:solidFill>
                <a:latin typeface="monospace"/>
                <a:ea typeface="monospace"/>
              </a:rPr>
              <a:t>script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&gt;</a:t>
            </a:r>
            <a:endParaRPr sz="28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&lt;</a:t>
            </a:r>
            <a:r>
              <a:rPr sz="2800" b="1">
                <a:solidFill>
                  <a:srgbClr val="000080"/>
                </a:solidFill>
                <a:latin typeface="monospace"/>
                <a:ea typeface="monospace"/>
              </a:rPr>
              <a:t>p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&gt;... some text&lt;/</a:t>
            </a:r>
            <a:r>
              <a:rPr sz="2800" b="1">
                <a:solidFill>
                  <a:srgbClr val="000080"/>
                </a:solidFill>
                <a:latin typeface="monospace"/>
                <a:ea typeface="monospace"/>
              </a:rPr>
              <a:t>p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&gt;</a:t>
            </a:r>
            <a:endParaRPr sz="28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&lt;/</a:t>
            </a:r>
            <a:r>
              <a:rPr sz="2800" b="1">
                <a:solidFill>
                  <a:srgbClr val="000080"/>
                </a:solidFill>
                <a:latin typeface="monospace"/>
                <a:ea typeface="monospace"/>
              </a:rPr>
              <a:t>body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&gt;</a:t>
            </a:r>
            <a:endParaRPr sz="28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&lt;/</a:t>
            </a:r>
            <a:r>
              <a:rPr sz="2800" b="1">
                <a:solidFill>
                  <a:srgbClr val="000080"/>
                </a:solidFill>
                <a:latin typeface="monospace"/>
                <a:ea typeface="monospace"/>
              </a:rPr>
              <a:t>html</a:t>
            </a:r>
            <a:r>
              <a:rPr sz="2800">
                <a:solidFill>
                  <a:srgbClr val="000000"/>
                </a:solidFill>
                <a:latin typeface="monospace"/>
                <a:ea typeface="monospace"/>
              </a:rPr>
              <a:t>&gt;</a:t>
            </a:r>
            <a:endParaRPr sz="2800">
              <a:solidFill>
                <a:srgbClr val="000000"/>
              </a:solidFill>
              <a:latin typeface="monospace"/>
              <a:ea typeface="monospace"/>
            </a:endParaRPr>
          </a:p>
          <a:p>
            <a:pPr marL="0" indent="0" defTabSz="266700">
              <a:spcAft>
                <a:spcPct val="0"/>
              </a:spcAft>
            </a:pPr>
            <a:r>
              <a:rPr sz="2800">
                <a:latin typeface="Calibri" panose="020F0502020204030204"/>
                <a:ea typeface="SimSun"/>
              </a:rPr>
              <a:t> </a:t>
            </a:r>
            <a:endParaRPr sz="2800">
              <a:latin typeface="Calibri" panose="020F0502020204030204"/>
              <a:ea typeface="SimSu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94665" y="1451610"/>
            <a:ext cx="11182350" cy="3107690"/>
          </a:xfrm>
          <a:prstGeom prst="rect">
            <a:avLst/>
          </a:prstGeom>
        </p:spPr>
        <p:txBody>
          <a:bodyPr wrap="square">
            <a:spAutoFit/>
          </a:bodyPr>
          <a:p>
            <a:pPr indent="457200"/>
            <a:r>
              <a:rPr lang="en-US" sz="2800"/>
              <a:t>C</a:t>
            </a:r>
            <a:r>
              <a:rPr sz="2800"/>
              <a:t>амостоятельно используя вкладки: </a:t>
            </a:r>
            <a:r>
              <a:rPr lang="ru-RU" sz="2800"/>
              <a:t>К</a:t>
            </a:r>
            <a:r>
              <a:rPr sz="2800"/>
              <a:t>онсоль, </a:t>
            </a:r>
            <a:r>
              <a:rPr lang="ru-RU" sz="2800"/>
              <a:t>С</a:t>
            </a:r>
            <a:r>
              <a:rPr sz="2800"/>
              <a:t>еть, </a:t>
            </a:r>
            <a:r>
              <a:rPr lang="ru-RU" sz="2800"/>
              <a:t>И</a:t>
            </a:r>
            <a:r>
              <a:rPr sz="2800"/>
              <a:t>сточники и Элементы изучите представленный пример. Попробуйте отладить, изменить код и структуру страницы в браузере</a:t>
            </a:r>
            <a:r>
              <a:rPr lang="ru-RU" sz="2800"/>
              <a:t>.</a:t>
            </a:r>
            <a:endParaRPr lang="ru-RU" sz="2800"/>
          </a:p>
          <a:p>
            <a:endParaRPr lang="ru-RU" sz="2800"/>
          </a:p>
          <a:p>
            <a:r>
              <a:rPr lang="ru-RU" sz="2800"/>
              <a:t>现在请使用“控制台”、“网络”、“源”和“元素”选项卡，独立研究所提供的示例。尝试调试、修改代码和浏览器中的页面结构。</a:t>
            </a:r>
            <a:endParaRPr lang="ru-RU"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14985" y="276225"/>
            <a:ext cx="11122025" cy="58369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800" b="1"/>
              <a:t>Заключение</a:t>
            </a:r>
            <a:endParaRPr sz="2800" b="1"/>
          </a:p>
          <a:p>
            <a:pPr>
              <a:spcAft>
                <a:spcPct val="60000"/>
              </a:spcAft>
            </a:pPr>
            <a:r>
              <a:rPr sz="2800" b="1"/>
              <a:t>总结</a:t>
            </a:r>
            <a:endParaRPr sz="2800" b="1"/>
          </a:p>
          <a:p>
            <a:r>
              <a:rPr sz="2800"/>
              <a:t>Инструменты отладки в браузере предоставляют мощные средства для анализа и оптимизации кода JavaScript. Используя точки останова, консоль и анализ производительности, разработчики могут легче находить и исправлять ошибки, повышая эффективность и поддерживаемость кода.</a:t>
            </a:r>
            <a:endParaRPr sz="2800"/>
          </a:p>
          <a:p>
            <a:endParaRPr sz="2800"/>
          </a:p>
          <a:p>
            <a:r>
              <a:rPr sz="2800"/>
              <a:t>浏览器调试工具为分析和优化JavaScript代码提供了强大的手段。通过使用断点、控制台和性能分析，开发人员可以更轻松地定位和修复错误，提高代码的效率和可维护性。</a:t>
            </a:r>
            <a:endParaRPr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7465</Words>
  <Application>WPS Presentation</Application>
  <PresentationFormat>Widescreen</PresentationFormat>
  <Paragraphs>282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9" baseType="lpstr">
      <vt:lpstr>Arial</vt:lpstr>
      <vt:lpstr>SimSun</vt:lpstr>
      <vt:lpstr>Wingdings</vt:lpstr>
      <vt:lpstr>Calibri</vt:lpstr>
      <vt:lpstr>Arial</vt:lpstr>
      <vt:lpstr>Helvetica Neue</vt:lpstr>
      <vt:lpstr>Times New Roman</vt:lpstr>
      <vt:lpstr>Times New Roman Regular</vt:lpstr>
      <vt:lpstr>SimSun</vt:lpstr>
      <vt:lpstr>宋体-简</vt:lpstr>
      <vt:lpstr>Microsoft YaHei</vt:lpstr>
      <vt:lpstr>汉仪旗黑</vt:lpstr>
      <vt:lpstr>Arial Unicode MS</vt:lpstr>
      <vt:lpstr>Calibri Light</vt:lpstr>
      <vt:lpstr>Arial Bold</vt:lpstr>
      <vt:lpstr>方正仿宋_GBK</vt:lpstr>
      <vt:lpstr>monospace</vt:lpstr>
      <vt:lpstr>Thonburi</vt:lpstr>
      <vt:lpstr>SimSun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Valerie</cp:lastModifiedBy>
  <cp:revision>40</cp:revision>
  <dcterms:created xsi:type="dcterms:W3CDTF">2024-12-02T10:43:27Z</dcterms:created>
  <dcterms:modified xsi:type="dcterms:W3CDTF">2024-12-02T10:43:27Z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481CDB2435DF2D3698DE2967C671351A_41</vt:lpwstr>
  </property>
  <property fmtid="{D5CDD505-2E9C-101B-9397-08002B2CF9AE}" pid="3" name="KSOProductBuildVer">
    <vt:lpwstr>1033-6.10.1.8197</vt:lpwstr>
  </property>
</Properties>
</file>