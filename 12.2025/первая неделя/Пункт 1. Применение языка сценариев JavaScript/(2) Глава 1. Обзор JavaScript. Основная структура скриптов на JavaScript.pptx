
<file path=[Content_Types].xml><?xml version="1.0" encoding="utf-8"?>
<Types xmlns="http://schemas.openxmlformats.org/package/2006/content-types">
  <Default Extension="png" ContentType="image/png"/>
  <Default Extension="mov" ContentType="video/quicktime"/>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
  </p:notesMasterIdLst>
  <p:sldIdLst>
    <p:sldId id="256" r:id="rId3"/>
    <p:sldId id="257" r:id="rId4"/>
    <p:sldId id="287" r:id="rId5"/>
    <p:sldId id="288" r:id="rId7"/>
    <p:sldId id="289" r:id="rId8"/>
    <p:sldId id="290" r:id="rId9"/>
    <p:sldId id="291" r:id="rId10"/>
    <p:sldId id="292" r:id="rId11"/>
    <p:sldId id="293" r:id="rId12"/>
    <p:sldId id="354" r:id="rId13"/>
    <p:sldId id="355" r:id="rId14"/>
    <p:sldId id="356" r:id="rId15"/>
    <p:sldId id="357" r:id="rId16"/>
    <p:sldId id="358" r:id="rId17"/>
    <p:sldId id="359" r:id="rId18"/>
    <p:sldId id="360" r:id="rId19"/>
    <p:sldId id="361" r:id="rId20"/>
    <p:sldId id="364" r:id="rId21"/>
    <p:sldId id="365" r:id="rId22"/>
    <p:sldId id="258" r:id="rId23"/>
    <p:sldId id="259" r:id="rId24"/>
    <p:sldId id="260" r:id="rId25"/>
    <p:sldId id="262" r:id="rId26"/>
    <p:sldId id="263" r:id="rId27"/>
    <p:sldId id="264" r:id="rId28"/>
    <p:sldId id="265" r:id="rId29"/>
    <p:sldId id="266" r:id="rId30"/>
    <p:sldId id="267" r:id="rId31"/>
    <p:sldId id="353" r:id="rId32"/>
    <p:sldId id="268" r:id="rId33"/>
    <p:sldId id="269" r:id="rId34"/>
    <p:sldId id="270" r:id="rId35"/>
    <p:sldId id="271" r:id="rId36"/>
    <p:sldId id="272" r:id="rId37"/>
    <p:sldId id="273" r:id="rId38"/>
    <p:sldId id="316" r:id="rId39"/>
    <p:sldId id="274" r:id="rId40"/>
    <p:sldId id="275" r:id="rId41"/>
    <p:sldId id="276" r:id="rId42"/>
    <p:sldId id="277" r:id="rId43"/>
    <p:sldId id="278" r:id="rId44"/>
    <p:sldId id="279" r:id="rId45"/>
    <p:sldId id="280" r:id="rId46"/>
    <p:sldId id="281" r:id="rId47"/>
    <p:sldId id="282" r:id="rId48"/>
    <p:sldId id="283" r:id="rId49"/>
    <p:sldId id="317" r:id="rId50"/>
    <p:sldId id="284" r:id="rId51"/>
    <p:sldId id="285" r:id="rId52"/>
    <p:sldId id="294" r:id="rId53"/>
    <p:sldId id="295" r:id="rId54"/>
    <p:sldId id="296" r:id="rId55"/>
    <p:sldId id="297" r:id="rId56"/>
    <p:sldId id="318" r:id="rId57"/>
    <p:sldId id="298" r:id="rId58"/>
    <p:sldId id="299" r:id="rId59"/>
    <p:sldId id="300" r:id="rId60"/>
    <p:sldId id="301" r:id="rId61"/>
    <p:sldId id="302" r:id="rId62"/>
    <p:sldId id="303" r:id="rId63"/>
    <p:sldId id="304" r:id="rId64"/>
    <p:sldId id="305" r:id="rId65"/>
    <p:sldId id="306" r:id="rId66"/>
    <p:sldId id="307" r:id="rId67"/>
    <p:sldId id="308" r:id="rId68"/>
    <p:sldId id="309" r:id="rId69"/>
    <p:sldId id="310" r:id="rId70"/>
    <p:sldId id="311" r:id="rId71"/>
    <p:sldId id="312" r:id="rId72"/>
    <p:sldId id="314" r:id="rId73"/>
    <p:sldId id="313" r:id="rId74"/>
    <p:sldId id="315" r:id="rId75"/>
  </p:sldIdLst>
  <p:sldSz cx="12192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8" Type="http://schemas.openxmlformats.org/officeDocument/2006/relationships/tableStyles" Target="tableStyles.xml"/><Relationship Id="rId77" Type="http://schemas.openxmlformats.org/officeDocument/2006/relationships/viewProps" Target="viewProps.xml"/><Relationship Id="rId76" Type="http://schemas.openxmlformats.org/officeDocument/2006/relationships/presProps" Target="presProps.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notesMaster" Target="notesMasters/notesMaster1.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9" name="Shape 89"/>
        <p:cNvGrpSpPr/>
        <p:nvPr/>
      </p:nvGrpSpPr>
      <p:grpSpPr>
        <a:xfrm>
          <a:off x="0" y="0"/>
          <a:ext cx="0" cy="0"/>
          <a:chOff x="0" y="0"/>
          <a:chExt cx="0" cy="0"/>
        </a:xfrm>
      </p:grpSpPr>
      <p:sp>
        <p:nvSpPr>
          <p:cNvPr id="90" name="Google Shape;90;p2:notes"/>
          <p:cNvSpPr txBox="1"/>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1" name="Google Shape;91;p2:notes"/>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5" name="Shape 95"/>
        <p:cNvGrpSpPr/>
        <p:nvPr/>
      </p:nvGrpSpPr>
      <p:grpSpPr>
        <a:xfrm>
          <a:off x="0" y="0"/>
          <a:ext cx="0" cy="0"/>
          <a:chOff x="0" y="0"/>
          <a:chExt cx="0" cy="0"/>
        </a:xfrm>
      </p:grpSpPr>
      <p:sp>
        <p:nvSpPr>
          <p:cNvPr id="96" name="Google Shape;96;p3:notes"/>
          <p:cNvSpPr txBox="1"/>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7" name="Google Shape;97;p3:notes"/>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2"/>
        <p:cNvGrpSpPr/>
        <p:nvPr/>
      </p:nvGrpSpPr>
      <p:grpSpPr>
        <a:xfrm>
          <a:off x="0" y="0"/>
          <a:ext cx="0" cy="0"/>
          <a:chOff x="0" y="0"/>
          <a:chExt cx="0" cy="0"/>
        </a:xfrm>
      </p:grpSpPr>
      <p:sp>
        <p:nvSpPr>
          <p:cNvPr id="103" name="Google Shape;103;p4:notes"/>
          <p:cNvSpPr txBox="1"/>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4" name="Google Shape;104;p4:notes"/>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9" name="Shape 109"/>
        <p:cNvGrpSpPr/>
        <p:nvPr/>
      </p:nvGrpSpPr>
      <p:grpSpPr>
        <a:xfrm>
          <a:off x="0" y="0"/>
          <a:ext cx="0" cy="0"/>
          <a:chOff x="0" y="0"/>
          <a:chExt cx="0" cy="0"/>
        </a:xfrm>
      </p:grpSpPr>
      <p:sp>
        <p:nvSpPr>
          <p:cNvPr id="110" name="Google Shape;110;p5:notes"/>
          <p:cNvSpPr txBox="1"/>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1" name="Google Shape;111;p5:notes"/>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6" name="Shape 116"/>
        <p:cNvGrpSpPr/>
        <p:nvPr/>
      </p:nvGrpSpPr>
      <p:grpSpPr>
        <a:xfrm>
          <a:off x="0" y="0"/>
          <a:ext cx="0" cy="0"/>
          <a:chOff x="0" y="0"/>
          <a:chExt cx="0" cy="0"/>
        </a:xfrm>
      </p:grpSpPr>
      <p:sp>
        <p:nvSpPr>
          <p:cNvPr id="117" name="Google Shape;117;p6:notes"/>
          <p:cNvSpPr txBox="1"/>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8" name="Google Shape;118;p6:notes"/>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2" name="Shape 122"/>
        <p:cNvGrpSpPr/>
        <p:nvPr/>
      </p:nvGrpSpPr>
      <p:grpSpPr>
        <a:xfrm>
          <a:off x="0" y="0"/>
          <a:ext cx="0" cy="0"/>
          <a:chOff x="0" y="0"/>
          <a:chExt cx="0" cy="0"/>
        </a:xfrm>
      </p:grpSpPr>
      <p:sp>
        <p:nvSpPr>
          <p:cNvPr id="123" name="Google Shape;123;p7:notes"/>
          <p:cNvSpPr txBox="1"/>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4" name="Google Shape;124;p7:notes"/>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9" name="Shape 129"/>
        <p:cNvGrpSpPr/>
        <p:nvPr/>
      </p:nvGrpSpPr>
      <p:grpSpPr>
        <a:xfrm>
          <a:off x="0" y="0"/>
          <a:ext cx="0" cy="0"/>
          <a:chOff x="0" y="0"/>
          <a:chExt cx="0" cy="0"/>
        </a:xfrm>
      </p:grpSpPr>
      <p:sp>
        <p:nvSpPr>
          <p:cNvPr id="130" name="Google Shape;130;g2979829d010_0_7:notes"/>
          <p:cNvSpPr txBox="1"/>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1" name="Google Shape;131;g2979829d010_0_7:notes"/>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p:nvPr>
            <p:ph type="dt" sz="half" idx="10"/>
          </p:nvPr>
        </p:nvSpPr>
        <p:spPr/>
        <p:txBody>
          <a:bodyPr/>
          <a:lstStyle/>
          <a:p>
            <a:fld id="{63A1C593-65D0-4073-BCC9-577B9352EA97}" type="datetimeFigureOut">
              <a:rPr lang="en-US" smtClean="0"/>
            </a:fld>
            <a:endParaRPr lang="en-US"/>
          </a:p>
        </p:txBody>
      </p:sp>
      <p:sp>
        <p:nvSpPr>
          <p:cNvPr id="5" name="Footer Placeholder 4"/>
          <p:cNvSpPr/>
          <p:nvPr>
            <p:ph type="ftr" sz="quarter" idx="11"/>
          </p:nvPr>
        </p:nvSpPr>
        <p:spPr/>
        <p:txBody>
          <a:bodyPr/>
          <a:lstStyle/>
          <a:p>
            <a:endParaRPr lang="en-US"/>
          </a:p>
        </p:txBody>
      </p:sp>
      <p:sp>
        <p:nvSpPr>
          <p:cNvPr id="6" name="Slide Number Placeholder 5"/>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p:nvPr>
            <p:ph type="title"/>
          </p:nvPr>
        </p:nvSpPr>
        <p:spPr/>
        <p:txBody>
          <a:bodyPr/>
          <a:lstStyle/>
          <a:p>
            <a:r>
              <a:rPr lang="en-US" smtClean="0"/>
              <a:t>Click to edit Master title style</a:t>
            </a:r>
            <a:endParaRPr lang="en-US"/>
          </a:p>
        </p:txBody>
      </p:sp>
      <p:sp>
        <p:nvSpPr>
          <p:cNvPr id="3" name="Content Placeholder 2"/>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p:nvPr>
            <p:ph type="dt" sz="half" idx="10"/>
          </p:nvPr>
        </p:nvSpPr>
        <p:spPr/>
        <p:txBody>
          <a:bodyPr/>
          <a:lstStyle/>
          <a:p>
            <a:fld id="{63A1C593-65D0-4073-BCC9-577B9352EA97}" type="datetimeFigureOut">
              <a:rPr lang="en-US" smtClean="0"/>
            </a:fld>
            <a:endParaRPr lang="en-US"/>
          </a:p>
        </p:txBody>
      </p:sp>
      <p:sp>
        <p:nvSpPr>
          <p:cNvPr id="5" name="Footer Placeholder 4"/>
          <p:cNvSpPr/>
          <p:nvPr>
            <p:ph type="ftr" sz="quarter" idx="11"/>
          </p:nvPr>
        </p:nvSpPr>
        <p:spPr/>
        <p:txBody>
          <a:bodyPr/>
          <a:lstStyle/>
          <a:p>
            <a:endParaRPr lang="en-US"/>
          </a:p>
        </p:txBody>
      </p:sp>
      <p:sp>
        <p:nvSpPr>
          <p:cNvPr id="6" name="Slide Number Placeholder 5"/>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p:nvPr>
            <p:ph type="dt" sz="half" idx="10"/>
          </p:nvPr>
        </p:nvSpPr>
        <p:spPr/>
        <p:txBody>
          <a:bodyPr/>
          <a:lstStyle/>
          <a:p>
            <a:fld id="{63A1C593-65D0-4073-BCC9-577B9352EA97}" type="datetimeFigureOut">
              <a:rPr lang="en-US" smtClean="0"/>
            </a:fld>
            <a:endParaRPr lang="en-US"/>
          </a:p>
        </p:txBody>
      </p:sp>
      <p:sp>
        <p:nvSpPr>
          <p:cNvPr id="5" name="Footer Placeholder 4"/>
          <p:cNvSpPr/>
          <p:nvPr>
            <p:ph type="ftr" sz="quarter" idx="11"/>
          </p:nvPr>
        </p:nvSpPr>
        <p:spPr/>
        <p:txBody>
          <a:bodyPr/>
          <a:lstStyle/>
          <a:p>
            <a:endParaRPr lang="en-US"/>
          </a:p>
        </p:txBody>
      </p:sp>
      <p:sp>
        <p:nvSpPr>
          <p:cNvPr id="6" name="Slide Number Placeholder 5"/>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p:nvPr>
            <p:ph type="title"/>
          </p:nvPr>
        </p:nvSpPr>
        <p:spPr/>
        <p:txBody>
          <a:bodyPr/>
          <a:lstStyle/>
          <a:p>
            <a:r>
              <a:rPr lang="en-US" smtClean="0"/>
              <a:t>Click to edit Master title style</a:t>
            </a:r>
            <a:endParaRPr lang="en-US"/>
          </a:p>
        </p:txBody>
      </p:sp>
      <p:sp>
        <p:nvSpPr>
          <p:cNvPr id="3" name="Content Placeholder 2"/>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p:nvPr>
            <p:ph type="dt" sz="half" idx="10"/>
          </p:nvPr>
        </p:nvSpPr>
        <p:spPr/>
        <p:txBody>
          <a:bodyPr/>
          <a:lstStyle/>
          <a:p>
            <a:fld id="{63A1C593-65D0-4073-BCC9-577B9352EA97}" type="datetimeFigureOut">
              <a:rPr lang="en-US" smtClean="0"/>
            </a:fld>
            <a:endParaRPr lang="en-US"/>
          </a:p>
        </p:txBody>
      </p:sp>
      <p:sp>
        <p:nvSpPr>
          <p:cNvPr id="6" name="Footer Placeholder 5"/>
          <p:cNvSpPr/>
          <p:nvPr>
            <p:ph type="ftr" sz="quarter" idx="11"/>
          </p:nvPr>
        </p:nvSpPr>
        <p:spPr/>
        <p:txBody>
          <a:bodyPr/>
          <a:lstStyle/>
          <a:p>
            <a:endParaRPr lang="en-US"/>
          </a:p>
        </p:txBody>
      </p:sp>
      <p:sp>
        <p:nvSpPr>
          <p:cNvPr id="7" name="Slide Number Placeholder 6"/>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p:nvPr>
            <p:ph type="dt" sz="half" idx="10"/>
          </p:nvPr>
        </p:nvSpPr>
        <p:spPr/>
        <p:txBody>
          <a:bodyPr/>
          <a:lstStyle/>
          <a:p>
            <a:fld id="{63A1C593-65D0-4073-BCC9-577B9352EA97}" type="datetimeFigureOut">
              <a:rPr lang="en-US" smtClean="0"/>
            </a:fld>
            <a:endParaRPr lang="en-US"/>
          </a:p>
        </p:txBody>
      </p:sp>
      <p:sp>
        <p:nvSpPr>
          <p:cNvPr id="8" name="Footer Placeholder 7"/>
          <p:cNvSpPr/>
          <p:nvPr>
            <p:ph type="ftr" sz="quarter" idx="11"/>
          </p:nvPr>
        </p:nvSpPr>
        <p:spPr/>
        <p:txBody>
          <a:bodyPr/>
          <a:lstStyle/>
          <a:p>
            <a:endParaRPr lang="en-US"/>
          </a:p>
        </p:txBody>
      </p:sp>
      <p:sp>
        <p:nvSpPr>
          <p:cNvPr id="9" name="Slide Number Placeholder 8"/>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p:nvPr>
            <p:ph type="title"/>
          </p:nvPr>
        </p:nvSpPr>
        <p:spPr/>
        <p:txBody>
          <a:bodyPr/>
          <a:lstStyle/>
          <a:p>
            <a:r>
              <a:rPr lang="en-US" smtClean="0"/>
              <a:t>Click to edit Master title style</a:t>
            </a:r>
            <a:endParaRPr lang="en-US"/>
          </a:p>
        </p:txBody>
      </p:sp>
      <p:sp>
        <p:nvSpPr>
          <p:cNvPr id="3" name="Date Placeholder 2"/>
          <p:cNvSpPr/>
          <p:nvPr>
            <p:ph type="dt" sz="half" idx="10"/>
          </p:nvPr>
        </p:nvSpPr>
        <p:spPr/>
        <p:txBody>
          <a:bodyPr/>
          <a:lstStyle/>
          <a:p>
            <a:fld id="{63A1C593-65D0-4073-BCC9-577B9352EA97}" type="datetimeFigureOut">
              <a:rPr lang="en-US" smtClean="0"/>
            </a:fld>
            <a:endParaRPr lang="en-US"/>
          </a:p>
        </p:txBody>
      </p:sp>
      <p:sp>
        <p:nvSpPr>
          <p:cNvPr id="4" name="Footer Placeholder 3"/>
          <p:cNvSpPr/>
          <p:nvPr>
            <p:ph type="ftr" sz="quarter" idx="11"/>
          </p:nvPr>
        </p:nvSpPr>
        <p:spPr/>
        <p:txBody>
          <a:bodyPr/>
          <a:lstStyle/>
          <a:p>
            <a:endParaRPr lang="en-US"/>
          </a:p>
        </p:txBody>
      </p:sp>
      <p:sp>
        <p:nvSpPr>
          <p:cNvPr id="5" name="Slide Number Placeholder 4"/>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p:nvPr>
            <p:ph type="dt" sz="half" idx="10"/>
          </p:nvPr>
        </p:nvSpPr>
        <p:spPr/>
        <p:txBody>
          <a:bodyPr/>
          <a:lstStyle/>
          <a:p>
            <a:fld id="{63A1C593-65D0-4073-BCC9-577B9352EA97}" type="datetimeFigureOut">
              <a:rPr lang="en-US" smtClean="0"/>
            </a:fld>
            <a:endParaRPr lang="en-US"/>
          </a:p>
        </p:txBody>
      </p:sp>
      <p:sp>
        <p:nvSpPr>
          <p:cNvPr id="3" name="Footer Placeholder 2"/>
          <p:cNvSpPr/>
          <p:nvPr>
            <p:ph type="ftr" sz="quarter" idx="11"/>
          </p:nvPr>
        </p:nvSpPr>
        <p:spPr/>
        <p:txBody>
          <a:bodyPr/>
          <a:lstStyle/>
          <a:p>
            <a:endParaRPr lang="en-US"/>
          </a:p>
        </p:txBody>
      </p:sp>
      <p:sp>
        <p:nvSpPr>
          <p:cNvPr id="4" name="Slide Number Placeholder 3"/>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p:nvPr>
            <p:ph type="dt" sz="half" idx="10"/>
          </p:nvPr>
        </p:nvSpPr>
        <p:spPr/>
        <p:txBody>
          <a:bodyPr/>
          <a:lstStyle/>
          <a:p>
            <a:fld id="{63A1C593-65D0-4073-BCC9-577B9352EA97}" type="datetimeFigureOut">
              <a:rPr lang="en-US" smtClean="0"/>
            </a:fld>
            <a:endParaRPr lang="en-US"/>
          </a:p>
        </p:txBody>
      </p:sp>
      <p:sp>
        <p:nvSpPr>
          <p:cNvPr id="6" name="Footer Placeholder 5"/>
          <p:cNvSpPr/>
          <p:nvPr>
            <p:ph type="ftr" sz="quarter" idx="11"/>
          </p:nvPr>
        </p:nvSpPr>
        <p:spPr/>
        <p:txBody>
          <a:bodyPr/>
          <a:lstStyle/>
          <a:p>
            <a:endParaRPr lang="en-US"/>
          </a:p>
        </p:txBody>
      </p:sp>
      <p:sp>
        <p:nvSpPr>
          <p:cNvPr id="7" name="Slide Number Placeholder 6"/>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p:nvPr>
            <p:ph type="dt" sz="half" idx="10"/>
          </p:nvPr>
        </p:nvSpPr>
        <p:spPr/>
        <p:txBody>
          <a:bodyPr/>
          <a:lstStyle/>
          <a:p>
            <a:fld id="{63A1C593-65D0-4073-BCC9-577B9352EA97}" type="datetimeFigureOut">
              <a:rPr lang="en-US" smtClean="0"/>
            </a:fld>
            <a:endParaRPr lang="en-US"/>
          </a:p>
        </p:txBody>
      </p:sp>
      <p:sp>
        <p:nvSpPr>
          <p:cNvPr id="6" name="Footer Placeholder 5"/>
          <p:cNvSpPr/>
          <p:nvPr>
            <p:ph type="ftr" sz="quarter" idx="11"/>
          </p:nvPr>
        </p:nvSpPr>
        <p:spPr/>
        <p:txBody>
          <a:bodyPr/>
          <a:lstStyle/>
          <a:p>
            <a:endParaRPr lang="en-US"/>
          </a:p>
        </p:txBody>
      </p:sp>
      <p:sp>
        <p:nvSpPr>
          <p:cNvPr id="7" name="Slide Number Placeholder 6"/>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p:nvPr>
            <p:ph type="title"/>
          </p:nvPr>
        </p:nvSpPr>
        <p:spPr/>
        <p:txBody>
          <a:bodyPr/>
          <a:lstStyle/>
          <a:p>
            <a:r>
              <a:rPr lang="en-US" smtClean="0"/>
              <a:t>Click to edit Master title style</a:t>
            </a:r>
            <a:endParaRPr lang="en-US"/>
          </a:p>
        </p:txBody>
      </p:sp>
      <p:sp>
        <p:nvSpPr>
          <p:cNvPr id="3" name="Vertical Text Placeholder 2"/>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p:nvPr>
            <p:ph type="dt" sz="half" idx="10"/>
          </p:nvPr>
        </p:nvSpPr>
        <p:spPr/>
        <p:txBody>
          <a:bodyPr/>
          <a:lstStyle/>
          <a:p>
            <a:fld id="{63A1C593-65D0-4073-BCC9-577B9352EA97}" type="datetimeFigureOut">
              <a:rPr lang="en-US" smtClean="0"/>
            </a:fld>
            <a:endParaRPr lang="en-US"/>
          </a:p>
        </p:txBody>
      </p:sp>
      <p:sp>
        <p:nvSpPr>
          <p:cNvPr id="5" name="Footer Placeholder 4"/>
          <p:cNvSpPr/>
          <p:nvPr>
            <p:ph type="ftr" sz="quarter" idx="11"/>
          </p:nvPr>
        </p:nvSpPr>
        <p:spPr/>
        <p:txBody>
          <a:bodyPr/>
          <a:lstStyle/>
          <a:p>
            <a:endParaRPr lang="en-US"/>
          </a:p>
        </p:txBody>
      </p:sp>
      <p:sp>
        <p:nvSpPr>
          <p:cNvPr id="6" name="Slide Number Placeholder 5"/>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p:nvPr>
            <p:ph type="dt" sz="half" idx="10"/>
          </p:nvPr>
        </p:nvSpPr>
        <p:spPr/>
        <p:txBody>
          <a:bodyPr/>
          <a:lstStyle/>
          <a:p>
            <a:fld id="{63A1C593-65D0-4073-BCC9-577B9352EA97}" type="datetimeFigureOut">
              <a:rPr lang="en-US" smtClean="0"/>
            </a:fld>
            <a:endParaRPr lang="en-US"/>
          </a:p>
        </p:txBody>
      </p:sp>
      <p:sp>
        <p:nvSpPr>
          <p:cNvPr id="5" name="Footer Placeholder 4"/>
          <p:cNvSpPr/>
          <p:nvPr>
            <p:ph type="ftr" sz="quarter" idx="11"/>
          </p:nvPr>
        </p:nvSpPr>
        <p:spPr/>
        <p:txBody>
          <a:bodyPr/>
          <a:lstStyle/>
          <a:p>
            <a:endParaRPr lang="en-US"/>
          </a:p>
        </p:txBody>
      </p:sp>
      <p:sp>
        <p:nvSpPr>
          <p:cNvPr id="6" name="Slide Number Placeholder 5"/>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1.png"/><Relationship Id="rId3" Type="http://schemas.openxmlformats.org/officeDocument/2006/relationships/tags" Target="../tags/tag1.xml"/><Relationship Id="rId2" Type="http://schemas.microsoft.com/office/2007/relationships/media" Target="../media/media1.mov"/><Relationship Id="rId1" Type="http://schemas.openxmlformats.org/officeDocument/2006/relationships/video" Target="../media/media1.mov"/></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 name="Google Shape;84;p1"/>
          <p:cNvSpPr/>
          <p:nvPr/>
        </p:nvSpPr>
        <p:spPr>
          <a:xfrm>
            <a:off x="0" y="316603"/>
            <a:ext cx="12192000" cy="898525"/>
          </a:xfrm>
          <a:prstGeom prst="rect">
            <a:avLst/>
          </a:prstGeom>
          <a:solidFill>
            <a:schemeClr val="accent1">
              <a:alpha val="45882"/>
            </a:schemeClr>
          </a:solidFill>
          <a:ln w="12700" cap="flat" cmpd="sng">
            <a:solidFill>
              <a:srgbClr val="3A5F8B"/>
            </a:solidFill>
            <a:prstDash val="solid"/>
            <a:round/>
            <a:headEnd type="none" w="sm" len="sm"/>
            <a:tailEnd type="none" w="sm" len="sm"/>
          </a:ln>
        </p:spPr>
        <p:txBody>
          <a:bodyPr spcFirstLastPara="1" wrap="square" lIns="91425" tIns="45700" rIns="91425" bIns="45700" anchor="t" anchorCtr="0">
            <a:noAutofit/>
          </a:bodyPr>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5" name="Google Shape;85;p1"/>
          <p:cNvSpPr/>
          <p:nvPr/>
        </p:nvSpPr>
        <p:spPr>
          <a:xfrm>
            <a:off x="260985" y="438700"/>
            <a:ext cx="10276727" cy="942975"/>
          </a:xfrm>
          <a:prstGeom prst="rect">
            <a:avLst/>
          </a:prstGeom>
          <a:noFill/>
          <a:ln>
            <a:noFill/>
          </a:ln>
        </p:spPr>
        <p:txBody>
          <a:bodyPr spcFirstLastPara="1" wrap="square" lIns="90000" tIns="45000" rIns="90000" bIns="45000" anchor="t" anchorCtr="0">
            <a:noAutofit/>
          </a:bodyPr>
          <a:p>
            <a:pPr marL="0" marR="0" lvl="0" indent="0" algn="l" rtl="0">
              <a:lnSpc>
                <a:spcPct val="107000"/>
              </a:lnSpc>
              <a:spcBef>
                <a:spcPts val="0"/>
              </a:spcBef>
              <a:spcAft>
                <a:spcPts val="0"/>
              </a:spcAft>
              <a:buNone/>
            </a:pPr>
            <a:r>
              <a:rPr lang="en-US" sz="1400" b="1" i="0" u="none" strike="noStrike" cap="none">
                <a:solidFill>
                  <a:srgbClr val="000000"/>
                </a:solidFill>
                <a:latin typeface="Arial" panose="020B0704020202020204" pitchFamily="34" charset="0"/>
                <a:ea typeface="Arial" panose="020B0704020202020204" pitchFamily="34" charset="0"/>
                <a:cs typeface="Arial" panose="020B0704020202020204" pitchFamily="34" charset="0"/>
                <a:sym typeface="Arial" panose="020B0704020202020204" pitchFamily="34" charset="0"/>
              </a:rPr>
              <a:t>ВЛАДИМИРСКИЙ ГОСУДАРСТВЕННЫЙ УНИВЕРСИТЕТ</a:t>
            </a:r>
            <a:r>
              <a:rPr lang="en-US" sz="1400" b="0" i="0" u="none" strike="noStrike" cap="none">
                <a:solidFill>
                  <a:schemeClr val="dk1"/>
                </a:solidFill>
                <a:latin typeface="Calibri"/>
                <a:ea typeface="Calibri"/>
                <a:cs typeface="Calibri"/>
                <a:sym typeface="Calibri"/>
              </a:rPr>
              <a:t> </a:t>
            </a:r>
            <a:r>
              <a:rPr lang="en-US" sz="1400" b="1" i="0" u="none" strike="noStrike" cap="none">
                <a:solidFill>
                  <a:srgbClr val="000000"/>
                </a:solidFill>
                <a:latin typeface="Arial" panose="020B0704020202020204" pitchFamily="34" charset="0"/>
                <a:ea typeface="Arial" panose="020B0704020202020204" pitchFamily="34" charset="0"/>
                <a:cs typeface="Arial" panose="020B0704020202020204" pitchFamily="34" charset="0"/>
                <a:sym typeface="Arial" panose="020B0704020202020204" pitchFamily="34" charset="0"/>
              </a:rPr>
              <a:t>ИМЕНИ </a:t>
            </a:r>
            <a:endParaRPr sz="1400" b="0" i="0" u="none" strike="noStrike" cap="none">
              <a:solidFill>
                <a:schemeClr val="dk1"/>
              </a:solidFill>
              <a:latin typeface="Calibri"/>
              <a:ea typeface="Calibri"/>
              <a:cs typeface="Calibri"/>
              <a:sym typeface="Calibri"/>
            </a:endParaRPr>
          </a:p>
          <a:p>
            <a:pPr marL="0" marR="0" lvl="0" indent="0" algn="l" rtl="0">
              <a:lnSpc>
                <a:spcPct val="107000"/>
              </a:lnSpc>
              <a:spcBef>
                <a:spcPts val="800"/>
              </a:spcBef>
              <a:spcAft>
                <a:spcPts val="0"/>
              </a:spcAft>
              <a:buNone/>
            </a:pPr>
            <a:r>
              <a:rPr lang="en-US" sz="1400" b="1" i="0" u="none" strike="noStrike" cap="none">
                <a:solidFill>
                  <a:srgbClr val="000000"/>
                </a:solidFill>
                <a:latin typeface="Arial" panose="020B0704020202020204" pitchFamily="34" charset="0"/>
                <a:ea typeface="Arial" panose="020B0704020202020204" pitchFamily="34" charset="0"/>
                <a:cs typeface="Arial" panose="020B0704020202020204" pitchFamily="34" charset="0"/>
                <a:sym typeface="Arial" panose="020B0704020202020204" pitchFamily="34" charset="0"/>
              </a:rPr>
              <a:t>АЛЕКСАНДРА ГРИГОРЬЕВИЧА И НИКОЛАЯ ГРИГОРЬЕВИЧА СТОЛЕТОВЫХ</a:t>
            </a:r>
            <a:endParaRPr sz="1400" b="0" i="0" u="none" strike="noStrike" cap="none">
              <a:solidFill>
                <a:schemeClr val="dk1"/>
              </a:solidFill>
              <a:latin typeface="Calibri"/>
              <a:ea typeface="Calibri"/>
              <a:cs typeface="Calibri"/>
              <a:sym typeface="Calibri"/>
            </a:endParaRPr>
          </a:p>
        </p:txBody>
      </p:sp>
      <p:pic>
        <p:nvPicPr>
          <p:cNvPr id="86" name="Google Shape;86;p1" descr="Владимирский государственный университет имени Александра Григорьевича и  Николая Григорьевича Столетовых"/>
          <p:cNvPicPr preferRelativeResize="0"/>
          <p:nvPr/>
        </p:nvPicPr>
        <p:blipFill rotWithShape="1">
          <a:blip r:embed="rId1"/>
          <a:srcRect/>
          <a:stretch>
            <a:fillRect/>
          </a:stretch>
        </p:blipFill>
        <p:spPr>
          <a:xfrm>
            <a:off x="10443603" y="77207"/>
            <a:ext cx="1381125" cy="1377315"/>
          </a:xfrm>
          <a:prstGeom prst="rect">
            <a:avLst/>
          </a:prstGeom>
          <a:noFill/>
          <a:ln>
            <a:noFill/>
          </a:ln>
        </p:spPr>
      </p:pic>
      <p:sp>
        <p:nvSpPr>
          <p:cNvPr id="87" name="Google Shape;87;p1"/>
          <p:cNvSpPr txBox="1"/>
          <p:nvPr/>
        </p:nvSpPr>
        <p:spPr>
          <a:xfrm>
            <a:off x="529590" y="1741805"/>
            <a:ext cx="11295380" cy="3228975"/>
          </a:xfrm>
          <a:prstGeom prst="rect">
            <a:avLst/>
          </a:prstGeom>
          <a:noFill/>
          <a:ln>
            <a:noFill/>
          </a:ln>
        </p:spPr>
        <p:txBody>
          <a:bodyPr spcFirstLastPara="1" wrap="square" lIns="91425" tIns="45700" rIns="91425" bIns="45700" anchor="t" anchorCtr="0">
            <a:spAutoFit/>
          </a:bodyPr>
          <a:p>
            <a:pPr marL="0" marR="0" lvl="0" indent="0" algn="ctr" rtl="0">
              <a:lnSpc>
                <a:spcPct val="150000"/>
              </a:lnSpc>
              <a:spcBef>
                <a:spcPts val="0"/>
              </a:spcBef>
              <a:spcAft>
                <a:spcPts val="0"/>
              </a:spcAft>
              <a:buNone/>
            </a:pPr>
            <a:r>
              <a:rPr 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«Разработка веб-интерфейсного скрипта»</a:t>
            </a:r>
            <a:endParaRPr 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None/>
            </a:pPr>
            <a:r>
              <a:rPr 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“Web 前端脚本开发”</a:t>
            </a:r>
            <a:endParaRPr 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None/>
            </a:pPr>
            <a:endParaRPr lang="en-US" sz="2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None/>
            </a:pPr>
            <a:r>
              <a:rPr lang="en-US" sz="3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Обзор JavaScript. Основная структура скриптов на JavaScript</a:t>
            </a:r>
            <a:endParaRPr lang="en-US" sz="3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50000"/>
              </a:lnSpc>
              <a:spcBef>
                <a:spcPts val="0"/>
              </a:spcBef>
              <a:spcAft>
                <a:spcPts val="0"/>
              </a:spcAft>
              <a:buNone/>
            </a:pPr>
            <a:r>
              <a:rPr lang="en-US" sz="3200">
                <a:solidFill>
                  <a:srgbClr val="000000"/>
                </a:solidFill>
                <a:latin typeface="Times New Roman" panose="02020603050405020304"/>
                <a:ea typeface="Times New Roman" panose="02020603050405020304"/>
                <a:cs typeface="Times New Roman" panose="02020603050405020304"/>
                <a:sym typeface="Times New Roman" panose="02020603050405020304"/>
              </a:rPr>
              <a:t>JavaScript概述。JavaScript脚本的基本结构</a:t>
            </a:r>
            <a:endParaRPr lang="en-US" sz="32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8" name="Google Shape;88;p1"/>
          <p:cNvSpPr txBox="1"/>
          <p:nvPr/>
        </p:nvSpPr>
        <p:spPr>
          <a:xfrm>
            <a:off x="8701088" y="5498106"/>
            <a:ext cx="3341594" cy="646331"/>
          </a:xfrm>
          <a:prstGeom prst="rect">
            <a:avLst/>
          </a:prstGeom>
          <a:noFill/>
          <a:ln>
            <a:noFill/>
          </a:ln>
        </p:spPr>
        <p:txBody>
          <a:bodyPr spcFirstLastPara="1" wrap="square" lIns="91425" tIns="45700" rIns="91425" bIns="45700" anchor="t" anchorCtr="0">
            <a:spAutoFit/>
          </a:bodyPr>
          <a:p>
            <a:pPr marL="0" marR="0" lvl="0" indent="0" algn="l" rtl="0">
              <a:spcBef>
                <a:spcPts val="0"/>
              </a:spcBef>
              <a:spcAft>
                <a:spcPts val="0"/>
              </a:spcAft>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Преподаватель кафедры ИСПИ Хлызова Валерия Григорьевна.</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438150" y="508000"/>
            <a:ext cx="5438140" cy="521970"/>
          </a:xfrm>
          <a:prstGeom prst="rect">
            <a:avLst/>
          </a:prstGeom>
          <a:noFill/>
        </p:spPr>
        <p:txBody>
          <a:bodyPr wrap="square" rtlCol="0" anchor="t">
            <a:spAutoFit/>
          </a:bodyPr>
          <a:p>
            <a:r>
              <a:rPr lang="en-US" sz="2800">
                <a:latin typeface="Arial Regular" panose="020B0704020202020204" charset="0"/>
                <a:cs typeface="Arial Regular" panose="020B0704020202020204" charset="0"/>
              </a:rPr>
              <a:t>ЦЕЛЬ РАБОТЫ   工作目标</a:t>
            </a:r>
            <a:endParaRPr lang="en-US" sz="2800">
              <a:latin typeface="Arial Regular" panose="020B0704020202020204" charset="0"/>
              <a:cs typeface="Arial Regular" panose="020B0704020202020204" charset="0"/>
            </a:endParaRPr>
          </a:p>
        </p:txBody>
      </p:sp>
      <p:sp>
        <p:nvSpPr>
          <p:cNvPr id="5" name="Text Box 4"/>
          <p:cNvSpPr txBox="1"/>
          <p:nvPr/>
        </p:nvSpPr>
        <p:spPr>
          <a:xfrm>
            <a:off x="438150" y="1544320"/>
            <a:ext cx="11315065" cy="4215765"/>
          </a:xfrm>
          <a:prstGeom prst="rect">
            <a:avLst/>
          </a:prstGeom>
          <a:noFill/>
        </p:spPr>
        <p:txBody>
          <a:bodyPr wrap="square" rtlCol="0" anchor="t">
            <a:spAutoFit/>
          </a:bodyPr>
          <a:p>
            <a:pPr indent="0" algn="just">
              <a:buFont typeface="Arial" panose="020B0704020202020204" pitchFamily="34" charset="0"/>
              <a:buNone/>
            </a:pPr>
            <a:r>
              <a:rPr lang="en-US" sz="2400">
                <a:latin typeface="Arial Regular" panose="020B0704020202020204" charset="0"/>
                <a:cs typeface="Arial Regular" panose="020B0704020202020204" charset="0"/>
              </a:rPr>
              <a:t>Познакомиться с языком программирования JavaScript. Изучить способы подключения файла JavaScript;  </a:t>
            </a:r>
            <a:endParaRPr lang="en-US" sz="2400">
              <a:latin typeface="Arial Regular" panose="020B0704020202020204" charset="0"/>
              <a:cs typeface="Arial Regular" panose="020B0704020202020204" charset="0"/>
            </a:endParaRPr>
          </a:p>
          <a:p>
            <a:pPr indent="0" algn="just">
              <a:buFont typeface="Arial" panose="020B0704020202020204" pitchFamily="34" charset="0"/>
              <a:buNone/>
            </a:pPr>
            <a:r>
              <a:rPr lang="en-US" sz="3200">
                <a:latin typeface="Arial Regular" panose="020B0704020202020204" charset="0"/>
                <a:cs typeface="Arial Regular" panose="020B0704020202020204" charset="0"/>
              </a:rPr>
              <a:t>熟悉JavaScript编程语言。学习如何连接JavaScript文件；</a:t>
            </a:r>
            <a:endParaRPr lang="en-US" sz="3200">
              <a:latin typeface="Arial Regular" panose="020B0704020202020204" charset="0"/>
              <a:cs typeface="Arial Regular" panose="020B0704020202020204" charset="0"/>
            </a:endParaRPr>
          </a:p>
          <a:p>
            <a:pPr indent="0" algn="just">
              <a:buFont typeface="Arial" panose="020B0704020202020204" pitchFamily="34" charset="0"/>
              <a:buNone/>
            </a:pPr>
            <a:endParaRPr lang="en-US" sz="2800">
              <a:latin typeface="Arial Regular" panose="020B0704020202020204" charset="0"/>
              <a:cs typeface="Arial Regular" panose="020B0704020202020204" charset="0"/>
            </a:endParaRPr>
          </a:p>
          <a:p>
            <a:pPr indent="0" algn="just">
              <a:buFont typeface="Arial" panose="020B0704020202020204" pitchFamily="34" charset="0"/>
              <a:buNone/>
            </a:pPr>
            <a:r>
              <a:rPr lang="en-US" sz="2400">
                <a:latin typeface="Arial Regular" panose="020B0704020202020204" charset="0"/>
                <a:cs typeface="Arial Regular" panose="020B0704020202020204" charset="0"/>
              </a:rPr>
              <a:t>Вспомнить основы HTML и CSS;</a:t>
            </a:r>
            <a:endParaRPr lang="en-US" sz="2400">
              <a:latin typeface="Arial Regular" panose="020B0704020202020204" charset="0"/>
              <a:cs typeface="Arial Regular" panose="020B0704020202020204" charset="0"/>
            </a:endParaRPr>
          </a:p>
          <a:p>
            <a:pPr indent="0" algn="just">
              <a:buFont typeface="Arial" panose="020B0704020202020204" pitchFamily="34" charset="0"/>
              <a:buNone/>
            </a:pPr>
            <a:r>
              <a:rPr lang="en-US" sz="3200">
                <a:latin typeface="Arial Regular" panose="020B0704020202020204" charset="0"/>
                <a:cs typeface="Arial Regular" panose="020B0704020202020204" charset="0"/>
              </a:rPr>
              <a:t>记住HTML和CSS的基础知识；</a:t>
            </a:r>
            <a:endParaRPr lang="en-US" sz="3200">
              <a:latin typeface="Arial Regular" panose="020B0704020202020204" charset="0"/>
              <a:cs typeface="Arial Regular" panose="020B0704020202020204" charset="0"/>
            </a:endParaRPr>
          </a:p>
          <a:p>
            <a:pPr indent="0" algn="just">
              <a:buFont typeface="Arial" panose="020B0704020202020204" pitchFamily="34" charset="0"/>
              <a:buNone/>
            </a:pPr>
            <a:endParaRPr lang="en-US" sz="2400">
              <a:latin typeface="Arial Regular" panose="020B0704020202020204" charset="0"/>
              <a:cs typeface="Arial Regular" panose="020B0704020202020204" charset="0"/>
            </a:endParaRPr>
          </a:p>
          <a:p>
            <a:pPr indent="0" algn="just">
              <a:buFont typeface="Arial" panose="020B0704020202020204" pitchFamily="34" charset="0"/>
              <a:buNone/>
            </a:pPr>
            <a:r>
              <a:rPr lang="en-US" sz="2400">
                <a:latin typeface="Arial Regular" panose="020B0704020202020204" charset="0"/>
                <a:cs typeface="Arial Regular" panose="020B0704020202020204" charset="0"/>
              </a:rPr>
              <a:t>Закрепить изученный материал путем самостоятельного написания первой программы на JavaScript.</a:t>
            </a:r>
            <a:endParaRPr lang="en-US" sz="2400">
              <a:latin typeface="Arial Regular" panose="020B0704020202020204" charset="0"/>
              <a:cs typeface="Arial Regular" panose="020B0704020202020204" charset="0"/>
            </a:endParaRPr>
          </a:p>
          <a:p>
            <a:pPr indent="0" algn="just">
              <a:buFont typeface="Arial" panose="020B0704020202020204" pitchFamily="34" charset="0"/>
              <a:buNone/>
            </a:pPr>
            <a:r>
              <a:rPr lang="en-US" sz="3200">
                <a:latin typeface="Arial Regular" panose="020B0704020202020204" charset="0"/>
                <a:cs typeface="Arial Regular" panose="020B0704020202020204" charset="0"/>
              </a:rPr>
              <a:t>通过自己编写第一个JavaScript程序来巩固学习材料。</a:t>
            </a:r>
            <a:endParaRPr lang="en-US" sz="3200">
              <a:latin typeface="Arial Regular" panose="020B0704020202020204" charset="0"/>
              <a:cs typeface="Arial Regular" panose="020B0704020202020204" charset="0"/>
            </a:endParaRPr>
          </a:p>
        </p:txBody>
      </p:sp>
      <p:sp>
        <p:nvSpPr>
          <p:cNvPr id="6" name="Google Shape;93;p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92" name="Shape 92"/>
        <p:cNvGrpSpPr/>
        <p:nvPr/>
      </p:nvGrpSpPr>
      <p:grpSpPr>
        <a:xfrm>
          <a:off x="0" y="0"/>
          <a:ext cx="0" cy="0"/>
          <a:chOff x="0" y="0"/>
          <a:chExt cx="0" cy="0"/>
        </a:xfrm>
      </p:grpSpPr>
      <p:sp>
        <p:nvSpPr>
          <p:cNvPr id="93" name="Google Shape;93;p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94" name="Google Shape;94;p2"/>
          <p:cNvSpPr txBox="1"/>
          <p:nvPr/>
        </p:nvSpPr>
        <p:spPr>
          <a:xfrm>
            <a:off x="1015252" y="1660579"/>
            <a:ext cx="10162213" cy="353695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2400" b="0" i="0" u="none" strike="noStrike" cap="none">
                <a:solidFill>
                  <a:schemeClr val="dk1"/>
                </a:solidFill>
                <a:latin typeface="Arial Regular" panose="020B0704020202020204" charset="0"/>
                <a:ea typeface="Times New Roman" panose="02020603050405020304"/>
                <a:cs typeface="Arial Regular" panose="020B0704020202020204" charset="0"/>
                <a:sym typeface="Times New Roman" panose="02020603050405020304"/>
              </a:rPr>
              <a:t>	Любое веб-приложение состоит из множества файлов, которые структурированы в проекте. Самая простая веб-страница состоит из нескольких элементов HTML + CSS + JavaScript.</a:t>
            </a:r>
            <a:endParaRPr lang="en-US" sz="2400" b="0" i="0" u="none" strike="noStrike" cap="none">
              <a:solidFill>
                <a:schemeClr val="dk1"/>
              </a:solidFill>
              <a:latin typeface="Arial Regular" panose="020B0704020202020204" charset="0"/>
              <a:ea typeface="Times New Roman" panose="02020603050405020304"/>
              <a:cs typeface="Arial Regular" panose="020B0704020202020204" charset="0"/>
              <a:sym typeface="Times New Roman" panose="02020603050405020304"/>
            </a:endParaRPr>
          </a:p>
          <a:p>
            <a:pPr marL="0" marR="0" lvl="0" indent="0" algn="just" rtl="0">
              <a:lnSpc>
                <a:spcPct val="100000"/>
              </a:lnSpc>
              <a:spcBef>
                <a:spcPts val="0"/>
              </a:spcBef>
              <a:spcAft>
                <a:spcPts val="0"/>
              </a:spcAft>
              <a:buNone/>
            </a:pPr>
            <a:endParaRPr lang="en-US" sz="2400" b="0" i="0" u="none" strike="noStrike" cap="none">
              <a:solidFill>
                <a:schemeClr val="dk1"/>
              </a:solidFill>
              <a:latin typeface="Arial Regular" panose="020B0704020202020204" charset="0"/>
              <a:ea typeface="Times New Roman" panose="02020603050405020304"/>
              <a:cs typeface="Arial Regular" panose="020B0704020202020204" charset="0"/>
              <a:sym typeface="Times New Roman" panose="02020603050405020304"/>
            </a:endParaRPr>
          </a:p>
          <a:p>
            <a:pPr marL="0" marR="0" lvl="0" indent="0" algn="just" rtl="0">
              <a:lnSpc>
                <a:spcPct val="100000"/>
              </a:lnSpc>
              <a:spcBef>
                <a:spcPts val="0"/>
              </a:spcBef>
              <a:spcAft>
                <a:spcPts val="0"/>
              </a:spcAft>
              <a:buNone/>
            </a:pPr>
            <a:r>
              <a:rPr lang="zh-CN" altLang="en-US" sz="3200" dirty="0">
                <a:solidFill>
                  <a:schemeClr val="dk1"/>
                </a:solidFill>
                <a:latin typeface="Arial Regular" panose="020B0704020202020204" charset="0"/>
                <a:ea typeface="Times New Roman" panose="02020603050405020304"/>
                <a:cs typeface="Arial Regular" panose="020B0704020202020204" charset="0"/>
                <a:sym typeface="Times New Roman" panose="02020603050405020304"/>
              </a:rPr>
              <a:t>任何 </a:t>
            </a:r>
            <a:r>
              <a:rPr lang="en-US" altLang="zh-CN" sz="3200" dirty="0">
                <a:solidFill>
                  <a:schemeClr val="dk1"/>
                </a:solidFill>
                <a:latin typeface="Arial Regular" panose="020B0704020202020204" charset="0"/>
                <a:ea typeface="Times New Roman" panose="02020603050405020304"/>
                <a:cs typeface="Arial Regular" panose="020B0704020202020204" charset="0"/>
                <a:sym typeface="Times New Roman" panose="02020603050405020304"/>
              </a:rPr>
              <a:t>Web </a:t>
            </a:r>
            <a:r>
              <a:rPr lang="zh-CN" altLang="en-US" sz="3200" dirty="0">
                <a:solidFill>
                  <a:schemeClr val="dk1"/>
                </a:solidFill>
                <a:latin typeface="Arial Regular" panose="020B0704020202020204" charset="0"/>
                <a:ea typeface="Times New Roman" panose="02020603050405020304"/>
                <a:cs typeface="Arial Regular" panose="020B0704020202020204" charset="0"/>
                <a:sym typeface="Times New Roman" panose="02020603050405020304"/>
              </a:rPr>
              <a:t>应用程序都由项目中构建的许多文件组成。最简单的网页由几个</a:t>
            </a:r>
            <a:r>
              <a:rPr lang="en-US" altLang="zh-CN" sz="3200" dirty="0">
                <a:solidFill>
                  <a:schemeClr val="dk1"/>
                </a:solidFill>
                <a:latin typeface="Arial Regular" panose="020B0704020202020204" charset="0"/>
                <a:ea typeface="Times New Roman" panose="02020603050405020304"/>
                <a:cs typeface="Arial Regular" panose="020B0704020202020204" charset="0"/>
                <a:sym typeface="Times New Roman" panose="02020603050405020304"/>
              </a:rPr>
              <a:t>HTML + CSS + JavaScript</a:t>
            </a:r>
            <a:r>
              <a:rPr lang="zh-CN" altLang="en-US" sz="3200" dirty="0">
                <a:solidFill>
                  <a:schemeClr val="dk1"/>
                </a:solidFill>
                <a:latin typeface="Arial Regular" panose="020B0704020202020204" charset="0"/>
                <a:ea typeface="Times New Roman" panose="02020603050405020304"/>
                <a:cs typeface="Arial Regular" panose="020B0704020202020204" charset="0"/>
                <a:sym typeface="Times New Roman" panose="02020603050405020304"/>
              </a:rPr>
              <a:t>元素组成。</a:t>
            </a:r>
            <a:endParaRPr sz="3200" b="0" i="0" u="none" strike="noStrike" cap="none" dirty="0">
              <a:solidFill>
                <a:schemeClr val="dk1"/>
              </a:solidFill>
              <a:latin typeface="Arial Regular" panose="020B0704020202020204" charset="0"/>
              <a:ea typeface="Calibri"/>
              <a:cs typeface="Arial Regular" panose="020B0704020202020204" charset="0"/>
              <a:sym typeface="Calibri"/>
            </a:endParaRPr>
          </a:p>
          <a:p>
            <a:pPr marL="0" marR="0" lvl="0" indent="0" algn="just" rtl="0">
              <a:lnSpc>
                <a:spcPct val="100000"/>
              </a:lnSpc>
              <a:spcBef>
                <a:spcPts val="0"/>
              </a:spcBef>
              <a:spcAft>
                <a:spcPts val="0"/>
              </a:spcAft>
              <a:buNone/>
            </a:pPr>
            <a:endParaRPr sz="3200" b="0" i="0" u="none" strike="noStrike" cap="none">
              <a:solidFill>
                <a:schemeClr val="dk1"/>
              </a:solidFill>
              <a:latin typeface="Arial Regular" panose="020B0704020202020204" charset="0"/>
              <a:ea typeface="Calibri"/>
              <a:cs typeface="Arial Regular" panose="020B0704020202020204" charset="0"/>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98" name="Shape 98"/>
        <p:cNvGrpSpPr/>
        <p:nvPr/>
      </p:nvGrpSpPr>
      <p:grpSpPr>
        <a:xfrm>
          <a:off x="0" y="0"/>
          <a:ext cx="0" cy="0"/>
          <a:chOff x="0" y="0"/>
          <a:chExt cx="0" cy="0"/>
        </a:xfrm>
      </p:grpSpPr>
      <p:sp>
        <p:nvSpPr>
          <p:cNvPr id="99" name="Google Shape;99;p3"/>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0" name="Google Shape;100;p3"/>
          <p:cNvSpPr txBox="1"/>
          <p:nvPr/>
        </p:nvSpPr>
        <p:spPr>
          <a:xfrm>
            <a:off x="555810" y="276350"/>
            <a:ext cx="11251200" cy="350393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2400" b="0" i="0" u="none" strike="noStrike" cap="none">
                <a:solidFill>
                  <a:schemeClr val="dk1"/>
                </a:solidFill>
                <a:latin typeface="Arial Regular" panose="020B0704020202020204" charset="0"/>
                <a:ea typeface="Times New Roman" panose="02020603050405020304"/>
                <a:cs typeface="Arial Regular" panose="020B0704020202020204" charset="0"/>
                <a:sym typeface="Times New Roman" panose="02020603050405020304"/>
              </a:rPr>
              <a:t>	HTML — это язык разметки, который используется для создания структуры веб-страниц. Он состоит из тегов, которые обозначают различные элементы страницы, такие как заголовки, абзацы, списки, ссылки и множество других элементов.</a:t>
            </a:r>
            <a:endParaRPr lang="en-US" sz="2400" b="0" i="0" u="none" strike="noStrike" cap="none">
              <a:solidFill>
                <a:schemeClr val="dk1"/>
              </a:solidFill>
              <a:latin typeface="Arial Regular" panose="020B0704020202020204" charset="0"/>
              <a:ea typeface="Times New Roman" panose="02020603050405020304"/>
              <a:cs typeface="Arial Regular" panose="020B0704020202020204" charset="0"/>
              <a:sym typeface="Times New Roman" panose="02020603050405020304"/>
            </a:endParaRPr>
          </a:p>
          <a:p>
            <a:pPr marL="0" marR="0" lvl="0" indent="0" algn="just" rtl="0">
              <a:lnSpc>
                <a:spcPct val="100000"/>
              </a:lnSpc>
              <a:spcBef>
                <a:spcPts val="0"/>
              </a:spcBef>
              <a:spcAft>
                <a:spcPts val="0"/>
              </a:spcAft>
              <a:buNone/>
            </a:pPr>
            <a:endParaRPr lang="en-US" altLang="zh-CN" sz="3200" b="0" i="0" u="none" strike="noStrike" cap="none" dirty="0">
              <a:solidFill>
                <a:schemeClr val="dk1"/>
              </a:solidFill>
              <a:latin typeface="Arial Regular" panose="020B0704020202020204" charset="0"/>
              <a:ea typeface="Times New Roman" panose="02020603050405020304"/>
              <a:cs typeface="Arial Regular" panose="020B0704020202020204" charset="0"/>
              <a:sym typeface="Times New Roman" panose="02020603050405020304"/>
            </a:endParaRPr>
          </a:p>
          <a:p>
            <a:pPr marL="0" marR="0" lvl="0" indent="0" algn="just" rtl="0">
              <a:lnSpc>
                <a:spcPct val="100000"/>
              </a:lnSpc>
              <a:spcBef>
                <a:spcPts val="0"/>
              </a:spcBef>
              <a:spcAft>
                <a:spcPts val="0"/>
              </a:spcAft>
              <a:buNone/>
            </a:pPr>
            <a:r>
              <a:rPr sz="3200" b="0" i="0" u="none" strike="noStrike" cap="none">
                <a:solidFill>
                  <a:schemeClr val="dk1"/>
                </a:solidFill>
                <a:latin typeface="Arial Regular" panose="020B0704020202020204" charset="0"/>
                <a:ea typeface="Calibri"/>
                <a:cs typeface="Arial Regular" panose="020B0704020202020204" charset="0"/>
                <a:sym typeface="Calibri"/>
              </a:rPr>
              <a:t>HTML是一种用于构建网页结构的标记语言。它由代表各种页面元素的标签组成，例如标题、段落、列表、链接以及许多其他元素。</a:t>
            </a:r>
            <a:endParaRPr sz="3200" b="0" i="0" u="none" strike="noStrike" cap="none">
              <a:solidFill>
                <a:schemeClr val="dk1"/>
              </a:solidFill>
              <a:latin typeface="Arial Regular" panose="020B0704020202020204" charset="0"/>
              <a:ea typeface="Calibri"/>
              <a:cs typeface="Arial Regular" panose="020B0704020202020204" charset="0"/>
              <a:sym typeface="Calibri"/>
            </a:endParaRPr>
          </a:p>
        </p:txBody>
      </p:sp>
      <p:sp>
        <p:nvSpPr>
          <p:cNvPr id="101" name="Google Shape;101;p3"/>
          <p:cNvSpPr txBox="1"/>
          <p:nvPr/>
        </p:nvSpPr>
        <p:spPr>
          <a:xfrm>
            <a:off x="2917451" y="4120507"/>
            <a:ext cx="7188574" cy="1544334"/>
          </a:xfrm>
          <a:prstGeom prst="rect">
            <a:avLst/>
          </a:prstGeom>
          <a:noFill/>
          <a:ln>
            <a:noFill/>
          </a:ln>
        </p:spPr>
        <p:txBody>
          <a:bodyPr spcFirstLastPara="1" wrap="square" lIns="91425" tIns="45700" rIns="91425" bIns="45700" anchor="t" anchorCtr="0">
            <a:spAutoFit/>
          </a:bodyPr>
          <a:lstStyle/>
          <a:p>
            <a:pPr marL="0" marR="0" lvl="0" indent="0" algn="l" rtl="0">
              <a:lnSpc>
                <a:spcPct val="79000"/>
              </a:lnSpc>
              <a:spcBef>
                <a:spcPts val="0"/>
              </a:spcBef>
              <a:spcAft>
                <a:spcPts val="0"/>
              </a:spcAft>
              <a:buNone/>
            </a:pPr>
            <a:r>
              <a:rPr lang="en-US" sz="1800" b="0" i="0" u="none" strike="noStrike" cap="none">
                <a:solidFill>
                  <a:srgbClr val="800000"/>
                </a:solidFill>
                <a:latin typeface="Consolas"/>
                <a:ea typeface="Consolas"/>
                <a:cs typeface="Consolas"/>
                <a:sym typeface="Consolas"/>
              </a:rPr>
              <a:t>&lt;!DOCTYPE</a:t>
            </a:r>
            <a:r>
              <a:rPr lang="en-US" sz="1800" b="0" i="0" u="none" strike="noStrike" cap="none">
                <a:solidFill>
                  <a:srgbClr val="000000"/>
                </a:solidFill>
                <a:latin typeface="Consolas"/>
                <a:ea typeface="Consolas"/>
                <a:cs typeface="Consolas"/>
                <a:sym typeface="Consolas"/>
              </a:rPr>
              <a:t> </a:t>
            </a:r>
            <a:r>
              <a:rPr lang="en-US" sz="1800" b="0" i="0" u="none" strike="noStrike" cap="none">
                <a:solidFill>
                  <a:srgbClr val="E50000"/>
                </a:solidFill>
                <a:latin typeface="Consolas"/>
                <a:ea typeface="Consolas"/>
                <a:cs typeface="Consolas"/>
                <a:sym typeface="Consolas"/>
              </a:rPr>
              <a:t>HTML</a:t>
            </a:r>
            <a:r>
              <a:rPr lang="en-US" sz="1800" b="0" i="0" u="none" strike="noStrike" cap="none">
                <a:solidFill>
                  <a:srgbClr val="800000"/>
                </a:solidFill>
                <a:latin typeface="Consolas"/>
                <a:ea typeface="Consolas"/>
                <a:cs typeface="Consolas"/>
                <a:sym typeface="Consolas"/>
              </a:rPr>
              <a:t>&gt;</a:t>
            </a:r>
            <a:endParaRPr sz="2000" b="0" i="0" u="none" strike="noStrike" cap="none">
              <a:solidFill>
                <a:schemeClr val="dk1"/>
              </a:solidFill>
              <a:latin typeface="Calibri"/>
              <a:ea typeface="Calibri"/>
              <a:cs typeface="Calibri"/>
              <a:sym typeface="Calibri"/>
            </a:endParaRPr>
          </a:p>
          <a:p>
            <a:pPr marL="0" marR="0" lvl="0" indent="0" algn="l" rtl="0">
              <a:lnSpc>
                <a:spcPct val="79000"/>
              </a:lnSpc>
              <a:spcBef>
                <a:spcPts val="0"/>
              </a:spcBef>
              <a:spcAft>
                <a:spcPts val="0"/>
              </a:spcAft>
              <a:buNone/>
            </a:pPr>
            <a:r>
              <a:rPr lang="en-US" sz="1800" b="0" i="0" u="none" strike="noStrike" cap="none">
                <a:solidFill>
                  <a:srgbClr val="800000"/>
                </a:solidFill>
                <a:latin typeface="Consolas"/>
                <a:ea typeface="Consolas"/>
                <a:cs typeface="Consolas"/>
                <a:sym typeface="Consolas"/>
              </a:rPr>
              <a:t>&lt;html&gt;</a:t>
            </a:r>
            <a:endParaRPr sz="2000" b="0" i="0" u="none" strike="noStrike" cap="none">
              <a:solidFill>
                <a:schemeClr val="dk1"/>
              </a:solidFill>
              <a:latin typeface="Calibri"/>
              <a:ea typeface="Calibri"/>
              <a:cs typeface="Calibri"/>
              <a:sym typeface="Calibri"/>
            </a:endParaRPr>
          </a:p>
          <a:p>
            <a:pPr marL="0" marR="0" lvl="0" indent="0" algn="l" rtl="0">
              <a:lnSpc>
                <a:spcPct val="79000"/>
              </a:lnSpc>
              <a:spcBef>
                <a:spcPts val="0"/>
              </a:spcBef>
              <a:spcAft>
                <a:spcPts val="0"/>
              </a:spcAft>
              <a:buNone/>
            </a:pPr>
            <a:r>
              <a:rPr lang="en-US" sz="1800" b="0" i="0" u="none" strike="noStrike" cap="none">
                <a:solidFill>
                  <a:srgbClr val="000000"/>
                </a:solidFill>
                <a:latin typeface="Consolas"/>
                <a:ea typeface="Consolas"/>
                <a:cs typeface="Consolas"/>
                <a:sym typeface="Consolas"/>
              </a:rPr>
              <a:t>    </a:t>
            </a:r>
            <a:r>
              <a:rPr lang="en-US" sz="1800" b="0" i="0" u="none" strike="noStrike" cap="none">
                <a:solidFill>
                  <a:srgbClr val="800000"/>
                </a:solidFill>
                <a:latin typeface="Consolas"/>
                <a:ea typeface="Consolas"/>
                <a:cs typeface="Consolas"/>
                <a:sym typeface="Consolas"/>
              </a:rPr>
              <a:t>&lt;body&gt;</a:t>
            </a:r>
            <a:endParaRPr sz="2000" b="0" i="0" u="none" strike="noStrike" cap="none">
              <a:solidFill>
                <a:schemeClr val="dk1"/>
              </a:solidFill>
              <a:latin typeface="Calibri"/>
              <a:ea typeface="Calibri"/>
              <a:cs typeface="Calibri"/>
              <a:sym typeface="Calibri"/>
            </a:endParaRPr>
          </a:p>
          <a:p>
            <a:pPr marL="0" marR="0" lvl="0" indent="0" algn="l" rtl="0">
              <a:lnSpc>
                <a:spcPct val="79000"/>
              </a:lnSpc>
              <a:spcBef>
                <a:spcPts val="0"/>
              </a:spcBef>
              <a:spcAft>
                <a:spcPts val="0"/>
              </a:spcAft>
              <a:buNone/>
            </a:pPr>
            <a:r>
              <a:rPr lang="en-US" sz="1800" b="0" i="0" u="none" strike="noStrike" cap="none">
                <a:solidFill>
                  <a:srgbClr val="000000"/>
                </a:solidFill>
                <a:latin typeface="Consolas"/>
                <a:ea typeface="Consolas"/>
                <a:cs typeface="Consolas"/>
                <a:sym typeface="Consolas"/>
              </a:rPr>
              <a:t>        </a:t>
            </a:r>
            <a:r>
              <a:rPr lang="en-US" sz="1800" b="0" i="0" u="none" strike="noStrike" cap="none">
                <a:solidFill>
                  <a:srgbClr val="800000"/>
                </a:solidFill>
                <a:latin typeface="Consolas"/>
                <a:ea typeface="Consolas"/>
                <a:cs typeface="Consolas"/>
                <a:sym typeface="Consolas"/>
              </a:rPr>
              <a:t>&lt;form&gt;</a:t>
            </a:r>
            <a:endParaRPr sz="2000" b="0" i="0" u="none" strike="noStrike" cap="none">
              <a:solidFill>
                <a:schemeClr val="dk1"/>
              </a:solidFill>
              <a:latin typeface="Calibri"/>
              <a:ea typeface="Calibri"/>
              <a:cs typeface="Calibri"/>
              <a:sym typeface="Calibri"/>
            </a:endParaRPr>
          </a:p>
          <a:p>
            <a:pPr marL="0" marR="0" lvl="0" indent="0" algn="l" rtl="0">
              <a:lnSpc>
                <a:spcPct val="79000"/>
              </a:lnSpc>
              <a:spcBef>
                <a:spcPts val="0"/>
              </a:spcBef>
              <a:spcAft>
                <a:spcPts val="0"/>
              </a:spcAft>
              <a:buNone/>
            </a:pPr>
            <a:r>
              <a:rPr lang="en-US" sz="1800" b="0" i="0" u="none" strike="noStrike" cap="none">
                <a:solidFill>
                  <a:srgbClr val="000000"/>
                </a:solidFill>
                <a:latin typeface="Consolas"/>
                <a:ea typeface="Consolas"/>
                <a:cs typeface="Consolas"/>
                <a:sym typeface="Consolas"/>
              </a:rPr>
              <a:t>            </a:t>
            </a:r>
            <a:r>
              <a:rPr lang="en-US" sz="1800" b="0" i="0" u="none" strike="noStrike" cap="none">
                <a:solidFill>
                  <a:srgbClr val="800000"/>
                </a:solidFill>
                <a:latin typeface="Consolas"/>
                <a:ea typeface="Consolas"/>
                <a:cs typeface="Consolas"/>
                <a:sym typeface="Consolas"/>
              </a:rPr>
              <a:t>&lt;textarea</a:t>
            </a:r>
            <a:r>
              <a:rPr lang="en-US" sz="1800" b="0" i="0" u="none" strike="noStrike" cap="none">
                <a:solidFill>
                  <a:srgbClr val="000000"/>
                </a:solidFill>
                <a:latin typeface="Consolas"/>
                <a:ea typeface="Consolas"/>
                <a:cs typeface="Consolas"/>
                <a:sym typeface="Consolas"/>
              </a:rPr>
              <a:t> </a:t>
            </a:r>
            <a:r>
              <a:rPr lang="en-US" sz="1800" b="0" i="0" u="none" strike="noStrike" cap="none">
                <a:solidFill>
                  <a:srgbClr val="E50000"/>
                </a:solidFill>
                <a:latin typeface="Consolas"/>
                <a:ea typeface="Consolas"/>
                <a:cs typeface="Consolas"/>
                <a:sym typeface="Consolas"/>
              </a:rPr>
              <a:t>cols</a:t>
            </a:r>
            <a:r>
              <a:rPr lang="en-US" sz="1800" b="0" i="0" u="none" strike="noStrike" cap="none">
                <a:solidFill>
                  <a:srgbClr val="000000"/>
                </a:solidFill>
                <a:latin typeface="Consolas"/>
                <a:ea typeface="Consolas"/>
                <a:cs typeface="Consolas"/>
                <a:sym typeface="Consolas"/>
              </a:rPr>
              <a:t>=</a:t>
            </a:r>
            <a:r>
              <a:rPr lang="en-US" sz="1800" b="0" i="0" u="none" strike="noStrike" cap="none">
                <a:solidFill>
                  <a:srgbClr val="0000FF"/>
                </a:solidFill>
                <a:latin typeface="Consolas"/>
                <a:ea typeface="Consolas"/>
                <a:cs typeface="Consolas"/>
                <a:sym typeface="Consolas"/>
              </a:rPr>
              <a:t>"20"</a:t>
            </a:r>
            <a:r>
              <a:rPr lang="en-US" sz="1800" b="0" i="0" u="none" strike="noStrike" cap="none">
                <a:solidFill>
                  <a:srgbClr val="000000"/>
                </a:solidFill>
                <a:latin typeface="Consolas"/>
                <a:ea typeface="Consolas"/>
                <a:cs typeface="Consolas"/>
                <a:sym typeface="Consolas"/>
              </a:rPr>
              <a:t> </a:t>
            </a:r>
            <a:r>
              <a:rPr lang="en-US" sz="1800" b="0" i="0" u="none" strike="noStrike" cap="none">
                <a:solidFill>
                  <a:srgbClr val="E50000"/>
                </a:solidFill>
                <a:latin typeface="Consolas"/>
                <a:ea typeface="Consolas"/>
                <a:cs typeface="Consolas"/>
                <a:sym typeface="Consolas"/>
              </a:rPr>
              <a:t>rows</a:t>
            </a:r>
            <a:r>
              <a:rPr lang="en-US" sz="1800" b="0" i="0" u="none" strike="noStrike" cap="none">
                <a:solidFill>
                  <a:srgbClr val="000000"/>
                </a:solidFill>
                <a:latin typeface="Consolas"/>
                <a:ea typeface="Consolas"/>
                <a:cs typeface="Consolas"/>
                <a:sym typeface="Consolas"/>
              </a:rPr>
              <a:t>=</a:t>
            </a:r>
            <a:r>
              <a:rPr lang="en-US" sz="1800" b="0" i="0" u="none" strike="noStrike" cap="none">
                <a:solidFill>
                  <a:srgbClr val="0000FF"/>
                </a:solidFill>
                <a:latin typeface="Consolas"/>
                <a:ea typeface="Consolas"/>
                <a:cs typeface="Consolas"/>
                <a:sym typeface="Consolas"/>
              </a:rPr>
              <a:t>"10"</a:t>
            </a:r>
            <a:r>
              <a:rPr lang="en-US" sz="1800" b="0" i="0" u="none" strike="noStrike" cap="none">
                <a:solidFill>
                  <a:srgbClr val="800000"/>
                </a:solidFill>
                <a:latin typeface="Consolas"/>
                <a:ea typeface="Consolas"/>
                <a:cs typeface="Consolas"/>
                <a:sym typeface="Consolas"/>
              </a:rPr>
              <a:t>&gt;&lt;/textarea&gt;</a:t>
            </a:r>
            <a:endParaRPr sz="2000" b="0" i="0" u="none" strike="noStrike" cap="none">
              <a:solidFill>
                <a:schemeClr val="dk1"/>
              </a:solidFill>
              <a:latin typeface="Calibri"/>
              <a:ea typeface="Calibri"/>
              <a:cs typeface="Calibri"/>
              <a:sym typeface="Calibri"/>
            </a:endParaRPr>
          </a:p>
          <a:p>
            <a:pPr marL="0" marR="0" lvl="0" indent="0" algn="l" rtl="0">
              <a:lnSpc>
                <a:spcPct val="79000"/>
              </a:lnSpc>
              <a:spcBef>
                <a:spcPts val="0"/>
              </a:spcBef>
              <a:spcAft>
                <a:spcPts val="0"/>
              </a:spcAft>
              <a:buNone/>
            </a:pPr>
            <a:r>
              <a:rPr lang="en-US" sz="1800" b="0" i="0" u="none" strike="noStrike" cap="none">
                <a:solidFill>
                  <a:srgbClr val="000000"/>
                </a:solidFill>
                <a:latin typeface="Consolas"/>
                <a:ea typeface="Consolas"/>
                <a:cs typeface="Consolas"/>
                <a:sym typeface="Consolas"/>
              </a:rPr>
              <a:t>        </a:t>
            </a:r>
            <a:r>
              <a:rPr lang="en-US" sz="1800" b="0" i="0" u="none" strike="noStrike" cap="none">
                <a:solidFill>
                  <a:srgbClr val="800000"/>
                </a:solidFill>
                <a:latin typeface="Consolas"/>
                <a:ea typeface="Consolas"/>
                <a:cs typeface="Consolas"/>
                <a:sym typeface="Consolas"/>
              </a:rPr>
              <a:t>&lt;/form&gt;</a:t>
            </a:r>
            <a:endParaRPr sz="2000" b="0" i="0" u="none" strike="noStrike" cap="none">
              <a:solidFill>
                <a:schemeClr val="dk1"/>
              </a:solidFill>
              <a:latin typeface="Calibri"/>
              <a:ea typeface="Calibri"/>
              <a:cs typeface="Calibri"/>
              <a:sym typeface="Calibri"/>
            </a:endParaRPr>
          </a:p>
          <a:p>
            <a:pPr marL="0" marR="0" lvl="0" indent="0" algn="l" rtl="0">
              <a:lnSpc>
                <a:spcPct val="79000"/>
              </a:lnSpc>
              <a:spcBef>
                <a:spcPts val="0"/>
              </a:spcBef>
              <a:spcAft>
                <a:spcPts val="0"/>
              </a:spcAft>
              <a:buNone/>
            </a:pPr>
            <a:r>
              <a:rPr lang="en-US" sz="1800" b="0" i="0" u="none" strike="noStrike" cap="none">
                <a:solidFill>
                  <a:srgbClr val="000000"/>
                </a:solidFill>
                <a:latin typeface="Consolas"/>
                <a:ea typeface="Consolas"/>
                <a:cs typeface="Consolas"/>
                <a:sym typeface="Consolas"/>
              </a:rPr>
              <a:t>    </a:t>
            </a:r>
            <a:r>
              <a:rPr lang="en-US" sz="1800" b="0" i="0" u="none" strike="noStrike" cap="none">
                <a:solidFill>
                  <a:srgbClr val="800000"/>
                </a:solidFill>
                <a:latin typeface="Consolas"/>
                <a:ea typeface="Consolas"/>
                <a:cs typeface="Consolas"/>
                <a:sym typeface="Consolas"/>
              </a:rPr>
              <a:t>&lt;/body&gt;</a:t>
            </a:r>
            <a:endParaRPr sz="2000" b="0" i="0" u="none" strike="noStrike" cap="none">
              <a:solidFill>
                <a:schemeClr val="dk1"/>
              </a:solidFill>
              <a:latin typeface="Calibri"/>
              <a:ea typeface="Calibri"/>
              <a:cs typeface="Calibri"/>
              <a:sym typeface="Calibri"/>
            </a:endParaRPr>
          </a:p>
          <a:p>
            <a:pPr marL="0" marR="0" lvl="0" indent="0" algn="l" rtl="0">
              <a:lnSpc>
                <a:spcPct val="79000"/>
              </a:lnSpc>
              <a:spcBef>
                <a:spcPts val="0"/>
              </a:spcBef>
              <a:spcAft>
                <a:spcPts val="0"/>
              </a:spcAft>
              <a:buNone/>
            </a:pPr>
            <a:r>
              <a:rPr lang="en-US" sz="1800" b="0" i="0" u="none" strike="noStrike" cap="none">
                <a:solidFill>
                  <a:srgbClr val="800000"/>
                </a:solidFill>
                <a:latin typeface="Consolas"/>
                <a:ea typeface="Consolas"/>
                <a:cs typeface="Consolas"/>
                <a:sym typeface="Consolas"/>
              </a:rPr>
              <a:t>&lt;/html&gt;</a:t>
            </a:r>
            <a:endParaRPr sz="20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05" name="Shape 105"/>
        <p:cNvGrpSpPr/>
        <p:nvPr/>
      </p:nvGrpSpPr>
      <p:grpSpPr>
        <a:xfrm>
          <a:off x="0" y="0"/>
          <a:ext cx="0" cy="0"/>
          <a:chOff x="0" y="0"/>
          <a:chExt cx="0" cy="0"/>
        </a:xfrm>
      </p:grpSpPr>
      <p:sp>
        <p:nvSpPr>
          <p:cNvPr id="106" name="Google Shape;106;p4"/>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7" name="Google Shape;107;p4"/>
          <p:cNvSpPr txBox="1"/>
          <p:nvPr/>
        </p:nvSpPr>
        <p:spPr>
          <a:xfrm>
            <a:off x="506504" y="487259"/>
            <a:ext cx="11448300" cy="350393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2400" b="0" i="0" u="none" strike="noStrike" cap="none">
                <a:solidFill>
                  <a:schemeClr val="dk1"/>
                </a:solidFill>
                <a:latin typeface="Arial Regular" panose="020B0704020202020204" charset="0"/>
                <a:ea typeface="Times New Roman" panose="02020603050405020304"/>
                <a:cs typeface="Arial Regular" panose="020B0704020202020204" charset="0"/>
                <a:sym typeface="Times New Roman" panose="02020603050405020304"/>
              </a:rPr>
              <a:t>	CSS — это язык стилей, используемый для описания внешнего вида веб-страницы. Он позволяет задавать различные стили для HTML-элементов, такие как цвет, размер шрифта, отступы и многое другое. CSS-стили можно применять к HTML-элементам с помощью селекторов.</a:t>
            </a:r>
            <a:endParaRPr lang="en-US" sz="2400" b="0" i="0" u="none" strike="noStrike" cap="none">
              <a:solidFill>
                <a:schemeClr val="dk1"/>
              </a:solidFill>
              <a:latin typeface="Arial Regular" panose="020B0704020202020204" charset="0"/>
              <a:ea typeface="Times New Roman" panose="02020603050405020304"/>
              <a:cs typeface="Arial Regular" panose="020B0704020202020204" charset="0"/>
              <a:sym typeface="Times New Roman" panose="02020603050405020304"/>
            </a:endParaRPr>
          </a:p>
          <a:p>
            <a:pPr marL="0" marR="0" lvl="0" indent="0" algn="just" rtl="0">
              <a:lnSpc>
                <a:spcPct val="100000"/>
              </a:lnSpc>
              <a:spcBef>
                <a:spcPts val="0"/>
              </a:spcBef>
              <a:spcAft>
                <a:spcPts val="0"/>
              </a:spcAft>
              <a:buNone/>
            </a:pPr>
            <a:endParaRPr sz="3200" b="0" i="0" u="none" strike="noStrike" cap="none">
              <a:solidFill>
                <a:schemeClr val="dk1"/>
              </a:solidFill>
              <a:latin typeface="Arial Regular" panose="020B0704020202020204" charset="0"/>
              <a:ea typeface="Calibri"/>
              <a:cs typeface="Arial Regular" panose="020B0704020202020204" charset="0"/>
              <a:sym typeface="Calibri"/>
            </a:endParaRPr>
          </a:p>
          <a:p>
            <a:pPr lvl="0" algn="just"/>
            <a:r>
              <a:rPr sz="3200" b="0" i="0" u="none" strike="noStrike" cap="none">
                <a:solidFill>
                  <a:schemeClr val="dk1"/>
                </a:solidFill>
                <a:latin typeface="Arial Regular" panose="020B0704020202020204" charset="0"/>
                <a:ea typeface="Calibri"/>
                <a:cs typeface="Arial Regular" panose="020B0704020202020204" charset="0"/>
                <a:sym typeface="Calibri"/>
              </a:rPr>
              <a:t>CSS 是一种样式表语言，用于描述网页的外观。它允许您为 HTML 元素定义各种样式，例如颜色、字体大小、边距等等。可以使用选择器将 CSS 样式应用于 HTML 元素。</a:t>
            </a:r>
            <a:endParaRPr sz="3200" b="0" i="0" u="none" strike="noStrike" cap="none">
              <a:solidFill>
                <a:schemeClr val="dk1"/>
              </a:solidFill>
              <a:latin typeface="Arial Regular" panose="020B0704020202020204" charset="0"/>
              <a:ea typeface="Calibri"/>
              <a:cs typeface="Arial Regular" panose="020B0704020202020204" charset="0"/>
              <a:sym typeface="Calibri"/>
            </a:endParaRPr>
          </a:p>
        </p:txBody>
      </p:sp>
      <p:sp>
        <p:nvSpPr>
          <p:cNvPr id="108" name="Google Shape;108;p4"/>
          <p:cNvSpPr txBox="1"/>
          <p:nvPr/>
        </p:nvSpPr>
        <p:spPr>
          <a:xfrm>
            <a:off x="3503779" y="4508135"/>
            <a:ext cx="6096000" cy="1364797"/>
          </a:xfrm>
          <a:prstGeom prst="rect">
            <a:avLst/>
          </a:prstGeom>
          <a:noFill/>
          <a:ln>
            <a:noFill/>
          </a:ln>
        </p:spPr>
        <p:txBody>
          <a:bodyPr spcFirstLastPara="1" wrap="square" lIns="91425" tIns="45700" rIns="91425" bIns="45700" anchor="t" anchorCtr="0">
            <a:spAutoFit/>
          </a:bodyPr>
          <a:lstStyle/>
          <a:p>
            <a:pPr marL="0" marR="0" lvl="0" indent="0" algn="l" rtl="0">
              <a:lnSpc>
                <a:spcPct val="79000"/>
              </a:lnSpc>
              <a:spcBef>
                <a:spcPts val="0"/>
              </a:spcBef>
              <a:spcAft>
                <a:spcPts val="0"/>
              </a:spcAft>
              <a:buNone/>
            </a:pPr>
            <a:r>
              <a:rPr lang="en-US" sz="1800" b="0" i="0" u="none" strike="noStrike" cap="none">
                <a:solidFill>
                  <a:srgbClr val="800000"/>
                </a:solidFill>
                <a:latin typeface="Consolas"/>
                <a:ea typeface="Consolas"/>
                <a:cs typeface="Consolas"/>
                <a:sym typeface="Consolas"/>
              </a:rPr>
              <a:t>.light</a:t>
            </a:r>
            <a:r>
              <a:rPr lang="en-US" sz="1800" b="0" i="0" u="none" strike="noStrike" cap="none">
                <a:solidFill>
                  <a:srgbClr val="000000"/>
                </a:solidFill>
                <a:latin typeface="Consolas"/>
                <a:ea typeface="Consolas"/>
                <a:cs typeface="Consolas"/>
                <a:sym typeface="Consolas"/>
              </a:rPr>
              <a:t> {</a:t>
            </a:r>
            <a:endParaRPr sz="2000" b="0" i="0" u="none" strike="noStrike" cap="none">
              <a:solidFill>
                <a:schemeClr val="dk1"/>
              </a:solidFill>
              <a:latin typeface="Calibri"/>
              <a:ea typeface="Calibri"/>
              <a:cs typeface="Calibri"/>
              <a:sym typeface="Calibri"/>
            </a:endParaRPr>
          </a:p>
          <a:p>
            <a:pPr marL="0" marR="0" lvl="0" indent="0" algn="l" rtl="0">
              <a:lnSpc>
                <a:spcPct val="79000"/>
              </a:lnSpc>
              <a:spcBef>
                <a:spcPts val="0"/>
              </a:spcBef>
              <a:spcAft>
                <a:spcPts val="0"/>
              </a:spcAft>
              <a:buNone/>
            </a:pPr>
            <a:r>
              <a:rPr lang="en-US" sz="1800" b="0" i="0" u="none" strike="noStrike" cap="none">
                <a:solidFill>
                  <a:srgbClr val="000000"/>
                </a:solidFill>
                <a:latin typeface="Consolas"/>
                <a:ea typeface="Consolas"/>
                <a:cs typeface="Consolas"/>
                <a:sym typeface="Consolas"/>
              </a:rPr>
              <a:t>    </a:t>
            </a:r>
            <a:r>
              <a:rPr lang="en-US" sz="1800" b="0" i="0" u="none" strike="noStrike" cap="none">
                <a:solidFill>
                  <a:srgbClr val="E50000"/>
                </a:solidFill>
                <a:latin typeface="Consolas"/>
                <a:ea typeface="Consolas"/>
                <a:cs typeface="Consolas"/>
                <a:sym typeface="Consolas"/>
              </a:rPr>
              <a:t>width</a:t>
            </a:r>
            <a:r>
              <a:rPr lang="en-US" sz="1800" b="0" i="0" u="none" strike="noStrike" cap="none">
                <a:solidFill>
                  <a:srgbClr val="000000"/>
                </a:solidFill>
                <a:latin typeface="Consolas"/>
                <a:ea typeface="Consolas"/>
                <a:cs typeface="Consolas"/>
                <a:sym typeface="Consolas"/>
              </a:rPr>
              <a:t>: </a:t>
            </a:r>
            <a:r>
              <a:rPr lang="en-US" sz="1800" b="0" i="0" u="none" strike="noStrike" cap="none">
                <a:solidFill>
                  <a:srgbClr val="098658"/>
                </a:solidFill>
                <a:latin typeface="Consolas"/>
                <a:ea typeface="Consolas"/>
                <a:cs typeface="Consolas"/>
                <a:sym typeface="Consolas"/>
              </a:rPr>
              <a:t>100px</a:t>
            </a:r>
            <a:r>
              <a:rPr lang="en-US" sz="1800" b="0" i="0" u="none" strike="noStrike" cap="none">
                <a:solidFill>
                  <a:srgbClr val="000000"/>
                </a:solidFill>
                <a:latin typeface="Consolas"/>
                <a:ea typeface="Consolas"/>
                <a:cs typeface="Consolas"/>
                <a:sym typeface="Consolas"/>
              </a:rPr>
              <a:t>;</a:t>
            </a:r>
            <a:endParaRPr sz="2000" b="0" i="0" u="none" strike="noStrike" cap="none">
              <a:solidFill>
                <a:schemeClr val="dk1"/>
              </a:solidFill>
              <a:latin typeface="Calibri"/>
              <a:ea typeface="Calibri"/>
              <a:cs typeface="Calibri"/>
              <a:sym typeface="Calibri"/>
            </a:endParaRPr>
          </a:p>
          <a:p>
            <a:pPr marL="0" marR="0" lvl="0" indent="0" algn="l" rtl="0">
              <a:lnSpc>
                <a:spcPct val="79000"/>
              </a:lnSpc>
              <a:spcBef>
                <a:spcPts val="0"/>
              </a:spcBef>
              <a:spcAft>
                <a:spcPts val="0"/>
              </a:spcAft>
              <a:buNone/>
            </a:pPr>
            <a:r>
              <a:rPr lang="en-US" sz="1800" b="0" i="0" u="none" strike="noStrike" cap="none">
                <a:solidFill>
                  <a:srgbClr val="000000"/>
                </a:solidFill>
                <a:latin typeface="Consolas"/>
                <a:ea typeface="Consolas"/>
                <a:cs typeface="Consolas"/>
                <a:sym typeface="Consolas"/>
              </a:rPr>
              <a:t>    </a:t>
            </a:r>
            <a:r>
              <a:rPr lang="en-US" sz="1800" b="0" i="0" u="none" strike="noStrike" cap="none">
                <a:solidFill>
                  <a:srgbClr val="E50000"/>
                </a:solidFill>
                <a:latin typeface="Consolas"/>
                <a:ea typeface="Consolas"/>
                <a:cs typeface="Consolas"/>
                <a:sym typeface="Consolas"/>
              </a:rPr>
              <a:t>height</a:t>
            </a:r>
            <a:r>
              <a:rPr lang="en-US" sz="1800" b="0" i="0" u="none" strike="noStrike" cap="none">
                <a:solidFill>
                  <a:srgbClr val="000000"/>
                </a:solidFill>
                <a:latin typeface="Consolas"/>
                <a:ea typeface="Consolas"/>
                <a:cs typeface="Consolas"/>
                <a:sym typeface="Consolas"/>
              </a:rPr>
              <a:t>: </a:t>
            </a:r>
            <a:r>
              <a:rPr lang="en-US" sz="1800" b="0" i="0" u="none" strike="noStrike" cap="none">
                <a:solidFill>
                  <a:srgbClr val="098658"/>
                </a:solidFill>
                <a:latin typeface="Consolas"/>
                <a:ea typeface="Consolas"/>
                <a:cs typeface="Consolas"/>
                <a:sym typeface="Consolas"/>
              </a:rPr>
              <a:t>100px</a:t>
            </a:r>
            <a:r>
              <a:rPr lang="en-US" sz="1800" b="0" i="0" u="none" strike="noStrike" cap="none">
                <a:solidFill>
                  <a:srgbClr val="000000"/>
                </a:solidFill>
                <a:latin typeface="Consolas"/>
                <a:ea typeface="Consolas"/>
                <a:cs typeface="Consolas"/>
                <a:sym typeface="Consolas"/>
              </a:rPr>
              <a:t>;</a:t>
            </a:r>
            <a:endParaRPr sz="2000" b="0" i="0" u="none" strike="noStrike" cap="none">
              <a:solidFill>
                <a:schemeClr val="dk1"/>
              </a:solidFill>
              <a:latin typeface="Calibri"/>
              <a:ea typeface="Calibri"/>
              <a:cs typeface="Calibri"/>
              <a:sym typeface="Calibri"/>
            </a:endParaRPr>
          </a:p>
          <a:p>
            <a:pPr marL="0" marR="0" lvl="0" indent="0" algn="l" rtl="0">
              <a:lnSpc>
                <a:spcPct val="79000"/>
              </a:lnSpc>
              <a:spcBef>
                <a:spcPts val="0"/>
              </a:spcBef>
              <a:spcAft>
                <a:spcPts val="0"/>
              </a:spcAft>
              <a:buNone/>
            </a:pPr>
            <a:r>
              <a:rPr lang="en-US" sz="1800" b="0" i="0" u="none" strike="noStrike" cap="none">
                <a:solidFill>
                  <a:srgbClr val="000000"/>
                </a:solidFill>
                <a:latin typeface="Consolas"/>
                <a:ea typeface="Consolas"/>
                <a:cs typeface="Consolas"/>
                <a:sym typeface="Consolas"/>
              </a:rPr>
              <a:t>    </a:t>
            </a:r>
            <a:r>
              <a:rPr lang="en-US" sz="1800" b="0" i="0" u="none" strike="noStrike" cap="none">
                <a:solidFill>
                  <a:srgbClr val="E50000"/>
                </a:solidFill>
                <a:latin typeface="Consolas"/>
                <a:ea typeface="Consolas"/>
                <a:cs typeface="Consolas"/>
                <a:sym typeface="Consolas"/>
              </a:rPr>
              <a:t>background-color</a:t>
            </a:r>
            <a:r>
              <a:rPr lang="en-US" sz="1800" b="0" i="0" u="none" strike="noStrike" cap="none">
                <a:solidFill>
                  <a:srgbClr val="000000"/>
                </a:solidFill>
                <a:latin typeface="Consolas"/>
                <a:ea typeface="Consolas"/>
                <a:cs typeface="Consolas"/>
                <a:sym typeface="Consolas"/>
              </a:rPr>
              <a:t>: </a:t>
            </a:r>
            <a:r>
              <a:rPr lang="en-US" sz="1800" b="0" i="0" u="none" strike="noStrike" cap="none">
                <a:solidFill>
                  <a:srgbClr val="0451A5"/>
                </a:solidFill>
                <a:latin typeface="Consolas"/>
                <a:ea typeface="Consolas"/>
                <a:cs typeface="Consolas"/>
                <a:sym typeface="Consolas"/>
              </a:rPr>
              <a:t>black</a:t>
            </a:r>
            <a:r>
              <a:rPr lang="en-US" sz="1800" b="0" i="0" u="none" strike="noStrike" cap="none">
                <a:solidFill>
                  <a:srgbClr val="000000"/>
                </a:solidFill>
                <a:latin typeface="Consolas"/>
                <a:ea typeface="Consolas"/>
                <a:cs typeface="Consolas"/>
                <a:sym typeface="Consolas"/>
              </a:rPr>
              <a:t>;</a:t>
            </a:r>
            <a:endParaRPr sz="2000" b="0" i="0" u="none" strike="noStrike" cap="none">
              <a:solidFill>
                <a:schemeClr val="dk1"/>
              </a:solidFill>
              <a:latin typeface="Calibri"/>
              <a:ea typeface="Calibri"/>
              <a:cs typeface="Calibri"/>
              <a:sym typeface="Calibri"/>
            </a:endParaRPr>
          </a:p>
          <a:p>
            <a:pPr marL="0" marR="0" lvl="0" indent="0" algn="l" rtl="0">
              <a:lnSpc>
                <a:spcPct val="79000"/>
              </a:lnSpc>
              <a:spcBef>
                <a:spcPts val="0"/>
              </a:spcBef>
              <a:spcAft>
                <a:spcPts val="0"/>
              </a:spcAft>
              <a:buNone/>
            </a:pPr>
            <a:r>
              <a:rPr lang="en-US" sz="1800" b="0" i="0" u="none" strike="noStrike" cap="none">
                <a:solidFill>
                  <a:srgbClr val="000000"/>
                </a:solidFill>
                <a:latin typeface="Consolas"/>
                <a:ea typeface="Consolas"/>
                <a:cs typeface="Consolas"/>
                <a:sym typeface="Consolas"/>
              </a:rPr>
              <a:t>    </a:t>
            </a:r>
            <a:r>
              <a:rPr lang="en-US" sz="1800" b="0" i="0" u="none" strike="noStrike" cap="none">
                <a:solidFill>
                  <a:srgbClr val="E50000"/>
                </a:solidFill>
                <a:latin typeface="Consolas"/>
                <a:ea typeface="Consolas"/>
                <a:cs typeface="Consolas"/>
                <a:sym typeface="Consolas"/>
              </a:rPr>
              <a:t>margin</a:t>
            </a:r>
            <a:r>
              <a:rPr lang="en-US" sz="1800" b="0" i="0" u="none" strike="noStrike" cap="none">
                <a:solidFill>
                  <a:srgbClr val="000000"/>
                </a:solidFill>
                <a:latin typeface="Consolas"/>
                <a:ea typeface="Consolas"/>
                <a:cs typeface="Consolas"/>
                <a:sym typeface="Consolas"/>
              </a:rPr>
              <a:t>: </a:t>
            </a:r>
            <a:r>
              <a:rPr lang="en-US" sz="1800" b="0" i="0" u="none" strike="noStrike" cap="none">
                <a:solidFill>
                  <a:srgbClr val="098658"/>
                </a:solidFill>
                <a:latin typeface="Consolas"/>
                <a:ea typeface="Consolas"/>
                <a:cs typeface="Consolas"/>
                <a:sym typeface="Consolas"/>
              </a:rPr>
              <a:t>10px</a:t>
            </a:r>
            <a:r>
              <a:rPr lang="en-US" sz="1800" b="0" i="0" u="none" strike="noStrike" cap="none">
                <a:solidFill>
                  <a:srgbClr val="000000"/>
                </a:solidFill>
                <a:latin typeface="Consolas"/>
                <a:ea typeface="Consolas"/>
                <a:cs typeface="Consolas"/>
                <a:sym typeface="Consolas"/>
              </a:rPr>
              <a:t>;</a:t>
            </a:r>
            <a:endParaRPr sz="2000" b="0" i="0" u="none" strike="noStrike" cap="none">
              <a:solidFill>
                <a:schemeClr val="dk1"/>
              </a:solidFill>
              <a:latin typeface="Calibri"/>
              <a:ea typeface="Calibri"/>
              <a:cs typeface="Calibri"/>
              <a:sym typeface="Calibri"/>
            </a:endParaRPr>
          </a:p>
          <a:p>
            <a:pPr marL="0" marR="0" lvl="0" indent="0" algn="l" rtl="0">
              <a:lnSpc>
                <a:spcPct val="79000"/>
              </a:lnSpc>
              <a:spcBef>
                <a:spcPts val="0"/>
              </a:spcBef>
              <a:spcAft>
                <a:spcPts val="0"/>
              </a:spcAft>
              <a:buNone/>
            </a:pPr>
            <a:r>
              <a:rPr lang="en-US" sz="1800" b="0" i="0" u="none" strike="noStrike" cap="none">
                <a:solidFill>
                  <a:srgbClr val="000000"/>
                </a:solidFill>
                <a:latin typeface="Consolas"/>
                <a:ea typeface="Consolas"/>
                <a:cs typeface="Consolas"/>
                <a:sym typeface="Consolas"/>
              </a:rPr>
              <a:t>    </a:t>
            </a:r>
            <a:r>
              <a:rPr lang="en-US" sz="1800" b="0" i="0" u="none" strike="noStrike" cap="none">
                <a:solidFill>
                  <a:srgbClr val="E50000"/>
                </a:solidFill>
                <a:latin typeface="Consolas"/>
                <a:ea typeface="Consolas"/>
                <a:cs typeface="Consolas"/>
                <a:sym typeface="Consolas"/>
              </a:rPr>
              <a:t>border-radius</a:t>
            </a:r>
            <a:r>
              <a:rPr lang="en-US" sz="1800" b="0" i="0" u="none" strike="noStrike" cap="none">
                <a:solidFill>
                  <a:srgbClr val="000000"/>
                </a:solidFill>
                <a:latin typeface="Consolas"/>
                <a:ea typeface="Consolas"/>
                <a:cs typeface="Consolas"/>
                <a:sym typeface="Consolas"/>
              </a:rPr>
              <a:t>: </a:t>
            </a:r>
            <a:r>
              <a:rPr lang="en-US" sz="1800" b="0" i="0" u="none" strike="noStrike" cap="none">
                <a:solidFill>
                  <a:srgbClr val="098658"/>
                </a:solidFill>
                <a:latin typeface="Consolas"/>
                <a:ea typeface="Consolas"/>
                <a:cs typeface="Consolas"/>
                <a:sym typeface="Consolas"/>
              </a:rPr>
              <a:t>50%</a:t>
            </a:r>
            <a:r>
              <a:rPr lang="en-US" sz="1800" b="0" i="0" u="none" strike="noStrike" cap="none">
                <a:solidFill>
                  <a:srgbClr val="000000"/>
                </a:solidFill>
                <a:latin typeface="Consolas"/>
                <a:ea typeface="Consolas"/>
                <a:cs typeface="Consolas"/>
                <a:sym typeface="Consolas"/>
              </a:rPr>
              <a:t>;</a:t>
            </a:r>
            <a:endParaRPr sz="2000" b="0" i="0" u="none" strike="noStrike" cap="none">
              <a:solidFill>
                <a:schemeClr val="dk1"/>
              </a:solidFill>
              <a:latin typeface="Calibri"/>
              <a:ea typeface="Calibri"/>
              <a:cs typeface="Calibri"/>
              <a:sym typeface="Calibri"/>
            </a:endParaRPr>
          </a:p>
          <a:p>
            <a:pPr marL="0" marR="0" lvl="0" indent="0" algn="l" rtl="0">
              <a:lnSpc>
                <a:spcPct val="79000"/>
              </a:lnSpc>
              <a:spcBef>
                <a:spcPts val="0"/>
              </a:spcBef>
              <a:spcAft>
                <a:spcPts val="0"/>
              </a:spcAft>
              <a:buNone/>
            </a:pPr>
            <a:r>
              <a:rPr lang="en-US" sz="1800" b="0" i="0" u="none" strike="noStrike" cap="none">
                <a:solidFill>
                  <a:srgbClr val="000000"/>
                </a:solidFill>
                <a:latin typeface="Consolas"/>
                <a:ea typeface="Consolas"/>
                <a:cs typeface="Consolas"/>
                <a:sym typeface="Consolas"/>
              </a:rPr>
              <a:t>}</a:t>
            </a:r>
            <a:endParaRPr sz="20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12" name="Shape 112"/>
        <p:cNvGrpSpPr/>
        <p:nvPr/>
      </p:nvGrpSpPr>
      <p:grpSpPr>
        <a:xfrm>
          <a:off x="0" y="0"/>
          <a:ext cx="0" cy="0"/>
          <a:chOff x="0" y="0"/>
          <a:chExt cx="0" cy="0"/>
        </a:xfrm>
      </p:grpSpPr>
      <p:sp>
        <p:nvSpPr>
          <p:cNvPr id="113" name="Google Shape;113;p5"/>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14" name="Google Shape;114;p5"/>
          <p:cNvSpPr txBox="1"/>
          <p:nvPr/>
        </p:nvSpPr>
        <p:spPr>
          <a:xfrm>
            <a:off x="399004" y="274592"/>
            <a:ext cx="11394000" cy="338201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2400" b="0" i="0" u="none" strike="noStrike" cap="none">
                <a:solidFill>
                  <a:srgbClr val="180620"/>
                </a:solidFill>
                <a:latin typeface="Arial Regular" panose="020B0704020202020204" charset="0"/>
                <a:ea typeface="Times New Roman" panose="02020603050405020304"/>
                <a:cs typeface="Arial Regular" panose="020B0704020202020204" charset="0"/>
                <a:sym typeface="Times New Roman" panose="02020603050405020304"/>
              </a:rPr>
              <a:t>	JavaScript — это язык программирования, который используется для добавления интерактивности, анимации и обработки пользовательских действий на веб-страницах. JavaScript можно встраивать в HTML-документы или подключать как отдельные файлы.</a:t>
            </a:r>
            <a:endParaRPr lang="en-US" sz="2400" b="0" i="0" u="none" strike="noStrike" cap="none">
              <a:solidFill>
                <a:srgbClr val="180620"/>
              </a:solidFill>
              <a:latin typeface="Arial Regular" panose="020B0704020202020204" charset="0"/>
              <a:ea typeface="Times New Roman" panose="02020603050405020304"/>
              <a:cs typeface="Arial Regular" panose="020B0704020202020204" charset="0"/>
              <a:sym typeface="Times New Roman" panose="02020603050405020304"/>
            </a:endParaRPr>
          </a:p>
          <a:p>
            <a:pPr marL="0" marR="0" lvl="0" indent="0" algn="just" rtl="0">
              <a:lnSpc>
                <a:spcPct val="100000"/>
              </a:lnSpc>
              <a:spcBef>
                <a:spcPts val="0"/>
              </a:spcBef>
              <a:spcAft>
                <a:spcPts val="0"/>
              </a:spcAft>
              <a:buNone/>
            </a:pPr>
            <a:endParaRPr sz="2400" b="0" i="0" u="none" strike="noStrike" cap="none">
              <a:solidFill>
                <a:schemeClr val="dk1"/>
              </a:solidFill>
              <a:latin typeface="Arial Regular" panose="020B0704020202020204" charset="0"/>
              <a:ea typeface="Times New Roman" panose="02020603050405020304"/>
              <a:cs typeface="Arial Regular" panose="020B0704020202020204" charset="0"/>
              <a:sym typeface="Times New Roman" panose="02020603050405020304"/>
            </a:endParaRPr>
          </a:p>
          <a:p>
            <a:pPr marL="0" marR="0" lvl="0" indent="0" algn="just" rtl="0">
              <a:lnSpc>
                <a:spcPct val="100000"/>
              </a:lnSpc>
              <a:spcBef>
                <a:spcPts val="0"/>
              </a:spcBef>
              <a:spcAft>
                <a:spcPts val="0"/>
              </a:spcAft>
              <a:buNone/>
            </a:pPr>
            <a:r>
              <a:rPr sz="3200" b="0" i="0" u="none" strike="noStrike" cap="none">
                <a:solidFill>
                  <a:schemeClr val="dk1"/>
                </a:solidFill>
                <a:latin typeface="Arial Regular" panose="020B0704020202020204" charset="0"/>
                <a:ea typeface="Times New Roman" panose="02020603050405020304"/>
                <a:cs typeface="Arial Regular" panose="020B0704020202020204" charset="0"/>
                <a:sym typeface="Times New Roman" panose="02020603050405020304"/>
              </a:rPr>
              <a:t>JavaScript 是一种用于为网页添加交互性、动画和用户交互功能的编程语言。JavaScript 可以嵌入到 HTML 文档中，也可以作为单独的文件包含。</a:t>
            </a:r>
            <a:endParaRPr sz="3200" b="0" i="0" u="none" strike="noStrike" cap="none">
              <a:solidFill>
                <a:schemeClr val="dk1"/>
              </a:solidFill>
              <a:latin typeface="Arial Regular" panose="020B0704020202020204" charset="0"/>
              <a:ea typeface="Times New Roman" panose="02020603050405020304"/>
              <a:cs typeface="Arial Regular" panose="020B0704020202020204" charset="0"/>
              <a:sym typeface="Times New Roman" panose="02020603050405020304"/>
            </a:endParaRPr>
          </a:p>
        </p:txBody>
      </p:sp>
      <p:sp>
        <p:nvSpPr>
          <p:cNvPr id="115" name="Google Shape;115;p5"/>
          <p:cNvSpPr txBox="1"/>
          <p:nvPr/>
        </p:nvSpPr>
        <p:spPr>
          <a:xfrm>
            <a:off x="1241498" y="4180684"/>
            <a:ext cx="10018059" cy="1723870"/>
          </a:xfrm>
          <a:prstGeom prst="rect">
            <a:avLst/>
          </a:prstGeom>
          <a:noFill/>
          <a:ln>
            <a:noFill/>
          </a:ln>
        </p:spPr>
        <p:txBody>
          <a:bodyPr spcFirstLastPara="1" wrap="square" lIns="91425" tIns="45700" rIns="91425" bIns="45700" anchor="t" anchorCtr="0">
            <a:spAutoFit/>
          </a:bodyPr>
          <a:lstStyle/>
          <a:p>
            <a:pPr marL="0" marR="0" lvl="0" indent="0" algn="l" rtl="0">
              <a:lnSpc>
                <a:spcPct val="79000"/>
              </a:lnSpc>
              <a:spcBef>
                <a:spcPts val="0"/>
              </a:spcBef>
              <a:spcAft>
                <a:spcPts val="0"/>
              </a:spcAft>
              <a:buNone/>
            </a:pPr>
            <a:r>
              <a:rPr lang="en-US" sz="1800" b="0" i="0" u="none" strike="noStrike" cap="none">
                <a:solidFill>
                  <a:srgbClr val="0000FF"/>
                </a:solidFill>
                <a:latin typeface="Consolas"/>
                <a:ea typeface="Consolas"/>
                <a:cs typeface="Consolas"/>
                <a:sym typeface="Consolas"/>
              </a:rPr>
              <a:t>function</a:t>
            </a:r>
            <a:r>
              <a:rPr lang="en-US" sz="1800" b="0" i="0" u="none" strike="noStrike" cap="none">
                <a:solidFill>
                  <a:srgbClr val="000000"/>
                </a:solidFill>
                <a:latin typeface="Consolas"/>
                <a:ea typeface="Consolas"/>
                <a:cs typeface="Consolas"/>
                <a:sym typeface="Consolas"/>
              </a:rPr>
              <a:t> </a:t>
            </a:r>
            <a:r>
              <a:rPr lang="en-US" sz="1800" b="0" i="0" u="none" strike="noStrike" cap="none">
                <a:solidFill>
                  <a:srgbClr val="795E26"/>
                </a:solidFill>
                <a:latin typeface="Consolas"/>
                <a:ea typeface="Consolas"/>
                <a:cs typeface="Consolas"/>
                <a:sym typeface="Consolas"/>
              </a:rPr>
              <a:t>turnOn</a:t>
            </a:r>
            <a:r>
              <a:rPr lang="en-US" sz="1800" b="0" i="0" u="none" strike="noStrike" cap="none">
                <a:solidFill>
                  <a:srgbClr val="000000"/>
                </a:solidFill>
                <a:latin typeface="Consolas"/>
                <a:ea typeface="Consolas"/>
                <a:cs typeface="Consolas"/>
                <a:sym typeface="Consolas"/>
              </a:rPr>
              <a:t>() {</a:t>
            </a:r>
            <a:endParaRPr sz="2000" b="0" i="0" u="none" strike="noStrike" cap="none">
              <a:solidFill>
                <a:schemeClr val="dk1"/>
              </a:solidFill>
              <a:latin typeface="Calibri"/>
              <a:ea typeface="Calibri"/>
              <a:cs typeface="Calibri"/>
              <a:sym typeface="Calibri"/>
            </a:endParaRPr>
          </a:p>
          <a:p>
            <a:pPr marL="0" marR="0" lvl="0" indent="0" algn="l" rtl="0">
              <a:lnSpc>
                <a:spcPct val="79000"/>
              </a:lnSpc>
              <a:spcBef>
                <a:spcPts val="0"/>
              </a:spcBef>
              <a:spcAft>
                <a:spcPts val="0"/>
              </a:spcAft>
              <a:buNone/>
            </a:pPr>
            <a:r>
              <a:rPr lang="en-US" sz="1800" b="0" i="0" u="none" strike="noStrike" cap="none">
                <a:solidFill>
                  <a:srgbClr val="000000"/>
                </a:solidFill>
                <a:latin typeface="Consolas"/>
                <a:ea typeface="Consolas"/>
                <a:cs typeface="Consolas"/>
                <a:sym typeface="Consolas"/>
              </a:rPr>
              <a:t>  </a:t>
            </a:r>
            <a:r>
              <a:rPr lang="en-US" sz="1800" b="0" i="0" u="none" strike="noStrike" cap="none">
                <a:solidFill>
                  <a:srgbClr val="001080"/>
                </a:solidFill>
                <a:latin typeface="Consolas"/>
                <a:ea typeface="Consolas"/>
                <a:cs typeface="Consolas"/>
                <a:sym typeface="Consolas"/>
              </a:rPr>
              <a:t>document</a:t>
            </a:r>
            <a:r>
              <a:rPr lang="en-US" sz="1800" b="0" i="0" u="none" strike="noStrike" cap="none">
                <a:solidFill>
                  <a:srgbClr val="000000"/>
                </a:solidFill>
                <a:latin typeface="Consolas"/>
                <a:ea typeface="Consolas"/>
                <a:cs typeface="Consolas"/>
                <a:sym typeface="Consolas"/>
              </a:rPr>
              <a:t>.</a:t>
            </a:r>
            <a:r>
              <a:rPr lang="en-US" sz="1800" b="0" i="0" u="none" strike="noStrike" cap="none">
                <a:solidFill>
                  <a:srgbClr val="795E26"/>
                </a:solidFill>
                <a:latin typeface="Consolas"/>
                <a:ea typeface="Consolas"/>
                <a:cs typeface="Consolas"/>
                <a:sym typeface="Consolas"/>
              </a:rPr>
              <a:t>getElementById</a:t>
            </a:r>
            <a:r>
              <a:rPr lang="en-US" sz="1800" b="0" i="0" u="none" strike="noStrike" cap="none">
                <a:solidFill>
                  <a:srgbClr val="000000"/>
                </a:solidFill>
                <a:latin typeface="Consolas"/>
                <a:ea typeface="Consolas"/>
                <a:cs typeface="Consolas"/>
                <a:sym typeface="Consolas"/>
              </a:rPr>
              <a:t>(</a:t>
            </a:r>
            <a:r>
              <a:rPr lang="en-US" sz="1800" b="0" i="0" u="none" strike="noStrike" cap="none">
                <a:solidFill>
                  <a:srgbClr val="A31515"/>
                </a:solidFill>
                <a:latin typeface="Consolas"/>
                <a:ea typeface="Consolas"/>
                <a:cs typeface="Consolas"/>
                <a:sym typeface="Consolas"/>
              </a:rPr>
              <a:t>'light'</a:t>
            </a:r>
            <a:r>
              <a:rPr lang="en-US" sz="1800" b="0" i="0" u="none" strike="noStrike" cap="none">
                <a:solidFill>
                  <a:srgbClr val="000000"/>
                </a:solidFill>
                <a:latin typeface="Consolas"/>
                <a:ea typeface="Consolas"/>
                <a:cs typeface="Consolas"/>
                <a:sym typeface="Consolas"/>
              </a:rPr>
              <a:t>).</a:t>
            </a:r>
            <a:r>
              <a:rPr lang="en-US" sz="1800" b="0" i="0" u="none" strike="noStrike" cap="none">
                <a:solidFill>
                  <a:srgbClr val="0070C1"/>
                </a:solidFill>
                <a:latin typeface="Consolas"/>
                <a:ea typeface="Consolas"/>
                <a:cs typeface="Consolas"/>
                <a:sym typeface="Consolas"/>
              </a:rPr>
              <a:t>style</a:t>
            </a:r>
            <a:r>
              <a:rPr lang="en-US" sz="1800" b="0" i="0" u="none" strike="noStrike" cap="none">
                <a:solidFill>
                  <a:srgbClr val="000000"/>
                </a:solidFill>
                <a:latin typeface="Consolas"/>
                <a:ea typeface="Consolas"/>
                <a:cs typeface="Consolas"/>
                <a:sym typeface="Consolas"/>
              </a:rPr>
              <a:t>.</a:t>
            </a:r>
            <a:r>
              <a:rPr lang="en-US" sz="1800" b="0" i="0" u="none" strike="noStrike" cap="none">
                <a:solidFill>
                  <a:srgbClr val="001080"/>
                </a:solidFill>
                <a:latin typeface="Consolas"/>
                <a:ea typeface="Consolas"/>
                <a:cs typeface="Consolas"/>
                <a:sym typeface="Consolas"/>
              </a:rPr>
              <a:t>backgroundColor</a:t>
            </a:r>
            <a:r>
              <a:rPr lang="en-US" sz="1800" b="0" i="0" u="none" strike="noStrike" cap="none">
                <a:solidFill>
                  <a:srgbClr val="000000"/>
                </a:solidFill>
                <a:latin typeface="Consolas"/>
                <a:ea typeface="Consolas"/>
                <a:cs typeface="Consolas"/>
                <a:sym typeface="Consolas"/>
              </a:rPr>
              <a:t>  = </a:t>
            </a:r>
            <a:r>
              <a:rPr lang="en-US" sz="1800" b="0" i="0" u="none" strike="noStrike" cap="none">
                <a:solidFill>
                  <a:srgbClr val="A31515"/>
                </a:solidFill>
                <a:latin typeface="Consolas"/>
                <a:ea typeface="Consolas"/>
                <a:cs typeface="Consolas"/>
                <a:sym typeface="Consolas"/>
              </a:rPr>
              <a:t>'yellow'</a:t>
            </a:r>
            <a:r>
              <a:rPr lang="en-US" sz="1800" b="0" i="0" u="none" strike="noStrike" cap="none">
                <a:solidFill>
                  <a:srgbClr val="000000"/>
                </a:solidFill>
                <a:latin typeface="Consolas"/>
                <a:ea typeface="Consolas"/>
                <a:cs typeface="Consolas"/>
                <a:sym typeface="Consolas"/>
              </a:rPr>
              <a:t>;</a:t>
            </a:r>
            <a:endParaRPr sz="2000" b="0" i="0" u="none" strike="noStrike" cap="none">
              <a:solidFill>
                <a:schemeClr val="dk1"/>
              </a:solidFill>
              <a:latin typeface="Calibri"/>
              <a:ea typeface="Calibri"/>
              <a:cs typeface="Calibri"/>
              <a:sym typeface="Calibri"/>
            </a:endParaRPr>
          </a:p>
          <a:p>
            <a:pPr marL="0" marR="0" lvl="0" indent="0" algn="l" rtl="0">
              <a:lnSpc>
                <a:spcPct val="79000"/>
              </a:lnSpc>
              <a:spcBef>
                <a:spcPts val="0"/>
              </a:spcBef>
              <a:spcAft>
                <a:spcPts val="0"/>
              </a:spcAft>
              <a:buNone/>
            </a:pPr>
            <a:r>
              <a:rPr lang="en-US" sz="1800" b="0" i="0" u="none" strike="noStrike" cap="none">
                <a:solidFill>
                  <a:srgbClr val="000000"/>
                </a:solidFill>
                <a:latin typeface="Consolas"/>
                <a:ea typeface="Consolas"/>
                <a:cs typeface="Consolas"/>
                <a:sym typeface="Consolas"/>
              </a:rPr>
              <a:t>  </a:t>
            </a:r>
            <a:r>
              <a:rPr lang="en-US" sz="1800" b="0" i="0" u="none" strike="noStrike" cap="none">
                <a:solidFill>
                  <a:srgbClr val="001080"/>
                </a:solidFill>
                <a:latin typeface="Consolas"/>
                <a:ea typeface="Consolas"/>
                <a:cs typeface="Consolas"/>
                <a:sym typeface="Consolas"/>
              </a:rPr>
              <a:t>document</a:t>
            </a:r>
            <a:r>
              <a:rPr lang="en-US" sz="1800" b="0" i="0" u="none" strike="noStrike" cap="none">
                <a:solidFill>
                  <a:srgbClr val="000000"/>
                </a:solidFill>
                <a:latin typeface="Consolas"/>
                <a:ea typeface="Consolas"/>
                <a:cs typeface="Consolas"/>
                <a:sym typeface="Consolas"/>
              </a:rPr>
              <a:t>.</a:t>
            </a:r>
            <a:r>
              <a:rPr lang="en-US" sz="1800" b="0" i="0" u="none" strike="noStrike" cap="none">
                <a:solidFill>
                  <a:srgbClr val="795E26"/>
                </a:solidFill>
                <a:latin typeface="Consolas"/>
                <a:ea typeface="Consolas"/>
                <a:cs typeface="Consolas"/>
                <a:sym typeface="Consolas"/>
              </a:rPr>
              <a:t>getElementById</a:t>
            </a:r>
            <a:r>
              <a:rPr lang="en-US" sz="1800" b="0" i="0" u="none" strike="noStrike" cap="none">
                <a:solidFill>
                  <a:srgbClr val="000000"/>
                </a:solidFill>
                <a:latin typeface="Consolas"/>
                <a:ea typeface="Consolas"/>
                <a:cs typeface="Consolas"/>
                <a:sym typeface="Consolas"/>
              </a:rPr>
              <a:t>(</a:t>
            </a:r>
            <a:r>
              <a:rPr lang="en-US" sz="1800" b="0" i="0" u="none" strike="noStrike" cap="none">
                <a:solidFill>
                  <a:srgbClr val="A31515"/>
                </a:solidFill>
                <a:latin typeface="Consolas"/>
                <a:ea typeface="Consolas"/>
                <a:cs typeface="Consolas"/>
                <a:sym typeface="Consolas"/>
              </a:rPr>
              <a:t>'light'</a:t>
            </a:r>
            <a:r>
              <a:rPr lang="en-US" sz="1800" b="0" i="0" u="none" strike="noStrike" cap="none">
                <a:solidFill>
                  <a:srgbClr val="000000"/>
                </a:solidFill>
                <a:latin typeface="Consolas"/>
                <a:ea typeface="Consolas"/>
                <a:cs typeface="Consolas"/>
                <a:sym typeface="Consolas"/>
              </a:rPr>
              <a:t>).</a:t>
            </a:r>
            <a:r>
              <a:rPr lang="en-US" sz="1800" b="0" i="0" u="none" strike="noStrike" cap="none">
                <a:solidFill>
                  <a:srgbClr val="0070C1"/>
                </a:solidFill>
                <a:latin typeface="Consolas"/>
                <a:ea typeface="Consolas"/>
                <a:cs typeface="Consolas"/>
                <a:sym typeface="Consolas"/>
              </a:rPr>
              <a:t>style</a:t>
            </a:r>
            <a:r>
              <a:rPr lang="en-US" sz="1800" b="0" i="0" u="none" strike="noStrike" cap="none">
                <a:solidFill>
                  <a:srgbClr val="000000"/>
                </a:solidFill>
                <a:latin typeface="Consolas"/>
                <a:ea typeface="Consolas"/>
                <a:cs typeface="Consolas"/>
                <a:sym typeface="Consolas"/>
              </a:rPr>
              <a:t>.</a:t>
            </a:r>
            <a:r>
              <a:rPr lang="en-US" sz="1800" b="0" i="0" u="none" strike="noStrike" cap="none">
                <a:solidFill>
                  <a:srgbClr val="001080"/>
                </a:solidFill>
                <a:latin typeface="Consolas"/>
                <a:ea typeface="Consolas"/>
                <a:cs typeface="Consolas"/>
                <a:sym typeface="Consolas"/>
              </a:rPr>
              <a:t>boxShadow</a:t>
            </a:r>
            <a:r>
              <a:rPr lang="en-US" sz="1800" b="0" i="0" u="none" strike="noStrike" cap="none">
                <a:solidFill>
                  <a:srgbClr val="000000"/>
                </a:solidFill>
                <a:latin typeface="Consolas"/>
                <a:ea typeface="Consolas"/>
                <a:cs typeface="Consolas"/>
                <a:sym typeface="Consolas"/>
              </a:rPr>
              <a:t> = </a:t>
            </a:r>
            <a:r>
              <a:rPr lang="en-US" sz="1800" b="0" i="0" u="none" strike="noStrike" cap="none">
                <a:solidFill>
                  <a:srgbClr val="A31515"/>
                </a:solidFill>
                <a:latin typeface="Consolas"/>
                <a:ea typeface="Consolas"/>
                <a:cs typeface="Consolas"/>
                <a:sym typeface="Consolas"/>
              </a:rPr>
              <a:t>"0px 0px 50px yellow"</a:t>
            </a:r>
            <a:r>
              <a:rPr lang="en-US" sz="1800" b="0" i="0" u="none" strike="noStrike" cap="none">
                <a:solidFill>
                  <a:srgbClr val="000000"/>
                </a:solidFill>
                <a:latin typeface="Consolas"/>
                <a:ea typeface="Consolas"/>
                <a:cs typeface="Consolas"/>
                <a:sym typeface="Consolas"/>
              </a:rPr>
              <a:t>;</a:t>
            </a:r>
            <a:endParaRPr sz="2000" b="0" i="0" u="none" strike="noStrike" cap="none">
              <a:solidFill>
                <a:schemeClr val="dk1"/>
              </a:solidFill>
              <a:latin typeface="Calibri"/>
              <a:ea typeface="Calibri"/>
              <a:cs typeface="Calibri"/>
              <a:sym typeface="Calibri"/>
            </a:endParaRPr>
          </a:p>
          <a:p>
            <a:pPr marL="0" marR="0" lvl="0" indent="0" algn="l" rtl="0">
              <a:lnSpc>
                <a:spcPct val="79000"/>
              </a:lnSpc>
              <a:spcBef>
                <a:spcPts val="0"/>
              </a:spcBef>
              <a:spcAft>
                <a:spcPts val="0"/>
              </a:spcAft>
              <a:buNone/>
            </a:pPr>
            <a:r>
              <a:rPr lang="en-US" sz="1800" b="0" i="0" u="none" strike="noStrike" cap="none">
                <a:solidFill>
                  <a:srgbClr val="000000"/>
                </a:solidFill>
                <a:latin typeface="Consolas"/>
                <a:ea typeface="Consolas"/>
                <a:cs typeface="Consolas"/>
                <a:sym typeface="Consolas"/>
              </a:rPr>
              <a:t>}</a:t>
            </a:r>
            <a:endParaRPr sz="2000" b="0" i="0" u="none" strike="noStrike" cap="none">
              <a:solidFill>
                <a:schemeClr val="dk1"/>
              </a:solidFill>
              <a:latin typeface="Calibri"/>
              <a:ea typeface="Calibri"/>
              <a:cs typeface="Calibri"/>
              <a:sym typeface="Calibri"/>
            </a:endParaRPr>
          </a:p>
          <a:p>
            <a:pPr marL="0" marR="0" lvl="0" indent="0" algn="l" rtl="0">
              <a:lnSpc>
                <a:spcPct val="79000"/>
              </a:lnSpc>
              <a:spcBef>
                <a:spcPts val="0"/>
              </a:spcBef>
              <a:spcAft>
                <a:spcPts val="0"/>
              </a:spcAft>
              <a:buNone/>
            </a:pPr>
            <a:r>
              <a:rPr lang="en-US" sz="1800" b="0" i="0" u="none" strike="noStrike" cap="none">
                <a:solidFill>
                  <a:srgbClr val="000000"/>
                </a:solidFill>
                <a:latin typeface="Consolas"/>
                <a:ea typeface="Consolas"/>
                <a:cs typeface="Consolas"/>
                <a:sym typeface="Consolas"/>
              </a:rPr>
              <a:t> </a:t>
            </a:r>
            <a:endParaRPr sz="2000" b="0" i="0" u="none" strike="noStrike" cap="none">
              <a:solidFill>
                <a:schemeClr val="dk1"/>
              </a:solidFill>
              <a:latin typeface="Calibri"/>
              <a:ea typeface="Calibri"/>
              <a:cs typeface="Calibri"/>
              <a:sym typeface="Calibri"/>
            </a:endParaRPr>
          </a:p>
          <a:p>
            <a:pPr marL="0" marR="0" lvl="0" indent="0" algn="l" rtl="0">
              <a:lnSpc>
                <a:spcPct val="79000"/>
              </a:lnSpc>
              <a:spcBef>
                <a:spcPts val="0"/>
              </a:spcBef>
              <a:spcAft>
                <a:spcPts val="0"/>
              </a:spcAft>
              <a:buNone/>
            </a:pPr>
            <a:r>
              <a:rPr lang="en-US" sz="1800" b="0" i="0" u="none" strike="noStrike" cap="none">
                <a:solidFill>
                  <a:srgbClr val="0000FF"/>
                </a:solidFill>
                <a:latin typeface="Consolas"/>
                <a:ea typeface="Consolas"/>
                <a:cs typeface="Consolas"/>
                <a:sym typeface="Consolas"/>
              </a:rPr>
              <a:t>function</a:t>
            </a:r>
            <a:r>
              <a:rPr lang="en-US" sz="1800" b="0" i="0" u="none" strike="noStrike" cap="none">
                <a:solidFill>
                  <a:srgbClr val="000000"/>
                </a:solidFill>
                <a:latin typeface="Consolas"/>
                <a:ea typeface="Consolas"/>
                <a:cs typeface="Consolas"/>
                <a:sym typeface="Consolas"/>
              </a:rPr>
              <a:t> </a:t>
            </a:r>
            <a:r>
              <a:rPr lang="en-US" sz="1800" b="0" i="0" u="none" strike="noStrike" cap="none">
                <a:solidFill>
                  <a:srgbClr val="795E26"/>
                </a:solidFill>
                <a:latin typeface="Consolas"/>
                <a:ea typeface="Consolas"/>
                <a:cs typeface="Consolas"/>
                <a:sym typeface="Consolas"/>
              </a:rPr>
              <a:t>turnOff</a:t>
            </a:r>
            <a:r>
              <a:rPr lang="en-US" sz="1800" b="0" i="0" u="none" strike="noStrike" cap="none">
                <a:solidFill>
                  <a:srgbClr val="000000"/>
                </a:solidFill>
                <a:latin typeface="Consolas"/>
                <a:ea typeface="Consolas"/>
                <a:cs typeface="Consolas"/>
                <a:sym typeface="Consolas"/>
              </a:rPr>
              <a:t>() {</a:t>
            </a:r>
            <a:endParaRPr sz="2000" b="0" i="0" u="none" strike="noStrike" cap="none">
              <a:solidFill>
                <a:schemeClr val="dk1"/>
              </a:solidFill>
              <a:latin typeface="Calibri"/>
              <a:ea typeface="Calibri"/>
              <a:cs typeface="Calibri"/>
              <a:sym typeface="Calibri"/>
            </a:endParaRPr>
          </a:p>
          <a:p>
            <a:pPr marL="0" marR="0" lvl="0" indent="0" algn="l" rtl="0">
              <a:lnSpc>
                <a:spcPct val="79000"/>
              </a:lnSpc>
              <a:spcBef>
                <a:spcPts val="0"/>
              </a:spcBef>
              <a:spcAft>
                <a:spcPts val="0"/>
              </a:spcAft>
              <a:buNone/>
            </a:pPr>
            <a:r>
              <a:rPr lang="en-US" sz="1800" b="0" i="0" u="none" strike="noStrike" cap="none">
                <a:solidFill>
                  <a:srgbClr val="000000"/>
                </a:solidFill>
                <a:latin typeface="Consolas"/>
                <a:ea typeface="Consolas"/>
                <a:cs typeface="Consolas"/>
                <a:sym typeface="Consolas"/>
              </a:rPr>
              <a:t>  </a:t>
            </a:r>
            <a:r>
              <a:rPr lang="en-US" sz="1800" b="0" i="0" u="none" strike="noStrike" cap="none">
                <a:solidFill>
                  <a:srgbClr val="001080"/>
                </a:solidFill>
                <a:latin typeface="Consolas"/>
                <a:ea typeface="Consolas"/>
                <a:cs typeface="Consolas"/>
                <a:sym typeface="Consolas"/>
              </a:rPr>
              <a:t>document</a:t>
            </a:r>
            <a:r>
              <a:rPr lang="en-US" sz="1800" b="0" i="0" u="none" strike="noStrike" cap="none">
                <a:solidFill>
                  <a:srgbClr val="000000"/>
                </a:solidFill>
                <a:latin typeface="Consolas"/>
                <a:ea typeface="Consolas"/>
                <a:cs typeface="Consolas"/>
                <a:sym typeface="Consolas"/>
              </a:rPr>
              <a:t>.</a:t>
            </a:r>
            <a:r>
              <a:rPr lang="en-US" sz="1800" b="0" i="0" u="none" strike="noStrike" cap="none">
                <a:solidFill>
                  <a:srgbClr val="795E26"/>
                </a:solidFill>
                <a:latin typeface="Consolas"/>
                <a:ea typeface="Consolas"/>
                <a:cs typeface="Consolas"/>
                <a:sym typeface="Consolas"/>
              </a:rPr>
              <a:t>getElementById</a:t>
            </a:r>
            <a:r>
              <a:rPr lang="en-US" sz="1800" b="0" i="0" u="none" strike="noStrike" cap="none">
                <a:solidFill>
                  <a:srgbClr val="000000"/>
                </a:solidFill>
                <a:latin typeface="Consolas"/>
                <a:ea typeface="Consolas"/>
                <a:cs typeface="Consolas"/>
                <a:sym typeface="Consolas"/>
              </a:rPr>
              <a:t>(</a:t>
            </a:r>
            <a:r>
              <a:rPr lang="en-US" sz="1800" b="0" i="0" u="none" strike="noStrike" cap="none">
                <a:solidFill>
                  <a:srgbClr val="A31515"/>
                </a:solidFill>
                <a:latin typeface="Consolas"/>
                <a:ea typeface="Consolas"/>
                <a:cs typeface="Consolas"/>
                <a:sym typeface="Consolas"/>
              </a:rPr>
              <a:t>'light'</a:t>
            </a:r>
            <a:r>
              <a:rPr lang="en-US" sz="1800" b="0" i="0" u="none" strike="noStrike" cap="none">
                <a:solidFill>
                  <a:srgbClr val="000000"/>
                </a:solidFill>
                <a:latin typeface="Consolas"/>
                <a:ea typeface="Consolas"/>
                <a:cs typeface="Consolas"/>
                <a:sym typeface="Consolas"/>
              </a:rPr>
              <a:t>).</a:t>
            </a:r>
            <a:r>
              <a:rPr lang="en-US" sz="1800" b="0" i="0" u="none" strike="noStrike" cap="none">
                <a:solidFill>
                  <a:srgbClr val="0070C1"/>
                </a:solidFill>
                <a:latin typeface="Consolas"/>
                <a:ea typeface="Consolas"/>
                <a:cs typeface="Consolas"/>
                <a:sym typeface="Consolas"/>
              </a:rPr>
              <a:t>style</a:t>
            </a:r>
            <a:r>
              <a:rPr lang="en-US" sz="1800" b="0" i="0" u="none" strike="noStrike" cap="none">
                <a:solidFill>
                  <a:srgbClr val="000000"/>
                </a:solidFill>
                <a:latin typeface="Consolas"/>
                <a:ea typeface="Consolas"/>
                <a:cs typeface="Consolas"/>
                <a:sym typeface="Consolas"/>
              </a:rPr>
              <a:t>.</a:t>
            </a:r>
            <a:r>
              <a:rPr lang="en-US" sz="1800" b="0" i="0" u="none" strike="noStrike" cap="none">
                <a:solidFill>
                  <a:srgbClr val="001080"/>
                </a:solidFill>
                <a:latin typeface="Consolas"/>
                <a:ea typeface="Consolas"/>
                <a:cs typeface="Consolas"/>
                <a:sym typeface="Consolas"/>
              </a:rPr>
              <a:t>backgroundColor</a:t>
            </a:r>
            <a:r>
              <a:rPr lang="en-US" sz="1800" b="0" i="0" u="none" strike="noStrike" cap="none">
                <a:solidFill>
                  <a:srgbClr val="000000"/>
                </a:solidFill>
                <a:latin typeface="Consolas"/>
                <a:ea typeface="Consolas"/>
                <a:cs typeface="Consolas"/>
                <a:sym typeface="Consolas"/>
              </a:rPr>
              <a:t>  = </a:t>
            </a:r>
            <a:r>
              <a:rPr lang="en-US" sz="1800" b="0" i="0" u="none" strike="noStrike" cap="none">
                <a:solidFill>
                  <a:srgbClr val="A31515"/>
                </a:solidFill>
                <a:latin typeface="Consolas"/>
                <a:ea typeface="Consolas"/>
                <a:cs typeface="Consolas"/>
                <a:sym typeface="Consolas"/>
              </a:rPr>
              <a:t>'black'</a:t>
            </a:r>
            <a:r>
              <a:rPr lang="en-US" sz="1800" b="0" i="0" u="none" strike="noStrike" cap="none">
                <a:solidFill>
                  <a:srgbClr val="000000"/>
                </a:solidFill>
                <a:latin typeface="Consolas"/>
                <a:ea typeface="Consolas"/>
                <a:cs typeface="Consolas"/>
                <a:sym typeface="Consolas"/>
              </a:rPr>
              <a:t>;</a:t>
            </a:r>
            <a:endParaRPr sz="2000" b="0" i="0" u="none" strike="noStrike" cap="none">
              <a:solidFill>
                <a:schemeClr val="dk1"/>
              </a:solidFill>
              <a:latin typeface="Calibri"/>
              <a:ea typeface="Calibri"/>
              <a:cs typeface="Calibri"/>
              <a:sym typeface="Calibri"/>
            </a:endParaRPr>
          </a:p>
          <a:p>
            <a:pPr marL="0" marR="0" lvl="0" indent="0" algn="l" rtl="0">
              <a:lnSpc>
                <a:spcPct val="79000"/>
              </a:lnSpc>
              <a:spcBef>
                <a:spcPts val="0"/>
              </a:spcBef>
              <a:spcAft>
                <a:spcPts val="0"/>
              </a:spcAft>
              <a:buNone/>
            </a:pPr>
            <a:r>
              <a:rPr lang="en-US" sz="1800" b="0" i="0" u="none" strike="noStrike" cap="none">
                <a:solidFill>
                  <a:srgbClr val="000000"/>
                </a:solidFill>
                <a:latin typeface="Consolas"/>
                <a:ea typeface="Consolas"/>
                <a:cs typeface="Consolas"/>
                <a:sym typeface="Consolas"/>
              </a:rPr>
              <a:t>  </a:t>
            </a:r>
            <a:r>
              <a:rPr lang="en-US" sz="1800" b="0" i="0" u="none" strike="noStrike" cap="none">
                <a:solidFill>
                  <a:srgbClr val="001080"/>
                </a:solidFill>
                <a:latin typeface="Consolas"/>
                <a:ea typeface="Consolas"/>
                <a:cs typeface="Consolas"/>
                <a:sym typeface="Consolas"/>
              </a:rPr>
              <a:t>document</a:t>
            </a:r>
            <a:r>
              <a:rPr lang="en-US" sz="1800" b="0" i="0" u="none" strike="noStrike" cap="none">
                <a:solidFill>
                  <a:srgbClr val="000000"/>
                </a:solidFill>
                <a:latin typeface="Consolas"/>
                <a:ea typeface="Consolas"/>
                <a:cs typeface="Consolas"/>
                <a:sym typeface="Consolas"/>
              </a:rPr>
              <a:t>.</a:t>
            </a:r>
            <a:r>
              <a:rPr lang="en-US" sz="1800" b="0" i="0" u="none" strike="noStrike" cap="none">
                <a:solidFill>
                  <a:srgbClr val="795E26"/>
                </a:solidFill>
                <a:latin typeface="Consolas"/>
                <a:ea typeface="Consolas"/>
                <a:cs typeface="Consolas"/>
                <a:sym typeface="Consolas"/>
              </a:rPr>
              <a:t>getElementById</a:t>
            </a:r>
            <a:r>
              <a:rPr lang="en-US" sz="1800" b="0" i="0" u="none" strike="noStrike" cap="none">
                <a:solidFill>
                  <a:srgbClr val="000000"/>
                </a:solidFill>
                <a:latin typeface="Consolas"/>
                <a:ea typeface="Consolas"/>
                <a:cs typeface="Consolas"/>
                <a:sym typeface="Consolas"/>
              </a:rPr>
              <a:t>(</a:t>
            </a:r>
            <a:r>
              <a:rPr lang="en-US" sz="1800" b="0" i="0" u="none" strike="noStrike" cap="none">
                <a:solidFill>
                  <a:srgbClr val="A31515"/>
                </a:solidFill>
                <a:latin typeface="Consolas"/>
                <a:ea typeface="Consolas"/>
                <a:cs typeface="Consolas"/>
                <a:sym typeface="Consolas"/>
              </a:rPr>
              <a:t>'light'</a:t>
            </a:r>
            <a:r>
              <a:rPr lang="en-US" sz="1800" b="0" i="0" u="none" strike="noStrike" cap="none">
                <a:solidFill>
                  <a:srgbClr val="000000"/>
                </a:solidFill>
                <a:latin typeface="Consolas"/>
                <a:ea typeface="Consolas"/>
                <a:cs typeface="Consolas"/>
                <a:sym typeface="Consolas"/>
              </a:rPr>
              <a:t>).</a:t>
            </a:r>
            <a:r>
              <a:rPr lang="en-US" sz="1800" b="0" i="0" u="none" strike="noStrike" cap="none">
                <a:solidFill>
                  <a:srgbClr val="0070C1"/>
                </a:solidFill>
                <a:latin typeface="Consolas"/>
                <a:ea typeface="Consolas"/>
                <a:cs typeface="Consolas"/>
                <a:sym typeface="Consolas"/>
              </a:rPr>
              <a:t>style</a:t>
            </a:r>
            <a:r>
              <a:rPr lang="en-US" sz="1800" b="0" i="0" u="none" strike="noStrike" cap="none">
                <a:solidFill>
                  <a:srgbClr val="000000"/>
                </a:solidFill>
                <a:latin typeface="Consolas"/>
                <a:ea typeface="Consolas"/>
                <a:cs typeface="Consolas"/>
                <a:sym typeface="Consolas"/>
              </a:rPr>
              <a:t>.</a:t>
            </a:r>
            <a:r>
              <a:rPr lang="en-US" sz="1800" b="0" i="0" u="none" strike="noStrike" cap="none">
                <a:solidFill>
                  <a:srgbClr val="001080"/>
                </a:solidFill>
                <a:latin typeface="Consolas"/>
                <a:ea typeface="Consolas"/>
                <a:cs typeface="Consolas"/>
                <a:sym typeface="Consolas"/>
              </a:rPr>
              <a:t>boxShadow</a:t>
            </a:r>
            <a:r>
              <a:rPr lang="en-US" sz="1800" b="0" i="0" u="none" strike="noStrike" cap="none">
                <a:solidFill>
                  <a:srgbClr val="000000"/>
                </a:solidFill>
                <a:latin typeface="Consolas"/>
                <a:ea typeface="Consolas"/>
                <a:cs typeface="Consolas"/>
                <a:sym typeface="Consolas"/>
              </a:rPr>
              <a:t> = </a:t>
            </a:r>
            <a:r>
              <a:rPr lang="en-US" sz="1800" b="0" i="0" u="none" strike="noStrike" cap="none">
                <a:solidFill>
                  <a:srgbClr val="A31515"/>
                </a:solidFill>
                <a:latin typeface="Consolas"/>
                <a:ea typeface="Consolas"/>
                <a:cs typeface="Consolas"/>
                <a:sym typeface="Consolas"/>
              </a:rPr>
              <a:t>"none"</a:t>
            </a:r>
            <a:r>
              <a:rPr lang="en-US" sz="1800" b="0" i="0" u="none" strike="noStrike" cap="none">
                <a:solidFill>
                  <a:srgbClr val="000000"/>
                </a:solidFill>
                <a:latin typeface="Consolas"/>
                <a:ea typeface="Consolas"/>
                <a:cs typeface="Consolas"/>
                <a:sym typeface="Consolas"/>
              </a:rPr>
              <a:t>;</a:t>
            </a:r>
            <a:endParaRPr sz="2000" b="0" i="0" u="none" strike="noStrike" cap="none">
              <a:solidFill>
                <a:schemeClr val="dk1"/>
              </a:solidFill>
              <a:latin typeface="Calibri"/>
              <a:ea typeface="Calibri"/>
              <a:cs typeface="Calibri"/>
              <a:sym typeface="Calibri"/>
            </a:endParaRPr>
          </a:p>
          <a:p>
            <a:pPr marL="0" marR="0" lvl="0" indent="0" algn="l" rtl="0">
              <a:lnSpc>
                <a:spcPct val="79000"/>
              </a:lnSpc>
              <a:spcBef>
                <a:spcPts val="0"/>
              </a:spcBef>
              <a:spcAft>
                <a:spcPts val="0"/>
              </a:spcAft>
              <a:buNone/>
            </a:pPr>
            <a:r>
              <a:rPr lang="en-US" sz="1800" b="0" i="0" u="none" strike="noStrike" cap="none">
                <a:solidFill>
                  <a:srgbClr val="000000"/>
                </a:solidFill>
                <a:latin typeface="Consolas"/>
                <a:ea typeface="Consolas"/>
                <a:cs typeface="Consolas"/>
                <a:sym typeface="Consolas"/>
              </a:rPr>
              <a:t>}</a:t>
            </a:r>
            <a:endParaRPr sz="20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19" name="Shape 119"/>
        <p:cNvGrpSpPr/>
        <p:nvPr/>
      </p:nvGrpSpPr>
      <p:grpSpPr>
        <a:xfrm>
          <a:off x="0" y="0"/>
          <a:ext cx="0" cy="0"/>
          <a:chOff x="0" y="0"/>
          <a:chExt cx="0" cy="0"/>
        </a:xfrm>
      </p:grpSpPr>
      <p:sp>
        <p:nvSpPr>
          <p:cNvPr id="120" name="Google Shape;120;p6"/>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21" name="Google Shape;121;p6"/>
          <p:cNvSpPr txBox="1"/>
          <p:nvPr/>
        </p:nvSpPr>
        <p:spPr>
          <a:xfrm>
            <a:off x="638475" y="1103575"/>
            <a:ext cx="11173500" cy="350393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2400" b="0" i="0" u="none" strike="noStrike" cap="none">
                <a:solidFill>
                  <a:srgbClr val="180620"/>
                </a:solidFill>
                <a:latin typeface="Arial Regular" panose="020B0704020202020204" charset="0"/>
                <a:ea typeface="Times New Roman" panose="02020603050405020304"/>
                <a:cs typeface="Arial Regular" panose="020B0704020202020204" charset="0"/>
                <a:sym typeface="Times New Roman" panose="02020603050405020304"/>
              </a:rPr>
              <a:t>	HTML, CSS и JavaScript работают вместе, чтобы создать динамичные и красивые веб-страницы. HTML определяет структуру и содержимое страницы, CSS задает стили и оформление, а JavaScript добавляет интерактивность и дополнительные функции.</a:t>
            </a:r>
            <a:endParaRPr lang="en-US" sz="2400" b="0" i="0" u="none" strike="noStrike" cap="none">
              <a:solidFill>
                <a:srgbClr val="180620"/>
              </a:solidFill>
              <a:latin typeface="Arial Regular" panose="020B0704020202020204" charset="0"/>
              <a:ea typeface="Times New Roman" panose="02020603050405020304"/>
              <a:cs typeface="Arial Regular" panose="020B0704020202020204" charset="0"/>
              <a:sym typeface="Times New Roman" panose="02020603050405020304"/>
            </a:endParaRPr>
          </a:p>
          <a:p>
            <a:pPr marL="0" marR="0" lvl="0" indent="0" algn="just" rtl="0">
              <a:lnSpc>
                <a:spcPct val="100000"/>
              </a:lnSpc>
              <a:spcBef>
                <a:spcPts val="0"/>
              </a:spcBef>
              <a:spcAft>
                <a:spcPts val="0"/>
              </a:spcAft>
              <a:buNone/>
            </a:pPr>
            <a:endParaRPr lang="en-US" altLang="zh-CN" sz="3200" dirty="0">
              <a:solidFill>
                <a:srgbClr val="180620"/>
              </a:solidFill>
              <a:latin typeface="Arial Regular" panose="020B0704020202020204" charset="0"/>
              <a:ea typeface="Times New Roman" panose="02020603050405020304"/>
              <a:cs typeface="Arial Regular" panose="020B0704020202020204" charset="0"/>
              <a:sym typeface="Times New Roman" panose="02020603050405020304"/>
            </a:endParaRPr>
          </a:p>
          <a:p>
            <a:pPr marL="0" marR="0" lvl="0" indent="0" algn="just" rtl="0">
              <a:lnSpc>
                <a:spcPct val="100000"/>
              </a:lnSpc>
              <a:spcBef>
                <a:spcPts val="0"/>
              </a:spcBef>
              <a:spcAft>
                <a:spcPts val="0"/>
              </a:spcAft>
              <a:buNone/>
            </a:pPr>
            <a:r>
              <a:rPr sz="3200" b="0" i="0" u="none" strike="noStrike" cap="none">
                <a:solidFill>
                  <a:schemeClr val="dk1"/>
                </a:solidFill>
                <a:latin typeface="Arial Regular" panose="020B0704020202020204" charset="0"/>
                <a:ea typeface="Times New Roman" panose="02020603050405020304"/>
                <a:cs typeface="Arial Regular" panose="020B0704020202020204" charset="0"/>
                <a:sym typeface="Times New Roman" panose="02020603050405020304"/>
              </a:rPr>
              <a:t>HTML、CSS 和 JavaScript 协同工作，共同创建动态美观的网页。HTML 定义页面结构和内容，CSS 定义样式和布局，而 JavaScript 则添加交互性和附加功能。</a:t>
            </a:r>
            <a:endParaRPr sz="3200" b="0" i="0" u="none" strike="noStrike" cap="none">
              <a:solidFill>
                <a:schemeClr val="dk1"/>
              </a:solidFill>
              <a:latin typeface="Arial Regular" panose="020B0704020202020204" charset="0"/>
              <a:ea typeface="Times New Roman" panose="02020603050405020304"/>
              <a:cs typeface="Arial Regular" panose="020B0704020202020204" charset="0"/>
              <a:sym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25" name="Shape 125"/>
        <p:cNvGrpSpPr/>
        <p:nvPr/>
      </p:nvGrpSpPr>
      <p:grpSpPr>
        <a:xfrm>
          <a:off x="0" y="0"/>
          <a:ext cx="0" cy="0"/>
          <a:chOff x="0" y="0"/>
          <a:chExt cx="0" cy="0"/>
        </a:xfrm>
      </p:grpSpPr>
      <p:sp>
        <p:nvSpPr>
          <p:cNvPr id="126" name="Google Shape;126;p7"/>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27" name="Google Shape;127;p7"/>
          <p:cNvSpPr txBox="1"/>
          <p:nvPr/>
        </p:nvSpPr>
        <p:spPr>
          <a:xfrm>
            <a:off x="4338916" y="474345"/>
            <a:ext cx="7503600" cy="365633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400" b="0" i="0" u="none" strike="noStrike" cap="none">
                <a:solidFill>
                  <a:schemeClr val="dk1"/>
                </a:solidFill>
                <a:latin typeface="Arial Regular" panose="020B0704020202020204" charset="0"/>
                <a:ea typeface="Times New Roman" panose="02020603050405020304"/>
                <a:cs typeface="Arial Regular" panose="020B0704020202020204" charset="0"/>
                <a:sym typeface="Times New Roman" panose="02020603050405020304"/>
              </a:rPr>
              <a:t>Реализацию этих трех компонентов (HTML, CSS и JavaScript) можно выполнить в одном файле. Но на практике их выносят в отдельные с соответствующим расширением.</a:t>
            </a:r>
            <a:endParaRPr lang="en-US" sz="2400" b="0" i="0" u="none" strike="noStrike" cap="none">
              <a:solidFill>
                <a:schemeClr val="dk1"/>
              </a:solidFill>
              <a:latin typeface="Arial Regular" panose="020B0704020202020204" charset="0"/>
              <a:ea typeface="Times New Roman" panose="02020603050405020304"/>
              <a:cs typeface="Arial Regular" panose="020B0704020202020204" charset="0"/>
              <a:sym typeface="Times New Roman" panose="02020603050405020304"/>
            </a:endParaRPr>
          </a:p>
          <a:p>
            <a:pPr marL="0" marR="0" lvl="0" indent="0" algn="just" rtl="0">
              <a:lnSpc>
                <a:spcPct val="150000"/>
              </a:lnSpc>
              <a:spcBef>
                <a:spcPts val="0"/>
              </a:spcBef>
              <a:spcAft>
                <a:spcPts val="0"/>
              </a:spcAft>
              <a:buNone/>
            </a:pPr>
            <a:endParaRPr lang="zh-CN" altLang="en-US" sz="2400" dirty="0">
              <a:solidFill>
                <a:schemeClr val="dk1"/>
              </a:solidFill>
              <a:latin typeface="Arial Regular" panose="020B0704020202020204" charset="0"/>
              <a:ea typeface="Times New Roman" panose="02020603050405020304"/>
              <a:cs typeface="Arial Regular" panose="020B0704020202020204" charset="0"/>
              <a:sym typeface="Times New Roman" panose="02020603050405020304"/>
            </a:endParaRPr>
          </a:p>
          <a:p>
            <a:pPr marL="0" marR="0" lvl="0" indent="0" algn="just" rtl="0">
              <a:lnSpc>
                <a:spcPct val="150000"/>
              </a:lnSpc>
              <a:spcBef>
                <a:spcPts val="0"/>
              </a:spcBef>
              <a:spcAft>
                <a:spcPts val="0"/>
              </a:spcAft>
              <a:buNone/>
            </a:pPr>
            <a:r>
              <a:rPr sz="1800" b="0" i="0" u="none" strike="noStrike" cap="none">
                <a:solidFill>
                  <a:schemeClr val="dk1"/>
                </a:solidFill>
                <a:latin typeface="Calibri"/>
                <a:ea typeface="Calibri"/>
                <a:cs typeface="Calibri"/>
                <a:sym typeface="Calibri"/>
              </a:rPr>
              <a:t>这三个组件（HTML、CSS 和 JavaScript）的实现可以放在同一个文件中。但是，在实际应用中，它们通常放在具有相应扩展名的单独文件中。</a:t>
            </a:r>
            <a:endParaRPr sz="1800" b="0" i="0" u="none" strike="noStrike" cap="none">
              <a:solidFill>
                <a:schemeClr val="dk1"/>
              </a:solidFill>
              <a:latin typeface="Calibri"/>
              <a:ea typeface="Calibri"/>
              <a:cs typeface="Calibri"/>
              <a:sym typeface="Calibri"/>
            </a:endParaRPr>
          </a:p>
        </p:txBody>
      </p:sp>
      <p:pic>
        <p:nvPicPr>
          <p:cNvPr id="128" name="Google Shape;128;p7"/>
          <p:cNvPicPr preferRelativeResize="0"/>
          <p:nvPr/>
        </p:nvPicPr>
        <p:blipFill rotWithShape="1">
          <a:blip r:embed="rId1"/>
          <a:srcRect/>
          <a:stretch>
            <a:fillRect/>
          </a:stretch>
        </p:blipFill>
        <p:spPr>
          <a:xfrm>
            <a:off x="349625" y="1671032"/>
            <a:ext cx="3681202" cy="312148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32" name="Shape 132"/>
        <p:cNvGrpSpPr/>
        <p:nvPr/>
      </p:nvGrpSpPr>
      <p:grpSpPr>
        <a:xfrm>
          <a:off x="0" y="0"/>
          <a:ext cx="0" cy="0"/>
          <a:chOff x="0" y="0"/>
          <a:chExt cx="0" cy="0"/>
        </a:xfrm>
      </p:grpSpPr>
      <p:sp>
        <p:nvSpPr>
          <p:cNvPr id="133" name="Google Shape;133;g2979829d010_0_7"/>
          <p:cNvSpPr txBox="1"/>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34" name="Google Shape;134;g2979829d010_0_7"/>
          <p:cNvSpPr txBox="1"/>
          <p:nvPr/>
        </p:nvSpPr>
        <p:spPr>
          <a:xfrm>
            <a:off x="4338916" y="474345"/>
            <a:ext cx="7503600" cy="667385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400">
                <a:solidFill>
                  <a:schemeClr val="dk1"/>
                </a:solidFill>
                <a:latin typeface="Arial Regular" panose="020B0704020202020204" charset="0"/>
                <a:ea typeface="Times New Roman" panose="02020603050405020304"/>
                <a:cs typeface="Arial Regular" panose="020B0704020202020204" charset="0"/>
                <a:sym typeface="Times New Roman" panose="02020603050405020304"/>
              </a:rPr>
              <a:t>Для одной веб-страницы может использоваться несколько CSS и JavaScript файлов, а весь проект (даже небольшого размера) может содержать около ста различных файлов. </a:t>
            </a:r>
            <a:endParaRPr lang="en-US" sz="2400">
              <a:solidFill>
                <a:schemeClr val="dk1"/>
              </a:solidFill>
              <a:latin typeface="Arial Regular" panose="020B0704020202020204" charset="0"/>
              <a:ea typeface="Times New Roman" panose="02020603050405020304"/>
              <a:cs typeface="Arial Regular" panose="020B0704020202020204" charset="0"/>
              <a:sym typeface="Times New Roman" panose="02020603050405020304"/>
            </a:endParaRPr>
          </a:p>
          <a:p>
            <a:pPr marL="0" marR="0" lvl="0" indent="0" algn="just" rtl="0">
              <a:lnSpc>
                <a:spcPct val="150000"/>
              </a:lnSpc>
              <a:spcBef>
                <a:spcPts val="0"/>
              </a:spcBef>
              <a:spcAft>
                <a:spcPts val="0"/>
              </a:spcAft>
              <a:buNone/>
            </a:pPr>
            <a:endParaRPr lang="en-US" sz="2400">
              <a:solidFill>
                <a:schemeClr val="dk1"/>
              </a:solidFill>
              <a:latin typeface="Arial Regular" panose="020B0704020202020204" charset="0"/>
              <a:ea typeface="Times New Roman" panose="02020603050405020304"/>
              <a:cs typeface="Arial Regular" panose="020B0704020202020204" charset="0"/>
              <a:sym typeface="Times New Roman" panose="02020603050405020304"/>
            </a:endParaRPr>
          </a:p>
          <a:p>
            <a:pPr marL="0" marR="0" lvl="0" indent="0" algn="just" rtl="0">
              <a:lnSpc>
                <a:spcPct val="150000"/>
              </a:lnSpc>
              <a:spcBef>
                <a:spcPts val="0"/>
              </a:spcBef>
              <a:spcAft>
                <a:spcPts val="0"/>
              </a:spcAft>
              <a:buNone/>
            </a:pPr>
            <a:r>
              <a:rPr sz="3200">
                <a:solidFill>
                  <a:schemeClr val="dk1"/>
                </a:solidFill>
                <a:latin typeface="Arial Regular" panose="020B0704020202020204" charset="0"/>
                <a:ea typeface="Calibri"/>
                <a:cs typeface="Arial Regular" panose="020B0704020202020204" charset="0"/>
                <a:sym typeface="Calibri"/>
              </a:rPr>
              <a:t>一个网页可能使用多个 CSS 和 JavaScript 文件，整个项目（即使是小项目）也可能包含大约一百个不同的文件。</a:t>
            </a:r>
            <a:endParaRPr sz="3200">
              <a:solidFill>
                <a:schemeClr val="dk1"/>
              </a:solidFill>
              <a:latin typeface="Arial Regular" panose="020B0704020202020204" charset="0"/>
              <a:ea typeface="Calibri"/>
              <a:cs typeface="Arial Regular" panose="020B0704020202020204" charset="0"/>
              <a:sym typeface="Calibri"/>
            </a:endParaRPr>
          </a:p>
          <a:p>
            <a:pPr marL="0" lvl="0" indent="0" algn="just" rtl="0">
              <a:lnSpc>
                <a:spcPct val="150000"/>
              </a:lnSpc>
              <a:spcBef>
                <a:spcPts val="0"/>
              </a:spcBef>
              <a:spcAft>
                <a:spcPts val="0"/>
              </a:spcAft>
              <a:buClr>
                <a:schemeClr val="dk1"/>
              </a:buClr>
              <a:buFont typeface="Arial" panose="020B0704020202020204" pitchFamily="34" charset="0"/>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1800">
              <a:solidFill>
                <a:schemeClr val="dk1"/>
              </a:solidFill>
              <a:latin typeface="Calibri"/>
              <a:ea typeface="Calibri"/>
              <a:cs typeface="Calibri"/>
              <a:sym typeface="Calibri"/>
            </a:endParaRPr>
          </a:p>
          <a:p>
            <a:pPr marL="0" marR="0" lvl="0" indent="0" algn="just" rtl="0">
              <a:lnSpc>
                <a:spcPct val="150000"/>
              </a:lnSpc>
              <a:spcBef>
                <a:spcPts val="0"/>
              </a:spcBef>
              <a:spcAft>
                <a:spcPts val="0"/>
              </a:spcAft>
              <a:buNone/>
            </a:pP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50000"/>
              </a:lnSpc>
              <a:spcBef>
                <a:spcPts val="0"/>
              </a:spcBef>
              <a:spcAft>
                <a:spcPts val="0"/>
              </a:spcAft>
              <a:buNone/>
            </a:pPr>
            <a:r>
              <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Calibri"/>
              <a:ea typeface="Calibri"/>
              <a:cs typeface="Calibri"/>
              <a:sym typeface="Calibri"/>
            </a:endParaRPr>
          </a:p>
        </p:txBody>
      </p:sp>
      <p:pic>
        <p:nvPicPr>
          <p:cNvPr id="135" name="Google Shape;135;g2979829d010_0_7"/>
          <p:cNvPicPr preferRelativeResize="0"/>
          <p:nvPr/>
        </p:nvPicPr>
        <p:blipFill rotWithShape="1">
          <a:blip r:embed="rId1"/>
          <a:srcRect/>
          <a:stretch>
            <a:fillRect/>
          </a:stretch>
        </p:blipFill>
        <p:spPr>
          <a:xfrm>
            <a:off x="349625" y="1671032"/>
            <a:ext cx="3681203" cy="312148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p:nvPr>
            <p:ph type="sldNum" sz="quarter" idx="12"/>
          </p:nvPr>
        </p:nvSpPr>
        <p:spPr/>
        <p:txBody>
          <a:bodyPr/>
          <a:p>
            <a:fld id="{9B618960-8005-486C-9A75-10CB2AAC16F9}" type="slidenum">
              <a:rPr lang="en-US" smtClean="0"/>
            </a:fld>
            <a:endParaRPr lang="en-US"/>
          </a:p>
        </p:txBody>
      </p:sp>
      <p:sp>
        <p:nvSpPr>
          <p:cNvPr id="3" name="Text Box 2"/>
          <p:cNvSpPr txBox="1"/>
          <p:nvPr/>
        </p:nvSpPr>
        <p:spPr>
          <a:xfrm>
            <a:off x="510540" y="495935"/>
            <a:ext cx="4526280" cy="1076325"/>
          </a:xfrm>
          <a:prstGeom prst="rect">
            <a:avLst/>
          </a:prstGeom>
          <a:noFill/>
        </p:spPr>
        <p:txBody>
          <a:bodyPr wrap="square" rtlCol="0">
            <a:spAutoFit/>
          </a:bodyPr>
          <a:p>
            <a:r>
              <a:rPr lang="ru-RU" altLang="en-US" sz="3200">
                <a:latin typeface="Times New Roman" panose="02020603050405020304"/>
                <a:cs typeface="Times New Roman" panose="02020603050405020304"/>
              </a:rPr>
              <a:t>Вспомним основные теги </a:t>
            </a:r>
            <a:r>
              <a:rPr lang="en-US" altLang="ru-RU" sz="3200">
                <a:latin typeface="Times New Roman" panose="02020603050405020304"/>
                <a:cs typeface="Times New Roman" panose="02020603050405020304"/>
              </a:rPr>
              <a:t>HTML</a:t>
            </a:r>
            <a:endParaRPr lang="en-US" altLang="ru-RU" sz="3200">
              <a:latin typeface="Times New Roman" panose="02020603050405020304"/>
              <a:cs typeface="Times New Roman" panose="02020603050405020304"/>
            </a:endParaRPr>
          </a:p>
        </p:txBody>
      </p:sp>
      <p:sp>
        <p:nvSpPr>
          <p:cNvPr id="4" name="Text Box 3"/>
          <p:cNvSpPr txBox="1"/>
          <p:nvPr/>
        </p:nvSpPr>
        <p:spPr>
          <a:xfrm>
            <a:off x="510540" y="2027555"/>
            <a:ext cx="5080000" cy="3415030"/>
          </a:xfrm>
          <a:prstGeom prst="rect">
            <a:avLst/>
          </a:prstGeom>
        </p:spPr>
        <p:txBody>
          <a:bodyPr>
            <a:spAutoFit/>
          </a:bodyPr>
          <a:p>
            <a:r>
              <a:rPr sz="2400">
                <a:latin typeface="Times New Roman" panose="02020603050405020304"/>
                <a:cs typeface="Times New Roman" panose="02020603050405020304"/>
              </a:rPr>
              <a:t>Теги HTML — это специальные элементы разметки, с помощью которых создаётся структура веб-страницы.</a:t>
            </a:r>
            <a:endParaRPr sz="2400">
              <a:latin typeface="Times New Roman" panose="02020603050405020304"/>
              <a:cs typeface="Times New Roman" panose="02020603050405020304"/>
            </a:endParaRPr>
          </a:p>
          <a:p>
            <a:endParaRPr sz="2400">
              <a:latin typeface="Times New Roman" panose="02020603050405020304"/>
              <a:cs typeface="Times New Roman" panose="02020603050405020304"/>
            </a:endParaRPr>
          </a:p>
          <a:p>
            <a:r>
              <a:rPr sz="2400">
                <a:latin typeface="Times New Roman" panose="02020603050405020304"/>
                <a:cs typeface="Times New Roman" panose="02020603050405020304"/>
              </a:rPr>
              <a:t>Они показывают браузеру, что именно нужно отображать: текст, изображение, ссылку, кнопку, таблицу и т.д.</a:t>
            </a:r>
            <a:endParaRPr sz="2400">
              <a:latin typeface="Times New Roman" panose="02020603050405020304"/>
              <a:cs typeface="Times New Roman" panose="02020603050405020304"/>
            </a:endParaRPr>
          </a:p>
        </p:txBody>
      </p:sp>
      <p:sp>
        <p:nvSpPr>
          <p:cNvPr id="5" name="文本框 4"/>
          <p:cNvSpPr txBox="1"/>
          <p:nvPr/>
        </p:nvSpPr>
        <p:spPr>
          <a:xfrm>
            <a:off x="5709285" y="2286000"/>
            <a:ext cx="3739515" cy="3505200"/>
          </a:xfrm>
          <a:prstGeom prst="rect">
            <a:avLst/>
          </a:prstGeom>
          <a:noFill/>
        </p:spPr>
        <p:txBody>
          <a:bodyPr vert="horz" wrap="square" rtlCol="0">
            <a:noAutofit/>
          </a:bodyPr>
          <a:p>
            <a:pPr indent="0" algn="l">
              <a:lnSpc>
                <a:spcPct val="100000"/>
              </a:lnSpc>
              <a:buNone/>
            </a:pPr>
            <a:r>
              <a:rPr lang="zh-CN" altLang="en-US" sz="2400">
                <a:latin typeface="Calibri"/>
              </a:rPr>
              <a:t>HTML标签是用于创建网页结构的特殊标记元素。它们告诉浏览器应该显示什么内容：文本、图像、链接、按钮、表格等等。</a:t>
            </a:r>
            <a:endParaRPr lang="zh-CN" altLang="en-US" sz="2400">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510540" y="495935"/>
            <a:ext cx="4526280" cy="1076325"/>
          </a:xfrm>
          <a:prstGeom prst="rect">
            <a:avLst/>
          </a:prstGeom>
          <a:noFill/>
        </p:spPr>
        <p:txBody>
          <a:bodyPr wrap="square" rtlCol="0">
            <a:spAutoFit/>
          </a:bodyPr>
          <a:p>
            <a:r>
              <a:rPr lang="ru-RU" altLang="en-US" sz="3200">
                <a:latin typeface="Times New Roman" panose="02020603050405020304"/>
                <a:cs typeface="Times New Roman" panose="02020603050405020304"/>
              </a:rPr>
              <a:t>Вспомним основные теги </a:t>
            </a:r>
            <a:r>
              <a:rPr lang="en-US" altLang="ru-RU" sz="3200">
                <a:latin typeface="Times New Roman" panose="02020603050405020304"/>
                <a:cs typeface="Times New Roman" panose="02020603050405020304"/>
              </a:rPr>
              <a:t>HTML</a:t>
            </a:r>
            <a:endParaRPr lang="en-US" altLang="ru-RU" sz="3200">
              <a:latin typeface="Times New Roman" panose="02020603050405020304"/>
              <a:cs typeface="Times New Roman" panose="02020603050405020304"/>
            </a:endParaRPr>
          </a:p>
        </p:txBody>
      </p:sp>
      <p:sp>
        <p:nvSpPr>
          <p:cNvPr id="6" name="Text Box 5"/>
          <p:cNvSpPr txBox="1"/>
          <p:nvPr/>
        </p:nvSpPr>
        <p:spPr>
          <a:xfrm>
            <a:off x="510540" y="2199640"/>
            <a:ext cx="5080000" cy="2183130"/>
          </a:xfrm>
          <a:prstGeom prst="rect">
            <a:avLst/>
          </a:prstGeom>
        </p:spPr>
        <p:txBody>
          <a:bodyPr>
            <a:spAutoFit/>
          </a:bodyPr>
          <a:p>
            <a:pPr>
              <a:spcAft>
                <a:spcPct val="60000"/>
              </a:spcAft>
            </a:pPr>
            <a:r>
              <a:rPr sz="2400">
                <a:latin typeface="Times New Roman" panose="02020603050405020304"/>
                <a:cs typeface="Times New Roman" panose="02020603050405020304"/>
              </a:rPr>
              <a:t>Структура документа</a:t>
            </a:r>
            <a:endParaRPr sz="2400">
              <a:latin typeface="Times New Roman" panose="02020603050405020304"/>
              <a:cs typeface="Times New Roman" panose="02020603050405020304"/>
            </a:endParaRPr>
          </a:p>
          <a:p>
            <a:pPr indent="0">
              <a:buFont typeface="Arial" panose="020B0704020202020204" pitchFamily="34" charset="0"/>
              <a:buNone/>
            </a:pPr>
            <a:r>
              <a:rPr sz="2400" b="1">
                <a:latin typeface="Times New Roman" panose="02020603050405020304"/>
                <a:cs typeface="Times New Roman" panose="02020603050405020304"/>
              </a:rPr>
              <a:t>&lt;html&gt;</a:t>
            </a:r>
            <a:r>
              <a:rPr sz="2400">
                <a:latin typeface="Times New Roman" panose="02020603050405020304"/>
                <a:cs typeface="Times New Roman" panose="02020603050405020304"/>
              </a:rPr>
              <a:t> — корневой элемент.</a:t>
            </a:r>
            <a:endParaRPr sz="2400">
              <a:latin typeface="Times New Roman" panose="02020603050405020304"/>
              <a:cs typeface="Times New Roman" panose="02020603050405020304"/>
            </a:endParaRPr>
          </a:p>
          <a:p>
            <a:pPr indent="0">
              <a:buFont typeface="Arial" panose="020B0704020202020204" pitchFamily="34" charset="0"/>
              <a:buNone/>
            </a:pPr>
            <a:r>
              <a:rPr sz="2400" b="1">
                <a:latin typeface="Times New Roman" panose="02020603050405020304"/>
                <a:cs typeface="Times New Roman" panose="02020603050405020304"/>
              </a:rPr>
              <a:t>&lt;head&gt;</a:t>
            </a:r>
            <a:r>
              <a:rPr sz="2400">
                <a:latin typeface="Times New Roman" panose="02020603050405020304"/>
                <a:cs typeface="Times New Roman" panose="02020603050405020304"/>
              </a:rPr>
              <a:t> — метаданные документа (не отображаются на странице).</a:t>
            </a:r>
            <a:endParaRPr sz="2400">
              <a:latin typeface="Times New Roman" panose="02020603050405020304"/>
              <a:cs typeface="Times New Roman" panose="02020603050405020304"/>
            </a:endParaRPr>
          </a:p>
          <a:p>
            <a:pPr indent="0">
              <a:buFont typeface="Arial" panose="020B0704020202020204" pitchFamily="34" charset="0"/>
              <a:buNone/>
            </a:pPr>
            <a:r>
              <a:rPr sz="2400" b="1">
                <a:latin typeface="Times New Roman" panose="02020603050405020304"/>
                <a:cs typeface="Times New Roman" panose="02020603050405020304"/>
              </a:rPr>
              <a:t>&lt;body&gt;</a:t>
            </a:r>
            <a:r>
              <a:rPr sz="2400">
                <a:latin typeface="Times New Roman" panose="02020603050405020304"/>
                <a:cs typeface="Times New Roman" panose="02020603050405020304"/>
              </a:rPr>
              <a:t> — содержимое страницы.</a:t>
            </a:r>
            <a:endParaRPr sz="2400">
              <a:latin typeface="Times New Roman" panose="02020603050405020304"/>
              <a:cs typeface="Times New Roman" panose="02020603050405020304"/>
            </a:endParaRPr>
          </a:p>
        </p:txBody>
      </p:sp>
      <p:sp>
        <p:nvSpPr>
          <p:cNvPr id="3" name="文本框 2"/>
          <p:cNvSpPr txBox="1"/>
          <p:nvPr/>
        </p:nvSpPr>
        <p:spPr>
          <a:xfrm>
            <a:off x="5864860" y="2286000"/>
            <a:ext cx="3583940" cy="2686050"/>
          </a:xfrm>
          <a:prstGeom prst="rect">
            <a:avLst/>
          </a:prstGeom>
          <a:noFill/>
        </p:spPr>
        <p:txBody>
          <a:bodyPr vert="horz" wrap="square" rtlCol="0">
            <a:noAutofit/>
          </a:bodyPr>
          <a:p>
            <a:pPr indent="0" algn="l">
              <a:lnSpc>
                <a:spcPct val="100000"/>
              </a:lnSpc>
              <a:buNone/>
            </a:pPr>
            <a:r>
              <a:rPr lang="zh-CN" altLang="en-US" sz="2400">
                <a:latin typeface="Calibri"/>
              </a:rPr>
              <a:t>文档结构中，&lt;html&gt; 是根元素。&lt;head&gt; 是文档元数据（不会显示在页面上）。&lt;body&gt; 是页面内容。</a:t>
            </a:r>
            <a:endParaRPr lang="zh-CN" altLang="en-US" sz="2400">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510540" y="495935"/>
            <a:ext cx="4526280" cy="1076325"/>
          </a:xfrm>
          <a:prstGeom prst="rect">
            <a:avLst/>
          </a:prstGeom>
          <a:noFill/>
        </p:spPr>
        <p:txBody>
          <a:bodyPr wrap="square" rtlCol="0">
            <a:spAutoFit/>
          </a:bodyPr>
          <a:p>
            <a:r>
              <a:rPr lang="ru-RU" altLang="en-US" sz="3200">
                <a:latin typeface="Times New Roman" panose="02020603050405020304"/>
                <a:cs typeface="Times New Roman" panose="02020603050405020304"/>
              </a:rPr>
              <a:t>Вспомним основные теги </a:t>
            </a:r>
            <a:r>
              <a:rPr lang="en-US" altLang="ru-RU" sz="3200">
                <a:latin typeface="Times New Roman" panose="02020603050405020304"/>
                <a:cs typeface="Times New Roman" panose="02020603050405020304"/>
              </a:rPr>
              <a:t>HTML</a:t>
            </a:r>
            <a:endParaRPr lang="en-US" altLang="ru-RU" sz="3200">
              <a:latin typeface="Times New Roman" panose="02020603050405020304"/>
              <a:cs typeface="Times New Roman" panose="02020603050405020304"/>
            </a:endParaRPr>
          </a:p>
        </p:txBody>
      </p:sp>
      <p:sp>
        <p:nvSpPr>
          <p:cNvPr id="6" name="Text Box 5"/>
          <p:cNvSpPr txBox="1"/>
          <p:nvPr/>
        </p:nvSpPr>
        <p:spPr>
          <a:xfrm>
            <a:off x="510540" y="2199640"/>
            <a:ext cx="5939155" cy="2922270"/>
          </a:xfrm>
          <a:prstGeom prst="rect">
            <a:avLst/>
          </a:prstGeom>
        </p:spPr>
        <p:txBody>
          <a:bodyPr wrap="square">
            <a:spAutoFit/>
          </a:bodyPr>
          <a:p>
            <a:pPr>
              <a:spcAft>
                <a:spcPct val="60000"/>
              </a:spcAft>
            </a:pPr>
            <a:r>
              <a:rPr lang="en-US" altLang="en-US" sz="2400">
                <a:latin typeface="Times New Roman" panose="02020603050405020304"/>
                <a:cs typeface="Times New Roman" panose="02020603050405020304"/>
              </a:rPr>
              <a:t>Заголовки и текст</a:t>
            </a:r>
            <a:endParaRPr lang="en-US" altLang="en-US" sz="2400">
              <a:latin typeface="Times New Roman" panose="02020603050405020304"/>
              <a:cs typeface="Times New Roman" panose="02020603050405020304"/>
            </a:endParaRPr>
          </a:p>
          <a:p>
            <a:pPr>
              <a:lnSpc>
                <a:spcPct val="100000"/>
              </a:lnSpc>
              <a:spcBef>
                <a:spcPts val="0"/>
              </a:spcBef>
              <a:spcAft>
                <a:spcPts val="0"/>
              </a:spcAft>
            </a:pPr>
            <a:r>
              <a:rPr lang="en-US" altLang="en-US" sz="2400" b="1">
                <a:latin typeface="Times New Roman" panose="02020603050405020304"/>
                <a:cs typeface="Times New Roman" panose="02020603050405020304"/>
              </a:rPr>
              <a:t>&lt;h1&gt;–&lt;h6&gt; </a:t>
            </a:r>
            <a:r>
              <a:rPr lang="en-US" altLang="en-US" sz="2400">
                <a:latin typeface="Times New Roman" panose="02020603050405020304"/>
                <a:cs typeface="Times New Roman" panose="02020603050405020304"/>
              </a:rPr>
              <a:t>— заголовки разных уровней.</a:t>
            </a:r>
            <a:endParaRPr lang="en-US" altLang="en-US" sz="2400">
              <a:latin typeface="Times New Roman" panose="02020603050405020304"/>
              <a:cs typeface="Times New Roman" panose="02020603050405020304"/>
            </a:endParaRPr>
          </a:p>
          <a:p>
            <a:pPr>
              <a:lnSpc>
                <a:spcPct val="100000"/>
              </a:lnSpc>
              <a:spcBef>
                <a:spcPts val="0"/>
              </a:spcBef>
              <a:spcAft>
                <a:spcPts val="0"/>
              </a:spcAft>
            </a:pPr>
            <a:r>
              <a:rPr lang="en-US" altLang="en-US" sz="2400" b="1">
                <a:latin typeface="Times New Roman" panose="02020603050405020304"/>
                <a:cs typeface="Times New Roman" panose="02020603050405020304"/>
              </a:rPr>
              <a:t>&lt;p&gt;</a:t>
            </a:r>
            <a:r>
              <a:rPr lang="en-US" altLang="en-US" sz="2400">
                <a:latin typeface="Times New Roman" panose="02020603050405020304"/>
                <a:cs typeface="Times New Roman" panose="02020603050405020304"/>
              </a:rPr>
              <a:t> — абзац.</a:t>
            </a:r>
            <a:endParaRPr lang="en-US" altLang="en-US" sz="2400">
              <a:latin typeface="Times New Roman" panose="02020603050405020304"/>
              <a:cs typeface="Times New Roman" panose="02020603050405020304"/>
            </a:endParaRPr>
          </a:p>
          <a:p>
            <a:pPr>
              <a:lnSpc>
                <a:spcPct val="100000"/>
              </a:lnSpc>
              <a:spcBef>
                <a:spcPts val="0"/>
              </a:spcBef>
              <a:spcAft>
                <a:spcPts val="0"/>
              </a:spcAft>
            </a:pPr>
            <a:r>
              <a:rPr lang="en-US" altLang="en-US" sz="2400" b="1">
                <a:latin typeface="Times New Roman" panose="02020603050405020304"/>
                <a:cs typeface="Times New Roman" panose="02020603050405020304"/>
              </a:rPr>
              <a:t>&lt;br&gt;</a:t>
            </a:r>
            <a:r>
              <a:rPr lang="en-US" altLang="en-US" sz="2400">
                <a:latin typeface="Times New Roman" panose="02020603050405020304"/>
                <a:cs typeface="Times New Roman" panose="02020603050405020304"/>
              </a:rPr>
              <a:t> — перенос строки.</a:t>
            </a:r>
            <a:endParaRPr lang="en-US" altLang="en-US" sz="2400">
              <a:latin typeface="Times New Roman" panose="02020603050405020304"/>
              <a:cs typeface="Times New Roman" panose="02020603050405020304"/>
            </a:endParaRPr>
          </a:p>
          <a:p>
            <a:pPr>
              <a:lnSpc>
                <a:spcPct val="100000"/>
              </a:lnSpc>
              <a:spcBef>
                <a:spcPts val="0"/>
              </a:spcBef>
              <a:spcAft>
                <a:spcPts val="0"/>
              </a:spcAft>
            </a:pPr>
            <a:r>
              <a:rPr lang="en-US" altLang="en-US" sz="2400" b="1">
                <a:latin typeface="Times New Roman" panose="02020603050405020304"/>
                <a:cs typeface="Times New Roman" panose="02020603050405020304"/>
              </a:rPr>
              <a:t>&lt;hr&gt; </a:t>
            </a:r>
            <a:r>
              <a:rPr lang="en-US" altLang="en-US" sz="2400">
                <a:latin typeface="Times New Roman" panose="02020603050405020304"/>
                <a:cs typeface="Times New Roman" panose="02020603050405020304"/>
              </a:rPr>
              <a:t>— горизонтальная линия.</a:t>
            </a:r>
            <a:endParaRPr lang="en-US" altLang="en-US" sz="2400">
              <a:latin typeface="Times New Roman" panose="02020603050405020304"/>
              <a:cs typeface="Times New Roman" panose="02020603050405020304"/>
            </a:endParaRPr>
          </a:p>
          <a:p>
            <a:pPr>
              <a:lnSpc>
                <a:spcPct val="100000"/>
              </a:lnSpc>
              <a:spcBef>
                <a:spcPts val="0"/>
              </a:spcBef>
              <a:spcAft>
                <a:spcPts val="0"/>
              </a:spcAft>
            </a:pPr>
            <a:r>
              <a:rPr lang="en-US" altLang="en-US" sz="2400" b="1">
                <a:latin typeface="Times New Roman" panose="02020603050405020304"/>
                <a:cs typeface="Times New Roman" panose="02020603050405020304"/>
              </a:rPr>
              <a:t>&lt;span&gt;</a:t>
            </a:r>
            <a:r>
              <a:rPr lang="en-US" altLang="en-US" sz="2400">
                <a:latin typeface="Times New Roman" panose="02020603050405020304"/>
                <a:cs typeface="Times New Roman" panose="02020603050405020304"/>
              </a:rPr>
              <a:t> — строчный элемент для текста.</a:t>
            </a:r>
            <a:endParaRPr lang="en-US" altLang="en-US" sz="2400">
              <a:latin typeface="Times New Roman" panose="02020603050405020304"/>
              <a:cs typeface="Times New Roman" panose="02020603050405020304"/>
            </a:endParaRPr>
          </a:p>
          <a:p>
            <a:pPr>
              <a:lnSpc>
                <a:spcPct val="100000"/>
              </a:lnSpc>
              <a:spcBef>
                <a:spcPts val="0"/>
              </a:spcBef>
              <a:spcAft>
                <a:spcPts val="0"/>
              </a:spcAft>
            </a:pPr>
            <a:r>
              <a:rPr lang="en-US" altLang="en-US" sz="2400" b="1">
                <a:latin typeface="Times New Roman" panose="02020603050405020304"/>
                <a:cs typeface="Times New Roman" panose="02020603050405020304"/>
              </a:rPr>
              <a:t>&lt;div&gt;</a:t>
            </a:r>
            <a:r>
              <a:rPr lang="en-US" altLang="en-US" sz="2400">
                <a:latin typeface="Times New Roman" panose="02020603050405020304"/>
                <a:cs typeface="Times New Roman" panose="02020603050405020304"/>
              </a:rPr>
              <a:t> — блочный контейнер.</a:t>
            </a:r>
            <a:endParaRPr lang="en-US" altLang="en-US" sz="2400">
              <a:latin typeface="Times New Roman" panose="02020603050405020304"/>
              <a:cs typeface="Times New Roman" panose="02020603050405020304"/>
            </a:endParaRPr>
          </a:p>
        </p:txBody>
      </p:sp>
      <p:sp>
        <p:nvSpPr>
          <p:cNvPr id="3" name="文本框 2"/>
          <p:cNvSpPr txBox="1"/>
          <p:nvPr/>
        </p:nvSpPr>
        <p:spPr>
          <a:xfrm>
            <a:off x="6444615" y="2286000"/>
            <a:ext cx="4644390" cy="3166110"/>
          </a:xfrm>
          <a:prstGeom prst="rect">
            <a:avLst/>
          </a:prstGeom>
          <a:noFill/>
        </p:spPr>
        <p:txBody>
          <a:bodyPr vert="horz" wrap="square" rtlCol="0">
            <a:noAutofit/>
          </a:bodyPr>
          <a:p>
            <a:pPr indent="0" algn="l">
              <a:lnSpc>
                <a:spcPct val="100000"/>
              </a:lnSpc>
              <a:buNone/>
            </a:pPr>
            <a:r>
              <a:rPr lang="zh-CN" altLang="en-US" sz="2400">
                <a:latin typeface="Calibri"/>
              </a:rPr>
              <a:t>标题和正文 </a:t>
            </a:r>
            <a:endParaRPr lang="zh-CN" altLang="en-US" sz="2400">
              <a:latin typeface="Calibri"/>
            </a:endParaRPr>
          </a:p>
          <a:p>
            <a:pPr indent="0" algn="l">
              <a:lnSpc>
                <a:spcPct val="100000"/>
              </a:lnSpc>
              <a:buNone/>
            </a:pPr>
            <a:endParaRPr lang="zh-CN" altLang="en-US" sz="2400">
              <a:latin typeface="Calibri"/>
            </a:endParaRPr>
          </a:p>
          <a:p>
            <a:pPr indent="0" algn="l">
              <a:lnSpc>
                <a:spcPct val="100000"/>
              </a:lnSpc>
              <a:buNone/>
            </a:pPr>
            <a:r>
              <a:rPr lang="zh-CN" altLang="en-US" sz="2400">
                <a:latin typeface="Calibri"/>
              </a:rPr>
              <a:t>&lt;h1&gt;–&lt;h6&gt; — 不同级别的标题。&lt;p&gt; — 段落。</a:t>
            </a:r>
            <a:endParaRPr lang="zh-CN" altLang="en-US" sz="2400">
              <a:latin typeface="Calibri"/>
            </a:endParaRPr>
          </a:p>
          <a:p>
            <a:pPr indent="0" algn="l">
              <a:lnSpc>
                <a:spcPct val="100000"/>
              </a:lnSpc>
              <a:buNone/>
            </a:pPr>
            <a:r>
              <a:rPr lang="zh-CN" altLang="en-US" sz="2400">
                <a:latin typeface="Calibri"/>
              </a:rPr>
              <a:t>&lt;br&gt; — 换行符。</a:t>
            </a:r>
            <a:endParaRPr lang="zh-CN" altLang="en-US" sz="2400">
              <a:latin typeface="Calibri"/>
            </a:endParaRPr>
          </a:p>
          <a:p>
            <a:pPr indent="0" algn="l">
              <a:lnSpc>
                <a:spcPct val="100000"/>
              </a:lnSpc>
              <a:buNone/>
            </a:pPr>
            <a:r>
              <a:rPr lang="zh-CN" altLang="en-US" sz="2400">
                <a:latin typeface="Calibri"/>
              </a:rPr>
              <a:t>&lt;hr&gt; — 水平线。</a:t>
            </a:r>
            <a:endParaRPr lang="zh-CN" altLang="en-US" sz="2400">
              <a:latin typeface="Calibri"/>
            </a:endParaRPr>
          </a:p>
          <a:p>
            <a:pPr indent="0" algn="l">
              <a:lnSpc>
                <a:spcPct val="100000"/>
              </a:lnSpc>
              <a:buNone/>
            </a:pPr>
            <a:r>
              <a:rPr lang="zh-CN" altLang="en-US" sz="2400">
                <a:latin typeface="Calibri"/>
              </a:rPr>
              <a:t>&lt;span&gt; — 行内文本元素。&lt;div&gt; — 块级容器。</a:t>
            </a:r>
            <a:endParaRPr lang="zh-CN" altLang="en-US" sz="2400">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510540" y="495935"/>
            <a:ext cx="4526280" cy="1076325"/>
          </a:xfrm>
          <a:prstGeom prst="rect">
            <a:avLst/>
          </a:prstGeom>
          <a:noFill/>
        </p:spPr>
        <p:txBody>
          <a:bodyPr wrap="square" rtlCol="0">
            <a:spAutoFit/>
          </a:bodyPr>
          <a:p>
            <a:r>
              <a:rPr lang="ru-RU" altLang="en-US" sz="3200">
                <a:latin typeface="Times New Roman" panose="02020603050405020304"/>
                <a:cs typeface="Times New Roman" panose="02020603050405020304"/>
              </a:rPr>
              <a:t>Вспомним основные теги </a:t>
            </a:r>
            <a:r>
              <a:rPr lang="en-US" altLang="ru-RU" sz="3200">
                <a:latin typeface="Times New Roman" panose="02020603050405020304"/>
                <a:cs typeface="Times New Roman" panose="02020603050405020304"/>
              </a:rPr>
              <a:t>HTML</a:t>
            </a:r>
            <a:endParaRPr lang="en-US" altLang="ru-RU" sz="3200">
              <a:latin typeface="Times New Roman" panose="02020603050405020304"/>
              <a:cs typeface="Times New Roman" panose="02020603050405020304"/>
            </a:endParaRPr>
          </a:p>
        </p:txBody>
      </p:sp>
      <p:sp>
        <p:nvSpPr>
          <p:cNvPr id="6" name="Text Box 5"/>
          <p:cNvSpPr txBox="1"/>
          <p:nvPr/>
        </p:nvSpPr>
        <p:spPr>
          <a:xfrm>
            <a:off x="510540" y="2199640"/>
            <a:ext cx="5939155" cy="3046095"/>
          </a:xfrm>
          <a:prstGeom prst="rect">
            <a:avLst/>
          </a:prstGeom>
        </p:spPr>
        <p:txBody>
          <a:bodyPr wrap="square">
            <a:spAutoFit/>
          </a:bodyPr>
          <a:p>
            <a:pPr>
              <a:lnSpc>
                <a:spcPct val="100000"/>
              </a:lnSpc>
              <a:spcBef>
                <a:spcPts val="0"/>
              </a:spcBef>
              <a:spcAft>
                <a:spcPts val="0"/>
              </a:spcAft>
            </a:pPr>
            <a:r>
              <a:rPr lang="en-US" altLang="en-US" sz="2400">
                <a:latin typeface="Times New Roman" panose="02020603050405020304"/>
                <a:cs typeface="Times New Roman" panose="02020603050405020304"/>
              </a:rPr>
              <a:t>Форматирование текста</a:t>
            </a:r>
            <a:endParaRPr lang="en-US" altLang="en-US" sz="2400">
              <a:latin typeface="Times New Roman" panose="02020603050405020304"/>
              <a:cs typeface="Times New Roman" panose="02020603050405020304"/>
            </a:endParaRPr>
          </a:p>
          <a:p>
            <a:pPr>
              <a:lnSpc>
                <a:spcPct val="100000"/>
              </a:lnSpc>
              <a:spcBef>
                <a:spcPts val="0"/>
              </a:spcBef>
              <a:spcAft>
                <a:spcPts val="0"/>
              </a:spcAft>
            </a:pPr>
            <a:endParaRPr lang="en-US" altLang="en-US" sz="2400">
              <a:latin typeface="Times New Roman" panose="02020603050405020304"/>
              <a:cs typeface="Times New Roman" panose="02020603050405020304"/>
            </a:endParaRPr>
          </a:p>
          <a:p>
            <a:pPr>
              <a:lnSpc>
                <a:spcPct val="100000"/>
              </a:lnSpc>
              <a:spcBef>
                <a:spcPts val="0"/>
              </a:spcBef>
              <a:spcAft>
                <a:spcPts val="0"/>
              </a:spcAft>
            </a:pPr>
            <a:r>
              <a:rPr lang="en-US" altLang="en-US" sz="2400" b="1">
                <a:latin typeface="Times New Roman" panose="02020603050405020304"/>
                <a:cs typeface="Times New Roman" panose="02020603050405020304"/>
              </a:rPr>
              <a:t>&lt;b&gt;</a:t>
            </a:r>
            <a:r>
              <a:rPr lang="en-US" altLang="en-US" sz="2400">
                <a:latin typeface="Times New Roman" panose="02020603050405020304"/>
                <a:cs typeface="Times New Roman" panose="02020603050405020304"/>
              </a:rPr>
              <a:t> — жирный.</a:t>
            </a:r>
            <a:endParaRPr lang="en-US" altLang="en-US" sz="2400">
              <a:latin typeface="Times New Roman" panose="02020603050405020304"/>
              <a:cs typeface="Times New Roman" panose="02020603050405020304"/>
            </a:endParaRPr>
          </a:p>
          <a:p>
            <a:pPr>
              <a:lnSpc>
                <a:spcPct val="100000"/>
              </a:lnSpc>
              <a:spcBef>
                <a:spcPts val="0"/>
              </a:spcBef>
              <a:spcAft>
                <a:spcPts val="0"/>
              </a:spcAft>
            </a:pPr>
            <a:r>
              <a:rPr lang="en-US" altLang="en-US" sz="2400" b="1">
                <a:latin typeface="Times New Roman" panose="02020603050405020304"/>
                <a:cs typeface="Times New Roman" panose="02020603050405020304"/>
              </a:rPr>
              <a:t>&lt;i&gt;</a:t>
            </a:r>
            <a:r>
              <a:rPr lang="en-US" altLang="en-US" sz="2400">
                <a:latin typeface="Times New Roman" panose="02020603050405020304"/>
                <a:cs typeface="Times New Roman" panose="02020603050405020304"/>
              </a:rPr>
              <a:t> — курсив.</a:t>
            </a:r>
            <a:endParaRPr lang="en-US" altLang="en-US" sz="2400">
              <a:latin typeface="Times New Roman" panose="02020603050405020304"/>
              <a:cs typeface="Times New Roman" panose="02020603050405020304"/>
            </a:endParaRPr>
          </a:p>
          <a:p>
            <a:pPr>
              <a:lnSpc>
                <a:spcPct val="100000"/>
              </a:lnSpc>
              <a:spcBef>
                <a:spcPts val="0"/>
              </a:spcBef>
              <a:spcAft>
                <a:spcPts val="0"/>
              </a:spcAft>
            </a:pPr>
            <a:r>
              <a:rPr lang="en-US" altLang="en-US" sz="2400" b="1">
                <a:latin typeface="Times New Roman" panose="02020603050405020304"/>
                <a:cs typeface="Times New Roman" panose="02020603050405020304"/>
              </a:rPr>
              <a:t>&lt;u&gt; </a:t>
            </a:r>
            <a:r>
              <a:rPr lang="en-US" altLang="en-US" sz="2400">
                <a:latin typeface="Times New Roman" panose="02020603050405020304"/>
                <a:cs typeface="Times New Roman" panose="02020603050405020304"/>
              </a:rPr>
              <a:t>— подчёркивание.</a:t>
            </a:r>
            <a:endParaRPr lang="en-US" altLang="en-US" sz="2400">
              <a:latin typeface="Times New Roman" panose="02020603050405020304"/>
              <a:cs typeface="Times New Roman" panose="02020603050405020304"/>
            </a:endParaRPr>
          </a:p>
          <a:p>
            <a:pPr>
              <a:lnSpc>
                <a:spcPct val="100000"/>
              </a:lnSpc>
              <a:spcBef>
                <a:spcPts val="0"/>
              </a:spcBef>
              <a:spcAft>
                <a:spcPts val="0"/>
              </a:spcAft>
            </a:pPr>
            <a:r>
              <a:rPr lang="en-US" altLang="en-US" sz="2400" b="1">
                <a:latin typeface="Times New Roman" panose="02020603050405020304"/>
                <a:cs typeface="Times New Roman" panose="02020603050405020304"/>
              </a:rPr>
              <a:t>&lt;strong&gt; </a:t>
            </a:r>
            <a:r>
              <a:rPr lang="en-US" altLang="en-US" sz="2400">
                <a:latin typeface="Times New Roman" panose="02020603050405020304"/>
                <a:cs typeface="Times New Roman" panose="02020603050405020304"/>
              </a:rPr>
              <a:t>— важный текст (семантика).</a:t>
            </a:r>
            <a:endParaRPr lang="en-US" altLang="en-US" sz="2400">
              <a:latin typeface="Times New Roman" panose="02020603050405020304"/>
              <a:cs typeface="Times New Roman" panose="02020603050405020304"/>
            </a:endParaRPr>
          </a:p>
          <a:p>
            <a:pPr>
              <a:lnSpc>
                <a:spcPct val="100000"/>
              </a:lnSpc>
              <a:spcBef>
                <a:spcPts val="0"/>
              </a:spcBef>
              <a:spcAft>
                <a:spcPts val="0"/>
              </a:spcAft>
            </a:pPr>
            <a:r>
              <a:rPr lang="en-US" altLang="en-US" sz="2400" b="1">
                <a:latin typeface="Times New Roman" panose="02020603050405020304"/>
                <a:cs typeface="Times New Roman" panose="02020603050405020304"/>
              </a:rPr>
              <a:t>&lt;em&gt; </a:t>
            </a:r>
            <a:r>
              <a:rPr lang="en-US" altLang="en-US" sz="2400">
                <a:latin typeface="Times New Roman" panose="02020603050405020304"/>
                <a:cs typeface="Times New Roman" panose="02020603050405020304"/>
              </a:rPr>
              <a:t>— выделенный текст (семантика).</a:t>
            </a:r>
            <a:endParaRPr lang="en-US" altLang="en-US" sz="2400">
              <a:latin typeface="Times New Roman" panose="02020603050405020304"/>
              <a:cs typeface="Times New Roman" panose="02020603050405020304"/>
            </a:endParaRPr>
          </a:p>
          <a:p>
            <a:pPr>
              <a:lnSpc>
                <a:spcPct val="100000"/>
              </a:lnSpc>
              <a:spcBef>
                <a:spcPts val="0"/>
              </a:spcBef>
              <a:spcAft>
                <a:spcPts val="0"/>
              </a:spcAft>
            </a:pPr>
            <a:r>
              <a:rPr lang="en-US" altLang="en-US" sz="2400" b="1">
                <a:latin typeface="Times New Roman" panose="02020603050405020304"/>
                <a:cs typeface="Times New Roman" panose="02020603050405020304"/>
              </a:rPr>
              <a:t>&lt;mark&gt;</a:t>
            </a:r>
            <a:r>
              <a:rPr lang="en-US" altLang="en-US" sz="2400">
                <a:latin typeface="Times New Roman" panose="02020603050405020304"/>
                <a:cs typeface="Times New Roman" panose="02020603050405020304"/>
              </a:rPr>
              <a:t> — подсветка.</a:t>
            </a:r>
            <a:endParaRPr lang="en-US" altLang="en-US" sz="2400">
              <a:latin typeface="Times New Roman" panose="02020603050405020304"/>
              <a:cs typeface="Times New Roman" panose="02020603050405020304"/>
            </a:endParaRPr>
          </a:p>
        </p:txBody>
      </p:sp>
      <p:sp>
        <p:nvSpPr>
          <p:cNvPr id="3" name="文本框 2"/>
          <p:cNvSpPr txBox="1"/>
          <p:nvPr/>
        </p:nvSpPr>
        <p:spPr>
          <a:xfrm>
            <a:off x="6023610" y="2286000"/>
            <a:ext cx="5491480" cy="3310255"/>
          </a:xfrm>
          <a:prstGeom prst="rect">
            <a:avLst/>
          </a:prstGeom>
          <a:noFill/>
        </p:spPr>
        <p:txBody>
          <a:bodyPr vert="horz" wrap="square" rtlCol="0">
            <a:noAutofit/>
          </a:bodyPr>
          <a:p>
            <a:pPr indent="0" algn="l">
              <a:lnSpc>
                <a:spcPct val="100000"/>
              </a:lnSpc>
              <a:buNone/>
            </a:pPr>
            <a:r>
              <a:rPr lang="zh-CN" altLang="en-US" sz="2400">
                <a:latin typeface="Calibri"/>
              </a:rPr>
              <a:t>文本格式：</a:t>
            </a:r>
            <a:endParaRPr lang="zh-CN" altLang="en-US" sz="2400">
              <a:latin typeface="Calibri"/>
            </a:endParaRPr>
          </a:p>
          <a:p>
            <a:pPr indent="0" algn="l">
              <a:lnSpc>
                <a:spcPct val="100000"/>
              </a:lnSpc>
              <a:buNone/>
            </a:pPr>
            <a:r>
              <a:rPr lang="zh-CN" altLang="en-US" sz="2400">
                <a:latin typeface="Calibri"/>
              </a:rPr>
              <a:t>&lt;b&gt; — 粗体。</a:t>
            </a:r>
            <a:endParaRPr lang="zh-CN" altLang="en-US" sz="2400">
              <a:latin typeface="Calibri"/>
            </a:endParaRPr>
          </a:p>
          <a:p>
            <a:pPr indent="0" algn="l">
              <a:lnSpc>
                <a:spcPct val="100000"/>
              </a:lnSpc>
              <a:buNone/>
            </a:pPr>
            <a:r>
              <a:rPr lang="zh-CN" altLang="en-US" sz="2400">
                <a:latin typeface="Calibri"/>
              </a:rPr>
              <a:t>&lt;i&gt; — 斜体。</a:t>
            </a:r>
            <a:endParaRPr lang="zh-CN" altLang="en-US" sz="2400">
              <a:latin typeface="Calibri"/>
            </a:endParaRPr>
          </a:p>
          <a:p>
            <a:pPr indent="0" algn="l">
              <a:lnSpc>
                <a:spcPct val="100000"/>
              </a:lnSpc>
              <a:buNone/>
            </a:pPr>
            <a:r>
              <a:rPr lang="zh-CN" altLang="en-US" sz="2400">
                <a:latin typeface="Calibri"/>
              </a:rPr>
              <a:t>&lt;u&gt; — 下划线。</a:t>
            </a:r>
            <a:endParaRPr lang="zh-CN" altLang="en-US" sz="2400">
              <a:latin typeface="Calibri"/>
            </a:endParaRPr>
          </a:p>
          <a:p>
            <a:pPr indent="0" algn="l">
              <a:lnSpc>
                <a:spcPct val="100000"/>
              </a:lnSpc>
              <a:buNone/>
            </a:pPr>
            <a:r>
              <a:rPr lang="zh-CN" altLang="en-US" sz="2400">
                <a:latin typeface="Calibri"/>
              </a:rPr>
              <a:t>&lt;strong&gt; — 重要文本（语义）。&lt;em&gt; — 高亮文本（语义）。&lt;mark&gt; — 高亮显示。</a:t>
            </a:r>
            <a:endParaRPr lang="zh-CN" altLang="en-US" sz="2400">
              <a:latin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510540" y="495935"/>
            <a:ext cx="4526280" cy="1076325"/>
          </a:xfrm>
          <a:prstGeom prst="rect">
            <a:avLst/>
          </a:prstGeom>
          <a:noFill/>
        </p:spPr>
        <p:txBody>
          <a:bodyPr wrap="square" rtlCol="0">
            <a:spAutoFit/>
          </a:bodyPr>
          <a:p>
            <a:r>
              <a:rPr lang="ru-RU" altLang="en-US" sz="3200">
                <a:latin typeface="Times New Roman" panose="02020603050405020304"/>
                <a:cs typeface="Times New Roman" panose="02020603050405020304"/>
              </a:rPr>
              <a:t>Вспомним основные теги </a:t>
            </a:r>
            <a:r>
              <a:rPr lang="en-US" altLang="ru-RU" sz="3200">
                <a:latin typeface="Times New Roman" panose="02020603050405020304"/>
                <a:cs typeface="Times New Roman" panose="02020603050405020304"/>
              </a:rPr>
              <a:t>HTML</a:t>
            </a:r>
            <a:endParaRPr lang="en-US" altLang="ru-RU" sz="3200">
              <a:latin typeface="Times New Roman" panose="02020603050405020304"/>
              <a:cs typeface="Times New Roman" panose="02020603050405020304"/>
            </a:endParaRPr>
          </a:p>
        </p:txBody>
      </p:sp>
      <p:sp>
        <p:nvSpPr>
          <p:cNvPr id="3" name="Text Box 2"/>
          <p:cNvSpPr txBox="1"/>
          <p:nvPr/>
        </p:nvSpPr>
        <p:spPr>
          <a:xfrm>
            <a:off x="510540" y="2903220"/>
            <a:ext cx="5080000" cy="1444625"/>
          </a:xfrm>
          <a:prstGeom prst="rect">
            <a:avLst/>
          </a:prstGeom>
        </p:spPr>
        <p:txBody>
          <a:bodyPr>
            <a:spAutoFit/>
          </a:bodyPr>
          <a:p>
            <a:pPr>
              <a:spcAft>
                <a:spcPct val="60000"/>
              </a:spcAft>
            </a:pPr>
            <a:r>
              <a:rPr sz="2400">
                <a:latin typeface="Times New Roman" panose="02020603050405020304"/>
                <a:cs typeface="Times New Roman" panose="02020603050405020304"/>
              </a:rPr>
              <a:t>Ссылки и изображения</a:t>
            </a:r>
            <a:endParaRPr sz="2400">
              <a:latin typeface="Times New Roman" panose="02020603050405020304"/>
              <a:cs typeface="Times New Roman" panose="02020603050405020304"/>
            </a:endParaRPr>
          </a:p>
          <a:p>
            <a:pPr indent="0">
              <a:buFont typeface="Arial" panose="020B0704020202020204" pitchFamily="34" charset="0"/>
              <a:buNone/>
            </a:pPr>
            <a:r>
              <a:rPr sz="2400" b="1">
                <a:latin typeface="Times New Roman" panose="02020603050405020304"/>
                <a:cs typeface="Times New Roman" panose="02020603050405020304"/>
              </a:rPr>
              <a:t>&lt;a&gt;</a:t>
            </a:r>
            <a:r>
              <a:rPr sz="2400">
                <a:latin typeface="Times New Roman" panose="02020603050405020304"/>
                <a:cs typeface="Times New Roman" panose="02020603050405020304"/>
              </a:rPr>
              <a:t> — ссылка.</a:t>
            </a:r>
            <a:endParaRPr sz="2400">
              <a:latin typeface="Times New Roman" panose="02020603050405020304"/>
              <a:cs typeface="Times New Roman" panose="02020603050405020304"/>
            </a:endParaRPr>
          </a:p>
          <a:p>
            <a:pPr indent="0">
              <a:buFont typeface="Arial" panose="020B0704020202020204" pitchFamily="34" charset="0"/>
              <a:buNone/>
            </a:pPr>
            <a:r>
              <a:rPr sz="2400" b="1">
                <a:latin typeface="Times New Roman" panose="02020603050405020304"/>
                <a:cs typeface="Times New Roman" panose="02020603050405020304"/>
              </a:rPr>
              <a:t>&lt;img&gt;</a:t>
            </a:r>
            <a:r>
              <a:rPr sz="2400">
                <a:latin typeface="Times New Roman" panose="02020603050405020304"/>
                <a:cs typeface="Times New Roman" panose="02020603050405020304"/>
              </a:rPr>
              <a:t> — изображение.</a:t>
            </a:r>
            <a:endParaRPr sz="2400">
              <a:latin typeface="Times New Roman" panose="02020603050405020304"/>
              <a:cs typeface="Times New Roman" panose="02020603050405020304"/>
            </a:endParaRPr>
          </a:p>
        </p:txBody>
      </p:sp>
      <p:sp>
        <p:nvSpPr>
          <p:cNvPr id="4" name="文本框 3"/>
          <p:cNvSpPr txBox="1"/>
          <p:nvPr/>
        </p:nvSpPr>
        <p:spPr>
          <a:xfrm>
            <a:off x="5618480" y="2286000"/>
            <a:ext cx="3830320" cy="3731895"/>
          </a:xfrm>
          <a:prstGeom prst="rect">
            <a:avLst/>
          </a:prstGeom>
          <a:noFill/>
        </p:spPr>
        <p:txBody>
          <a:bodyPr vert="horz" wrap="square" rtlCol="0">
            <a:noAutofit/>
          </a:bodyPr>
          <a:p>
            <a:pPr indent="0" algn="l">
              <a:lnSpc>
                <a:spcPct val="100000"/>
              </a:lnSpc>
              <a:buNone/>
            </a:pPr>
            <a:r>
              <a:rPr lang="zh-CN" altLang="en-US" sz="2400">
                <a:latin typeface="Calibri"/>
              </a:rPr>
              <a:t>链接和图片 </a:t>
            </a:r>
            <a:endParaRPr lang="zh-CN" altLang="en-US" sz="2400">
              <a:latin typeface="Calibri"/>
            </a:endParaRPr>
          </a:p>
          <a:p>
            <a:pPr indent="0" algn="l">
              <a:lnSpc>
                <a:spcPct val="100000"/>
              </a:lnSpc>
              <a:buNone/>
            </a:pPr>
            <a:endParaRPr lang="zh-CN" altLang="en-US" sz="2400">
              <a:latin typeface="Calibri"/>
            </a:endParaRPr>
          </a:p>
          <a:p>
            <a:pPr indent="0" algn="l">
              <a:lnSpc>
                <a:spcPct val="100000"/>
              </a:lnSpc>
              <a:buNone/>
            </a:pPr>
            <a:r>
              <a:rPr lang="zh-CN" altLang="en-US" sz="2400">
                <a:latin typeface="Calibri"/>
              </a:rPr>
              <a:t>&lt;a&gt; - 链接。 </a:t>
            </a:r>
            <a:endParaRPr lang="zh-CN" altLang="en-US" sz="2400">
              <a:latin typeface="Calibri"/>
            </a:endParaRPr>
          </a:p>
          <a:p>
            <a:pPr indent="0" algn="l">
              <a:lnSpc>
                <a:spcPct val="100000"/>
              </a:lnSpc>
              <a:buNone/>
            </a:pPr>
            <a:r>
              <a:rPr lang="zh-CN" altLang="en-US" sz="2400">
                <a:latin typeface="Calibri"/>
              </a:rPr>
              <a:t>&lt;img&gt; - 图片。</a:t>
            </a:r>
            <a:endParaRPr lang="zh-CN" altLang="en-US" sz="2400">
              <a:latin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510540" y="495935"/>
            <a:ext cx="4526280" cy="1076325"/>
          </a:xfrm>
          <a:prstGeom prst="rect">
            <a:avLst/>
          </a:prstGeom>
          <a:noFill/>
        </p:spPr>
        <p:txBody>
          <a:bodyPr wrap="square" rtlCol="0">
            <a:spAutoFit/>
          </a:bodyPr>
          <a:p>
            <a:r>
              <a:rPr lang="ru-RU" altLang="en-US" sz="3200">
                <a:latin typeface="Times New Roman" panose="02020603050405020304"/>
                <a:cs typeface="Times New Roman" panose="02020603050405020304"/>
              </a:rPr>
              <a:t>Вспомним основные теги </a:t>
            </a:r>
            <a:r>
              <a:rPr lang="en-US" altLang="ru-RU" sz="3200">
                <a:latin typeface="Times New Roman" panose="02020603050405020304"/>
                <a:cs typeface="Times New Roman" panose="02020603050405020304"/>
              </a:rPr>
              <a:t>HTML</a:t>
            </a:r>
            <a:endParaRPr lang="en-US" altLang="ru-RU" sz="3200">
              <a:latin typeface="Times New Roman" panose="02020603050405020304"/>
              <a:cs typeface="Times New Roman" panose="02020603050405020304"/>
            </a:endParaRPr>
          </a:p>
        </p:txBody>
      </p:sp>
      <p:sp>
        <p:nvSpPr>
          <p:cNvPr id="3" name="Text Box 2"/>
          <p:cNvSpPr txBox="1"/>
          <p:nvPr/>
        </p:nvSpPr>
        <p:spPr>
          <a:xfrm>
            <a:off x="589915" y="2214563"/>
            <a:ext cx="5080000" cy="2428875"/>
          </a:xfrm>
          <a:prstGeom prst="rect">
            <a:avLst/>
          </a:prstGeom>
        </p:spPr>
        <p:txBody>
          <a:bodyPr>
            <a:spAutoFit/>
          </a:bodyPr>
          <a:p>
            <a:pPr>
              <a:spcAft>
                <a:spcPct val="60000"/>
              </a:spcAft>
            </a:pPr>
            <a:r>
              <a:rPr sz="2400">
                <a:latin typeface="Times New Roman" panose="02020603050405020304"/>
                <a:cs typeface="Times New Roman" panose="02020603050405020304"/>
              </a:rPr>
              <a:t>Списки</a:t>
            </a:r>
            <a:endParaRPr sz="2400">
              <a:latin typeface="Times New Roman" panose="02020603050405020304"/>
              <a:cs typeface="Times New Roman" panose="02020603050405020304"/>
            </a:endParaRPr>
          </a:p>
          <a:p>
            <a:pPr>
              <a:spcAft>
                <a:spcPct val="60000"/>
              </a:spcAft>
            </a:pPr>
            <a:endParaRPr sz="2400">
              <a:latin typeface="Times New Roman" panose="02020603050405020304"/>
              <a:cs typeface="Times New Roman" panose="02020603050405020304"/>
            </a:endParaRPr>
          </a:p>
          <a:p>
            <a:pPr indent="0">
              <a:buFont typeface="Arial" panose="020B0704020202020204" pitchFamily="34" charset="0"/>
              <a:buNone/>
            </a:pPr>
            <a:r>
              <a:rPr sz="2400" b="1">
                <a:latin typeface="Times New Roman" panose="02020603050405020304"/>
                <a:cs typeface="Times New Roman" panose="02020603050405020304"/>
              </a:rPr>
              <a:t>&lt;ul&gt;</a:t>
            </a:r>
            <a:r>
              <a:rPr sz="2400">
                <a:latin typeface="Times New Roman" panose="02020603050405020304"/>
                <a:cs typeface="Times New Roman" panose="02020603050405020304"/>
              </a:rPr>
              <a:t> — маркированный список.</a:t>
            </a:r>
            <a:endParaRPr sz="2400">
              <a:latin typeface="Times New Roman" panose="02020603050405020304"/>
              <a:cs typeface="Times New Roman" panose="02020603050405020304"/>
            </a:endParaRPr>
          </a:p>
          <a:p>
            <a:pPr indent="0">
              <a:buFont typeface="Arial" panose="020B0704020202020204" pitchFamily="34" charset="0"/>
              <a:buNone/>
            </a:pPr>
            <a:r>
              <a:rPr sz="2400" b="1">
                <a:latin typeface="Times New Roman" panose="02020603050405020304"/>
                <a:cs typeface="Times New Roman" panose="02020603050405020304"/>
              </a:rPr>
              <a:t>&lt;ol&gt;</a:t>
            </a:r>
            <a:r>
              <a:rPr sz="2400">
                <a:latin typeface="Times New Roman" panose="02020603050405020304"/>
                <a:cs typeface="Times New Roman" panose="02020603050405020304"/>
              </a:rPr>
              <a:t> — нумерованный список.</a:t>
            </a:r>
            <a:endParaRPr sz="2400">
              <a:latin typeface="Times New Roman" panose="02020603050405020304"/>
              <a:cs typeface="Times New Roman" panose="02020603050405020304"/>
            </a:endParaRPr>
          </a:p>
          <a:p>
            <a:pPr indent="0">
              <a:buFont typeface="Arial" panose="020B0704020202020204" pitchFamily="34" charset="0"/>
              <a:buNone/>
            </a:pPr>
            <a:r>
              <a:rPr sz="2400" b="1">
                <a:latin typeface="Times New Roman" panose="02020603050405020304"/>
                <a:cs typeface="Times New Roman" panose="02020603050405020304"/>
              </a:rPr>
              <a:t>&lt;li&gt; </a:t>
            </a:r>
            <a:r>
              <a:rPr sz="2400">
                <a:latin typeface="Times New Roman" panose="02020603050405020304"/>
                <a:cs typeface="Times New Roman" panose="02020603050405020304"/>
              </a:rPr>
              <a:t>— элемент списка.</a:t>
            </a:r>
            <a:endParaRPr sz="2400">
              <a:latin typeface="Times New Roman" panose="02020603050405020304"/>
              <a:cs typeface="Times New Roman" panose="02020603050405020304"/>
            </a:endParaRPr>
          </a:p>
        </p:txBody>
      </p:sp>
      <p:sp>
        <p:nvSpPr>
          <p:cNvPr id="4" name="文本框 3"/>
          <p:cNvSpPr txBox="1"/>
          <p:nvPr/>
        </p:nvSpPr>
        <p:spPr>
          <a:xfrm>
            <a:off x="7575550" y="2356485"/>
            <a:ext cx="3575050" cy="3025140"/>
          </a:xfrm>
          <a:prstGeom prst="rect">
            <a:avLst/>
          </a:prstGeom>
          <a:noFill/>
        </p:spPr>
        <p:txBody>
          <a:bodyPr vert="horz" wrap="square" rtlCol="0">
            <a:noAutofit/>
          </a:bodyPr>
          <a:p>
            <a:pPr indent="0" algn="l">
              <a:lnSpc>
                <a:spcPct val="100000"/>
              </a:lnSpc>
              <a:buNone/>
            </a:pPr>
            <a:r>
              <a:rPr lang="zh-CN" altLang="en-US" sz="2400">
                <a:latin typeface="Calibri"/>
              </a:rPr>
              <a:t>列表 </a:t>
            </a:r>
            <a:endParaRPr lang="zh-CN" altLang="en-US" sz="2400">
              <a:latin typeface="Calibri"/>
            </a:endParaRPr>
          </a:p>
          <a:p>
            <a:pPr indent="0" algn="l">
              <a:lnSpc>
                <a:spcPct val="100000"/>
              </a:lnSpc>
              <a:buNone/>
            </a:pPr>
            <a:endParaRPr lang="zh-CN" altLang="en-US" sz="2400">
              <a:latin typeface="Calibri"/>
            </a:endParaRPr>
          </a:p>
          <a:p>
            <a:pPr indent="0" algn="l">
              <a:lnSpc>
                <a:spcPct val="100000"/>
              </a:lnSpc>
              <a:buNone/>
            </a:pPr>
            <a:r>
              <a:rPr lang="zh-CN" altLang="en-US" sz="2400">
                <a:latin typeface="Calibri"/>
              </a:rPr>
              <a:t>&lt;ul&gt; — 无序列表。&lt;ol&gt; — 编号列表。&lt;li&gt; — 列表项。</a:t>
            </a:r>
            <a:endParaRPr lang="zh-CN" altLang="en-US" sz="2400">
              <a:latin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510540" y="495935"/>
            <a:ext cx="4526280" cy="1076325"/>
          </a:xfrm>
          <a:prstGeom prst="rect">
            <a:avLst/>
          </a:prstGeom>
          <a:noFill/>
        </p:spPr>
        <p:txBody>
          <a:bodyPr wrap="square" rtlCol="0">
            <a:spAutoFit/>
          </a:bodyPr>
          <a:p>
            <a:r>
              <a:rPr lang="ru-RU" altLang="en-US" sz="3200">
                <a:latin typeface="Times New Roman" panose="02020603050405020304"/>
                <a:cs typeface="Times New Roman" panose="02020603050405020304"/>
              </a:rPr>
              <a:t>Вспомним основные теги </a:t>
            </a:r>
            <a:r>
              <a:rPr lang="en-US" altLang="ru-RU" sz="3200">
                <a:latin typeface="Times New Roman" panose="02020603050405020304"/>
                <a:cs typeface="Times New Roman" panose="02020603050405020304"/>
              </a:rPr>
              <a:t>HTML</a:t>
            </a:r>
            <a:endParaRPr lang="en-US" altLang="ru-RU" sz="3200">
              <a:latin typeface="Times New Roman" panose="02020603050405020304"/>
              <a:cs typeface="Times New Roman" panose="02020603050405020304"/>
            </a:endParaRPr>
          </a:p>
        </p:txBody>
      </p:sp>
      <p:sp>
        <p:nvSpPr>
          <p:cNvPr id="3" name="Text Box 2"/>
          <p:cNvSpPr txBox="1"/>
          <p:nvPr/>
        </p:nvSpPr>
        <p:spPr>
          <a:xfrm>
            <a:off x="589915" y="1932940"/>
            <a:ext cx="5575935" cy="2922270"/>
          </a:xfrm>
          <a:prstGeom prst="rect">
            <a:avLst/>
          </a:prstGeom>
        </p:spPr>
        <p:txBody>
          <a:bodyPr wrap="square">
            <a:spAutoFit/>
          </a:bodyPr>
          <a:p>
            <a:pPr>
              <a:spcAft>
                <a:spcPct val="60000"/>
              </a:spcAft>
            </a:pPr>
            <a:r>
              <a:rPr sz="2400">
                <a:latin typeface="Times New Roman" panose="02020603050405020304"/>
                <a:cs typeface="Times New Roman" panose="02020603050405020304"/>
              </a:rPr>
              <a:t>Таблицы</a:t>
            </a:r>
            <a:endParaRPr sz="2400">
              <a:latin typeface="Times New Roman" panose="02020603050405020304"/>
              <a:cs typeface="Times New Roman" panose="02020603050405020304"/>
            </a:endParaRPr>
          </a:p>
          <a:p>
            <a:pPr indent="0">
              <a:buFont typeface="Arial" panose="020B0704020202020204" pitchFamily="34" charset="0"/>
              <a:buNone/>
            </a:pPr>
            <a:r>
              <a:rPr sz="2400" b="1">
                <a:latin typeface="Times New Roman" panose="02020603050405020304"/>
                <a:cs typeface="Times New Roman" panose="02020603050405020304"/>
              </a:rPr>
              <a:t>&lt;table&gt;</a:t>
            </a:r>
            <a:r>
              <a:rPr sz="2400">
                <a:latin typeface="Times New Roman" panose="02020603050405020304"/>
                <a:cs typeface="Times New Roman" panose="02020603050405020304"/>
              </a:rPr>
              <a:t> — таблица.</a:t>
            </a:r>
            <a:endParaRPr sz="2400">
              <a:latin typeface="Times New Roman" panose="02020603050405020304"/>
              <a:cs typeface="Times New Roman" panose="02020603050405020304"/>
            </a:endParaRPr>
          </a:p>
          <a:p>
            <a:pPr indent="0">
              <a:buFont typeface="Arial" panose="020B0704020202020204" pitchFamily="34" charset="0"/>
              <a:buNone/>
            </a:pPr>
            <a:r>
              <a:rPr sz="2400" b="1">
                <a:latin typeface="Times New Roman" panose="02020603050405020304"/>
                <a:cs typeface="Times New Roman" panose="02020603050405020304"/>
              </a:rPr>
              <a:t>&lt;tr&gt;</a:t>
            </a:r>
            <a:r>
              <a:rPr sz="2400">
                <a:latin typeface="Times New Roman" panose="02020603050405020304"/>
                <a:cs typeface="Times New Roman" panose="02020603050405020304"/>
              </a:rPr>
              <a:t> — строка.</a:t>
            </a:r>
            <a:endParaRPr sz="2400">
              <a:latin typeface="Times New Roman" panose="02020603050405020304"/>
              <a:cs typeface="Times New Roman" panose="02020603050405020304"/>
            </a:endParaRPr>
          </a:p>
          <a:p>
            <a:pPr indent="0">
              <a:buFont typeface="Arial" panose="020B0704020202020204" pitchFamily="34" charset="0"/>
              <a:buNone/>
            </a:pPr>
            <a:r>
              <a:rPr sz="2400" b="1">
                <a:latin typeface="Times New Roman" panose="02020603050405020304"/>
                <a:cs typeface="Times New Roman" panose="02020603050405020304"/>
              </a:rPr>
              <a:t>&lt;td&gt;</a:t>
            </a:r>
            <a:r>
              <a:rPr sz="2400">
                <a:latin typeface="Times New Roman" panose="02020603050405020304"/>
                <a:cs typeface="Times New Roman" panose="02020603050405020304"/>
              </a:rPr>
              <a:t> — ячейка.</a:t>
            </a:r>
            <a:endParaRPr sz="2400">
              <a:latin typeface="Times New Roman" panose="02020603050405020304"/>
              <a:cs typeface="Times New Roman" panose="02020603050405020304"/>
            </a:endParaRPr>
          </a:p>
          <a:p>
            <a:pPr indent="0">
              <a:buFont typeface="Arial" panose="020B0704020202020204" pitchFamily="34" charset="0"/>
              <a:buNone/>
            </a:pPr>
            <a:r>
              <a:rPr sz="2400" b="1">
                <a:latin typeface="Times New Roman" panose="02020603050405020304"/>
                <a:cs typeface="Times New Roman" panose="02020603050405020304"/>
              </a:rPr>
              <a:t>&lt;th&gt;</a:t>
            </a:r>
            <a:r>
              <a:rPr sz="2400">
                <a:latin typeface="Times New Roman" panose="02020603050405020304"/>
                <a:cs typeface="Times New Roman" panose="02020603050405020304"/>
              </a:rPr>
              <a:t> — заголовочная ячейка.</a:t>
            </a:r>
            <a:endParaRPr sz="2400">
              <a:latin typeface="Times New Roman" panose="02020603050405020304"/>
              <a:cs typeface="Times New Roman" panose="02020603050405020304"/>
            </a:endParaRPr>
          </a:p>
          <a:p>
            <a:pPr indent="0">
              <a:buFont typeface="Arial" panose="020B0704020202020204" pitchFamily="34" charset="0"/>
              <a:buNone/>
            </a:pPr>
            <a:r>
              <a:rPr sz="2400" b="1">
                <a:latin typeface="Times New Roman" panose="02020603050405020304"/>
                <a:cs typeface="Times New Roman" panose="02020603050405020304"/>
              </a:rPr>
              <a:t>&lt;thead&gt;, &lt;tbody&gt;, &lt;tfoot&gt; </a:t>
            </a:r>
            <a:r>
              <a:rPr sz="2400">
                <a:latin typeface="Times New Roman" panose="02020603050405020304"/>
                <a:cs typeface="Times New Roman" panose="02020603050405020304"/>
              </a:rPr>
              <a:t>— части таблицы.</a:t>
            </a:r>
            <a:endParaRPr sz="2400">
              <a:latin typeface="Times New Roman" panose="02020603050405020304"/>
              <a:cs typeface="Times New Roman" panose="02020603050405020304"/>
            </a:endParaRPr>
          </a:p>
        </p:txBody>
      </p:sp>
      <p:sp>
        <p:nvSpPr>
          <p:cNvPr id="4" name="文本框 3"/>
          <p:cNvSpPr txBox="1"/>
          <p:nvPr/>
        </p:nvSpPr>
        <p:spPr>
          <a:xfrm>
            <a:off x="6610985" y="2286000"/>
            <a:ext cx="4742815" cy="2799715"/>
          </a:xfrm>
          <a:prstGeom prst="rect">
            <a:avLst/>
          </a:prstGeom>
          <a:noFill/>
        </p:spPr>
        <p:txBody>
          <a:bodyPr vert="horz" wrap="square" rtlCol="0">
            <a:noAutofit/>
          </a:bodyPr>
          <a:p>
            <a:pPr indent="0" algn="l">
              <a:lnSpc>
                <a:spcPct val="100000"/>
              </a:lnSpc>
              <a:buNone/>
            </a:pPr>
            <a:r>
              <a:rPr lang="zh-CN" altLang="en-US" sz="2400">
                <a:latin typeface="Calibri"/>
              </a:rPr>
              <a:t>表格</a:t>
            </a:r>
            <a:endParaRPr lang="zh-CN" altLang="en-US" sz="2400">
              <a:latin typeface="Calibri"/>
            </a:endParaRPr>
          </a:p>
          <a:p>
            <a:pPr indent="0" algn="l">
              <a:lnSpc>
                <a:spcPct val="100000"/>
              </a:lnSpc>
              <a:buNone/>
            </a:pPr>
            <a:r>
              <a:rPr lang="zh-CN" altLang="en-US" sz="2400">
                <a:latin typeface="Calibri"/>
              </a:rPr>
              <a:t>&lt;table&gt; — 表格。 </a:t>
            </a:r>
            <a:endParaRPr lang="zh-CN" altLang="en-US" sz="2400">
              <a:latin typeface="Calibri"/>
            </a:endParaRPr>
          </a:p>
          <a:p>
            <a:pPr indent="0" algn="l">
              <a:lnSpc>
                <a:spcPct val="100000"/>
              </a:lnSpc>
              <a:buNone/>
            </a:pPr>
            <a:r>
              <a:rPr lang="zh-CN" altLang="en-US" sz="2400">
                <a:latin typeface="Calibri"/>
              </a:rPr>
              <a:t>&lt;tr&gt; — 行。 </a:t>
            </a:r>
            <a:endParaRPr lang="zh-CN" altLang="en-US" sz="2400">
              <a:latin typeface="Calibri"/>
            </a:endParaRPr>
          </a:p>
          <a:p>
            <a:pPr indent="0" algn="l">
              <a:lnSpc>
                <a:spcPct val="100000"/>
              </a:lnSpc>
              <a:buNone/>
            </a:pPr>
            <a:r>
              <a:rPr lang="zh-CN" altLang="en-US" sz="2400">
                <a:latin typeface="Calibri"/>
              </a:rPr>
              <a:t>&lt;td&gt; — 单元格。 </a:t>
            </a:r>
            <a:endParaRPr lang="zh-CN" altLang="en-US" sz="2400">
              <a:latin typeface="Calibri"/>
            </a:endParaRPr>
          </a:p>
          <a:p>
            <a:pPr indent="0" algn="l">
              <a:lnSpc>
                <a:spcPct val="100000"/>
              </a:lnSpc>
              <a:buNone/>
            </a:pPr>
            <a:r>
              <a:rPr lang="zh-CN" altLang="en-US" sz="2400">
                <a:latin typeface="Calibri"/>
              </a:rPr>
              <a:t>&lt;th&gt; — 表头单元格。 </a:t>
            </a:r>
            <a:endParaRPr lang="zh-CN" altLang="en-US" sz="2400">
              <a:latin typeface="Calibri"/>
            </a:endParaRPr>
          </a:p>
          <a:p>
            <a:pPr indent="0" algn="l">
              <a:lnSpc>
                <a:spcPct val="100000"/>
              </a:lnSpc>
              <a:buNone/>
            </a:pPr>
            <a:r>
              <a:rPr lang="zh-CN" altLang="en-US" sz="2400">
                <a:latin typeface="Calibri"/>
              </a:rPr>
              <a:t>&lt;thead&gt;、 &lt;tbody&gt;、 &lt;tfoot&gt; — 表格的组成部分。</a:t>
            </a:r>
            <a:endParaRPr lang="zh-CN" altLang="en-US" sz="2400">
              <a:latin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510540" y="495935"/>
            <a:ext cx="4526280" cy="583565"/>
          </a:xfrm>
          <a:prstGeom prst="rect">
            <a:avLst/>
          </a:prstGeom>
          <a:noFill/>
        </p:spPr>
        <p:txBody>
          <a:bodyPr wrap="square" rtlCol="0">
            <a:spAutoFit/>
          </a:bodyPr>
          <a:p>
            <a:r>
              <a:rPr lang="ru-RU" altLang="en-US" sz="3200">
                <a:latin typeface="Times New Roman" panose="02020603050405020304"/>
                <a:cs typeface="Times New Roman" panose="02020603050405020304"/>
                <a:sym typeface="+mn-ea"/>
              </a:rPr>
              <a:t>Вспомним </a:t>
            </a:r>
            <a:r>
              <a:rPr lang="en-US" sz="3200">
                <a:latin typeface="Times New Roman" panose="02020603050405020304"/>
                <a:cs typeface="Times New Roman" panose="02020603050405020304"/>
                <a:sym typeface="+mn-ea"/>
              </a:rPr>
              <a:t>CSS</a:t>
            </a:r>
            <a:endParaRPr lang="en-US" sz="3200">
              <a:latin typeface="Times New Roman" panose="02020603050405020304"/>
              <a:cs typeface="Times New Roman" panose="02020603050405020304"/>
            </a:endParaRPr>
          </a:p>
        </p:txBody>
      </p:sp>
      <p:sp>
        <p:nvSpPr>
          <p:cNvPr id="4" name="Text Box 3"/>
          <p:cNvSpPr txBox="1"/>
          <p:nvPr/>
        </p:nvSpPr>
        <p:spPr>
          <a:xfrm>
            <a:off x="510540" y="1226820"/>
            <a:ext cx="5311775" cy="5262245"/>
          </a:xfrm>
          <a:prstGeom prst="rect">
            <a:avLst/>
          </a:prstGeom>
        </p:spPr>
        <p:txBody>
          <a:bodyPr wrap="square">
            <a:spAutoFit/>
          </a:bodyPr>
          <a:p>
            <a:r>
              <a:rPr sz="2400">
                <a:latin typeface="Times New Roman" panose="02020603050405020304"/>
                <a:cs typeface="Times New Roman" panose="02020603050405020304"/>
              </a:rPr>
              <a:t>CSS (Cascading Style Sheets) — это язык таблиц стилей, который отвечает за внешний вид веб-страницы.</a:t>
            </a:r>
            <a:endParaRPr sz="2400">
              <a:latin typeface="Times New Roman" panose="02020603050405020304"/>
              <a:cs typeface="Times New Roman" panose="02020603050405020304"/>
            </a:endParaRPr>
          </a:p>
          <a:p>
            <a:endParaRPr sz="2400">
              <a:latin typeface="Times New Roman" panose="02020603050405020304"/>
              <a:cs typeface="Times New Roman" panose="02020603050405020304"/>
            </a:endParaRPr>
          </a:p>
          <a:p>
            <a:r>
              <a:rPr lang="en-US" altLang="en-US" sz="2400">
                <a:latin typeface="Times New Roman" panose="02020603050405020304"/>
                <a:cs typeface="Times New Roman" panose="02020603050405020304"/>
              </a:rPr>
              <a:t>CSS определяет:</a:t>
            </a:r>
            <a:endParaRPr lang="en-US" altLang="en-US" sz="2400">
              <a:latin typeface="Times New Roman" panose="02020603050405020304"/>
              <a:cs typeface="Times New Roman" panose="02020603050405020304"/>
            </a:endParaRPr>
          </a:p>
          <a:p>
            <a:endParaRPr lang="en-US" altLang="en-US" sz="2400">
              <a:latin typeface="Times New Roman" panose="02020603050405020304"/>
              <a:cs typeface="Times New Roman" panose="02020603050405020304"/>
            </a:endParaRPr>
          </a:p>
          <a:p>
            <a:pPr marL="457200" indent="-457200">
              <a:buAutoNum type="arabicPeriod"/>
            </a:pPr>
            <a:r>
              <a:rPr lang="en-US" altLang="en-US" sz="2400">
                <a:latin typeface="Times New Roman" panose="02020603050405020304"/>
                <a:cs typeface="Times New Roman" panose="02020603050405020304"/>
              </a:rPr>
              <a:t>цвета</a:t>
            </a:r>
            <a:endParaRPr lang="en-US" altLang="en-US" sz="2400">
              <a:latin typeface="Times New Roman" panose="02020603050405020304"/>
              <a:cs typeface="Times New Roman" panose="02020603050405020304"/>
            </a:endParaRPr>
          </a:p>
          <a:p>
            <a:pPr marL="457200" indent="-457200">
              <a:buAutoNum type="arabicPeriod"/>
            </a:pPr>
            <a:r>
              <a:rPr lang="en-US" altLang="en-US" sz="2400">
                <a:latin typeface="Times New Roman" panose="02020603050405020304"/>
                <a:cs typeface="Times New Roman" panose="02020603050405020304"/>
              </a:rPr>
              <a:t>размеры элементов</a:t>
            </a:r>
            <a:endParaRPr lang="en-US" altLang="en-US" sz="2400">
              <a:latin typeface="Times New Roman" panose="02020603050405020304"/>
              <a:cs typeface="Times New Roman" panose="02020603050405020304"/>
            </a:endParaRPr>
          </a:p>
          <a:p>
            <a:pPr marL="457200" indent="-457200">
              <a:buAutoNum type="arabicPeriod"/>
            </a:pPr>
            <a:r>
              <a:rPr lang="en-US" altLang="en-US" sz="2400">
                <a:latin typeface="Times New Roman" panose="02020603050405020304"/>
                <a:cs typeface="Times New Roman" panose="02020603050405020304"/>
              </a:rPr>
              <a:t>шрифты и их свойства</a:t>
            </a:r>
            <a:endParaRPr lang="en-US" altLang="en-US" sz="2400">
              <a:latin typeface="Times New Roman" panose="02020603050405020304"/>
              <a:cs typeface="Times New Roman" panose="02020603050405020304"/>
            </a:endParaRPr>
          </a:p>
          <a:p>
            <a:pPr marL="457200" indent="-457200">
              <a:buAutoNum type="arabicPeriod"/>
            </a:pPr>
            <a:r>
              <a:rPr lang="en-US" altLang="en-US" sz="2400">
                <a:latin typeface="Times New Roman" panose="02020603050405020304"/>
                <a:cs typeface="Times New Roman" panose="02020603050405020304"/>
              </a:rPr>
              <a:t>расположение блоков на странице</a:t>
            </a:r>
            <a:endParaRPr lang="en-US" altLang="en-US" sz="2400">
              <a:latin typeface="Times New Roman" panose="02020603050405020304"/>
              <a:cs typeface="Times New Roman" panose="02020603050405020304"/>
            </a:endParaRPr>
          </a:p>
          <a:p>
            <a:pPr marL="457200" indent="-457200">
              <a:buAutoNum type="arabicPeriod"/>
            </a:pPr>
            <a:r>
              <a:rPr lang="en-US" altLang="en-US" sz="2400">
                <a:latin typeface="Times New Roman" panose="02020603050405020304"/>
                <a:cs typeface="Times New Roman" panose="02020603050405020304"/>
              </a:rPr>
              <a:t>отступы, рамки, фоны</a:t>
            </a:r>
            <a:endParaRPr lang="en-US" altLang="en-US" sz="2400">
              <a:latin typeface="Times New Roman" panose="02020603050405020304"/>
              <a:cs typeface="Times New Roman" panose="02020603050405020304"/>
            </a:endParaRPr>
          </a:p>
          <a:p>
            <a:pPr marL="457200" indent="-457200">
              <a:buAutoNum type="arabicPeriod"/>
            </a:pPr>
            <a:r>
              <a:rPr lang="en-US" altLang="en-US" sz="2400">
                <a:latin typeface="Times New Roman" panose="02020603050405020304"/>
                <a:cs typeface="Times New Roman" panose="02020603050405020304"/>
              </a:rPr>
              <a:t>анимации и переходы</a:t>
            </a:r>
            <a:endParaRPr lang="en-US" altLang="en-US" sz="2400">
              <a:latin typeface="Times New Roman" panose="02020603050405020304"/>
              <a:cs typeface="Times New Roman" panose="02020603050405020304"/>
            </a:endParaRPr>
          </a:p>
          <a:p>
            <a:pPr marL="457200" indent="-457200">
              <a:buAutoNum type="arabicPeriod"/>
            </a:pPr>
            <a:r>
              <a:rPr lang="en-US" altLang="en-US" sz="2400">
                <a:latin typeface="Times New Roman" panose="02020603050405020304"/>
                <a:cs typeface="Times New Roman" panose="02020603050405020304"/>
              </a:rPr>
              <a:t>адаптивность (отображение на телефонах)</a:t>
            </a:r>
            <a:endParaRPr lang="en-US" altLang="en-US" sz="2400">
              <a:latin typeface="Times New Roman" panose="02020603050405020304"/>
              <a:cs typeface="Times New Roman" panose="02020603050405020304"/>
            </a:endParaRPr>
          </a:p>
        </p:txBody>
      </p:sp>
      <p:sp>
        <p:nvSpPr>
          <p:cNvPr id="3" name="文本框 2"/>
          <p:cNvSpPr txBox="1"/>
          <p:nvPr/>
        </p:nvSpPr>
        <p:spPr>
          <a:xfrm>
            <a:off x="6520815" y="1142365"/>
            <a:ext cx="4899660" cy="5507990"/>
          </a:xfrm>
          <a:prstGeom prst="rect">
            <a:avLst/>
          </a:prstGeom>
          <a:noFill/>
        </p:spPr>
        <p:txBody>
          <a:bodyPr vert="horz" wrap="square" rtlCol="0">
            <a:noAutofit/>
          </a:bodyPr>
          <a:p>
            <a:pPr indent="0" algn="l">
              <a:lnSpc>
                <a:spcPct val="100000"/>
              </a:lnSpc>
              <a:buNone/>
            </a:pPr>
            <a:r>
              <a:rPr lang="zh-CN" altLang="en-US" sz="2400">
                <a:latin typeface="Calibri"/>
              </a:rPr>
              <a:t>CSS（层叠样式表）是一种样式表语言，负责网页的外观。CSS 定义了：颜色、元素大小、字体及其属性、页面上元素的位置、缩进、边框、背景、动画和过渡效果、适配性（例如在手机上的显示）。</a:t>
            </a:r>
            <a:endParaRPr lang="zh-CN" altLang="en-US" sz="2400">
              <a:latin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510540" y="495935"/>
            <a:ext cx="4526280" cy="583565"/>
          </a:xfrm>
          <a:prstGeom prst="rect">
            <a:avLst/>
          </a:prstGeom>
          <a:noFill/>
        </p:spPr>
        <p:txBody>
          <a:bodyPr wrap="square" rtlCol="0">
            <a:spAutoFit/>
          </a:bodyPr>
          <a:p>
            <a:r>
              <a:rPr lang="ru-RU" altLang="en-US" sz="3200">
                <a:latin typeface="Times New Roman" panose="02020603050405020304"/>
                <a:cs typeface="Times New Roman" panose="02020603050405020304"/>
                <a:sym typeface="+mn-ea"/>
              </a:rPr>
              <a:t>Вспомним </a:t>
            </a:r>
            <a:r>
              <a:rPr lang="en-US" sz="3200">
                <a:latin typeface="Times New Roman" panose="02020603050405020304"/>
                <a:cs typeface="Times New Roman" panose="02020603050405020304"/>
                <a:sym typeface="+mn-ea"/>
              </a:rPr>
              <a:t>CSS</a:t>
            </a:r>
            <a:endParaRPr lang="en-US" sz="3200">
              <a:latin typeface="Times New Roman" panose="02020603050405020304"/>
              <a:cs typeface="Times New Roman" panose="02020603050405020304"/>
            </a:endParaRPr>
          </a:p>
        </p:txBody>
      </p:sp>
      <p:sp>
        <p:nvSpPr>
          <p:cNvPr id="4" name="Text Box 3"/>
          <p:cNvSpPr txBox="1"/>
          <p:nvPr/>
        </p:nvSpPr>
        <p:spPr>
          <a:xfrm>
            <a:off x="510540" y="1988185"/>
            <a:ext cx="5311775" cy="1198880"/>
          </a:xfrm>
          <a:prstGeom prst="rect">
            <a:avLst/>
          </a:prstGeom>
        </p:spPr>
        <p:txBody>
          <a:bodyPr wrap="square">
            <a:spAutoFit/>
          </a:bodyPr>
          <a:p>
            <a:r>
              <a:rPr sz="2400">
                <a:latin typeface="Times New Roman" panose="02020603050405020304"/>
                <a:cs typeface="Times New Roman" panose="02020603050405020304"/>
              </a:rPr>
              <a:t>CSS (Cascading Style Sheets) — это язык таблиц стилей, который отвечает за внешний вид веб-страницы.</a:t>
            </a:r>
            <a:endParaRPr sz="2400">
              <a:latin typeface="Times New Roman" panose="02020603050405020304"/>
              <a:cs typeface="Times New Roman" panose="02020603050405020304"/>
            </a:endParaRPr>
          </a:p>
        </p:txBody>
      </p:sp>
      <p:sp>
        <p:nvSpPr>
          <p:cNvPr id="3" name="文本框 2"/>
          <p:cNvSpPr txBox="1"/>
          <p:nvPr/>
        </p:nvSpPr>
        <p:spPr>
          <a:xfrm>
            <a:off x="6431280" y="2286000"/>
            <a:ext cx="3017520" cy="2739390"/>
          </a:xfrm>
          <a:prstGeom prst="rect">
            <a:avLst/>
          </a:prstGeom>
          <a:noFill/>
        </p:spPr>
        <p:txBody>
          <a:bodyPr vert="horz" wrap="square" rtlCol="0">
            <a:noAutofit/>
          </a:bodyPr>
          <a:p>
            <a:pPr indent="0" algn="l">
              <a:lnSpc>
                <a:spcPct val="100000"/>
              </a:lnSpc>
              <a:buNone/>
            </a:pPr>
            <a:r>
              <a:rPr lang="zh-CN" altLang="en-US" sz="2400">
                <a:latin typeface="Calibri"/>
              </a:rPr>
              <a:t>CSS（层叠样式表）是一种样式表语言，负责网页的外观。</a:t>
            </a:r>
            <a:endParaRPr lang="zh-CN" altLang="en-US" sz="2400">
              <a:latin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p:nvPr>
            <p:ph type="sldNum" sz="quarter" idx="12"/>
          </p:nvPr>
        </p:nvSpPr>
        <p:spPr/>
        <p:txBody>
          <a:bodyPr/>
          <a:p>
            <a:fld id="{9B618960-8005-486C-9A75-10CB2AAC16F9}" type="slidenum">
              <a:rPr lang="en-US" smtClean="0"/>
            </a:fld>
            <a:endParaRPr lang="en-US"/>
          </a:p>
        </p:txBody>
      </p:sp>
      <p:sp>
        <p:nvSpPr>
          <p:cNvPr id="5" name="Text Box 4"/>
          <p:cNvSpPr txBox="1"/>
          <p:nvPr/>
        </p:nvSpPr>
        <p:spPr>
          <a:xfrm>
            <a:off x="510540" y="495935"/>
            <a:ext cx="4526280" cy="583565"/>
          </a:xfrm>
          <a:prstGeom prst="rect">
            <a:avLst/>
          </a:prstGeom>
          <a:noFill/>
        </p:spPr>
        <p:txBody>
          <a:bodyPr wrap="square" rtlCol="0">
            <a:spAutoFit/>
          </a:bodyPr>
          <a:p>
            <a:r>
              <a:rPr lang="ru-RU" altLang="en-US" sz="3200">
                <a:latin typeface="Times New Roman" panose="02020603050405020304"/>
                <a:cs typeface="Times New Roman" panose="02020603050405020304"/>
                <a:sym typeface="+mn-ea"/>
              </a:rPr>
              <a:t>Вспомним </a:t>
            </a:r>
            <a:r>
              <a:rPr lang="en-US" sz="3200">
                <a:latin typeface="Times New Roman" panose="02020603050405020304"/>
                <a:cs typeface="Times New Roman" panose="02020603050405020304"/>
                <a:sym typeface="+mn-ea"/>
              </a:rPr>
              <a:t>CSS</a:t>
            </a:r>
            <a:endParaRPr lang="en-US" sz="3200">
              <a:latin typeface="Times New Roman" panose="02020603050405020304"/>
              <a:cs typeface="Times New Roman" panose="02020603050405020304"/>
            </a:endParaRPr>
          </a:p>
        </p:txBody>
      </p:sp>
      <p:sp>
        <p:nvSpPr>
          <p:cNvPr id="3" name="Text Box 2"/>
          <p:cNvSpPr txBox="1"/>
          <p:nvPr/>
        </p:nvSpPr>
        <p:spPr>
          <a:xfrm>
            <a:off x="510540" y="1906905"/>
            <a:ext cx="6547485" cy="3476625"/>
          </a:xfrm>
          <a:prstGeom prst="rect">
            <a:avLst/>
          </a:prstGeom>
        </p:spPr>
        <p:txBody>
          <a:bodyPr wrap="square">
            <a:spAutoFit/>
          </a:bodyPr>
          <a:p>
            <a:pPr marL="342900" indent="-342900" algn="just">
              <a:lnSpc>
                <a:spcPct val="100000"/>
              </a:lnSpc>
              <a:spcBef>
                <a:spcPts val="0"/>
              </a:spcBef>
              <a:spcAft>
                <a:spcPts val="0"/>
              </a:spcAft>
              <a:buFont typeface="Arial" panose="020B0704020202020204" pitchFamily="34" charset="0"/>
              <a:buChar char="•"/>
            </a:pPr>
            <a:r>
              <a:rPr sz="2400">
                <a:latin typeface="Times New Roman" panose="02020603050405020304"/>
                <a:cs typeface="Times New Roman" panose="02020603050405020304"/>
              </a:rPr>
              <a:t>Цвет и фон</a:t>
            </a:r>
            <a:r>
              <a:rPr lang="en-US" sz="2400">
                <a:latin typeface="Times New Roman" panose="02020603050405020304"/>
                <a:cs typeface="Times New Roman" panose="02020603050405020304"/>
              </a:rPr>
              <a:t>: </a:t>
            </a:r>
            <a:r>
              <a:rPr sz="2800" i="1">
                <a:latin typeface="Times New Roman" panose="02020603050405020304"/>
                <a:cs typeface="Times New Roman" panose="02020603050405020304"/>
              </a:rPr>
              <a:t>color, background, opacity</a:t>
            </a:r>
            <a:endParaRPr sz="2800" i="1">
              <a:latin typeface="Times New Roman" panose="02020603050405020304"/>
              <a:cs typeface="Times New Roman" panose="02020603050405020304"/>
            </a:endParaRPr>
          </a:p>
          <a:p>
            <a:pPr marL="342900" indent="-342900" algn="just">
              <a:lnSpc>
                <a:spcPct val="100000"/>
              </a:lnSpc>
              <a:spcBef>
                <a:spcPts val="0"/>
              </a:spcBef>
              <a:spcAft>
                <a:spcPts val="0"/>
              </a:spcAft>
              <a:buFont typeface="Arial" panose="020B0704020202020204" pitchFamily="34" charset="0"/>
              <a:buChar char="•"/>
            </a:pPr>
            <a:r>
              <a:rPr sz="2400">
                <a:latin typeface="Times New Roman" panose="02020603050405020304"/>
                <a:cs typeface="Times New Roman" panose="02020603050405020304"/>
              </a:rPr>
              <a:t>Отступы и размеры</a:t>
            </a:r>
            <a:r>
              <a:rPr lang="en-US" sz="2400">
                <a:latin typeface="Times New Roman" panose="02020603050405020304"/>
                <a:cs typeface="Times New Roman" panose="02020603050405020304"/>
              </a:rPr>
              <a:t>: </a:t>
            </a:r>
            <a:r>
              <a:rPr sz="2800" i="1">
                <a:latin typeface="Times New Roman" panose="02020603050405020304"/>
                <a:cs typeface="Times New Roman" panose="02020603050405020304"/>
              </a:rPr>
              <a:t>margin, padding, width, height</a:t>
            </a:r>
            <a:endParaRPr sz="2800" i="1">
              <a:latin typeface="Times New Roman" panose="02020603050405020304"/>
              <a:cs typeface="Times New Roman" panose="02020603050405020304"/>
            </a:endParaRPr>
          </a:p>
          <a:p>
            <a:pPr marL="342900" indent="-342900" algn="just">
              <a:lnSpc>
                <a:spcPct val="100000"/>
              </a:lnSpc>
              <a:spcBef>
                <a:spcPts val="0"/>
              </a:spcBef>
              <a:spcAft>
                <a:spcPts val="0"/>
              </a:spcAft>
              <a:buFont typeface="Arial" panose="020B0704020202020204" pitchFamily="34" charset="0"/>
              <a:buChar char="•"/>
            </a:pPr>
            <a:r>
              <a:rPr sz="2400">
                <a:latin typeface="Times New Roman" panose="02020603050405020304"/>
                <a:cs typeface="Times New Roman" panose="02020603050405020304"/>
              </a:rPr>
              <a:t>Рамк</a:t>
            </a:r>
            <a:r>
              <a:rPr lang="ru-RU" sz="2400">
                <a:latin typeface="Times New Roman" panose="02020603050405020304"/>
                <a:cs typeface="Times New Roman" panose="02020603050405020304"/>
              </a:rPr>
              <a:t>и: </a:t>
            </a:r>
            <a:r>
              <a:rPr sz="2400" i="1">
                <a:latin typeface="Times New Roman" panose="02020603050405020304"/>
                <a:cs typeface="Times New Roman" panose="02020603050405020304"/>
              </a:rPr>
              <a:t>border, border-radius</a:t>
            </a:r>
            <a:endParaRPr sz="2400" i="1">
              <a:latin typeface="Times New Roman" panose="02020603050405020304"/>
              <a:cs typeface="Times New Roman" panose="02020603050405020304"/>
            </a:endParaRPr>
          </a:p>
          <a:p>
            <a:pPr marL="342900" indent="-342900" algn="just">
              <a:lnSpc>
                <a:spcPct val="100000"/>
              </a:lnSpc>
              <a:spcBef>
                <a:spcPts val="0"/>
              </a:spcBef>
              <a:spcAft>
                <a:spcPts val="0"/>
              </a:spcAft>
              <a:buFont typeface="Arial" panose="020B0704020202020204" pitchFamily="34" charset="0"/>
              <a:buChar char="•"/>
            </a:pPr>
            <a:r>
              <a:rPr sz="2400">
                <a:latin typeface="Times New Roman" panose="02020603050405020304"/>
                <a:cs typeface="Times New Roman" panose="02020603050405020304"/>
              </a:rPr>
              <a:t>Шрифты</a:t>
            </a:r>
            <a:r>
              <a:rPr lang="en-US" sz="2400">
                <a:latin typeface="Times New Roman" panose="02020603050405020304"/>
                <a:cs typeface="Times New Roman" panose="02020603050405020304"/>
              </a:rPr>
              <a:t>: </a:t>
            </a:r>
            <a:r>
              <a:rPr sz="2800" i="1">
                <a:latin typeface="Times New Roman" panose="02020603050405020304"/>
                <a:cs typeface="Times New Roman" panose="02020603050405020304"/>
              </a:rPr>
              <a:t>font-size, font-family, font-weight</a:t>
            </a:r>
            <a:endParaRPr sz="2800" i="1">
              <a:latin typeface="Times New Roman" panose="02020603050405020304"/>
              <a:cs typeface="Times New Roman" panose="02020603050405020304"/>
            </a:endParaRPr>
          </a:p>
          <a:p>
            <a:pPr marL="342900" indent="-342900" algn="just">
              <a:lnSpc>
                <a:spcPct val="100000"/>
              </a:lnSpc>
              <a:spcBef>
                <a:spcPts val="0"/>
              </a:spcBef>
              <a:spcAft>
                <a:spcPts val="0"/>
              </a:spcAft>
              <a:buFont typeface="Arial" panose="020B0704020202020204" pitchFamily="34" charset="0"/>
              <a:buChar char="•"/>
            </a:pPr>
            <a:r>
              <a:rPr sz="2400">
                <a:latin typeface="Times New Roman" panose="02020603050405020304"/>
                <a:cs typeface="Times New Roman" panose="02020603050405020304"/>
              </a:rPr>
              <a:t>Расположение</a:t>
            </a:r>
            <a:r>
              <a:rPr lang="en-US" sz="2400">
                <a:latin typeface="Times New Roman" panose="02020603050405020304"/>
                <a:cs typeface="Times New Roman" panose="02020603050405020304"/>
              </a:rPr>
              <a:t>: </a:t>
            </a:r>
            <a:r>
              <a:rPr sz="2800" i="1">
                <a:latin typeface="Times New Roman" panose="02020603050405020304"/>
                <a:cs typeface="Times New Roman" panose="02020603050405020304"/>
              </a:rPr>
              <a:t>display, position, flex, grid</a:t>
            </a:r>
            <a:endParaRPr sz="2800" i="1">
              <a:latin typeface="Times New Roman" panose="02020603050405020304"/>
              <a:cs typeface="Times New Roman" panose="02020603050405020304"/>
            </a:endParaRPr>
          </a:p>
          <a:p>
            <a:pPr marL="342900" indent="-342900" algn="just">
              <a:lnSpc>
                <a:spcPct val="100000"/>
              </a:lnSpc>
              <a:spcBef>
                <a:spcPts val="0"/>
              </a:spcBef>
              <a:spcAft>
                <a:spcPts val="0"/>
              </a:spcAft>
              <a:buFont typeface="Arial" panose="020B0704020202020204" pitchFamily="34" charset="0"/>
              <a:buChar char="•"/>
            </a:pPr>
            <a:r>
              <a:rPr sz="2400">
                <a:latin typeface="Times New Roman" panose="02020603050405020304"/>
                <a:cs typeface="Times New Roman" panose="02020603050405020304"/>
              </a:rPr>
              <a:t>Анимации</a:t>
            </a:r>
            <a:r>
              <a:rPr lang="en-US" sz="2400">
                <a:latin typeface="Times New Roman" panose="02020603050405020304"/>
                <a:cs typeface="Times New Roman" panose="02020603050405020304"/>
              </a:rPr>
              <a:t>: </a:t>
            </a:r>
            <a:r>
              <a:rPr sz="2800" i="1">
                <a:latin typeface="Times New Roman" panose="02020603050405020304"/>
                <a:cs typeface="Times New Roman" panose="02020603050405020304"/>
              </a:rPr>
              <a:t>transition, animation</a:t>
            </a:r>
            <a:endParaRPr sz="2800" i="1">
              <a:latin typeface="Times New Roman" panose="02020603050405020304"/>
              <a:cs typeface="Times New Roman" panose="02020603050405020304"/>
            </a:endParaRPr>
          </a:p>
        </p:txBody>
      </p:sp>
      <p:sp>
        <p:nvSpPr>
          <p:cNvPr id="4" name="文本框 3"/>
          <p:cNvSpPr txBox="1"/>
          <p:nvPr/>
        </p:nvSpPr>
        <p:spPr>
          <a:xfrm>
            <a:off x="7124700" y="2208530"/>
            <a:ext cx="4509135" cy="3175000"/>
          </a:xfrm>
          <a:prstGeom prst="rect">
            <a:avLst/>
          </a:prstGeom>
          <a:noFill/>
        </p:spPr>
        <p:txBody>
          <a:bodyPr vert="horz" wrap="square" rtlCol="0">
            <a:noAutofit/>
          </a:bodyPr>
          <a:p>
            <a:pPr indent="0" algn="l">
              <a:lnSpc>
                <a:spcPct val="100000"/>
              </a:lnSpc>
              <a:buNone/>
            </a:pPr>
            <a:r>
              <a:rPr lang="zh-CN" altLang="en-US" sz="2400">
                <a:latin typeface="Calibri"/>
              </a:rPr>
              <a:t>颜色和背景：颜色、背景、不透明度；内边距和尺寸：外边距、内边距、宽度、高度；边框：边框、圆角边框；字体：字号、字体系列、字重；位置：显示、位置、弹性布局、网格布局；动画：过渡、动画</a:t>
            </a:r>
            <a:endParaRPr lang="zh-CN" altLang="en-US" sz="2400">
              <a:latin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56590" y="828675"/>
            <a:ext cx="10878820" cy="5262245"/>
          </a:xfrm>
          <a:prstGeom prst="rect">
            <a:avLst/>
          </a:prstGeom>
          <a:noFill/>
        </p:spPr>
        <p:txBody>
          <a:bodyPr wrap="square" rtlCol="0" anchor="t">
            <a:spAutoFit/>
          </a:bodyPr>
          <a:p>
            <a:pPr algn="just">
              <a:lnSpc>
                <a:spcPct val="150000"/>
              </a:lnSpc>
            </a:pPr>
            <a:r>
              <a:rPr lang="en-US" sz="2400">
                <a:latin typeface="Arial Regular" panose="020B0704020202020204" charset="0"/>
                <a:cs typeface="Arial Regular" panose="020B0704020202020204" charset="0"/>
              </a:rPr>
              <a:t>	</a:t>
            </a:r>
            <a:r>
              <a:rPr lang="en-US" sz="2400">
                <a:latin typeface="Times New Roman" panose="02020603050405020304"/>
                <a:cs typeface="Times New Roman" panose="02020603050405020304"/>
              </a:rPr>
              <a:t>Создадим нашу первую программу на языке JavaScript. Для написания и тестирования программ на языке JavaScript нам потребуются две вещи: текстовый редактор и веб-браузер.</a:t>
            </a:r>
            <a:endParaRPr lang="en-US" sz="2400">
              <a:latin typeface="Times New Roman" panose="02020603050405020304"/>
              <a:cs typeface="Times New Roman" panose="02020603050405020304"/>
            </a:endParaRPr>
          </a:p>
          <a:p>
            <a:pPr algn="just">
              <a:lnSpc>
                <a:spcPct val="150000"/>
              </a:lnSpc>
            </a:pPr>
            <a:endParaRPr lang="en-US" sz="2400">
              <a:latin typeface="Times New Roman" panose="02020603050405020304"/>
              <a:cs typeface="Times New Roman" panose="02020603050405020304"/>
            </a:endParaRPr>
          </a:p>
          <a:p>
            <a:pPr algn="just">
              <a:lnSpc>
                <a:spcPct val="150000"/>
              </a:lnSpc>
            </a:pPr>
            <a:r>
              <a:rPr lang="en-US" sz="3200">
                <a:latin typeface="Arial Regular" panose="020B0704020202020204" charset="0"/>
                <a:cs typeface="Arial Regular" panose="020B0704020202020204" charset="0"/>
              </a:rPr>
              <a:t>让我们创建我们的第一个JavaScript程序。为了编写和测试JavaScript程序，我们需要两件事：文本编辑器和Web浏览器。</a:t>
            </a:r>
            <a:endParaRPr lang="en-US" sz="3200">
              <a:latin typeface="Arial Regular" panose="020B0704020202020204" charset="0"/>
              <a:cs typeface="Arial Regular" panose="020B0704020202020204" charset="0"/>
            </a:endParaRPr>
          </a:p>
          <a:p>
            <a:pPr algn="just">
              <a:lnSpc>
                <a:spcPct val="150000"/>
              </a:lnSpc>
            </a:pPr>
            <a:endParaRPr lang="en-US" sz="3200">
              <a:latin typeface="Arial Regular" panose="020B0704020202020204" charset="0"/>
              <a:cs typeface="Arial Regular" panose="020B0704020202020204" charset="0"/>
            </a:endParaRPr>
          </a:p>
        </p:txBody>
      </p:sp>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87095" y="797560"/>
            <a:ext cx="10417810" cy="4707890"/>
          </a:xfrm>
          <a:prstGeom prst="rect">
            <a:avLst/>
          </a:prstGeom>
          <a:noFill/>
        </p:spPr>
        <p:txBody>
          <a:bodyPr wrap="square" rtlCol="0" anchor="t">
            <a:spAutoFit/>
          </a:bodyPr>
          <a:p>
            <a:pPr algn="just">
              <a:lnSpc>
                <a:spcPct val="150000"/>
              </a:lnSpc>
            </a:pPr>
            <a:r>
              <a:rPr lang="en-US" sz="2400">
                <a:latin typeface="Arial Regular" panose="020B0704020202020204" charset="0"/>
                <a:cs typeface="Arial Regular" panose="020B0704020202020204" charset="0"/>
              </a:rPr>
              <a:t>	</a:t>
            </a:r>
            <a:r>
              <a:rPr lang="en-US" sz="2400">
                <a:latin typeface="Times New Roman" panose="02020603050405020304"/>
                <a:cs typeface="Times New Roman" panose="02020603050405020304"/>
              </a:rPr>
              <a:t>В качестве текстового редактора можно использовать следующие редакторы - Sublime Text, Visual Studio Code, Notepad++ и другие. Так же в качестве редактора можно использовать приложение Блокнот</a:t>
            </a:r>
            <a:r>
              <a:rPr lang="en-US" sz="2400">
                <a:latin typeface="Arial Regular" panose="020B0704020202020204" charset="0"/>
                <a:cs typeface="Arial Regular" panose="020B0704020202020204" charset="0"/>
              </a:rPr>
              <a:t>. </a:t>
            </a:r>
            <a:endParaRPr lang="en-US" sz="2400">
              <a:latin typeface="Arial Regular" panose="020B0704020202020204" charset="0"/>
              <a:cs typeface="Arial Regular" panose="020B0704020202020204" charset="0"/>
            </a:endParaRPr>
          </a:p>
          <a:p>
            <a:pPr algn="just">
              <a:lnSpc>
                <a:spcPct val="150000"/>
              </a:lnSpc>
            </a:pPr>
            <a:endParaRPr lang="en-US" sz="3200">
              <a:latin typeface="Arial Regular" panose="020B0704020202020204" charset="0"/>
              <a:cs typeface="Arial Regular" panose="020B0704020202020204" charset="0"/>
            </a:endParaRPr>
          </a:p>
          <a:p>
            <a:pPr algn="just">
              <a:lnSpc>
                <a:spcPct val="150000"/>
              </a:lnSpc>
            </a:pPr>
            <a:r>
              <a:rPr lang="en-US" sz="3200">
                <a:latin typeface="Arial Regular" panose="020B0704020202020204" charset="0"/>
                <a:cs typeface="Arial Regular" panose="020B0704020202020204" charset="0"/>
              </a:rPr>
              <a:t>您可以使用以下编辑器作为文本编辑器：Sublime Text、Visual Studio Code、Notepad++等。您还可以使用记事本应用程序作为编辑器。</a:t>
            </a:r>
            <a:endParaRPr lang="en-US" sz="3200">
              <a:latin typeface="Arial Regular" panose="020B0704020202020204" charset="0"/>
              <a:cs typeface="Arial Regular" panose="020B0704020202020204" charset="0"/>
            </a:endParaRPr>
          </a:p>
        </p:txBody>
      </p:sp>
      <p:sp>
        <p:nvSpPr>
          <p:cNvPr id="3" name="Slide Number Placeholder 2"/>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95680" y="797560"/>
            <a:ext cx="10200005" cy="4707890"/>
          </a:xfrm>
          <a:prstGeom prst="rect">
            <a:avLst/>
          </a:prstGeom>
          <a:noFill/>
        </p:spPr>
        <p:txBody>
          <a:bodyPr wrap="square" rtlCol="0" anchor="t">
            <a:spAutoFit/>
          </a:bodyPr>
          <a:p>
            <a:pPr algn="just">
              <a:lnSpc>
                <a:spcPct val="150000"/>
              </a:lnSpc>
            </a:pPr>
            <a:r>
              <a:rPr lang="en-US" sz="2400">
                <a:latin typeface="Arial Regular" panose="020B0704020202020204" charset="0"/>
                <a:cs typeface="Arial Regular" panose="020B0704020202020204" charset="0"/>
              </a:rPr>
              <a:t>	</a:t>
            </a:r>
            <a:r>
              <a:rPr lang="en-US" sz="2400">
                <a:latin typeface="Times New Roman" panose="02020603050405020304"/>
                <a:cs typeface="Times New Roman" panose="02020603050405020304"/>
              </a:rPr>
              <a:t>В рамках курса «Разработка веб-интерфейсного скрипта» мы будем ориентироваться на бесплатный и многофункциональный текстовый редактор Visual Studio Code, поскольку он является наиболее популярным.</a:t>
            </a:r>
            <a:endParaRPr lang="en-US" sz="2400">
              <a:latin typeface="Arial Regular" panose="020B0704020202020204" charset="0"/>
              <a:cs typeface="Arial Regular" panose="020B0704020202020204" charset="0"/>
            </a:endParaRPr>
          </a:p>
          <a:p>
            <a:pPr algn="just">
              <a:lnSpc>
                <a:spcPct val="150000"/>
              </a:lnSpc>
            </a:pPr>
            <a:endParaRPr lang="en-US" sz="3200">
              <a:latin typeface="Arial Regular" panose="020B0704020202020204" charset="0"/>
              <a:cs typeface="Arial Regular" panose="020B0704020202020204" charset="0"/>
            </a:endParaRPr>
          </a:p>
          <a:p>
            <a:pPr algn="just">
              <a:lnSpc>
                <a:spcPct val="150000"/>
              </a:lnSpc>
            </a:pPr>
            <a:r>
              <a:rPr lang="en-US" sz="3200">
                <a:latin typeface="Arial Regular" panose="020B0704020202020204" charset="0"/>
                <a:cs typeface="Arial Regular" panose="020B0704020202020204" charset="0"/>
              </a:rPr>
              <a:t>在“Web界面脚本开发”课程中，我们将专注于免费和多功能的Visual Studio Code文本编辑器，因为它是最受欢迎的。</a:t>
            </a:r>
            <a:endParaRPr lang="en-US" sz="3200">
              <a:latin typeface="Arial Regular" panose="020B0704020202020204" charset="0"/>
              <a:cs typeface="Arial Regular" panose="020B0704020202020204" charset="0"/>
            </a:endParaRPr>
          </a:p>
        </p:txBody>
      </p:sp>
      <p:sp>
        <p:nvSpPr>
          <p:cNvPr id="3" name="Slide Number Placeholder 2"/>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60705" y="1290955"/>
            <a:ext cx="11071225" cy="4276725"/>
          </a:xfrm>
          <a:prstGeom prst="rect">
            <a:avLst/>
          </a:prstGeom>
          <a:noFill/>
        </p:spPr>
        <p:txBody>
          <a:bodyPr wrap="square" rtlCol="0" anchor="t">
            <a:spAutoFit/>
          </a:bodyPr>
          <a:p>
            <a:pPr algn="just">
              <a:lnSpc>
                <a:spcPct val="150000"/>
              </a:lnSpc>
            </a:pPr>
            <a:r>
              <a:rPr lang="en-US" sz="2400">
                <a:latin typeface="Arial Regular" panose="020B0704020202020204" charset="0"/>
                <a:cs typeface="Arial Regular" panose="020B0704020202020204" charset="0"/>
              </a:rPr>
              <a:t>	</a:t>
            </a:r>
            <a:r>
              <a:rPr lang="en-US" sz="2400">
                <a:latin typeface="Times New Roman" panose="02020603050405020304"/>
                <a:cs typeface="Times New Roman" panose="02020603050405020304"/>
              </a:rPr>
              <a:t>В качестве браузера также можно взять последние версии любого предпочтительного веб-браузера. В настоящем руководстве я буду преимущественно ориентироваться на Google Chrome.</a:t>
            </a:r>
            <a:endParaRPr lang="en-US" sz="2400">
              <a:latin typeface="Times New Roman" panose="02020603050405020304"/>
              <a:cs typeface="Times New Roman" panose="02020603050405020304"/>
            </a:endParaRPr>
          </a:p>
          <a:p>
            <a:pPr algn="just">
              <a:lnSpc>
                <a:spcPct val="150000"/>
              </a:lnSpc>
            </a:pPr>
            <a:endParaRPr lang="en-US" sz="2400">
              <a:latin typeface="Arial Regular" panose="020B0704020202020204" charset="0"/>
              <a:cs typeface="Arial Regular" panose="020B0704020202020204" charset="0"/>
            </a:endParaRPr>
          </a:p>
          <a:p>
            <a:pPr algn="just">
              <a:lnSpc>
                <a:spcPct val="150000"/>
              </a:lnSpc>
            </a:pPr>
            <a:r>
              <a:rPr lang="en-US" sz="3200">
                <a:latin typeface="Arial Regular" panose="020B0704020202020204" charset="0"/>
                <a:cs typeface="Arial Regular" panose="020B0704020202020204" charset="0"/>
              </a:rPr>
              <a:t>您还可以使用任何首选Web浏览器的最新版本作为浏览器。在本指南中，我将主要关注Google Chrome。</a:t>
            </a:r>
            <a:endParaRPr lang="en-US" sz="3200">
              <a:latin typeface="Arial Regular" panose="020B0704020202020204" charset="0"/>
              <a:cs typeface="Arial Regular" panose="020B0704020202020204" charset="0"/>
            </a:endParaRPr>
          </a:p>
          <a:p>
            <a:pPr algn="just"/>
            <a:endParaRPr lang="en-US" sz="3200">
              <a:latin typeface="Arial Regular" panose="020B0704020202020204" charset="0"/>
              <a:cs typeface="Arial Regular" panose="020B0704020202020204" charset="0"/>
            </a:endParaRPr>
          </a:p>
        </p:txBody>
      </p:sp>
      <p:sp>
        <p:nvSpPr>
          <p:cNvPr id="3" name="Slide Number Placeholder 2"/>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36270" y="520700"/>
            <a:ext cx="10920095" cy="5262245"/>
          </a:xfrm>
          <a:prstGeom prst="rect">
            <a:avLst/>
          </a:prstGeom>
          <a:noFill/>
        </p:spPr>
        <p:txBody>
          <a:bodyPr wrap="square" rtlCol="0" anchor="t">
            <a:spAutoFit/>
          </a:bodyPr>
          <a:p>
            <a:pPr algn="just">
              <a:lnSpc>
                <a:spcPct val="150000"/>
              </a:lnSpc>
            </a:pPr>
            <a:r>
              <a:rPr lang="en-US" sz="2400">
                <a:latin typeface="Arial Regular" panose="020B0704020202020204" charset="0"/>
                <a:cs typeface="Arial Regular" panose="020B0704020202020204" charset="0"/>
              </a:rPr>
              <a:t>	</a:t>
            </a:r>
            <a:r>
              <a:rPr lang="en-US" sz="2400">
                <a:latin typeface="Times New Roman" panose="02020603050405020304"/>
                <a:cs typeface="Times New Roman" panose="02020603050405020304"/>
              </a:rPr>
              <a:t>Для начала определим для нашего приложения какой-нибудь каталог. Например, создадим папку app. В этой папке создадим файл под названием index.html. То есть данный файл будет представлять веб-страницу с кодом HTML.</a:t>
            </a:r>
            <a:endParaRPr lang="en-US" sz="2400">
              <a:latin typeface="Times New Roman" panose="02020603050405020304"/>
              <a:cs typeface="Times New Roman" panose="02020603050405020304"/>
            </a:endParaRPr>
          </a:p>
          <a:p>
            <a:pPr algn="just">
              <a:lnSpc>
                <a:spcPct val="150000"/>
              </a:lnSpc>
            </a:pPr>
            <a:endParaRPr lang="en-US" sz="2400">
              <a:latin typeface="Arial Regular" panose="020B0704020202020204" charset="0"/>
              <a:cs typeface="Arial Regular" panose="020B0704020202020204" charset="0"/>
            </a:endParaRPr>
          </a:p>
          <a:p>
            <a:pPr algn="just">
              <a:lnSpc>
                <a:spcPct val="150000"/>
              </a:lnSpc>
            </a:pPr>
            <a:r>
              <a:rPr lang="en-US" sz="3200">
                <a:latin typeface="Arial Regular" panose="020B0704020202020204" charset="0"/>
                <a:cs typeface="Arial Regular" panose="020B0704020202020204" charset="0"/>
              </a:rPr>
              <a:t>首先，我们为我们的应用程序定义一个目录。例如，创建一个应用程序文件夹。在这个文件夹中，我们将创建一个名为script.html的文件，也就是说，该文件将表示一个带有HTML代码的网页。</a:t>
            </a:r>
            <a:endParaRPr lang="en-US" sz="3200">
              <a:latin typeface="Arial Regular" panose="020B0704020202020204" charset="0"/>
              <a:cs typeface="Arial Regular" panose="020B0704020202020204" charset="0"/>
            </a:endParaRPr>
          </a:p>
        </p:txBody>
      </p:sp>
      <p:sp>
        <p:nvSpPr>
          <p:cNvPr id="3" name="Slide Number Placeholder 2"/>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684530" y="1906270"/>
            <a:ext cx="6903085" cy="3046095"/>
          </a:xfrm>
          <a:prstGeom prst="rect">
            <a:avLst/>
          </a:prstGeom>
          <a:noFill/>
          <a:ln w="9525">
            <a:noFill/>
          </a:ln>
        </p:spPr>
        <p:txBody>
          <a:bodyPr wrap="square">
            <a:spAutoFit/>
          </a:bodyPr>
          <a:p>
            <a:pPr indent="0"/>
            <a:r>
              <a:rPr lang="en-US" sz="2400" b="0">
                <a:solidFill>
                  <a:srgbClr val="800000"/>
                </a:solidFill>
                <a:latin typeface="Consolas"/>
              </a:rPr>
              <a:t>&lt;!DOCTYPE</a:t>
            </a:r>
            <a:r>
              <a:rPr lang="en-US" sz="2400" b="0">
                <a:solidFill>
                  <a:srgbClr val="000000"/>
                </a:solidFill>
                <a:latin typeface="Consolas"/>
              </a:rPr>
              <a:t> </a:t>
            </a:r>
            <a:r>
              <a:rPr lang="en-US" sz="2400" b="0">
                <a:solidFill>
                  <a:srgbClr val="E50000"/>
                </a:solidFill>
                <a:latin typeface="Consolas"/>
              </a:rPr>
              <a:t>HTML</a:t>
            </a:r>
            <a:r>
              <a:rPr lang="en-US" sz="2400" b="0">
                <a:solidFill>
                  <a:srgbClr val="800000"/>
                </a:solidFill>
                <a:latin typeface="Consolas"/>
              </a:rPr>
              <a:t>&gt;&lt;html&gt;&lt;body&gt;</a:t>
            </a:r>
            <a:r>
              <a:rPr lang="en-US" sz="2400" b="0">
                <a:solidFill>
                  <a:srgbClr val="000000"/>
                </a:solidFill>
                <a:latin typeface="Consolas"/>
              </a:rPr>
              <a:t>  </a:t>
            </a:r>
            <a:r>
              <a:rPr lang="en-US" sz="2400" b="0">
                <a:solidFill>
                  <a:srgbClr val="800000"/>
                </a:solidFill>
                <a:latin typeface="Consolas"/>
              </a:rPr>
              <a:t>&lt;script&gt;</a:t>
            </a:r>
            <a:r>
              <a:rPr lang="en-US" sz="2400" b="0">
                <a:solidFill>
                  <a:srgbClr val="000000"/>
                </a:solidFill>
                <a:latin typeface="Consolas"/>
              </a:rPr>
              <a:t>    </a:t>
            </a:r>
            <a:r>
              <a:rPr lang="en-US" sz="2400" b="0">
                <a:solidFill>
                  <a:srgbClr val="795E26"/>
                </a:solidFill>
                <a:latin typeface="Consolas"/>
              </a:rPr>
              <a:t>alert</a:t>
            </a:r>
            <a:r>
              <a:rPr lang="en-US" sz="2400" b="0">
                <a:solidFill>
                  <a:srgbClr val="000000"/>
                </a:solidFill>
                <a:latin typeface="Consolas"/>
              </a:rPr>
              <a:t>(</a:t>
            </a:r>
            <a:r>
              <a:rPr lang="en-US" sz="2400" b="0">
                <a:solidFill>
                  <a:srgbClr val="A31515"/>
                </a:solidFill>
                <a:latin typeface="Consolas"/>
              </a:rPr>
              <a:t>'Hello world!'</a:t>
            </a:r>
            <a:r>
              <a:rPr lang="en-US" sz="2400" b="0">
                <a:solidFill>
                  <a:srgbClr val="000000"/>
                </a:solidFill>
                <a:latin typeface="Consolas"/>
              </a:rPr>
              <a:t>);  </a:t>
            </a:r>
            <a:r>
              <a:rPr lang="en-US" sz="2400" b="0">
                <a:solidFill>
                  <a:srgbClr val="800000"/>
                </a:solidFill>
                <a:latin typeface="Consolas"/>
              </a:rPr>
              <a:t>&lt;/script&gt;&lt;/body&gt;&lt;/html&gt;</a:t>
            </a:r>
            <a:endParaRPr lang="en-US" sz="2400" b="0">
              <a:solidFill>
                <a:srgbClr val="800000"/>
              </a:solidFill>
              <a:latin typeface="Consolas"/>
            </a:endParaRPr>
          </a:p>
        </p:txBody>
      </p:sp>
      <p:pic>
        <p:nvPicPr>
          <p:cNvPr id="233" name="image2.png"/>
          <p:cNvPicPr preferRelativeResize="0"/>
          <p:nvPr/>
        </p:nvPicPr>
        <p:blipFill>
          <a:blip r:embed="rId1"/>
          <a:srcRect/>
          <a:stretch>
            <a:fillRect/>
          </a:stretch>
        </p:blipFill>
        <p:spPr>
          <a:xfrm>
            <a:off x="5754370" y="2505075"/>
            <a:ext cx="5692140" cy="2119630"/>
          </a:xfrm>
          <a:prstGeom prst="rect">
            <a:avLst/>
          </a:prstGeom>
        </p:spPr>
      </p:pic>
      <p:sp>
        <p:nvSpPr>
          <p:cNvPr id="2" name="Text Box 1"/>
          <p:cNvSpPr txBox="1"/>
          <p:nvPr/>
        </p:nvSpPr>
        <p:spPr>
          <a:xfrm>
            <a:off x="674370" y="404177"/>
            <a:ext cx="5080000" cy="829945"/>
          </a:xfrm>
          <a:prstGeom prst="rect">
            <a:avLst/>
          </a:prstGeom>
          <a:noFill/>
          <a:ln w="9525">
            <a:noFill/>
          </a:ln>
        </p:spPr>
        <p:txBody>
          <a:bodyPr>
            <a:spAutoFit/>
          </a:bodyPr>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3" name="Slide Number Placeholder 2"/>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821690" y="1167130"/>
            <a:ext cx="10739755" cy="4523105"/>
          </a:xfrm>
          <a:prstGeom prst="rect">
            <a:avLst/>
          </a:prstGeom>
          <a:noFill/>
          <a:ln w="9525">
            <a:noFill/>
          </a:ln>
        </p:spPr>
        <p:txBody>
          <a:bodyPr wrap="square">
            <a:spAutoFit/>
          </a:bodyPr>
          <a:p>
            <a:pPr marL="0" indent="449580" algn="just">
              <a:lnSpc>
                <a:spcPct val="150000"/>
              </a:lnSpc>
            </a:pPr>
            <a:r>
              <a:rPr lang="en-US" sz="2400" b="0">
                <a:solidFill>
                  <a:srgbClr val="000000"/>
                </a:solidFill>
                <a:latin typeface="Times New Roman" panose="02020603050405020304"/>
                <a:cs typeface="Times New Roman" panose="02020603050405020304"/>
              </a:rPr>
              <a:t>Как правило, только простейшие скрипты помещаются в HTML. Более сложные выделяются в отдельные файлы. Польза отдельных файлов в том, что браузер загрузит скрипт отдельно и сможет хранить его в </a:t>
            </a:r>
            <a:r>
              <a:rPr lang="ru-RU" altLang="en-US" sz="2400" b="0">
                <a:solidFill>
                  <a:srgbClr val="000000"/>
                </a:solidFill>
                <a:latin typeface="Times New Roman" panose="02020603050405020304"/>
                <a:cs typeface="Times New Roman" panose="02020603050405020304"/>
              </a:rPr>
              <a:t>кеше</a:t>
            </a:r>
            <a:r>
              <a:rPr lang="en-US" sz="2400" b="0">
                <a:solidFill>
                  <a:srgbClr val="000000"/>
                </a:solidFill>
                <a:latin typeface="Times New Roman" panose="02020603050405020304"/>
                <a:cs typeface="Times New Roman" panose="02020603050405020304"/>
              </a:rPr>
              <a:t>.</a:t>
            </a:r>
            <a:endParaRPr lang="en-US" sz="2400" b="0">
              <a:solidFill>
                <a:srgbClr val="000000"/>
              </a:solidFill>
              <a:latin typeface="Arial Regular" panose="020B0704020202020204" charset="0"/>
              <a:cs typeface="Arial Regular" panose="020B0704020202020204" charset="0"/>
            </a:endParaRPr>
          </a:p>
          <a:p>
            <a:pPr marL="0" indent="449580" algn="just">
              <a:lnSpc>
                <a:spcPct val="150000"/>
              </a:lnSpc>
            </a:pPr>
            <a:endParaRPr lang="en-US" sz="2400" b="0">
              <a:solidFill>
                <a:srgbClr val="000000"/>
              </a:solidFill>
              <a:latin typeface="Arial Regular" panose="020B0704020202020204" charset="0"/>
              <a:cs typeface="Arial Regular" panose="020B0704020202020204" charset="0"/>
            </a:endParaRPr>
          </a:p>
          <a:p>
            <a:pPr marL="0" indent="26670" algn="just">
              <a:lnSpc>
                <a:spcPct val="150000"/>
              </a:lnSpc>
            </a:pPr>
            <a:r>
              <a:rPr lang="zh-CN" sz="3200" b="0">
                <a:solidFill>
                  <a:srgbClr val="000000"/>
                </a:solidFill>
                <a:latin typeface="Arial Regular" panose="020B0704020202020204" charset="0"/>
                <a:cs typeface="Arial Regular" panose="020B0704020202020204" charset="0"/>
              </a:rPr>
              <a:t>通常，只有最简单的脚本被放入HTML中。更复杂的文件被分配到单独的文件中。单个文件的好处是浏览器可以单独下载脚本并将其存储在缓存中。</a:t>
            </a:r>
            <a:endParaRPr lang="en-US" sz="3200">
              <a:latin typeface="Arial Regular" panose="020B0704020202020204" charset="0"/>
              <a:cs typeface="Arial Regular" panose="020B0704020202020204" charset="0"/>
            </a:endParaRPr>
          </a:p>
        </p:txBody>
      </p:sp>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616585" y="613410"/>
            <a:ext cx="10916920" cy="5077460"/>
          </a:xfrm>
          <a:prstGeom prst="rect">
            <a:avLst/>
          </a:prstGeom>
          <a:noFill/>
          <a:ln w="9525">
            <a:noFill/>
          </a:ln>
        </p:spPr>
        <p:txBody>
          <a:bodyPr wrap="square">
            <a:spAutoFit/>
          </a:bodyPr>
          <a:p>
            <a:pPr marL="0" indent="449580" algn="l">
              <a:lnSpc>
                <a:spcPct val="150000"/>
              </a:lnSpc>
            </a:pPr>
            <a:r>
              <a:rPr lang="en-US" sz="2400" b="0">
                <a:solidFill>
                  <a:srgbClr val="000000"/>
                </a:solidFill>
                <a:latin typeface="Arial Regular" panose="020B0704020202020204" charset="0"/>
                <a:cs typeface="Arial Regular" panose="020B0704020202020204" charset="0"/>
              </a:rPr>
              <a:t>Другие страницы, которые подключают тот же скрипт, смогут брать его из кеша вместо повторной загрузки из сети. И таким образом файл будет загружаться с сервера только один раз. Это сокращает расход трафика и ускоряет загрузку страниц.</a:t>
            </a:r>
            <a:endParaRPr lang="en-US" sz="2400" b="0">
              <a:solidFill>
                <a:srgbClr val="000000"/>
              </a:solidFill>
              <a:latin typeface="Arial Regular" panose="020B0704020202020204" charset="0"/>
              <a:cs typeface="Arial Regular" panose="020B0704020202020204" charset="0"/>
            </a:endParaRPr>
          </a:p>
          <a:p>
            <a:pPr marL="0" indent="449580" algn="l">
              <a:lnSpc>
                <a:spcPct val="150000"/>
              </a:lnSpc>
            </a:pPr>
            <a:endParaRPr lang="en-US" sz="2400" b="0">
              <a:solidFill>
                <a:srgbClr val="000000"/>
              </a:solidFill>
              <a:latin typeface="Arial Regular" panose="020B0704020202020204" charset="0"/>
              <a:cs typeface="Arial Regular" panose="020B0704020202020204" charset="0"/>
            </a:endParaRPr>
          </a:p>
          <a:p>
            <a:pPr marL="0" indent="12700" algn="l">
              <a:lnSpc>
                <a:spcPct val="150000"/>
              </a:lnSpc>
            </a:pPr>
            <a:r>
              <a:rPr lang="zh-CN" sz="3200" b="0">
                <a:solidFill>
                  <a:srgbClr val="000000"/>
                </a:solidFill>
                <a:latin typeface="Arial Regular" panose="020B0704020202020204" charset="0"/>
                <a:cs typeface="Arial Regular" panose="020B0704020202020204" charset="0"/>
              </a:rPr>
              <a:t>连接相同脚本的其他页面可以从缓存中提取脚本，而不是从网络中重新加载。这样，文件只能从服务器下载一次。这减少了流量，并加快了页面加载速度。</a:t>
            </a:r>
            <a:endParaRPr lang="en-US" sz="3200">
              <a:latin typeface="Arial Regular" panose="020B0704020202020204" charset="0"/>
              <a:cs typeface="Arial Regular" panose="020B0704020202020204" charset="0"/>
            </a:endParaRPr>
          </a:p>
        </p:txBody>
      </p:sp>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35305" y="1369060"/>
            <a:ext cx="5175250" cy="2306955"/>
          </a:xfrm>
          <a:prstGeom prst="rect">
            <a:avLst/>
          </a:prstGeom>
          <a:noFill/>
          <a:ln w="9525">
            <a:noFill/>
          </a:ln>
        </p:spPr>
        <p:txBody>
          <a:bodyPr wrap="square">
            <a:spAutoFit/>
          </a:bodyPr>
          <a:p>
            <a:pPr indent="0"/>
            <a:r>
              <a:rPr lang="en-US" sz="2400" b="0">
                <a:solidFill>
                  <a:srgbClr val="800000"/>
                </a:solidFill>
                <a:latin typeface="Consolas"/>
              </a:rPr>
              <a:t>&lt;!DOCTYPE</a:t>
            </a:r>
            <a:r>
              <a:rPr lang="en-US" sz="2400" b="0">
                <a:solidFill>
                  <a:srgbClr val="000000"/>
                </a:solidFill>
                <a:latin typeface="Consolas"/>
              </a:rPr>
              <a:t> </a:t>
            </a:r>
            <a:r>
              <a:rPr lang="en-US" sz="2400" b="0">
                <a:solidFill>
                  <a:srgbClr val="E50000"/>
                </a:solidFill>
                <a:latin typeface="Consolas"/>
              </a:rPr>
              <a:t>HTML</a:t>
            </a:r>
            <a:r>
              <a:rPr lang="en-US" sz="2400" b="0">
                <a:solidFill>
                  <a:srgbClr val="800000"/>
                </a:solidFill>
                <a:latin typeface="Consolas"/>
              </a:rPr>
              <a:t>&gt;&lt;html&gt;&lt;body&gt;</a:t>
            </a:r>
            <a:r>
              <a:rPr lang="en-US" sz="2400" b="0">
                <a:solidFill>
                  <a:srgbClr val="000000"/>
                </a:solidFill>
                <a:latin typeface="Consolas"/>
              </a:rPr>
              <a:t>  </a:t>
            </a:r>
            <a:r>
              <a:rPr lang="ru-RU" altLang="en-US" sz="2400" b="0">
                <a:solidFill>
                  <a:srgbClr val="000000"/>
                </a:solidFill>
                <a:latin typeface="Consolas"/>
              </a:rPr>
              <a:t>  </a:t>
            </a:r>
            <a:r>
              <a:rPr lang="en-US" sz="2400" b="0">
                <a:solidFill>
                  <a:srgbClr val="800000"/>
                </a:solidFill>
                <a:latin typeface="Consolas"/>
              </a:rPr>
              <a:t>&lt;script</a:t>
            </a:r>
            <a:r>
              <a:rPr lang="en-US" sz="2400" b="0">
                <a:solidFill>
                  <a:srgbClr val="000000"/>
                </a:solidFill>
                <a:latin typeface="Consolas"/>
              </a:rPr>
              <a:t> </a:t>
            </a:r>
            <a:r>
              <a:rPr lang="en-US" sz="2400" b="0">
                <a:solidFill>
                  <a:srgbClr val="E50000"/>
                </a:solidFill>
                <a:latin typeface="Consolas"/>
              </a:rPr>
              <a:t>src</a:t>
            </a:r>
            <a:r>
              <a:rPr lang="en-US" sz="2400" b="0">
                <a:solidFill>
                  <a:srgbClr val="000000"/>
                </a:solidFill>
                <a:latin typeface="Consolas"/>
              </a:rPr>
              <a:t>=</a:t>
            </a:r>
            <a:r>
              <a:rPr lang="en-US" sz="2400" b="0">
                <a:solidFill>
                  <a:srgbClr val="0000FF"/>
                </a:solidFill>
                <a:latin typeface="Consolas"/>
              </a:rPr>
              <a:t>"script.js"</a:t>
            </a:r>
            <a:r>
              <a:rPr lang="en-US" sz="2400" b="0">
                <a:solidFill>
                  <a:srgbClr val="800000"/>
                </a:solidFill>
                <a:latin typeface="Consolas"/>
              </a:rPr>
              <a:t>&gt;&lt;/script&gt;&lt;/body&gt;&lt;/html&gt;</a:t>
            </a:r>
            <a:endParaRPr lang="en-US" sz="2400"/>
          </a:p>
        </p:txBody>
      </p:sp>
      <p:sp>
        <p:nvSpPr>
          <p:cNvPr id="3" name="Text Box 2"/>
          <p:cNvSpPr txBox="1"/>
          <p:nvPr/>
        </p:nvSpPr>
        <p:spPr>
          <a:xfrm>
            <a:off x="398780" y="5125720"/>
            <a:ext cx="5080000" cy="460375"/>
          </a:xfrm>
          <a:prstGeom prst="rect">
            <a:avLst/>
          </a:prstGeom>
          <a:noFill/>
          <a:ln w="9525">
            <a:noFill/>
          </a:ln>
        </p:spPr>
        <p:txBody>
          <a:bodyPr>
            <a:spAutoFit/>
          </a:bodyPr>
          <a:p>
            <a:pPr indent="0"/>
            <a:r>
              <a:rPr lang="en-US" sz="2400" b="0">
                <a:solidFill>
                  <a:srgbClr val="795E26"/>
                </a:solidFill>
                <a:latin typeface="Consolas"/>
              </a:rPr>
              <a:t>alert</a:t>
            </a:r>
            <a:r>
              <a:rPr lang="en-US" sz="2400" b="0">
                <a:solidFill>
                  <a:srgbClr val="000000"/>
                </a:solidFill>
                <a:latin typeface="Consolas"/>
              </a:rPr>
              <a:t>(</a:t>
            </a:r>
            <a:r>
              <a:rPr lang="en-US" sz="2400" b="0">
                <a:solidFill>
                  <a:srgbClr val="A31515"/>
                </a:solidFill>
                <a:latin typeface="Consolas"/>
              </a:rPr>
              <a:t>'Hello world!'</a:t>
            </a:r>
            <a:r>
              <a:rPr lang="en-US" sz="2400" b="0">
                <a:solidFill>
                  <a:srgbClr val="000000"/>
                </a:solidFill>
                <a:latin typeface="Consolas"/>
              </a:rPr>
              <a:t>);</a:t>
            </a:r>
            <a:endParaRPr lang="en-US" sz="2400"/>
          </a:p>
        </p:txBody>
      </p:sp>
      <p:sp>
        <p:nvSpPr>
          <p:cNvPr id="4" name="Text Box 3"/>
          <p:cNvSpPr txBox="1"/>
          <p:nvPr/>
        </p:nvSpPr>
        <p:spPr>
          <a:xfrm>
            <a:off x="398780" y="4162107"/>
            <a:ext cx="5080000" cy="829945"/>
          </a:xfrm>
          <a:prstGeom prst="rect">
            <a:avLst/>
          </a:prstGeom>
          <a:noFill/>
          <a:ln w="9525">
            <a:noFill/>
          </a:ln>
        </p:spPr>
        <p:txBody>
          <a:bodyPr>
            <a:spAutoFit/>
          </a:bodyPr>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lvl="0"/>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pic>
        <p:nvPicPr>
          <p:cNvPr id="233" name="image2.png"/>
          <p:cNvPicPr preferRelativeResize="0"/>
          <p:nvPr/>
        </p:nvPicPr>
        <p:blipFill>
          <a:blip r:embed="rId1"/>
          <a:srcRect/>
          <a:stretch>
            <a:fillRect/>
          </a:stretch>
        </p:blipFill>
        <p:spPr>
          <a:xfrm>
            <a:off x="5985510" y="2259330"/>
            <a:ext cx="5793740" cy="1902460"/>
          </a:xfrm>
          <a:prstGeom prst="rect">
            <a:avLst/>
          </a:prstGeom>
        </p:spPr>
      </p:pic>
      <p:sp>
        <p:nvSpPr>
          <p:cNvPr id="5" name="Text Box 4"/>
          <p:cNvSpPr txBox="1"/>
          <p:nvPr/>
        </p:nvSpPr>
        <p:spPr>
          <a:xfrm>
            <a:off x="535305" y="416560"/>
            <a:ext cx="4376420" cy="829945"/>
          </a:xfrm>
          <a:prstGeom prst="rect">
            <a:avLst/>
          </a:prstGeom>
          <a:noFill/>
        </p:spPr>
        <p:txBody>
          <a:bodyPr wrap="square" rtlCol="0" anchor="t">
            <a:spAutoFit/>
          </a:bodyPr>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6" name="Slide Number Placeholder 5"/>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35305" y="1369060"/>
            <a:ext cx="6482080" cy="2306955"/>
          </a:xfrm>
          <a:prstGeom prst="rect">
            <a:avLst/>
          </a:prstGeom>
          <a:noFill/>
          <a:ln w="9525">
            <a:noFill/>
          </a:ln>
        </p:spPr>
        <p:txBody>
          <a:bodyPr wrap="square">
            <a:spAutoFit/>
          </a:bodyPr>
          <a:p>
            <a:pPr indent="0"/>
            <a:r>
              <a:rPr lang="en-US" sz="2400" b="0">
                <a:solidFill>
                  <a:srgbClr val="800000"/>
                </a:solidFill>
                <a:latin typeface="Consolas"/>
              </a:rPr>
              <a:t>&lt;!DOCTYPE</a:t>
            </a:r>
            <a:r>
              <a:rPr lang="en-US" sz="2400" b="0">
                <a:solidFill>
                  <a:srgbClr val="000000"/>
                </a:solidFill>
                <a:latin typeface="Consolas"/>
              </a:rPr>
              <a:t> </a:t>
            </a:r>
            <a:r>
              <a:rPr lang="en-US" sz="2400" b="0">
                <a:solidFill>
                  <a:srgbClr val="E50000"/>
                </a:solidFill>
                <a:latin typeface="Consolas"/>
              </a:rPr>
              <a:t>HTML</a:t>
            </a:r>
            <a:r>
              <a:rPr lang="en-US" sz="2400" b="0">
                <a:solidFill>
                  <a:srgbClr val="800000"/>
                </a:solidFill>
                <a:latin typeface="Consolas"/>
              </a:rPr>
              <a:t>&gt;&lt;html&gt;&lt;</a:t>
            </a:r>
            <a:r>
              <a:rPr lang="ru-RU" altLang="en-US" sz="2400" b="0">
                <a:solidFill>
                  <a:srgbClr val="800000"/>
                </a:solidFill>
                <a:latin typeface="Consolas"/>
              </a:rPr>
              <a:t>head</a:t>
            </a:r>
            <a:r>
              <a:rPr lang="en-US" sz="2400" b="0">
                <a:solidFill>
                  <a:srgbClr val="800000"/>
                </a:solidFill>
                <a:latin typeface="Consolas"/>
              </a:rPr>
              <a:t>&gt;</a:t>
            </a:r>
            <a:endParaRPr lang="en-US" sz="2400" b="0">
              <a:solidFill>
                <a:srgbClr val="800000"/>
              </a:solidFill>
              <a:latin typeface="Consolas"/>
            </a:endParaRPr>
          </a:p>
          <a:p>
            <a:pPr indent="0"/>
            <a:r>
              <a:rPr lang="ru-RU" altLang="en-US" sz="2400">
                <a:solidFill>
                  <a:srgbClr val="800000"/>
                </a:solidFill>
                <a:latin typeface="Consolas"/>
                <a:sym typeface="+mn-ea"/>
              </a:rPr>
              <a:t>    </a:t>
            </a:r>
            <a:r>
              <a:rPr lang="en-US" sz="2400">
                <a:solidFill>
                  <a:srgbClr val="800000"/>
                </a:solidFill>
                <a:latin typeface="Consolas"/>
                <a:sym typeface="+mn-ea"/>
              </a:rPr>
              <a:t>&lt;script</a:t>
            </a:r>
            <a:r>
              <a:rPr lang="en-US" sz="2400">
                <a:solidFill>
                  <a:srgbClr val="000000"/>
                </a:solidFill>
                <a:latin typeface="Consolas"/>
                <a:sym typeface="+mn-ea"/>
              </a:rPr>
              <a:t> </a:t>
            </a:r>
            <a:r>
              <a:rPr lang="en-US" sz="2400">
                <a:solidFill>
                  <a:srgbClr val="E50000"/>
                </a:solidFill>
                <a:latin typeface="Consolas"/>
                <a:sym typeface="+mn-ea"/>
              </a:rPr>
              <a:t>src</a:t>
            </a:r>
            <a:r>
              <a:rPr lang="en-US" sz="2400">
                <a:solidFill>
                  <a:srgbClr val="000000"/>
                </a:solidFill>
                <a:latin typeface="Consolas"/>
                <a:sym typeface="+mn-ea"/>
              </a:rPr>
              <a:t>=</a:t>
            </a:r>
            <a:r>
              <a:rPr lang="en-US" sz="2400">
                <a:solidFill>
                  <a:srgbClr val="0000FF"/>
                </a:solidFill>
                <a:latin typeface="Consolas"/>
                <a:sym typeface="+mn-ea"/>
              </a:rPr>
              <a:t>"script.js"</a:t>
            </a:r>
            <a:r>
              <a:rPr lang="en-US" sz="2400">
                <a:solidFill>
                  <a:srgbClr val="800000"/>
                </a:solidFill>
                <a:latin typeface="Consolas"/>
                <a:sym typeface="+mn-ea"/>
              </a:rPr>
              <a:t>&gt;&lt;/script&gt;</a:t>
            </a:r>
            <a:endParaRPr lang="en-US" sz="2400" b="0">
              <a:solidFill>
                <a:srgbClr val="000000"/>
              </a:solidFill>
              <a:latin typeface="Consolas"/>
            </a:endParaRPr>
          </a:p>
          <a:p>
            <a:pPr indent="0"/>
            <a:r>
              <a:rPr lang="en-US" sz="2400" b="0">
                <a:solidFill>
                  <a:srgbClr val="800000"/>
                </a:solidFill>
                <a:latin typeface="Consolas"/>
              </a:rPr>
              <a:t>&lt;/</a:t>
            </a:r>
            <a:r>
              <a:rPr lang="ru-RU" altLang="en-US" sz="2400" b="0">
                <a:solidFill>
                  <a:srgbClr val="800000"/>
                </a:solidFill>
                <a:latin typeface="Consolas"/>
              </a:rPr>
              <a:t>head</a:t>
            </a:r>
            <a:r>
              <a:rPr lang="en-US" sz="2400" b="0">
                <a:solidFill>
                  <a:srgbClr val="800000"/>
                </a:solidFill>
                <a:latin typeface="Consolas"/>
              </a:rPr>
              <a:t>&gt;&lt;/html&gt;</a:t>
            </a:r>
            <a:endParaRPr lang="en-US" sz="2400"/>
          </a:p>
        </p:txBody>
      </p:sp>
      <p:sp>
        <p:nvSpPr>
          <p:cNvPr id="3" name="Text Box 2"/>
          <p:cNvSpPr txBox="1"/>
          <p:nvPr/>
        </p:nvSpPr>
        <p:spPr>
          <a:xfrm>
            <a:off x="398780" y="5125720"/>
            <a:ext cx="5080000" cy="460375"/>
          </a:xfrm>
          <a:prstGeom prst="rect">
            <a:avLst/>
          </a:prstGeom>
          <a:noFill/>
          <a:ln w="9525">
            <a:noFill/>
          </a:ln>
        </p:spPr>
        <p:txBody>
          <a:bodyPr>
            <a:spAutoFit/>
          </a:bodyPr>
          <a:p>
            <a:pPr indent="0"/>
            <a:r>
              <a:rPr lang="en-US" sz="2400" b="0">
                <a:solidFill>
                  <a:srgbClr val="795E26"/>
                </a:solidFill>
                <a:latin typeface="Consolas"/>
              </a:rPr>
              <a:t>alert</a:t>
            </a:r>
            <a:r>
              <a:rPr lang="en-US" sz="2400" b="0">
                <a:solidFill>
                  <a:srgbClr val="000000"/>
                </a:solidFill>
                <a:latin typeface="Consolas"/>
              </a:rPr>
              <a:t>(</a:t>
            </a:r>
            <a:r>
              <a:rPr lang="en-US" sz="2400" b="0">
                <a:solidFill>
                  <a:srgbClr val="A31515"/>
                </a:solidFill>
                <a:latin typeface="Consolas"/>
              </a:rPr>
              <a:t>'Hello world!'</a:t>
            </a:r>
            <a:r>
              <a:rPr lang="en-US" sz="2400" b="0">
                <a:solidFill>
                  <a:srgbClr val="000000"/>
                </a:solidFill>
                <a:latin typeface="Consolas"/>
              </a:rPr>
              <a:t>);</a:t>
            </a:r>
            <a:endParaRPr lang="en-US" sz="2400"/>
          </a:p>
        </p:txBody>
      </p:sp>
      <p:sp>
        <p:nvSpPr>
          <p:cNvPr id="4" name="Text Box 3"/>
          <p:cNvSpPr txBox="1"/>
          <p:nvPr/>
        </p:nvSpPr>
        <p:spPr>
          <a:xfrm>
            <a:off x="398780" y="4162107"/>
            <a:ext cx="5080000" cy="829945"/>
          </a:xfrm>
          <a:prstGeom prst="rect">
            <a:avLst/>
          </a:prstGeom>
          <a:noFill/>
          <a:ln w="9525">
            <a:noFill/>
          </a:ln>
        </p:spPr>
        <p:txBody>
          <a:bodyPr>
            <a:spAutoFit/>
          </a:bodyPr>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lvl="0"/>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pic>
        <p:nvPicPr>
          <p:cNvPr id="233" name="image2.png"/>
          <p:cNvPicPr preferRelativeResize="0"/>
          <p:nvPr/>
        </p:nvPicPr>
        <p:blipFill>
          <a:blip r:embed="rId1"/>
          <a:srcRect/>
          <a:stretch>
            <a:fillRect/>
          </a:stretch>
        </p:blipFill>
        <p:spPr>
          <a:xfrm>
            <a:off x="5985510" y="2259330"/>
            <a:ext cx="5793740" cy="1902460"/>
          </a:xfrm>
          <a:prstGeom prst="rect">
            <a:avLst/>
          </a:prstGeom>
        </p:spPr>
      </p:pic>
      <p:sp>
        <p:nvSpPr>
          <p:cNvPr id="5" name="Text Box 4"/>
          <p:cNvSpPr txBox="1"/>
          <p:nvPr/>
        </p:nvSpPr>
        <p:spPr>
          <a:xfrm>
            <a:off x="535305" y="416560"/>
            <a:ext cx="4376420" cy="829945"/>
          </a:xfrm>
          <a:prstGeom prst="rect">
            <a:avLst/>
          </a:prstGeom>
          <a:noFill/>
        </p:spPr>
        <p:txBody>
          <a:bodyPr wrap="square" rtlCol="0" anchor="t">
            <a:spAutoFit/>
          </a:bodyPr>
          <a:p>
            <a:pPr marL="0" marR="0" lvl="0" indent="0" algn="l" rtl="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6" name="Slide Number Placeholder 5"/>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664845" y="179070"/>
            <a:ext cx="10862945" cy="3169285"/>
          </a:xfrm>
          <a:prstGeom prst="rect">
            <a:avLst/>
          </a:prstGeom>
          <a:noFill/>
          <a:ln w="9525">
            <a:noFill/>
          </a:ln>
        </p:spPr>
        <p:txBody>
          <a:bodyPr wrap="square">
            <a:spAutoFit/>
          </a:bodyPr>
          <a:p>
            <a:pPr marL="0" indent="449580" algn="just">
              <a:lnSpc>
                <a:spcPct val="100000"/>
              </a:lnSpc>
            </a:pPr>
            <a:r>
              <a:rPr lang="en-US" sz="2400" b="0">
                <a:solidFill>
                  <a:srgbClr val="000000"/>
                </a:solidFill>
                <a:latin typeface="Arial Regular" panose="020B0704020202020204" charset="0"/>
                <a:cs typeface="Arial Regular" panose="020B0704020202020204" charset="0"/>
              </a:rPr>
              <a:t>Если атрибут src установлен, содержимое тега script будет игнорироваться. В одном теге &lt;script&gt; нельзя использовать одновременно атрибут src и код внутри. </a:t>
            </a:r>
            <a:r>
              <a:rPr lang="en-US" sz="2400" b="0">
                <a:latin typeface="Arial Regular" panose="020B0704020202020204" charset="0"/>
                <a:cs typeface="Arial Regular" panose="020B0704020202020204" charset="0"/>
              </a:rPr>
              <a:t>Нижеприведенный</a:t>
            </a:r>
            <a:r>
              <a:rPr lang="en-US" sz="2400" b="0">
                <a:solidFill>
                  <a:srgbClr val="000000"/>
                </a:solidFill>
                <a:latin typeface="Arial Regular" panose="020B0704020202020204" charset="0"/>
                <a:cs typeface="Arial Regular" panose="020B0704020202020204" charset="0"/>
              </a:rPr>
              <a:t> пример не работает.</a:t>
            </a:r>
            <a:endParaRPr lang="en-US" sz="2400" b="0">
              <a:solidFill>
                <a:srgbClr val="000000"/>
              </a:solidFill>
              <a:latin typeface="Arial Regular" panose="020B0704020202020204" charset="0"/>
              <a:cs typeface="Arial Regular" panose="020B0704020202020204" charset="0"/>
            </a:endParaRPr>
          </a:p>
          <a:p>
            <a:pPr marL="0" indent="449580" algn="just">
              <a:lnSpc>
                <a:spcPct val="100000"/>
              </a:lnSpc>
            </a:pPr>
            <a:endParaRPr lang="en-US" sz="3200" b="0">
              <a:solidFill>
                <a:srgbClr val="000000"/>
              </a:solidFill>
              <a:latin typeface="Arial Regular" panose="020B0704020202020204" charset="0"/>
              <a:cs typeface="Arial Regular" panose="020B0704020202020204" charset="0"/>
            </a:endParaRPr>
          </a:p>
          <a:p>
            <a:pPr marL="0" indent="26035" algn="just">
              <a:lnSpc>
                <a:spcPct val="100000"/>
              </a:lnSpc>
            </a:pPr>
            <a:r>
              <a:rPr lang="zh-CN" sz="3200" b="0">
                <a:solidFill>
                  <a:srgbClr val="000000"/>
                </a:solidFill>
                <a:latin typeface="Arial Regular" panose="020B0704020202020204" charset="0"/>
                <a:cs typeface="Arial Regular" panose="020B0704020202020204" charset="0"/>
              </a:rPr>
              <a:t>如果设置了src属性，则脚本标记的内容将被忽略。不能在同一个&lt;script&gt;标签中同时使用SRC属性和内部代码。以下示例不起作用</a:t>
            </a:r>
            <a:r>
              <a:rPr lang="en-US" altLang="zh-CN" sz="3200" b="0">
                <a:solidFill>
                  <a:srgbClr val="000000"/>
                </a:solidFill>
                <a:latin typeface="Arial Regular" panose="020B0704020202020204" charset="0"/>
                <a:cs typeface="Arial Regular" panose="020B0704020202020204" charset="0"/>
              </a:rPr>
              <a:t>.</a:t>
            </a:r>
            <a:endParaRPr lang="en-US" altLang="zh-CN" sz="3200" b="0">
              <a:solidFill>
                <a:srgbClr val="000000"/>
              </a:solidFill>
              <a:latin typeface="Arial Regular" panose="020B0704020202020204" charset="0"/>
              <a:cs typeface="Arial Regular" panose="020B0704020202020204" charset="0"/>
            </a:endParaRPr>
          </a:p>
        </p:txBody>
      </p:sp>
      <p:sp>
        <p:nvSpPr>
          <p:cNvPr id="2" name="Text Box 1"/>
          <p:cNvSpPr txBox="1"/>
          <p:nvPr/>
        </p:nvSpPr>
        <p:spPr>
          <a:xfrm>
            <a:off x="4250690" y="3348355"/>
            <a:ext cx="3691255" cy="3046095"/>
          </a:xfrm>
          <a:prstGeom prst="rect">
            <a:avLst/>
          </a:prstGeom>
          <a:noFill/>
          <a:ln w="9525">
            <a:noFill/>
          </a:ln>
        </p:spPr>
        <p:txBody>
          <a:bodyPr wrap="square">
            <a:spAutoFit/>
          </a:bodyPr>
          <a:p>
            <a:pPr marL="0" indent="0"/>
            <a:r>
              <a:rPr lang="en-US" sz="2400" b="0">
                <a:solidFill>
                  <a:srgbClr val="800000"/>
                </a:solidFill>
                <a:latin typeface="Consolas"/>
              </a:rPr>
              <a:t>&lt;!DOCTYPE</a:t>
            </a:r>
            <a:r>
              <a:rPr lang="en-US" sz="2400" b="0">
                <a:solidFill>
                  <a:srgbClr val="000000"/>
                </a:solidFill>
                <a:latin typeface="Consolas"/>
              </a:rPr>
              <a:t> </a:t>
            </a:r>
            <a:r>
              <a:rPr lang="en-US" sz="2400" b="0">
                <a:solidFill>
                  <a:srgbClr val="E50000"/>
                </a:solidFill>
                <a:latin typeface="Consolas"/>
              </a:rPr>
              <a:t>HTML</a:t>
            </a:r>
            <a:r>
              <a:rPr lang="en-US" sz="2400" b="0">
                <a:solidFill>
                  <a:srgbClr val="800000"/>
                </a:solidFill>
                <a:latin typeface="Consolas"/>
              </a:rPr>
              <a:t>&gt;&lt;html&gt;&lt;body&gt;</a:t>
            </a:r>
            <a:r>
              <a:rPr lang="en-US" sz="2400" b="0">
                <a:solidFill>
                  <a:srgbClr val="000000"/>
                </a:solidFill>
                <a:latin typeface="Consolas"/>
              </a:rPr>
              <a:t>  </a:t>
            </a:r>
            <a:r>
              <a:rPr lang="en-US" sz="2400" b="0">
                <a:solidFill>
                  <a:srgbClr val="800000"/>
                </a:solidFill>
                <a:latin typeface="Consolas"/>
              </a:rPr>
              <a:t>&lt;script</a:t>
            </a:r>
            <a:r>
              <a:rPr lang="en-US" sz="2400" b="0">
                <a:solidFill>
                  <a:srgbClr val="000000"/>
                </a:solidFill>
                <a:latin typeface="Consolas"/>
              </a:rPr>
              <a:t> </a:t>
            </a:r>
            <a:r>
              <a:rPr lang="en-US" sz="2400" b="0">
                <a:solidFill>
                  <a:srgbClr val="E50000"/>
                </a:solidFill>
                <a:latin typeface="Consolas"/>
              </a:rPr>
              <a:t>src</a:t>
            </a:r>
            <a:r>
              <a:rPr lang="en-US" sz="2400" b="0">
                <a:solidFill>
                  <a:srgbClr val="000000"/>
                </a:solidFill>
                <a:latin typeface="Consolas"/>
              </a:rPr>
              <a:t>=</a:t>
            </a:r>
            <a:r>
              <a:rPr lang="en-US" sz="2400" b="0">
                <a:solidFill>
                  <a:srgbClr val="0000FF"/>
                </a:solidFill>
                <a:latin typeface="Consolas"/>
              </a:rPr>
              <a:t>"</a:t>
            </a:r>
            <a:r>
              <a:rPr lang="en-US" sz="2400">
                <a:solidFill>
                  <a:srgbClr val="0000FF"/>
                </a:solidFill>
                <a:latin typeface="Consolas"/>
                <a:sym typeface="+mn-ea"/>
              </a:rPr>
              <a:t>script</a:t>
            </a:r>
            <a:r>
              <a:rPr lang="en-US" sz="2400" b="0">
                <a:solidFill>
                  <a:srgbClr val="0000FF"/>
                </a:solidFill>
                <a:latin typeface="Consolas"/>
              </a:rPr>
              <a:t>.js"</a:t>
            </a:r>
            <a:r>
              <a:rPr lang="en-US" sz="2400" b="0">
                <a:solidFill>
                  <a:srgbClr val="800000"/>
                </a:solidFill>
                <a:latin typeface="Consolas"/>
              </a:rPr>
              <a:t>&gt;</a:t>
            </a:r>
            <a:r>
              <a:rPr lang="en-US" sz="2400" b="0">
                <a:solidFill>
                  <a:srgbClr val="000000"/>
                </a:solidFill>
                <a:latin typeface="Consolas"/>
              </a:rPr>
              <a:t>    </a:t>
            </a:r>
            <a:r>
              <a:rPr lang="en-US" sz="2400" b="0">
                <a:solidFill>
                  <a:srgbClr val="795E26"/>
                </a:solidFill>
                <a:latin typeface="Consolas"/>
              </a:rPr>
              <a:t>alert</a:t>
            </a:r>
            <a:r>
              <a:rPr lang="en-US" sz="2400" b="0">
                <a:solidFill>
                  <a:srgbClr val="000000"/>
                </a:solidFill>
                <a:latin typeface="Consolas"/>
              </a:rPr>
              <a:t>(</a:t>
            </a:r>
            <a:r>
              <a:rPr lang="en-US" sz="2400" b="0">
                <a:solidFill>
                  <a:srgbClr val="A31515"/>
                </a:solidFill>
                <a:latin typeface="Consolas"/>
              </a:rPr>
              <a:t>'New text'</a:t>
            </a:r>
            <a:r>
              <a:rPr lang="en-US" sz="2400" b="0">
                <a:solidFill>
                  <a:srgbClr val="000000"/>
                </a:solidFill>
                <a:latin typeface="Consolas"/>
              </a:rPr>
              <a:t>);  </a:t>
            </a:r>
            <a:r>
              <a:rPr lang="en-US" sz="2400" b="0">
                <a:solidFill>
                  <a:srgbClr val="800000"/>
                </a:solidFill>
                <a:latin typeface="Consolas"/>
              </a:rPr>
              <a:t>&lt;/script&gt;&lt;/body&gt;&lt;/html&gt;</a:t>
            </a:r>
            <a:endParaRPr lang="en-US" sz="2400"/>
          </a:p>
        </p:txBody>
      </p:sp>
      <p:sp>
        <p:nvSpPr>
          <p:cNvPr id="3" name="Slide Number Placeholder 2"/>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08000" y="259715"/>
            <a:ext cx="11255375" cy="3415030"/>
          </a:xfrm>
          <a:prstGeom prst="rect">
            <a:avLst/>
          </a:prstGeom>
          <a:noFill/>
          <a:ln w="9525">
            <a:noFill/>
          </a:ln>
        </p:spPr>
        <p:txBody>
          <a:bodyPr wrap="square">
            <a:spAutoFit/>
          </a:bodyPr>
          <a:p>
            <a:pPr indent="0" algn="just">
              <a:lnSpc>
                <a:spcPct val="150000"/>
              </a:lnSpc>
            </a:pPr>
            <a:r>
              <a:rPr lang="en-US" sz="2400" b="0">
                <a:solidFill>
                  <a:srgbClr val="000000"/>
                </a:solidFill>
                <a:latin typeface="Arial Regular" panose="020B0704020202020204" charset="0"/>
                <a:cs typeface="Arial Regular" panose="020B0704020202020204" charset="0"/>
              </a:rPr>
              <a:t>	Нужно выбрать: либо внешний скрипт &lt;script src="…"&gt;, либо обычный код внутри тега &lt;script&gt;. </a:t>
            </a:r>
            <a:r>
              <a:rPr lang="en-US" sz="2400" b="0">
                <a:latin typeface="Arial Regular" panose="020B0704020202020204" charset="0"/>
                <a:cs typeface="Arial Regular" panose="020B0704020202020204" charset="0"/>
              </a:rPr>
              <a:t>Вышеприведенный</a:t>
            </a:r>
            <a:r>
              <a:rPr lang="en-US" sz="2400" b="0">
                <a:solidFill>
                  <a:srgbClr val="000000"/>
                </a:solidFill>
                <a:latin typeface="Arial Regular" panose="020B0704020202020204" charset="0"/>
                <a:cs typeface="Arial Regular" panose="020B0704020202020204" charset="0"/>
              </a:rPr>
              <a:t> пример можно разделить на два скрипта</a:t>
            </a:r>
            <a:endParaRPr lang="en-US" sz="2400" b="0">
              <a:solidFill>
                <a:srgbClr val="000000"/>
              </a:solidFill>
              <a:latin typeface="Arial Regular" panose="020B0704020202020204" charset="0"/>
              <a:cs typeface="Arial Regular" panose="020B0704020202020204" charset="0"/>
            </a:endParaRPr>
          </a:p>
          <a:p>
            <a:pPr indent="0" algn="just">
              <a:lnSpc>
                <a:spcPct val="150000"/>
              </a:lnSpc>
            </a:pPr>
            <a:endParaRPr lang="en-US" sz="2400" b="0">
              <a:solidFill>
                <a:srgbClr val="000000"/>
              </a:solidFill>
              <a:latin typeface="Arial Regular" panose="020B0704020202020204" charset="0"/>
              <a:cs typeface="Arial Regular" panose="020B0704020202020204" charset="0"/>
            </a:endParaRPr>
          </a:p>
          <a:p>
            <a:pPr indent="0" algn="just">
              <a:lnSpc>
                <a:spcPct val="150000"/>
              </a:lnSpc>
            </a:pPr>
            <a:r>
              <a:rPr lang="zh-CN" sz="2400" b="0">
                <a:solidFill>
                  <a:srgbClr val="000000"/>
                </a:solidFill>
                <a:latin typeface="Arial Regular" panose="020B0704020202020204" charset="0"/>
                <a:cs typeface="Arial Regular" panose="020B0704020202020204" charset="0"/>
              </a:rPr>
              <a:t>您可以选择外部脚本&lt;script src=“…”&gt;或&lt;script&gt;标签内的普通代码。上述示例可分为两个脚本</a:t>
            </a:r>
            <a:endParaRPr lang="en-US" sz="2400">
              <a:latin typeface="Arial Regular" panose="020B0704020202020204" charset="0"/>
              <a:cs typeface="Arial Regular" panose="020B0704020202020204" charset="0"/>
            </a:endParaRPr>
          </a:p>
        </p:txBody>
      </p:sp>
      <p:sp>
        <p:nvSpPr>
          <p:cNvPr id="3" name="Text Box 2"/>
          <p:cNvSpPr txBox="1"/>
          <p:nvPr/>
        </p:nvSpPr>
        <p:spPr>
          <a:xfrm>
            <a:off x="2771140" y="3470275"/>
            <a:ext cx="8194040" cy="2676525"/>
          </a:xfrm>
          <a:prstGeom prst="rect">
            <a:avLst/>
          </a:prstGeom>
          <a:noFill/>
          <a:ln w="9525">
            <a:noFill/>
          </a:ln>
        </p:spPr>
        <p:txBody>
          <a:bodyPr wrap="square">
            <a:spAutoFit/>
          </a:bodyPr>
          <a:p>
            <a:pPr marL="0" indent="0"/>
            <a:r>
              <a:rPr lang="en-US" sz="2400" b="0">
                <a:solidFill>
                  <a:srgbClr val="800000"/>
                </a:solidFill>
                <a:latin typeface="Consolas"/>
              </a:rPr>
              <a:t>&lt;!DOCTYPE</a:t>
            </a:r>
            <a:r>
              <a:rPr lang="en-US" sz="2400" b="0">
                <a:solidFill>
                  <a:srgbClr val="000000"/>
                </a:solidFill>
                <a:latin typeface="Consolas"/>
              </a:rPr>
              <a:t> </a:t>
            </a:r>
            <a:r>
              <a:rPr lang="en-US" sz="2400" b="0">
                <a:solidFill>
                  <a:srgbClr val="E50000"/>
                </a:solidFill>
                <a:latin typeface="Consolas"/>
              </a:rPr>
              <a:t>HTML</a:t>
            </a:r>
            <a:r>
              <a:rPr lang="en-US" sz="2400" b="0">
                <a:solidFill>
                  <a:srgbClr val="800000"/>
                </a:solidFill>
                <a:latin typeface="Consolas"/>
              </a:rPr>
              <a:t>&gt;&lt;html&gt;&lt;body&gt;</a:t>
            </a:r>
            <a:r>
              <a:rPr lang="en-US" sz="2400" b="0">
                <a:solidFill>
                  <a:srgbClr val="000000"/>
                </a:solidFill>
                <a:latin typeface="Consolas"/>
              </a:rPr>
              <a:t>  </a:t>
            </a:r>
            <a:r>
              <a:rPr lang="en-US" sz="2400" b="0">
                <a:solidFill>
                  <a:srgbClr val="800000"/>
                </a:solidFill>
                <a:latin typeface="Consolas"/>
              </a:rPr>
              <a:t>&lt;script</a:t>
            </a:r>
            <a:r>
              <a:rPr lang="en-US" sz="2400" b="0">
                <a:solidFill>
                  <a:srgbClr val="000000"/>
                </a:solidFill>
                <a:latin typeface="Consolas"/>
              </a:rPr>
              <a:t> </a:t>
            </a:r>
            <a:r>
              <a:rPr lang="en-US" sz="2400" b="0">
                <a:solidFill>
                  <a:srgbClr val="E50000"/>
                </a:solidFill>
                <a:latin typeface="Consolas"/>
              </a:rPr>
              <a:t>src</a:t>
            </a:r>
            <a:r>
              <a:rPr lang="en-US" sz="2400" b="0">
                <a:solidFill>
                  <a:srgbClr val="000000"/>
                </a:solidFill>
                <a:latin typeface="Consolas"/>
              </a:rPr>
              <a:t>=</a:t>
            </a:r>
            <a:r>
              <a:rPr lang="en-US" sz="2400" b="0">
                <a:solidFill>
                  <a:srgbClr val="0000FF"/>
                </a:solidFill>
                <a:latin typeface="Consolas"/>
              </a:rPr>
              <a:t>"</a:t>
            </a:r>
            <a:r>
              <a:rPr lang="en-US" sz="2400">
                <a:solidFill>
                  <a:srgbClr val="0000FF"/>
                </a:solidFill>
                <a:latin typeface="Consolas"/>
                <a:sym typeface="+mn-ea"/>
              </a:rPr>
              <a:t>script</a:t>
            </a:r>
            <a:r>
              <a:rPr lang="en-US" sz="2400" b="0">
                <a:solidFill>
                  <a:srgbClr val="0000FF"/>
                </a:solidFill>
                <a:latin typeface="Consolas"/>
              </a:rPr>
              <a:t>.js"</a:t>
            </a:r>
            <a:r>
              <a:rPr lang="en-US" sz="2400" b="0">
                <a:solidFill>
                  <a:srgbClr val="800000"/>
                </a:solidFill>
                <a:latin typeface="Consolas"/>
              </a:rPr>
              <a:t>&gt;&lt;/script&gt;</a:t>
            </a:r>
            <a:r>
              <a:rPr lang="en-US" sz="2400" b="0">
                <a:solidFill>
                  <a:srgbClr val="000000"/>
                </a:solidFill>
                <a:latin typeface="Consolas"/>
              </a:rPr>
              <a:t>  </a:t>
            </a:r>
            <a:r>
              <a:rPr lang="en-US" sz="2400" b="0">
                <a:solidFill>
                  <a:srgbClr val="800000"/>
                </a:solidFill>
                <a:latin typeface="Consolas"/>
              </a:rPr>
              <a:t>&lt;script&gt;</a:t>
            </a:r>
            <a:r>
              <a:rPr lang="en-US" sz="2400" b="0">
                <a:solidFill>
                  <a:srgbClr val="795E26"/>
                </a:solidFill>
                <a:latin typeface="Consolas"/>
              </a:rPr>
              <a:t>alert</a:t>
            </a:r>
            <a:r>
              <a:rPr lang="en-US" sz="2400" b="0">
                <a:solidFill>
                  <a:srgbClr val="000000"/>
                </a:solidFill>
                <a:latin typeface="Consolas"/>
              </a:rPr>
              <a:t>(</a:t>
            </a:r>
            <a:r>
              <a:rPr lang="en-US" sz="2400" b="0">
                <a:solidFill>
                  <a:srgbClr val="A31515"/>
                </a:solidFill>
                <a:latin typeface="Consolas"/>
              </a:rPr>
              <a:t>'New text'</a:t>
            </a:r>
            <a:r>
              <a:rPr lang="en-US" sz="2400" b="0">
                <a:solidFill>
                  <a:srgbClr val="000000"/>
                </a:solidFill>
                <a:latin typeface="Consolas"/>
              </a:rPr>
              <a:t>)</a:t>
            </a:r>
            <a:r>
              <a:rPr lang="en-US" sz="2400" b="0">
                <a:solidFill>
                  <a:srgbClr val="800000"/>
                </a:solidFill>
                <a:latin typeface="Consolas"/>
              </a:rPr>
              <a:t>&lt;/script&gt;&lt;/body&gt;&lt;/html&gt;</a:t>
            </a:r>
            <a:endParaRPr lang="en-US" sz="2400"/>
          </a:p>
        </p:txBody>
      </p:sp>
      <p:sp>
        <p:nvSpPr>
          <p:cNvPr id="4" name="Slide Number Placeholder 3"/>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1093470" y="1536700"/>
            <a:ext cx="10005060" cy="3784600"/>
          </a:xfrm>
          <a:prstGeom prst="rect">
            <a:avLst/>
          </a:prstGeom>
          <a:noFill/>
          <a:ln w="9525">
            <a:noFill/>
          </a:ln>
        </p:spPr>
        <p:txBody>
          <a:bodyPr wrap="square">
            <a:spAutoFit/>
          </a:bodyPr>
          <a:p>
            <a:pPr marL="0" indent="449580" algn="ctr">
              <a:lnSpc>
                <a:spcPct val="150000"/>
              </a:lnSpc>
            </a:pPr>
            <a:r>
              <a:rPr lang="en-US" sz="2400" b="0">
                <a:solidFill>
                  <a:srgbClr val="000000"/>
                </a:solidFill>
                <a:latin typeface="Arial Regular" panose="020B0704020202020204" charset="0"/>
                <a:cs typeface="Arial Regular" panose="020B0704020202020204" charset="0"/>
              </a:rPr>
              <a:t>Помимо вышеописанного метода </a:t>
            </a:r>
            <a:r>
              <a:rPr lang="en-US" sz="2400" b="0" i="1">
                <a:solidFill>
                  <a:srgbClr val="000000"/>
                </a:solidFill>
                <a:latin typeface="Arial Regular" panose="020B0704020202020204" charset="0"/>
                <a:cs typeface="Arial Regular" panose="020B0704020202020204" charset="0"/>
              </a:rPr>
              <a:t>alert</a:t>
            </a:r>
            <a:r>
              <a:rPr lang="en-US" sz="2400" b="0">
                <a:solidFill>
                  <a:srgbClr val="000000"/>
                </a:solidFill>
                <a:latin typeface="Arial Regular" panose="020B0704020202020204" charset="0"/>
                <a:cs typeface="Arial Regular" panose="020B0704020202020204" charset="0"/>
              </a:rPr>
              <a:t>(), существуют другие методы для отображения диалогового окна в браузере: </a:t>
            </a:r>
            <a:r>
              <a:rPr lang="en-US" sz="2400" b="0" i="1">
                <a:solidFill>
                  <a:srgbClr val="000000"/>
                </a:solidFill>
                <a:latin typeface="Arial Regular" panose="020B0704020202020204" charset="0"/>
                <a:cs typeface="Arial Regular" panose="020B0704020202020204" charset="0"/>
              </a:rPr>
              <a:t>prompt</a:t>
            </a:r>
            <a:r>
              <a:rPr lang="en-US" sz="2400" b="0">
                <a:solidFill>
                  <a:srgbClr val="000000"/>
                </a:solidFill>
                <a:latin typeface="Arial Regular" panose="020B0704020202020204" charset="0"/>
                <a:cs typeface="Arial Regular" panose="020B0704020202020204" charset="0"/>
              </a:rPr>
              <a:t>() и </a:t>
            </a:r>
            <a:r>
              <a:rPr lang="en-US" sz="2400" b="0" i="1">
                <a:solidFill>
                  <a:srgbClr val="000000"/>
                </a:solidFill>
                <a:latin typeface="Arial Regular" panose="020B0704020202020204" charset="0"/>
                <a:cs typeface="Arial Regular" panose="020B0704020202020204" charset="0"/>
              </a:rPr>
              <a:t>confirm</a:t>
            </a:r>
            <a:r>
              <a:rPr lang="en-US" sz="2400" b="0">
                <a:solidFill>
                  <a:srgbClr val="000000"/>
                </a:solidFill>
                <a:latin typeface="Arial Regular" panose="020B0704020202020204" charset="0"/>
                <a:cs typeface="Arial Regular" panose="020B0704020202020204" charset="0"/>
              </a:rPr>
              <a:t>().</a:t>
            </a:r>
            <a:endParaRPr lang="en-US" sz="2400" b="0">
              <a:solidFill>
                <a:srgbClr val="000000"/>
              </a:solidFill>
              <a:latin typeface="Arial Regular" panose="020B0704020202020204" charset="0"/>
              <a:cs typeface="Arial Regular" panose="020B0704020202020204" charset="0"/>
            </a:endParaRPr>
          </a:p>
          <a:p>
            <a:pPr marL="0" indent="449580" algn="ctr">
              <a:lnSpc>
                <a:spcPct val="150000"/>
              </a:lnSpc>
            </a:pPr>
            <a:endParaRPr lang="en-US" sz="2400" b="0">
              <a:solidFill>
                <a:srgbClr val="000000"/>
              </a:solidFill>
              <a:latin typeface="Arial Regular" panose="020B0704020202020204" charset="0"/>
              <a:cs typeface="Arial Regular" panose="020B0704020202020204" charset="0"/>
            </a:endParaRPr>
          </a:p>
          <a:p>
            <a:pPr marL="0" indent="449580" algn="ctr">
              <a:lnSpc>
                <a:spcPct val="150000"/>
              </a:lnSpc>
            </a:pPr>
            <a:r>
              <a:rPr lang="zh-CN" sz="3200" b="0">
                <a:solidFill>
                  <a:srgbClr val="000000"/>
                </a:solidFill>
                <a:latin typeface="Arial Regular" panose="020B0704020202020204" charset="0"/>
                <a:cs typeface="Arial Regular" panose="020B0704020202020204" charset="0"/>
              </a:rPr>
              <a:t>除了上述</a:t>
            </a:r>
            <a:r>
              <a:rPr lang="en-US" altLang="zh-CN" sz="3200" b="0">
                <a:solidFill>
                  <a:srgbClr val="000000"/>
                </a:solidFill>
                <a:latin typeface="Arial Regular" panose="020B0704020202020204" charset="0"/>
                <a:cs typeface="Arial Regular" panose="020B0704020202020204" charset="0"/>
              </a:rPr>
              <a:t> </a:t>
            </a:r>
            <a:r>
              <a:rPr lang="zh-CN" sz="3200" b="0">
                <a:solidFill>
                  <a:srgbClr val="000000"/>
                </a:solidFill>
                <a:latin typeface="Arial Regular" panose="020B0704020202020204" charset="0"/>
                <a:cs typeface="Arial Regular" panose="020B0704020202020204" charset="0"/>
              </a:rPr>
              <a:t>alert（）方法外，还有其他方法可以在浏览器中显示对话框：prompt（）和confirm（）。</a:t>
            </a:r>
            <a:endParaRPr lang="en-US" sz="3200">
              <a:latin typeface="Arial Regular" panose="020B0704020202020204" charset="0"/>
              <a:cs typeface="Arial Regular" panose="020B0704020202020204" charset="0"/>
            </a:endParaRPr>
          </a:p>
        </p:txBody>
      </p:sp>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467360" y="442595"/>
            <a:ext cx="11406505" cy="3784600"/>
          </a:xfrm>
          <a:prstGeom prst="rect">
            <a:avLst/>
          </a:prstGeom>
          <a:noFill/>
          <a:ln w="9525">
            <a:noFill/>
          </a:ln>
        </p:spPr>
        <p:txBody>
          <a:bodyPr wrap="square">
            <a:spAutoFit/>
          </a:bodyPr>
          <a:p>
            <a:pPr marL="0" indent="449580" algn="just"/>
            <a:r>
              <a:rPr lang="en-US" sz="2400" b="0">
                <a:solidFill>
                  <a:srgbClr val="000000"/>
                </a:solidFill>
                <a:latin typeface="Arial Regular" panose="020B0704020202020204" charset="0"/>
                <a:cs typeface="Arial Regular" panose="020B0704020202020204" charset="0"/>
              </a:rPr>
              <a:t>Метод </a:t>
            </a:r>
            <a:r>
              <a:rPr lang="en-US" sz="2400" b="0" i="1">
                <a:solidFill>
                  <a:srgbClr val="000000"/>
                </a:solidFill>
                <a:latin typeface="Arial Regular" panose="020B0704020202020204" charset="0"/>
                <a:cs typeface="Arial Regular" panose="020B0704020202020204" charset="0"/>
              </a:rPr>
              <a:t>alert</a:t>
            </a:r>
            <a:r>
              <a:rPr lang="en-US" sz="2400" b="0">
                <a:solidFill>
                  <a:srgbClr val="000000"/>
                </a:solidFill>
                <a:latin typeface="Arial Regular" panose="020B0704020202020204" charset="0"/>
                <a:cs typeface="Arial Regular" panose="020B0704020202020204" charset="0"/>
              </a:rPr>
              <a:t>() предназначена для вывода в браузере предупреждающего модального диалогового окна с некоторым сообщением и кнопкой «ОК». При его появлении дальнейшее выполнение кода страницы прекращается до тех пор, пока пользователь не закроет это окно. Кроме этого, оно также блокирует возможность взаимодействия пользователя с остальной частью страницы. </a:t>
            </a:r>
            <a:endParaRPr lang="en-US" sz="2400" b="0">
              <a:solidFill>
                <a:srgbClr val="000000"/>
              </a:solidFill>
              <a:latin typeface="Arial Regular" panose="020B0704020202020204" charset="0"/>
              <a:cs typeface="Arial Regular" panose="020B0704020202020204" charset="0"/>
            </a:endParaRPr>
          </a:p>
          <a:p>
            <a:pPr marL="0" indent="449580" algn="just"/>
            <a:endParaRPr lang="en-US" sz="2400" b="0">
              <a:solidFill>
                <a:srgbClr val="000000"/>
              </a:solidFill>
              <a:latin typeface="Arial Regular" panose="020B0704020202020204" charset="0"/>
              <a:cs typeface="Arial Regular" panose="020B0704020202020204" charset="0"/>
            </a:endParaRPr>
          </a:p>
          <a:p>
            <a:pPr marL="0" indent="449580" algn="just"/>
            <a:r>
              <a:rPr lang="en-US" sz="2400" b="0">
                <a:solidFill>
                  <a:srgbClr val="000000"/>
                </a:solidFill>
                <a:latin typeface="Arial Regular" panose="020B0704020202020204" charset="0"/>
                <a:cs typeface="Arial Regular" panose="020B0704020202020204" charset="0"/>
              </a:rPr>
              <a:t>a</a:t>
            </a:r>
            <a:r>
              <a:rPr lang="zh-CN" sz="2400" b="0">
                <a:solidFill>
                  <a:srgbClr val="000000"/>
                </a:solidFill>
                <a:latin typeface="Arial Regular" panose="020B0704020202020204" charset="0"/>
                <a:cs typeface="Arial Regular" panose="020B0704020202020204" charset="0"/>
              </a:rPr>
              <a:t>lert（）方法用于在浏览器中显示警告模式对话框，其中包含一些消息和“确定”按钮。在用户关闭此窗口之前，页面代码的进一步执行将停止。此外，它还阻止用户与页面其他部分交互。</a:t>
            </a:r>
            <a:endParaRPr lang="en-US" sz="2400">
              <a:latin typeface="Arial Regular" panose="020B0704020202020204" charset="0"/>
              <a:cs typeface="Arial Regular" panose="020B0704020202020204" charset="0"/>
            </a:endParaRPr>
          </a:p>
        </p:txBody>
      </p:sp>
      <p:pic>
        <p:nvPicPr>
          <p:cNvPr id="233" name="image2.png"/>
          <p:cNvPicPr preferRelativeResize="0"/>
          <p:nvPr/>
        </p:nvPicPr>
        <p:blipFill>
          <a:blip r:embed="rId1"/>
          <a:srcRect/>
          <a:stretch>
            <a:fillRect/>
          </a:stretch>
        </p:blipFill>
        <p:spPr>
          <a:xfrm>
            <a:off x="3861753" y="4613910"/>
            <a:ext cx="4467225" cy="1466850"/>
          </a:xfrm>
          <a:prstGeom prst="rect">
            <a:avLst/>
          </a:prstGeom>
        </p:spPr>
      </p:pic>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970915" y="518160"/>
            <a:ext cx="10603865" cy="2676525"/>
          </a:xfrm>
          <a:prstGeom prst="rect">
            <a:avLst/>
          </a:prstGeom>
          <a:noFill/>
          <a:ln w="9525">
            <a:noFill/>
          </a:ln>
        </p:spPr>
        <p:txBody>
          <a:bodyPr wrap="square">
            <a:spAutoFit/>
          </a:bodyPr>
          <a:p>
            <a:pPr marL="0" indent="449580" algn="just">
              <a:lnSpc>
                <a:spcPct val="100000"/>
              </a:lnSpc>
            </a:pPr>
            <a:r>
              <a:rPr lang="en-US" sz="2400" b="0">
                <a:solidFill>
                  <a:srgbClr val="000000"/>
                </a:solidFill>
                <a:latin typeface="Arial Regular" panose="020B0704020202020204" charset="0"/>
                <a:cs typeface="Arial Regular" panose="020B0704020202020204" charset="0"/>
              </a:rPr>
              <a:t>Метод </a:t>
            </a:r>
            <a:r>
              <a:rPr lang="en-US" sz="2400" b="0" i="1">
                <a:solidFill>
                  <a:srgbClr val="000000"/>
                </a:solidFill>
                <a:latin typeface="Arial Regular" panose="020B0704020202020204" charset="0"/>
                <a:cs typeface="Arial Regular" panose="020B0704020202020204" charset="0"/>
              </a:rPr>
              <a:t>prompt</a:t>
            </a:r>
            <a:r>
              <a:rPr lang="en-US" sz="2400" b="0">
                <a:solidFill>
                  <a:srgbClr val="000000"/>
                </a:solidFill>
                <a:latin typeface="Arial Regular" panose="020B0704020202020204" charset="0"/>
                <a:cs typeface="Arial Regular" panose="020B0704020202020204" charset="0"/>
              </a:rPr>
              <a:t>() предназначен для вывода диалогового окна с сообщением, текстовым полем для ввода данных и кнопками «ОК» и «Отмена». Это окно предназначено для запроса данных, которые пользователю нужно ввести в текстовое поле. </a:t>
            </a:r>
            <a:endParaRPr lang="en-US" sz="2400" b="0">
              <a:solidFill>
                <a:srgbClr val="000000"/>
              </a:solidFill>
              <a:latin typeface="Arial Regular" panose="020B0704020202020204" charset="0"/>
              <a:cs typeface="Arial Regular" panose="020B0704020202020204" charset="0"/>
            </a:endParaRPr>
          </a:p>
          <a:p>
            <a:pPr marL="0" indent="449580" algn="just">
              <a:lnSpc>
                <a:spcPct val="100000"/>
              </a:lnSpc>
            </a:pPr>
            <a:endParaRPr lang="en-US" sz="2400" b="0">
              <a:solidFill>
                <a:srgbClr val="000000"/>
              </a:solidFill>
              <a:latin typeface="Arial Regular" panose="020B0704020202020204" charset="0"/>
              <a:cs typeface="Arial Regular" panose="020B0704020202020204" charset="0"/>
            </a:endParaRPr>
          </a:p>
          <a:p>
            <a:pPr marL="0" indent="449580" algn="just">
              <a:lnSpc>
                <a:spcPct val="100000"/>
              </a:lnSpc>
            </a:pPr>
            <a:r>
              <a:rPr lang="zh-CN" sz="2400" b="0">
                <a:solidFill>
                  <a:srgbClr val="000000"/>
                </a:solidFill>
                <a:latin typeface="Arial Regular" panose="020B0704020202020204" charset="0"/>
                <a:cs typeface="Arial Regular" panose="020B0704020202020204" charset="0"/>
              </a:rPr>
              <a:t>prompt（）方法用于显示消息对话框、用于输入数据的文本字段以及“确定”和“取消”按钮。此窗口用于查询用户需要在文本字段中输入的数据。</a:t>
            </a:r>
            <a:endParaRPr lang="en-US" sz="2400">
              <a:latin typeface="Arial Regular" panose="020B0704020202020204" charset="0"/>
              <a:cs typeface="Arial Regular" panose="020B0704020202020204" charset="0"/>
            </a:endParaRPr>
          </a:p>
        </p:txBody>
      </p:sp>
      <p:pic>
        <p:nvPicPr>
          <p:cNvPr id="232" name="image9.png"/>
          <p:cNvPicPr preferRelativeResize="0"/>
          <p:nvPr/>
        </p:nvPicPr>
        <p:blipFill>
          <a:blip r:embed="rId1"/>
          <a:srcRect/>
          <a:stretch>
            <a:fillRect/>
          </a:stretch>
        </p:blipFill>
        <p:spPr>
          <a:xfrm>
            <a:off x="3464878" y="3970655"/>
            <a:ext cx="4391025" cy="1828800"/>
          </a:xfrm>
          <a:prstGeom prst="rect">
            <a:avLst/>
          </a:prstGeom>
        </p:spPr>
      </p:pic>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601345" y="1327785"/>
            <a:ext cx="6318250" cy="2306955"/>
          </a:xfrm>
          <a:prstGeom prst="rect">
            <a:avLst/>
          </a:prstGeom>
          <a:noFill/>
          <a:ln w="9525">
            <a:noFill/>
          </a:ln>
        </p:spPr>
        <p:txBody>
          <a:bodyPr wrap="square">
            <a:spAutoFit/>
          </a:bodyPr>
          <a:p>
            <a:pPr indent="0"/>
            <a:r>
              <a:rPr lang="en-US" sz="2400" b="0">
                <a:solidFill>
                  <a:srgbClr val="800000"/>
                </a:solidFill>
                <a:latin typeface="Consolas"/>
              </a:rPr>
              <a:t>&lt;!DOCTYPE</a:t>
            </a:r>
            <a:r>
              <a:rPr lang="en-US" sz="2400" b="0">
                <a:solidFill>
                  <a:srgbClr val="000000"/>
                </a:solidFill>
                <a:latin typeface="Consolas"/>
              </a:rPr>
              <a:t> </a:t>
            </a:r>
            <a:r>
              <a:rPr lang="en-US" sz="2400" b="0">
                <a:solidFill>
                  <a:srgbClr val="E50000"/>
                </a:solidFill>
                <a:latin typeface="Consolas"/>
              </a:rPr>
              <a:t>HTML</a:t>
            </a:r>
            <a:r>
              <a:rPr lang="en-US" sz="2400" b="0">
                <a:solidFill>
                  <a:srgbClr val="800000"/>
                </a:solidFill>
                <a:latin typeface="Consolas"/>
              </a:rPr>
              <a:t>&gt;&lt;html&gt;&lt;body&gt;</a:t>
            </a:r>
            <a:r>
              <a:rPr lang="en-US" sz="2400" b="0">
                <a:solidFill>
                  <a:srgbClr val="000000"/>
                </a:solidFill>
                <a:latin typeface="Consolas"/>
              </a:rPr>
              <a:t>    </a:t>
            </a:r>
            <a:r>
              <a:rPr lang="en-US" sz="2400" b="0">
                <a:solidFill>
                  <a:srgbClr val="800000"/>
                </a:solidFill>
                <a:latin typeface="Consolas"/>
              </a:rPr>
              <a:t>&lt;script</a:t>
            </a:r>
            <a:r>
              <a:rPr lang="en-US" sz="2400" b="0">
                <a:solidFill>
                  <a:srgbClr val="000000"/>
                </a:solidFill>
                <a:latin typeface="Consolas"/>
              </a:rPr>
              <a:t> </a:t>
            </a:r>
            <a:r>
              <a:rPr lang="en-US" sz="2400" b="0">
                <a:solidFill>
                  <a:srgbClr val="E50000"/>
                </a:solidFill>
                <a:latin typeface="Consolas"/>
              </a:rPr>
              <a:t>src</a:t>
            </a:r>
            <a:r>
              <a:rPr lang="en-US" sz="2400" b="0">
                <a:solidFill>
                  <a:srgbClr val="000000"/>
                </a:solidFill>
                <a:latin typeface="Consolas"/>
              </a:rPr>
              <a:t>=</a:t>
            </a:r>
            <a:r>
              <a:rPr lang="en-US" sz="2400" b="0">
                <a:solidFill>
                  <a:srgbClr val="0000FF"/>
                </a:solidFill>
                <a:latin typeface="Consolas"/>
              </a:rPr>
              <a:t>"script.js"</a:t>
            </a:r>
            <a:r>
              <a:rPr lang="en-US" sz="2400" b="0">
                <a:solidFill>
                  <a:srgbClr val="800000"/>
                </a:solidFill>
                <a:latin typeface="Consolas"/>
              </a:rPr>
              <a:t>&gt;&lt;/script&gt;&lt;/body&gt;&lt;/html&gt;</a:t>
            </a:r>
            <a:endParaRPr lang="en-US" sz="2400"/>
          </a:p>
        </p:txBody>
      </p:sp>
      <p:sp>
        <p:nvSpPr>
          <p:cNvPr id="5" name="Text Box 4"/>
          <p:cNvSpPr txBox="1"/>
          <p:nvPr/>
        </p:nvSpPr>
        <p:spPr>
          <a:xfrm>
            <a:off x="601345" y="375285"/>
            <a:ext cx="4376420" cy="829945"/>
          </a:xfrm>
          <a:prstGeom prst="rect">
            <a:avLst/>
          </a:prstGeom>
          <a:noFill/>
        </p:spPr>
        <p:txBody>
          <a:bodyPr wrap="square" rtlCol="0" anchor="t">
            <a:spAutoFit/>
          </a:bodyPr>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R="0" indent="0">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4" name="Text Box 3"/>
          <p:cNvSpPr txBox="1"/>
          <p:nvPr/>
        </p:nvSpPr>
        <p:spPr>
          <a:xfrm>
            <a:off x="412750" y="4132897"/>
            <a:ext cx="5080000" cy="829945"/>
          </a:xfrm>
          <a:prstGeom prst="rect">
            <a:avLst/>
          </a:prstGeom>
          <a:noFill/>
          <a:ln w="9525">
            <a:noFill/>
          </a:ln>
        </p:spPr>
        <p:txBody>
          <a:bodyPr>
            <a:spAutoFit/>
          </a:bodyPr>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2" name="Text Box 1"/>
          <p:cNvSpPr txBox="1"/>
          <p:nvPr/>
        </p:nvSpPr>
        <p:spPr>
          <a:xfrm>
            <a:off x="499745" y="5125720"/>
            <a:ext cx="6520815" cy="829945"/>
          </a:xfrm>
          <a:prstGeom prst="rect">
            <a:avLst/>
          </a:prstGeom>
          <a:noFill/>
          <a:ln w="9525">
            <a:noFill/>
          </a:ln>
        </p:spPr>
        <p:txBody>
          <a:bodyPr wrap="square">
            <a:spAutoFit/>
          </a:bodyPr>
          <a:p>
            <a:pPr indent="0"/>
            <a:r>
              <a:rPr lang="en-US" sz="2400" b="0">
                <a:solidFill>
                  <a:srgbClr val="001080"/>
                </a:solidFill>
                <a:latin typeface="Consolas"/>
              </a:rPr>
              <a:t>result</a:t>
            </a:r>
            <a:r>
              <a:rPr lang="en-US" sz="2400" b="0">
                <a:solidFill>
                  <a:srgbClr val="000000"/>
                </a:solidFill>
                <a:latin typeface="Consolas"/>
              </a:rPr>
              <a:t> = </a:t>
            </a:r>
            <a:r>
              <a:rPr lang="en-US" sz="2400" b="0">
                <a:solidFill>
                  <a:srgbClr val="795E26"/>
                </a:solidFill>
                <a:latin typeface="Consolas"/>
              </a:rPr>
              <a:t>prompt</a:t>
            </a:r>
            <a:r>
              <a:rPr lang="en-US" sz="2400" b="0">
                <a:solidFill>
                  <a:srgbClr val="000000"/>
                </a:solidFill>
                <a:latin typeface="Consolas"/>
              </a:rPr>
              <a:t>(</a:t>
            </a:r>
            <a:r>
              <a:rPr lang="en-US" sz="2400" b="0">
                <a:solidFill>
                  <a:srgbClr val="A31515"/>
                </a:solidFill>
                <a:latin typeface="Consolas"/>
              </a:rPr>
              <a:t>'What is your name?'</a:t>
            </a:r>
            <a:r>
              <a:rPr lang="en-US" sz="2400" b="0">
                <a:solidFill>
                  <a:srgbClr val="000000"/>
                </a:solidFill>
                <a:latin typeface="Consolas"/>
              </a:rPr>
              <a:t>);</a:t>
            </a:r>
            <a:r>
              <a:rPr lang="en-US" sz="2400" b="0">
                <a:solidFill>
                  <a:srgbClr val="795E26"/>
                </a:solidFill>
                <a:latin typeface="Consolas"/>
              </a:rPr>
              <a:t>alert</a:t>
            </a:r>
            <a:r>
              <a:rPr lang="en-US" sz="2400" b="0">
                <a:solidFill>
                  <a:srgbClr val="000000"/>
                </a:solidFill>
                <a:latin typeface="Consolas"/>
              </a:rPr>
              <a:t>(</a:t>
            </a:r>
            <a:r>
              <a:rPr lang="en-US" sz="2400" b="0">
                <a:solidFill>
                  <a:srgbClr val="001080"/>
                </a:solidFill>
                <a:latin typeface="Consolas"/>
              </a:rPr>
              <a:t>result</a:t>
            </a:r>
            <a:r>
              <a:rPr lang="en-US" sz="2400" b="0">
                <a:solidFill>
                  <a:srgbClr val="000000"/>
                </a:solidFill>
                <a:latin typeface="Consolas"/>
              </a:rPr>
              <a:t>)</a:t>
            </a:r>
            <a:endParaRPr lang="en-US" sz="2400"/>
          </a:p>
        </p:txBody>
      </p:sp>
      <p:pic>
        <p:nvPicPr>
          <p:cNvPr id="232" name="image9.png"/>
          <p:cNvPicPr preferRelativeResize="0"/>
          <p:nvPr/>
        </p:nvPicPr>
        <p:blipFill>
          <a:blip r:embed="rId1"/>
          <a:srcRect/>
          <a:stretch>
            <a:fillRect/>
          </a:stretch>
        </p:blipFill>
        <p:spPr>
          <a:xfrm>
            <a:off x="6227445" y="1951355"/>
            <a:ext cx="5628640" cy="2344420"/>
          </a:xfrm>
          <a:prstGeom prst="rect">
            <a:avLst/>
          </a:prstGeom>
        </p:spPr>
      </p:pic>
      <p:sp>
        <p:nvSpPr>
          <p:cNvPr id="3" name="Slide Number Placeholder 2"/>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812165" y="775970"/>
            <a:ext cx="10563225" cy="2306955"/>
          </a:xfrm>
          <a:prstGeom prst="rect">
            <a:avLst/>
          </a:prstGeom>
          <a:noFill/>
          <a:ln w="9525">
            <a:noFill/>
          </a:ln>
        </p:spPr>
        <p:txBody>
          <a:bodyPr wrap="square">
            <a:spAutoFit/>
          </a:bodyPr>
          <a:p>
            <a:pPr marL="0" indent="0" algn="just">
              <a:lnSpc>
                <a:spcPct val="150000"/>
              </a:lnSpc>
            </a:pPr>
            <a:r>
              <a:rPr lang="en-US" sz="2400" b="0">
                <a:latin typeface="Arial Regular" panose="020B0704020202020204" charset="0"/>
                <a:cs typeface="Arial Regular" panose="020B0704020202020204" charset="0"/>
              </a:rPr>
              <a:t>	Запустите предложенный пример, и изучите результат. Попробуйте ввести имя или отменить операцию.</a:t>
            </a:r>
            <a:endParaRPr lang="en-US" sz="2400" b="0">
              <a:latin typeface="Arial Regular" panose="020B0704020202020204" charset="0"/>
              <a:cs typeface="Arial Regular" panose="020B0704020202020204" charset="0"/>
            </a:endParaRPr>
          </a:p>
          <a:p>
            <a:pPr marL="0" indent="0" algn="just">
              <a:lnSpc>
                <a:spcPct val="150000"/>
              </a:lnSpc>
            </a:pPr>
            <a:endParaRPr lang="en-US" sz="2400" b="0">
              <a:latin typeface="Arial Regular" panose="020B0704020202020204" charset="0"/>
              <a:cs typeface="Arial Regular" panose="020B0704020202020204" charset="0"/>
            </a:endParaRPr>
          </a:p>
          <a:p>
            <a:pPr marL="0" indent="0" algn="just">
              <a:lnSpc>
                <a:spcPct val="150000"/>
              </a:lnSpc>
            </a:pPr>
            <a:r>
              <a:rPr lang="zh-CN" sz="2400" b="0">
                <a:latin typeface="Arial Regular" panose="020B0704020202020204" charset="0"/>
                <a:cs typeface="Arial Regular" panose="020B0704020202020204" charset="0"/>
              </a:rPr>
              <a:t>运行提供的示例并检查结果。尝试输入名称或取消操作。</a:t>
            </a:r>
            <a:endParaRPr lang="en-US" sz="2400">
              <a:latin typeface="Arial Regular" panose="020B0704020202020204" charset="0"/>
              <a:cs typeface="Arial Regular" panose="020B0704020202020204" charset="0"/>
            </a:endParaRPr>
          </a:p>
        </p:txBody>
      </p:sp>
      <p:pic>
        <p:nvPicPr>
          <p:cNvPr id="232" name="image9.png"/>
          <p:cNvPicPr preferRelativeResize="0"/>
          <p:nvPr/>
        </p:nvPicPr>
        <p:blipFill>
          <a:blip r:embed="rId1"/>
          <a:srcRect/>
          <a:stretch>
            <a:fillRect/>
          </a:stretch>
        </p:blipFill>
        <p:spPr>
          <a:xfrm>
            <a:off x="3279140" y="3761105"/>
            <a:ext cx="5628640" cy="2344420"/>
          </a:xfrm>
          <a:prstGeom prst="rect">
            <a:avLst/>
          </a:prstGeom>
        </p:spPr>
      </p:pic>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671195" y="274320"/>
            <a:ext cx="10849610" cy="3969385"/>
          </a:xfrm>
          <a:prstGeom prst="rect">
            <a:avLst/>
          </a:prstGeom>
          <a:noFill/>
          <a:ln w="9525">
            <a:noFill/>
          </a:ln>
        </p:spPr>
        <p:txBody>
          <a:bodyPr wrap="square">
            <a:spAutoFit/>
          </a:bodyPr>
          <a:p>
            <a:pPr indent="449580" algn="just">
              <a:lnSpc>
                <a:spcPct val="150000"/>
              </a:lnSpc>
            </a:pPr>
            <a:r>
              <a:rPr lang="en-US" sz="2400" b="0">
                <a:solidFill>
                  <a:srgbClr val="000000"/>
                </a:solidFill>
                <a:latin typeface="Arial Regular" panose="020B0704020202020204" charset="0"/>
                <a:cs typeface="Arial Regular" panose="020B0704020202020204" charset="0"/>
              </a:rPr>
              <a:t>Метод </a:t>
            </a:r>
            <a:r>
              <a:rPr lang="en-US" sz="2400" b="0" i="1">
                <a:solidFill>
                  <a:srgbClr val="000000"/>
                </a:solidFill>
                <a:latin typeface="Arial Regular" panose="020B0704020202020204" charset="0"/>
                <a:cs typeface="Arial Regular" panose="020B0704020202020204" charset="0"/>
              </a:rPr>
              <a:t>confirm</a:t>
            </a:r>
            <a:r>
              <a:rPr lang="en-US" sz="2400" b="0">
                <a:solidFill>
                  <a:srgbClr val="000000"/>
                </a:solidFill>
                <a:latin typeface="Arial Regular" panose="020B0704020202020204" charset="0"/>
                <a:cs typeface="Arial Regular" panose="020B0704020202020204" charset="0"/>
              </a:rPr>
              <a:t>() применяется для вывода модального диалогового окна с сообщением и кнопками «ОК» и «Отмена». Оно обычно используется для запроса у пользователя разрешения на выполнение того или иного действия.</a:t>
            </a:r>
            <a:endParaRPr lang="en-US" sz="2400" b="0">
              <a:solidFill>
                <a:srgbClr val="000000"/>
              </a:solidFill>
              <a:latin typeface="Arial Regular" panose="020B0704020202020204" charset="0"/>
              <a:cs typeface="Arial Regular" panose="020B0704020202020204" charset="0"/>
            </a:endParaRPr>
          </a:p>
          <a:p>
            <a:pPr indent="449580" algn="just">
              <a:lnSpc>
                <a:spcPct val="150000"/>
              </a:lnSpc>
            </a:pPr>
            <a:endParaRPr lang="en-US" sz="2400" b="0">
              <a:solidFill>
                <a:srgbClr val="000000"/>
              </a:solidFill>
              <a:latin typeface="Arial Regular" panose="020B0704020202020204" charset="0"/>
              <a:cs typeface="Arial Regular" panose="020B0704020202020204" charset="0"/>
            </a:endParaRPr>
          </a:p>
          <a:p>
            <a:pPr indent="449580" algn="just">
              <a:lnSpc>
                <a:spcPct val="150000"/>
              </a:lnSpc>
            </a:pPr>
            <a:r>
              <a:rPr lang="zh-CN" sz="2400" b="0">
                <a:solidFill>
                  <a:srgbClr val="000000"/>
                </a:solidFill>
                <a:latin typeface="Arial Regular" panose="020B0704020202020204" charset="0"/>
                <a:cs typeface="Arial Regular" panose="020B0704020202020204" charset="0"/>
              </a:rPr>
              <a:t>confirm（）方法用于显示带有消息和“确定”和“取消”按钮的模态对话框。它通常用于请求用户对操作的权限。</a:t>
            </a:r>
            <a:endParaRPr lang="en-US" sz="2400">
              <a:latin typeface="Arial Regular" panose="020B0704020202020204" charset="0"/>
              <a:cs typeface="Arial Regular" panose="020B0704020202020204" charset="0"/>
            </a:endParaRPr>
          </a:p>
        </p:txBody>
      </p:sp>
      <p:pic>
        <p:nvPicPr>
          <p:cNvPr id="235" name="image5.png"/>
          <p:cNvPicPr preferRelativeResize="0"/>
          <p:nvPr/>
        </p:nvPicPr>
        <p:blipFill>
          <a:blip r:embed="rId1"/>
          <a:srcRect/>
          <a:stretch>
            <a:fillRect/>
          </a:stretch>
        </p:blipFill>
        <p:spPr>
          <a:xfrm>
            <a:off x="3418205" y="4643120"/>
            <a:ext cx="5561330" cy="1734185"/>
          </a:xfrm>
          <a:prstGeom prst="rect">
            <a:avLst/>
          </a:prstGeom>
        </p:spPr>
      </p:pic>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56870" y="1265555"/>
            <a:ext cx="5080000" cy="2306955"/>
          </a:xfrm>
          <a:prstGeom prst="rect">
            <a:avLst/>
          </a:prstGeom>
          <a:noFill/>
          <a:ln w="9525">
            <a:noFill/>
          </a:ln>
        </p:spPr>
        <p:txBody>
          <a:bodyPr>
            <a:spAutoFit/>
          </a:bodyPr>
          <a:p>
            <a:pPr indent="0"/>
            <a:r>
              <a:rPr lang="en-US" sz="2400" b="0">
                <a:solidFill>
                  <a:srgbClr val="800000"/>
                </a:solidFill>
                <a:latin typeface="Times New Roman" panose="02020603050405020304"/>
              </a:rPr>
              <a:t>&lt;!DOCTYPE</a:t>
            </a:r>
            <a:r>
              <a:rPr lang="en-US" sz="2400" b="0">
                <a:solidFill>
                  <a:srgbClr val="000000"/>
                </a:solidFill>
                <a:latin typeface="Times New Roman" panose="02020603050405020304"/>
              </a:rPr>
              <a:t> </a:t>
            </a:r>
            <a:r>
              <a:rPr lang="en-US" sz="2400" b="0">
                <a:solidFill>
                  <a:srgbClr val="E50000"/>
                </a:solidFill>
                <a:latin typeface="Times New Roman" panose="02020603050405020304"/>
              </a:rPr>
              <a:t>HTML</a:t>
            </a:r>
            <a:r>
              <a:rPr lang="en-US" sz="2400" b="0">
                <a:solidFill>
                  <a:srgbClr val="800000"/>
                </a:solidFill>
                <a:latin typeface="Times New Roman" panose="02020603050405020304"/>
              </a:rPr>
              <a:t>&gt;&lt;html&gt;&lt;body&gt;</a:t>
            </a:r>
            <a:r>
              <a:rPr lang="en-US" sz="2400" b="0">
                <a:solidFill>
                  <a:srgbClr val="000000"/>
                </a:solidFill>
                <a:latin typeface="Times New Roman" panose="02020603050405020304"/>
              </a:rPr>
              <a:t>    </a:t>
            </a:r>
            <a:r>
              <a:rPr lang="en-US" sz="2400" b="0">
                <a:solidFill>
                  <a:srgbClr val="800000"/>
                </a:solidFill>
                <a:latin typeface="Times New Roman" panose="02020603050405020304"/>
              </a:rPr>
              <a:t>&lt;script</a:t>
            </a:r>
            <a:r>
              <a:rPr lang="en-US" sz="2400" b="0">
                <a:solidFill>
                  <a:srgbClr val="000000"/>
                </a:solidFill>
                <a:latin typeface="Times New Roman" panose="02020603050405020304"/>
              </a:rPr>
              <a:t> </a:t>
            </a:r>
            <a:r>
              <a:rPr lang="en-US" sz="2400" b="0">
                <a:solidFill>
                  <a:srgbClr val="E50000"/>
                </a:solidFill>
                <a:latin typeface="Times New Roman" panose="02020603050405020304"/>
              </a:rPr>
              <a:t>src</a:t>
            </a:r>
            <a:r>
              <a:rPr lang="en-US" sz="2400" b="0">
                <a:solidFill>
                  <a:srgbClr val="000000"/>
                </a:solidFill>
                <a:latin typeface="Times New Roman" panose="02020603050405020304"/>
              </a:rPr>
              <a:t>=</a:t>
            </a:r>
            <a:r>
              <a:rPr lang="en-US" sz="2400" b="0">
                <a:solidFill>
                  <a:srgbClr val="0000FF"/>
                </a:solidFill>
                <a:latin typeface="Times New Roman" panose="02020603050405020304"/>
              </a:rPr>
              <a:t>"script.js"</a:t>
            </a:r>
            <a:r>
              <a:rPr lang="en-US" sz="2400" b="0">
                <a:solidFill>
                  <a:srgbClr val="800000"/>
                </a:solidFill>
                <a:latin typeface="Times New Roman" panose="02020603050405020304"/>
              </a:rPr>
              <a:t>&gt;&lt;/script&gt;&lt;/body&gt;&lt;/html&gt;</a:t>
            </a:r>
            <a:endParaRPr lang="en-US" sz="2400"/>
          </a:p>
        </p:txBody>
      </p:sp>
      <p:sp>
        <p:nvSpPr>
          <p:cNvPr id="3" name="Text Box 2"/>
          <p:cNvSpPr txBox="1"/>
          <p:nvPr/>
        </p:nvSpPr>
        <p:spPr>
          <a:xfrm>
            <a:off x="356870" y="4937125"/>
            <a:ext cx="8331200" cy="829945"/>
          </a:xfrm>
          <a:prstGeom prst="rect">
            <a:avLst/>
          </a:prstGeom>
          <a:noFill/>
          <a:ln w="9525">
            <a:noFill/>
          </a:ln>
        </p:spPr>
        <p:txBody>
          <a:bodyPr wrap="square">
            <a:spAutoFit/>
          </a:bodyPr>
          <a:p>
            <a:pPr marL="0" indent="0"/>
            <a:r>
              <a:rPr lang="en-US" sz="2400" b="0">
                <a:solidFill>
                  <a:srgbClr val="001080"/>
                </a:solidFill>
                <a:latin typeface="Consolas"/>
              </a:rPr>
              <a:t>result</a:t>
            </a:r>
            <a:r>
              <a:rPr lang="en-US" sz="2400" b="0">
                <a:solidFill>
                  <a:srgbClr val="000000"/>
                </a:solidFill>
                <a:latin typeface="Consolas"/>
              </a:rPr>
              <a:t> = </a:t>
            </a:r>
            <a:r>
              <a:rPr lang="en-US" sz="2400" b="0">
                <a:solidFill>
                  <a:srgbClr val="795E26"/>
                </a:solidFill>
                <a:latin typeface="Consolas"/>
              </a:rPr>
              <a:t>confirm</a:t>
            </a:r>
            <a:r>
              <a:rPr lang="en-US" sz="2400" b="0">
                <a:solidFill>
                  <a:srgbClr val="000000"/>
                </a:solidFill>
                <a:latin typeface="Consolas"/>
              </a:rPr>
              <a:t>(</a:t>
            </a:r>
            <a:r>
              <a:rPr lang="en-US" sz="2400" b="0">
                <a:solidFill>
                  <a:srgbClr val="A31515"/>
                </a:solidFill>
                <a:latin typeface="Consolas"/>
              </a:rPr>
              <a:t>'Do you like JavaScript?'</a:t>
            </a:r>
            <a:r>
              <a:rPr lang="en-US" sz="2400" b="0">
                <a:solidFill>
                  <a:srgbClr val="000000"/>
                </a:solidFill>
                <a:latin typeface="Consolas"/>
              </a:rPr>
              <a:t>);</a:t>
            </a:r>
            <a:r>
              <a:rPr lang="en-US" sz="2400" b="0">
                <a:solidFill>
                  <a:srgbClr val="795E26"/>
                </a:solidFill>
                <a:latin typeface="Consolas"/>
              </a:rPr>
              <a:t>alert</a:t>
            </a:r>
            <a:r>
              <a:rPr lang="en-US" sz="2400" b="0">
                <a:solidFill>
                  <a:srgbClr val="000000"/>
                </a:solidFill>
                <a:latin typeface="Consolas"/>
              </a:rPr>
              <a:t>(</a:t>
            </a:r>
            <a:r>
              <a:rPr lang="en-US" sz="2400" b="0">
                <a:solidFill>
                  <a:srgbClr val="001080"/>
                </a:solidFill>
                <a:latin typeface="Consolas"/>
              </a:rPr>
              <a:t>result</a:t>
            </a:r>
            <a:r>
              <a:rPr lang="en-US" sz="2400" b="0">
                <a:solidFill>
                  <a:srgbClr val="000000"/>
                </a:solidFill>
                <a:latin typeface="Consolas"/>
              </a:rPr>
              <a:t>);</a:t>
            </a:r>
            <a:endParaRPr lang="en-US" sz="2400"/>
          </a:p>
        </p:txBody>
      </p:sp>
      <p:sp>
        <p:nvSpPr>
          <p:cNvPr id="5" name="Text Box 4"/>
          <p:cNvSpPr txBox="1"/>
          <p:nvPr/>
        </p:nvSpPr>
        <p:spPr>
          <a:xfrm>
            <a:off x="356870" y="269240"/>
            <a:ext cx="4376420" cy="829945"/>
          </a:xfrm>
          <a:prstGeom prst="rect">
            <a:avLst/>
          </a:prstGeom>
          <a:noFill/>
        </p:spPr>
        <p:txBody>
          <a:bodyPr wrap="square" rtlCol="0" anchor="t">
            <a:spAutoFit/>
          </a:bodyPr>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R="0" indent="0">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4" name="Text Box 3"/>
          <p:cNvSpPr txBox="1"/>
          <p:nvPr/>
        </p:nvSpPr>
        <p:spPr>
          <a:xfrm>
            <a:off x="356870" y="3976052"/>
            <a:ext cx="5080000" cy="829945"/>
          </a:xfrm>
          <a:prstGeom prst="rect">
            <a:avLst/>
          </a:prstGeom>
          <a:noFill/>
          <a:ln w="9525">
            <a:noFill/>
          </a:ln>
        </p:spPr>
        <p:txBody>
          <a:bodyPr>
            <a:spAutoFit/>
          </a:bodyPr>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pic>
        <p:nvPicPr>
          <p:cNvPr id="235" name="image5.png"/>
          <p:cNvPicPr preferRelativeResize="0"/>
          <p:nvPr/>
        </p:nvPicPr>
        <p:blipFill>
          <a:blip r:embed="rId1"/>
          <a:srcRect/>
          <a:stretch>
            <a:fillRect/>
          </a:stretch>
        </p:blipFill>
        <p:spPr>
          <a:xfrm>
            <a:off x="5800090" y="2248535"/>
            <a:ext cx="5913120" cy="1844040"/>
          </a:xfrm>
          <a:prstGeom prst="rect">
            <a:avLst/>
          </a:prstGeom>
        </p:spPr>
      </p:pic>
      <p:sp>
        <p:nvSpPr>
          <p:cNvPr id="6" name="Slide Number Placeholder 5"/>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453390" y="252730"/>
            <a:ext cx="11285220" cy="6185535"/>
          </a:xfrm>
          <a:prstGeom prst="rect">
            <a:avLst/>
          </a:prstGeom>
          <a:noFill/>
          <a:ln w="9525">
            <a:noFill/>
          </a:ln>
        </p:spPr>
        <p:txBody>
          <a:bodyPr wrap="square">
            <a:spAutoFit/>
          </a:bodyPr>
          <a:p>
            <a:pPr marL="0" indent="449580" algn="just">
              <a:lnSpc>
                <a:spcPct val="150000"/>
              </a:lnSpc>
            </a:pPr>
            <a:r>
              <a:rPr lang="en-US" sz="2400" b="0">
                <a:solidFill>
                  <a:srgbClr val="000000"/>
                </a:solidFill>
                <a:latin typeface="Arial Regular" panose="020B0704020202020204" charset="0"/>
                <a:cs typeface="Arial Regular" panose="020B0704020202020204" charset="0"/>
              </a:rPr>
              <a:t>Выводить информацию можно не только с помощью диалоговых окон. Можно добавить на HTML страницу текст, путем вызова метода </a:t>
            </a:r>
            <a:r>
              <a:rPr lang="en-US" sz="2400" b="0">
                <a:solidFill>
                  <a:srgbClr val="001080"/>
                </a:solidFill>
                <a:latin typeface="Arial Regular" panose="020B0704020202020204" charset="0"/>
                <a:cs typeface="Arial Regular" panose="020B0704020202020204" charset="0"/>
              </a:rPr>
              <a:t>document</a:t>
            </a:r>
            <a:r>
              <a:rPr lang="en-US" sz="2400" b="0">
                <a:solidFill>
                  <a:srgbClr val="000000"/>
                </a:solidFill>
                <a:latin typeface="Arial Regular" panose="020B0704020202020204" charset="0"/>
                <a:cs typeface="Arial Regular" panose="020B0704020202020204" charset="0"/>
              </a:rPr>
              <a:t>.</a:t>
            </a:r>
            <a:r>
              <a:rPr lang="en-US" sz="2400" b="0">
                <a:solidFill>
                  <a:srgbClr val="795E26"/>
                </a:solidFill>
                <a:latin typeface="Arial Regular" panose="020B0704020202020204" charset="0"/>
                <a:cs typeface="Arial Regular" panose="020B0704020202020204" charset="0"/>
              </a:rPr>
              <a:t>write</a:t>
            </a:r>
            <a:r>
              <a:rPr lang="en-US" sz="2400" b="0">
                <a:solidFill>
                  <a:srgbClr val="000000"/>
                </a:solidFill>
                <a:latin typeface="Arial Regular" panose="020B0704020202020204" charset="0"/>
                <a:cs typeface="Arial Regular" panose="020B0704020202020204" charset="0"/>
              </a:rPr>
              <a:t>(</a:t>
            </a:r>
            <a:r>
              <a:rPr lang="en-US" sz="2400" b="0">
                <a:solidFill>
                  <a:srgbClr val="A31515"/>
                </a:solidFill>
                <a:latin typeface="Arial Regular" panose="020B0704020202020204" charset="0"/>
                <a:cs typeface="Arial Regular" panose="020B0704020202020204" charset="0"/>
              </a:rPr>
              <a:t>"&lt;h1&gt;My first programm!&lt;/h1&gt;"</a:t>
            </a:r>
            <a:r>
              <a:rPr lang="en-US" sz="2400" b="0">
                <a:solidFill>
                  <a:srgbClr val="000000"/>
                </a:solidFill>
                <a:latin typeface="Arial Regular" panose="020B0704020202020204" charset="0"/>
                <a:cs typeface="Arial Regular" panose="020B0704020202020204" charset="0"/>
              </a:rPr>
              <a:t>). С помощью </a:t>
            </a:r>
            <a:r>
              <a:rPr lang="en-US" sz="2400" b="0" i="1">
                <a:latin typeface="Arial Regular" panose="020B0704020202020204" charset="0"/>
                <a:cs typeface="Arial Regular" panose="020B0704020202020204" charset="0"/>
              </a:rPr>
              <a:t>JavaScript</a:t>
            </a:r>
            <a:r>
              <a:rPr lang="en-US" sz="2400" b="0">
                <a:latin typeface="Arial Regular" panose="020B0704020202020204" charset="0"/>
                <a:cs typeface="Arial Regular" panose="020B0704020202020204" charset="0"/>
              </a:rPr>
              <a:t> мы можем создавать на странице разные HTML элементы, это будет изучено подробнее в главе 9. Сейчас, на первом занятии нам понадобится только метод </a:t>
            </a:r>
            <a:r>
              <a:rPr lang="en-US" sz="2400" b="0" i="1">
                <a:latin typeface="Arial Regular" panose="020B0704020202020204" charset="0"/>
                <a:cs typeface="Arial Regular" panose="020B0704020202020204" charset="0"/>
              </a:rPr>
              <a:t>write()</a:t>
            </a:r>
            <a:r>
              <a:rPr lang="en-US" sz="2400" b="0">
                <a:latin typeface="Arial Regular" panose="020B0704020202020204" charset="0"/>
                <a:cs typeface="Arial Regular" panose="020B0704020202020204" charset="0"/>
              </a:rPr>
              <a:t>.</a:t>
            </a:r>
            <a:endParaRPr lang="en-US" sz="2400" b="0">
              <a:latin typeface="Arial Regular" panose="020B0704020202020204" charset="0"/>
              <a:cs typeface="Arial Regular" panose="020B0704020202020204" charset="0"/>
            </a:endParaRPr>
          </a:p>
          <a:p>
            <a:pPr marL="0" indent="449580" algn="just">
              <a:lnSpc>
                <a:spcPct val="150000"/>
              </a:lnSpc>
            </a:pPr>
            <a:endParaRPr lang="en-US" sz="2400" b="0">
              <a:latin typeface="Arial Regular" panose="020B0704020202020204" charset="0"/>
              <a:cs typeface="Arial Regular" panose="020B0704020202020204" charset="0"/>
            </a:endParaRPr>
          </a:p>
          <a:p>
            <a:pPr marL="0" indent="449580" algn="just">
              <a:lnSpc>
                <a:spcPct val="150000"/>
              </a:lnSpc>
            </a:pPr>
            <a:r>
              <a:rPr lang="zh-CN" sz="2400" b="0">
                <a:latin typeface="Arial Regular" panose="020B0704020202020204" charset="0"/>
                <a:cs typeface="Arial Regular" panose="020B0704020202020204" charset="0"/>
              </a:rPr>
              <a:t>您不仅可以使用对话框显示信息。您可以通过调用document.write方法（“&lt;h1&gt;my first programm！&lt;/h1&gt;”）向HTML页面添加文本。使用JavaScript，我们可以在页面上创建不同的HTML元素，这将在第9章中详细讨论。现在，在第一节课上，我们只需要</a:t>
            </a:r>
            <a:r>
              <a:rPr lang="en-US" altLang="zh-CN" sz="2400" b="0">
                <a:latin typeface="Arial Regular" panose="020B0704020202020204" charset="0"/>
                <a:cs typeface="Arial Regular" panose="020B0704020202020204" charset="0"/>
              </a:rPr>
              <a:t> w</a:t>
            </a:r>
            <a:r>
              <a:rPr lang="zh-CN" sz="2400" b="0">
                <a:latin typeface="Arial Regular" panose="020B0704020202020204" charset="0"/>
                <a:cs typeface="Arial Regular" panose="020B0704020202020204" charset="0"/>
              </a:rPr>
              <a:t>rite（）方法。</a:t>
            </a:r>
            <a:endParaRPr lang="en-US" sz="2400">
              <a:latin typeface="Arial Regular" panose="020B0704020202020204" charset="0"/>
              <a:cs typeface="Arial Regular" panose="020B0704020202020204" charset="0"/>
            </a:endParaRPr>
          </a:p>
        </p:txBody>
      </p:sp>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466725" y="1056640"/>
            <a:ext cx="5920740" cy="3046095"/>
          </a:xfrm>
          <a:prstGeom prst="rect">
            <a:avLst/>
          </a:prstGeom>
          <a:noFill/>
          <a:ln w="9525">
            <a:noFill/>
          </a:ln>
        </p:spPr>
        <p:txBody>
          <a:bodyPr wrap="square">
            <a:spAutoFit/>
          </a:bodyPr>
          <a:p>
            <a:pPr indent="0"/>
            <a:r>
              <a:rPr lang="en-US" sz="2400" b="0">
                <a:solidFill>
                  <a:srgbClr val="800000"/>
                </a:solidFill>
                <a:latin typeface="Consolas"/>
              </a:rPr>
              <a:t>&lt;!DOCTYPE</a:t>
            </a:r>
            <a:r>
              <a:rPr lang="en-US" sz="2400" b="0">
                <a:solidFill>
                  <a:srgbClr val="000000"/>
                </a:solidFill>
                <a:latin typeface="Consolas"/>
              </a:rPr>
              <a:t> </a:t>
            </a:r>
            <a:r>
              <a:rPr lang="en-US" sz="2400" b="0">
                <a:solidFill>
                  <a:srgbClr val="E50000"/>
                </a:solidFill>
                <a:latin typeface="Consolas"/>
              </a:rPr>
              <a:t>HTML</a:t>
            </a:r>
            <a:r>
              <a:rPr lang="en-US" sz="2400" b="0">
                <a:solidFill>
                  <a:srgbClr val="800000"/>
                </a:solidFill>
                <a:latin typeface="Consolas"/>
              </a:rPr>
              <a:t>&gt;&lt;html&gt;&lt;body&gt;</a:t>
            </a:r>
            <a:r>
              <a:rPr lang="en-US" sz="2400" b="0">
                <a:solidFill>
                  <a:srgbClr val="000000"/>
                </a:solidFill>
                <a:latin typeface="Consolas"/>
              </a:rPr>
              <a:t>    </a:t>
            </a:r>
            <a:r>
              <a:rPr lang="en-US" sz="2400" b="0">
                <a:solidFill>
                  <a:srgbClr val="800000"/>
                </a:solidFill>
                <a:latin typeface="Consolas"/>
              </a:rPr>
              <a:t>&lt;p&gt;</a:t>
            </a:r>
            <a:r>
              <a:rPr lang="en-US" sz="2400" b="0">
                <a:solidFill>
                  <a:srgbClr val="000000"/>
                </a:solidFill>
                <a:latin typeface="Consolas"/>
              </a:rPr>
              <a:t>Some text ...</a:t>
            </a:r>
            <a:r>
              <a:rPr lang="en-US" sz="2400" b="0">
                <a:solidFill>
                  <a:srgbClr val="800000"/>
                </a:solidFill>
                <a:latin typeface="Consolas"/>
              </a:rPr>
              <a:t>&lt;/p&gt;</a:t>
            </a:r>
            <a:r>
              <a:rPr lang="en-US" sz="2400" b="0">
                <a:solidFill>
                  <a:srgbClr val="000000"/>
                </a:solidFill>
                <a:latin typeface="Consolas"/>
              </a:rPr>
              <a:t>    </a:t>
            </a:r>
            <a:r>
              <a:rPr lang="en-US" sz="2400" b="0">
                <a:solidFill>
                  <a:srgbClr val="800000"/>
                </a:solidFill>
                <a:latin typeface="Consolas"/>
              </a:rPr>
              <a:t>&lt;script</a:t>
            </a:r>
            <a:r>
              <a:rPr lang="en-US" sz="2400" b="0">
                <a:solidFill>
                  <a:srgbClr val="000000"/>
                </a:solidFill>
                <a:latin typeface="Consolas"/>
              </a:rPr>
              <a:t> </a:t>
            </a:r>
            <a:r>
              <a:rPr lang="en-US" sz="2400" b="0">
                <a:solidFill>
                  <a:srgbClr val="E50000"/>
                </a:solidFill>
                <a:latin typeface="Consolas"/>
              </a:rPr>
              <a:t>src</a:t>
            </a:r>
            <a:r>
              <a:rPr lang="en-US" sz="2400" b="0">
                <a:solidFill>
                  <a:srgbClr val="000000"/>
                </a:solidFill>
                <a:latin typeface="Consolas"/>
              </a:rPr>
              <a:t>=</a:t>
            </a:r>
            <a:r>
              <a:rPr lang="en-US" sz="2400" b="0">
                <a:solidFill>
                  <a:srgbClr val="0000FF"/>
                </a:solidFill>
                <a:latin typeface="Consolas"/>
              </a:rPr>
              <a:t>"script.js"</a:t>
            </a:r>
            <a:r>
              <a:rPr lang="en-US" sz="2400" b="0">
                <a:solidFill>
                  <a:srgbClr val="800000"/>
                </a:solidFill>
                <a:latin typeface="Consolas"/>
              </a:rPr>
              <a:t>&gt;&lt;/script&gt;</a:t>
            </a:r>
            <a:r>
              <a:rPr lang="en-US" sz="2400" b="0">
                <a:solidFill>
                  <a:srgbClr val="000000"/>
                </a:solidFill>
                <a:latin typeface="Consolas"/>
              </a:rPr>
              <a:t>    </a:t>
            </a:r>
            <a:r>
              <a:rPr lang="en-US" sz="2400" b="0">
                <a:solidFill>
                  <a:srgbClr val="800000"/>
                </a:solidFill>
                <a:latin typeface="Consolas"/>
              </a:rPr>
              <a:t>&lt;p&gt;</a:t>
            </a:r>
            <a:r>
              <a:rPr lang="en-US" sz="2400" b="0">
                <a:solidFill>
                  <a:srgbClr val="000000"/>
                </a:solidFill>
                <a:latin typeface="Consolas"/>
              </a:rPr>
              <a:t>... some text</a:t>
            </a:r>
            <a:r>
              <a:rPr lang="en-US" sz="2400" b="0">
                <a:solidFill>
                  <a:srgbClr val="800000"/>
                </a:solidFill>
                <a:latin typeface="Consolas"/>
              </a:rPr>
              <a:t>&lt;/p&gt;&lt;/body&gt;&lt;/html&gt;</a:t>
            </a:r>
            <a:endParaRPr lang="en-US" sz="2400"/>
          </a:p>
        </p:txBody>
      </p:sp>
      <p:sp>
        <p:nvSpPr>
          <p:cNvPr id="2" name="Text Box 1"/>
          <p:cNvSpPr txBox="1"/>
          <p:nvPr/>
        </p:nvSpPr>
        <p:spPr>
          <a:xfrm>
            <a:off x="317500" y="5452745"/>
            <a:ext cx="7991475" cy="460375"/>
          </a:xfrm>
          <a:prstGeom prst="rect">
            <a:avLst/>
          </a:prstGeom>
          <a:noFill/>
          <a:ln w="9525">
            <a:noFill/>
          </a:ln>
        </p:spPr>
        <p:txBody>
          <a:bodyPr wrap="square">
            <a:spAutoFit/>
          </a:bodyPr>
          <a:p>
            <a:pPr marL="0" indent="0"/>
            <a:r>
              <a:rPr lang="en-US" sz="2400" b="0">
                <a:solidFill>
                  <a:srgbClr val="001080"/>
                </a:solidFill>
                <a:latin typeface="Consolas"/>
              </a:rPr>
              <a:t>document</a:t>
            </a:r>
            <a:r>
              <a:rPr lang="en-US" sz="2400" b="0">
                <a:solidFill>
                  <a:srgbClr val="000000"/>
                </a:solidFill>
                <a:latin typeface="Consolas"/>
              </a:rPr>
              <a:t>.</a:t>
            </a:r>
            <a:r>
              <a:rPr lang="en-US" sz="2400" b="0">
                <a:solidFill>
                  <a:srgbClr val="795E26"/>
                </a:solidFill>
                <a:latin typeface="Consolas"/>
              </a:rPr>
              <a:t>write</a:t>
            </a:r>
            <a:r>
              <a:rPr lang="en-US" sz="2400" b="0">
                <a:solidFill>
                  <a:srgbClr val="000000"/>
                </a:solidFill>
                <a:latin typeface="Consolas"/>
              </a:rPr>
              <a:t>(</a:t>
            </a:r>
            <a:r>
              <a:rPr lang="en-US" sz="2400" b="0">
                <a:solidFill>
                  <a:srgbClr val="A31515"/>
                </a:solidFill>
                <a:latin typeface="Consolas"/>
              </a:rPr>
              <a:t>"&lt;h1&gt;My first programm!&lt;/h1&gt;"</a:t>
            </a:r>
            <a:r>
              <a:rPr lang="en-US" sz="2400" b="0">
                <a:solidFill>
                  <a:srgbClr val="000000"/>
                </a:solidFill>
                <a:latin typeface="Consolas"/>
              </a:rPr>
              <a:t>);</a:t>
            </a:r>
            <a:endParaRPr lang="en-US" sz="2400"/>
          </a:p>
        </p:txBody>
      </p:sp>
      <p:pic>
        <p:nvPicPr>
          <p:cNvPr id="234" name="image11.png"/>
          <p:cNvPicPr preferRelativeResize="0"/>
          <p:nvPr/>
        </p:nvPicPr>
        <p:blipFill>
          <a:blip r:embed="rId1"/>
          <a:srcRect/>
          <a:stretch>
            <a:fillRect/>
          </a:stretch>
        </p:blipFill>
        <p:spPr>
          <a:xfrm>
            <a:off x="6719570" y="2011680"/>
            <a:ext cx="4754880" cy="2286000"/>
          </a:xfrm>
          <a:prstGeom prst="rect">
            <a:avLst/>
          </a:prstGeom>
        </p:spPr>
      </p:pic>
      <p:sp>
        <p:nvSpPr>
          <p:cNvPr id="5" name="Text Box 4"/>
          <p:cNvSpPr txBox="1"/>
          <p:nvPr/>
        </p:nvSpPr>
        <p:spPr>
          <a:xfrm>
            <a:off x="466725" y="173355"/>
            <a:ext cx="4376420" cy="829945"/>
          </a:xfrm>
          <a:prstGeom prst="rect">
            <a:avLst/>
          </a:prstGeom>
          <a:noFill/>
        </p:spPr>
        <p:txBody>
          <a:bodyPr wrap="square" rtlCol="0" anchor="t">
            <a:spAutoFit/>
          </a:bodyPr>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R="0" indent="0">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4" name="Text Box 3"/>
          <p:cNvSpPr txBox="1"/>
          <p:nvPr/>
        </p:nvSpPr>
        <p:spPr>
          <a:xfrm>
            <a:off x="317500" y="4623117"/>
            <a:ext cx="5080000" cy="829945"/>
          </a:xfrm>
          <a:prstGeom prst="rect">
            <a:avLst/>
          </a:prstGeom>
          <a:noFill/>
          <a:ln w="9525">
            <a:noFill/>
          </a:ln>
        </p:spPr>
        <p:txBody>
          <a:bodyPr>
            <a:spAutoFit/>
          </a:bodyPr>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3" name="Slide Number Placeholder 2"/>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461010" y="361315"/>
            <a:ext cx="11269980" cy="4114800"/>
          </a:xfrm>
          <a:prstGeom prst="rect">
            <a:avLst/>
          </a:prstGeom>
          <a:noFill/>
          <a:ln w="9525">
            <a:noFill/>
          </a:ln>
        </p:spPr>
        <p:txBody>
          <a:bodyPr wrap="square">
            <a:spAutoFit/>
          </a:bodyPr>
          <a:p>
            <a:pPr marL="0" indent="930910" algn="just"/>
            <a:r>
              <a:rPr lang="en-US" sz="2400" b="0">
                <a:latin typeface="Arial Regular" panose="020B0704020202020204" charset="0"/>
                <a:cs typeface="Arial Regular" panose="020B0704020202020204" charset="0"/>
              </a:rPr>
              <a:t>Как вы видите на рисунке, на страницу был добавлен текст, именно в том месте, где был вызван скрипт. Все дело в том, что когда браузер получает веб-страницу с кодом HTML и JavaScript, то он ее интерпретирует. Результат интерпретации в виде различных элементов - кнопок, полей ввода, текстовых блоков и т.д., мы видим перед собой в браузере. Интерпретация веб-страницы происходит последовательно сверху вниз.</a:t>
            </a:r>
            <a:endParaRPr lang="en-US" sz="2400" b="0">
              <a:latin typeface="Arial Regular" panose="020B0704020202020204" charset="0"/>
              <a:cs typeface="Arial Regular" panose="020B0704020202020204" charset="0"/>
            </a:endParaRPr>
          </a:p>
          <a:p>
            <a:pPr marL="0" indent="449580" algn="just"/>
            <a:endParaRPr lang="en-US" sz="2400" b="0">
              <a:latin typeface="Arial Regular" panose="020B0704020202020204" charset="0"/>
              <a:cs typeface="Arial Regular" panose="020B0704020202020204" charset="0"/>
            </a:endParaRPr>
          </a:p>
          <a:p>
            <a:pPr marL="0" indent="944245" algn="just"/>
            <a:r>
              <a:rPr lang="en-US" sz="2400">
                <a:latin typeface="Arial Regular" panose="020B0704020202020204" charset="0"/>
                <a:cs typeface="Arial Regular" panose="020B0704020202020204" charset="0"/>
              </a:rPr>
              <a:t>如图所示，页面上已添加了文本，且添加位置正是脚本被调用的地方。这是因为当浏览器接收到包含 HTML 和 JavaScript 代码的网页时，它会对其进行解析。解析结果会以各种元素（例如按钮、输入框、文本块等）的形式显示在浏览器中，并按从上到下的顺序进行解析。</a:t>
            </a:r>
            <a:endParaRPr lang="en-US" sz="2400">
              <a:latin typeface="Arial Regular" panose="020B0704020202020204" charset="0"/>
              <a:cs typeface="Arial Regular" panose="020B0704020202020204" charset="0"/>
            </a:endParaRPr>
          </a:p>
        </p:txBody>
      </p:sp>
      <p:pic>
        <p:nvPicPr>
          <p:cNvPr id="234" name="image11.png"/>
          <p:cNvPicPr preferRelativeResize="0"/>
          <p:nvPr/>
        </p:nvPicPr>
        <p:blipFill>
          <a:blip r:embed="rId1"/>
          <a:srcRect/>
          <a:stretch>
            <a:fillRect/>
          </a:stretch>
        </p:blipFill>
        <p:spPr>
          <a:xfrm>
            <a:off x="3733165" y="4284345"/>
            <a:ext cx="4725670" cy="2272030"/>
          </a:xfrm>
          <a:prstGeom prst="rect">
            <a:avLst/>
          </a:prstGeom>
        </p:spPr>
      </p:pic>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657860" y="423545"/>
            <a:ext cx="10916920" cy="5029200"/>
          </a:xfrm>
          <a:prstGeom prst="rect">
            <a:avLst/>
          </a:prstGeom>
          <a:noFill/>
          <a:ln w="9525">
            <a:noFill/>
          </a:ln>
        </p:spPr>
        <p:txBody>
          <a:bodyPr wrap="square">
            <a:spAutoFit/>
          </a:bodyPr>
          <a:p>
            <a:pPr marL="0" indent="449580" algn="just">
              <a:lnSpc>
                <a:spcPct val="150000"/>
              </a:lnSpc>
            </a:pPr>
            <a:r>
              <a:rPr lang="en-US" sz="2400" b="0">
                <a:latin typeface="Arial Regular" panose="020B0704020202020204" charset="0"/>
                <a:cs typeface="Arial Regular" panose="020B0704020202020204" charset="0"/>
              </a:rPr>
              <a:t>Когда браузер встречает на веб-странице элемент &lt;script&gt; с кодом JavaScript, то вступает в действие встроенный интерпретатор JavaScript. И пока он не закончит свою работу, дальше интерпретация веб-страницы не идет.</a:t>
            </a:r>
            <a:endParaRPr lang="en-US" sz="2400" b="0">
              <a:latin typeface="Arial Regular" panose="020B0704020202020204" charset="0"/>
              <a:cs typeface="Arial Regular" panose="020B0704020202020204" charset="0"/>
            </a:endParaRPr>
          </a:p>
          <a:p>
            <a:pPr marL="0" indent="449580" algn="just">
              <a:lnSpc>
                <a:spcPct val="150000"/>
              </a:lnSpc>
            </a:pPr>
            <a:endParaRPr lang="en-US" sz="2400" b="0">
              <a:latin typeface="Arial Regular" panose="020B0704020202020204" charset="0"/>
              <a:cs typeface="Arial Regular" panose="020B0704020202020204" charset="0"/>
            </a:endParaRPr>
          </a:p>
          <a:p>
            <a:pPr marL="0" indent="449580" algn="just">
              <a:lnSpc>
                <a:spcPct val="150000"/>
              </a:lnSpc>
            </a:pPr>
            <a:r>
              <a:rPr lang="en-US" sz="3200">
                <a:latin typeface="Arial Regular" panose="020B0704020202020204" charset="0"/>
                <a:cs typeface="Arial Regular" panose="020B0704020202020204" charset="0"/>
              </a:rPr>
              <a:t>当浏览器在网页上遇到包含 JavaScript 代码的 &lt;script&gt; 元素时，内置的 JavaScript 解释器就会启动。在它完成执行之前，网页不会被进一步解释。</a:t>
            </a:r>
            <a:endParaRPr lang="en-US" sz="3200">
              <a:latin typeface="Arial Regular" panose="020B0704020202020204" charset="0"/>
              <a:cs typeface="Arial Regular" panose="020B0704020202020204" charset="0"/>
            </a:endParaRPr>
          </a:p>
        </p:txBody>
      </p:sp>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889000" y="1079500"/>
            <a:ext cx="10671810" cy="3931920"/>
          </a:xfrm>
          <a:prstGeom prst="rect">
            <a:avLst/>
          </a:prstGeom>
          <a:noFill/>
          <a:ln w="9525">
            <a:noFill/>
          </a:ln>
        </p:spPr>
        <p:txBody>
          <a:bodyPr wrap="square">
            <a:spAutoFit/>
          </a:bodyPr>
          <a:p>
            <a:pPr marL="0" indent="449580" algn="just">
              <a:lnSpc>
                <a:spcPct val="150000"/>
              </a:lnSpc>
            </a:pPr>
            <a:r>
              <a:rPr lang="en-US" sz="2400" b="0">
                <a:latin typeface="Times New Roman" panose="02020603050405020304"/>
                <a:cs typeface="Times New Roman" panose="02020603050405020304"/>
              </a:rPr>
              <a:t>В программе мы добавили на страницу </a:t>
            </a:r>
            <a:r>
              <a:rPr lang="en-US" sz="2400" b="0">
                <a:solidFill>
                  <a:srgbClr val="A31515"/>
                </a:solidFill>
                <a:latin typeface="Times New Roman" panose="02020603050405020304"/>
                <a:cs typeface="Times New Roman" panose="02020603050405020304"/>
              </a:rPr>
              <a:t>&lt;h1&gt;My first programm!&lt;/h1&gt;</a:t>
            </a:r>
            <a:r>
              <a:rPr lang="en-US" sz="2400" b="0">
                <a:solidFill>
                  <a:srgbClr val="000000"/>
                </a:solidFill>
                <a:latin typeface="Times New Roman" panose="02020603050405020304"/>
                <a:cs typeface="Times New Roman" panose="02020603050405020304"/>
              </a:rPr>
              <a:t> — это текст My first programm! обернутый в HTMl тег &lt;h1&gt;. </a:t>
            </a:r>
            <a:endParaRPr lang="en-US" sz="2400" b="0">
              <a:solidFill>
                <a:srgbClr val="000000"/>
              </a:solidFill>
              <a:latin typeface="Times New Roman" panose="02020603050405020304"/>
              <a:cs typeface="Times New Roman" panose="02020603050405020304"/>
            </a:endParaRPr>
          </a:p>
          <a:p>
            <a:pPr marL="0" indent="449580" algn="just">
              <a:lnSpc>
                <a:spcPct val="150000"/>
              </a:lnSpc>
            </a:pPr>
            <a:endParaRPr lang="en-US" sz="2400" b="0">
              <a:solidFill>
                <a:srgbClr val="000000"/>
              </a:solidFill>
              <a:latin typeface="Times New Roman" panose="02020603050405020304"/>
              <a:cs typeface="Times New Roman" panose="02020603050405020304"/>
            </a:endParaRPr>
          </a:p>
          <a:p>
            <a:pPr marL="0" indent="449580" algn="just">
              <a:lnSpc>
                <a:spcPct val="150000"/>
              </a:lnSpc>
            </a:pPr>
            <a:r>
              <a:rPr lang="en-US" sz="3200">
                <a:latin typeface="Arial Regular" panose="020B0704020202020204" charset="0"/>
                <a:cs typeface="Arial Regular" panose="020B0704020202020204" charset="0"/>
              </a:rPr>
              <a:t>在程序中，我们向页面添加了 &lt;h1&gt;我的第一个程序！&lt;/h1&gt; - 这是文本“我的第一个程序！”被包裹在 HTML &lt;h1&gt; 标签中。</a:t>
            </a:r>
            <a:endParaRPr lang="en-US" sz="3200">
              <a:latin typeface="Arial Regular" panose="020B0704020202020204" charset="0"/>
              <a:cs typeface="Arial Regular" panose="020B0704020202020204" charset="0"/>
            </a:endParaRPr>
          </a:p>
        </p:txBody>
      </p:sp>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466725" y="1207770"/>
            <a:ext cx="8535670" cy="5262245"/>
          </a:xfrm>
          <a:prstGeom prst="rect">
            <a:avLst/>
          </a:prstGeom>
          <a:noFill/>
          <a:ln w="9525">
            <a:noFill/>
          </a:ln>
        </p:spPr>
        <p:txBody>
          <a:bodyPr wrap="square">
            <a:spAutoFit/>
          </a:bodyPr>
          <a:p>
            <a:pPr marL="0" indent="0"/>
            <a:r>
              <a:rPr lang="en-US" sz="1600" b="0">
                <a:solidFill>
                  <a:srgbClr val="001080"/>
                </a:solidFill>
                <a:latin typeface="Consolas"/>
              </a:rPr>
              <a:t>document</a:t>
            </a:r>
            <a:r>
              <a:rPr lang="en-US" sz="1600" b="0">
                <a:solidFill>
                  <a:srgbClr val="000000"/>
                </a:solidFill>
                <a:latin typeface="Consolas"/>
              </a:rPr>
              <a:t>.</a:t>
            </a:r>
            <a:r>
              <a:rPr lang="en-US" sz="1600">
                <a:solidFill>
                  <a:srgbClr val="795E26"/>
                </a:solidFill>
                <a:latin typeface="Consolas"/>
                <a:sym typeface="+mn-ea"/>
              </a:rPr>
              <a:t>write</a:t>
            </a:r>
            <a:r>
              <a:rPr lang="en-US" sz="1600" b="0">
                <a:solidFill>
                  <a:srgbClr val="000000"/>
                </a:solidFill>
                <a:latin typeface="Consolas"/>
              </a:rPr>
              <a:t>(</a:t>
            </a:r>
            <a:r>
              <a:rPr lang="en-US" sz="1600" b="0">
                <a:solidFill>
                  <a:srgbClr val="A31515"/>
                </a:solidFill>
                <a:latin typeface="Consolas"/>
              </a:rPr>
              <a:t>"&lt;h1&gt;My first programm!&lt;/h1&gt;"</a:t>
            </a:r>
            <a:r>
              <a:rPr lang="en-US" sz="1600" b="0">
                <a:solidFill>
                  <a:srgbClr val="000000"/>
                </a:solidFill>
                <a:latin typeface="Consolas"/>
              </a:rPr>
              <a:t>);</a:t>
            </a:r>
            <a:r>
              <a:rPr lang="en-US" sz="1600" b="0">
                <a:solidFill>
                  <a:srgbClr val="001080"/>
                </a:solidFill>
                <a:latin typeface="Consolas"/>
              </a:rPr>
              <a:t>document</a:t>
            </a:r>
            <a:r>
              <a:rPr lang="en-US" sz="1600" b="0">
                <a:solidFill>
                  <a:srgbClr val="000000"/>
                </a:solidFill>
                <a:latin typeface="Consolas"/>
              </a:rPr>
              <a:t>.</a:t>
            </a:r>
            <a:r>
              <a:rPr lang="en-US" sz="1600" b="0">
                <a:solidFill>
                  <a:srgbClr val="795E26"/>
                </a:solidFill>
                <a:latin typeface="Consolas"/>
              </a:rPr>
              <a:t>write</a:t>
            </a:r>
            <a:r>
              <a:rPr lang="en-US" sz="1600" b="0">
                <a:solidFill>
                  <a:srgbClr val="000000"/>
                </a:solidFill>
                <a:latin typeface="Consolas"/>
              </a:rPr>
              <a:t>(</a:t>
            </a:r>
            <a:r>
              <a:rPr lang="en-US" sz="1600" b="0">
                <a:solidFill>
                  <a:srgbClr val="A31515"/>
                </a:solidFill>
                <a:latin typeface="Consolas"/>
              </a:rPr>
              <a:t>"&lt;h2&gt;My first programm!&lt;/h2&gt;"</a:t>
            </a:r>
            <a:r>
              <a:rPr lang="en-US" sz="1600" b="0">
                <a:solidFill>
                  <a:srgbClr val="000000"/>
                </a:solidFill>
                <a:latin typeface="Consolas"/>
              </a:rPr>
              <a:t>);</a:t>
            </a:r>
            <a:r>
              <a:rPr lang="en-US" sz="1600" b="0">
                <a:solidFill>
                  <a:srgbClr val="001080"/>
                </a:solidFill>
                <a:latin typeface="Consolas"/>
              </a:rPr>
              <a:t>document</a:t>
            </a:r>
            <a:r>
              <a:rPr lang="en-US" sz="1600" b="0">
                <a:solidFill>
                  <a:srgbClr val="000000"/>
                </a:solidFill>
                <a:latin typeface="Consolas"/>
              </a:rPr>
              <a:t>.</a:t>
            </a:r>
            <a:r>
              <a:rPr lang="en-US" sz="1600" b="0">
                <a:solidFill>
                  <a:srgbClr val="795E26"/>
                </a:solidFill>
                <a:latin typeface="Consolas"/>
              </a:rPr>
              <a:t>write</a:t>
            </a:r>
            <a:r>
              <a:rPr lang="en-US" sz="1600" b="0">
                <a:solidFill>
                  <a:srgbClr val="000000"/>
                </a:solidFill>
                <a:latin typeface="Consolas"/>
              </a:rPr>
              <a:t>(</a:t>
            </a:r>
            <a:r>
              <a:rPr lang="en-US" sz="1600" b="0">
                <a:solidFill>
                  <a:srgbClr val="A31515"/>
                </a:solidFill>
                <a:latin typeface="Consolas"/>
              </a:rPr>
              <a:t>"&lt;h3&gt;My first programm!&lt;/h3&gt;"</a:t>
            </a:r>
            <a:r>
              <a:rPr lang="en-US" sz="1600" b="0">
                <a:solidFill>
                  <a:srgbClr val="000000"/>
                </a:solidFill>
                <a:latin typeface="Consolas"/>
              </a:rPr>
              <a:t>);</a:t>
            </a:r>
            <a:r>
              <a:rPr lang="en-US" sz="1600" b="0">
                <a:solidFill>
                  <a:srgbClr val="001080"/>
                </a:solidFill>
                <a:latin typeface="Consolas"/>
              </a:rPr>
              <a:t>document</a:t>
            </a:r>
            <a:r>
              <a:rPr lang="en-US" sz="1600" b="0">
                <a:solidFill>
                  <a:srgbClr val="000000"/>
                </a:solidFill>
                <a:latin typeface="Consolas"/>
              </a:rPr>
              <a:t>.</a:t>
            </a:r>
            <a:r>
              <a:rPr lang="en-US" sz="1600" b="0">
                <a:solidFill>
                  <a:srgbClr val="795E26"/>
                </a:solidFill>
                <a:latin typeface="Consolas"/>
              </a:rPr>
              <a:t>write</a:t>
            </a:r>
            <a:r>
              <a:rPr lang="en-US" sz="1600" b="0">
                <a:solidFill>
                  <a:srgbClr val="000000"/>
                </a:solidFill>
                <a:latin typeface="Consolas"/>
              </a:rPr>
              <a:t>(</a:t>
            </a:r>
            <a:r>
              <a:rPr lang="en-US" sz="1600" b="0">
                <a:solidFill>
                  <a:srgbClr val="A31515"/>
                </a:solidFill>
                <a:latin typeface="Consolas"/>
              </a:rPr>
              <a:t>"&lt;h4&gt;My first programm!&lt;/h4&gt;"</a:t>
            </a:r>
            <a:r>
              <a:rPr lang="en-US" sz="1600" b="0">
                <a:solidFill>
                  <a:srgbClr val="000000"/>
                </a:solidFill>
                <a:latin typeface="Consolas"/>
              </a:rPr>
              <a:t>);</a:t>
            </a:r>
            <a:r>
              <a:rPr lang="en-US" sz="1600" b="0">
                <a:solidFill>
                  <a:srgbClr val="001080"/>
                </a:solidFill>
                <a:latin typeface="Consolas"/>
              </a:rPr>
              <a:t>document</a:t>
            </a:r>
            <a:r>
              <a:rPr lang="en-US" sz="1600" b="0">
                <a:solidFill>
                  <a:srgbClr val="000000"/>
                </a:solidFill>
                <a:latin typeface="Consolas"/>
              </a:rPr>
              <a:t>.</a:t>
            </a:r>
            <a:r>
              <a:rPr lang="en-US" sz="1600" b="0">
                <a:solidFill>
                  <a:srgbClr val="795E26"/>
                </a:solidFill>
                <a:latin typeface="Consolas"/>
              </a:rPr>
              <a:t>write</a:t>
            </a:r>
            <a:r>
              <a:rPr lang="en-US" sz="1600" b="0">
                <a:solidFill>
                  <a:srgbClr val="000000"/>
                </a:solidFill>
                <a:latin typeface="Consolas"/>
              </a:rPr>
              <a:t>(</a:t>
            </a:r>
            <a:r>
              <a:rPr lang="en-US" sz="1600" b="0">
                <a:solidFill>
                  <a:srgbClr val="A31515"/>
                </a:solidFill>
                <a:latin typeface="Consolas"/>
              </a:rPr>
              <a:t>"&lt;h5&gt;My first programm!&lt;/h5&gt;"</a:t>
            </a:r>
            <a:r>
              <a:rPr lang="en-US" sz="1600" b="0">
                <a:solidFill>
                  <a:srgbClr val="000000"/>
                </a:solidFill>
                <a:latin typeface="Consolas"/>
              </a:rPr>
              <a:t>);</a:t>
            </a:r>
            <a:r>
              <a:rPr lang="en-US" sz="1600" b="0">
                <a:solidFill>
                  <a:srgbClr val="001080"/>
                </a:solidFill>
                <a:latin typeface="Consolas"/>
              </a:rPr>
              <a:t>document</a:t>
            </a:r>
            <a:r>
              <a:rPr lang="en-US" sz="1600" b="0">
                <a:solidFill>
                  <a:srgbClr val="000000"/>
                </a:solidFill>
                <a:latin typeface="Consolas"/>
              </a:rPr>
              <a:t>.</a:t>
            </a:r>
            <a:r>
              <a:rPr lang="en-US" sz="1600" b="0">
                <a:solidFill>
                  <a:srgbClr val="795E26"/>
                </a:solidFill>
                <a:latin typeface="Consolas"/>
              </a:rPr>
              <a:t>write</a:t>
            </a:r>
            <a:r>
              <a:rPr lang="en-US" sz="1600" b="0">
                <a:solidFill>
                  <a:srgbClr val="000000"/>
                </a:solidFill>
                <a:latin typeface="Consolas"/>
              </a:rPr>
              <a:t>(</a:t>
            </a:r>
            <a:r>
              <a:rPr lang="en-US" sz="1600" b="0">
                <a:solidFill>
                  <a:srgbClr val="A31515"/>
                </a:solidFill>
                <a:latin typeface="Consolas"/>
              </a:rPr>
              <a:t>"&lt;h6&gt;My first programm!&lt;/h6&gt;"</a:t>
            </a:r>
            <a:r>
              <a:rPr lang="en-US" sz="1600" b="0">
                <a:solidFill>
                  <a:srgbClr val="000000"/>
                </a:solidFill>
                <a:latin typeface="Consolas"/>
              </a:rPr>
              <a:t>); </a:t>
            </a:r>
            <a:r>
              <a:rPr lang="en-US" sz="1600" b="0">
                <a:solidFill>
                  <a:srgbClr val="001080"/>
                </a:solidFill>
                <a:latin typeface="Consolas"/>
              </a:rPr>
              <a:t>document</a:t>
            </a:r>
            <a:r>
              <a:rPr lang="en-US" sz="1600" b="0">
                <a:solidFill>
                  <a:srgbClr val="000000"/>
                </a:solidFill>
                <a:latin typeface="Consolas"/>
              </a:rPr>
              <a:t>.</a:t>
            </a:r>
            <a:r>
              <a:rPr lang="en-US" sz="1600" b="0">
                <a:solidFill>
                  <a:srgbClr val="795E26"/>
                </a:solidFill>
                <a:latin typeface="Consolas"/>
              </a:rPr>
              <a:t>write</a:t>
            </a:r>
            <a:r>
              <a:rPr lang="en-US" sz="1600" b="0">
                <a:solidFill>
                  <a:srgbClr val="000000"/>
                </a:solidFill>
                <a:latin typeface="Consolas"/>
              </a:rPr>
              <a:t>(</a:t>
            </a:r>
            <a:r>
              <a:rPr lang="en-US" sz="1600" b="0">
                <a:solidFill>
                  <a:srgbClr val="A31515"/>
                </a:solidFill>
                <a:latin typeface="Consolas"/>
              </a:rPr>
              <a:t>"&lt;hr&gt;"</a:t>
            </a:r>
            <a:r>
              <a:rPr lang="en-US" sz="1600" b="0">
                <a:solidFill>
                  <a:srgbClr val="000000"/>
                </a:solidFill>
                <a:latin typeface="Consolas"/>
              </a:rPr>
              <a:t>); </a:t>
            </a:r>
            <a:r>
              <a:rPr lang="en-US" sz="1600" b="0">
                <a:solidFill>
                  <a:srgbClr val="001080"/>
                </a:solidFill>
                <a:latin typeface="Consolas"/>
              </a:rPr>
              <a:t>document</a:t>
            </a:r>
            <a:r>
              <a:rPr lang="en-US" sz="1600" b="0">
                <a:solidFill>
                  <a:srgbClr val="000000"/>
                </a:solidFill>
                <a:latin typeface="Consolas"/>
              </a:rPr>
              <a:t>.</a:t>
            </a:r>
            <a:r>
              <a:rPr lang="en-US" sz="1600" b="0">
                <a:solidFill>
                  <a:srgbClr val="795E26"/>
                </a:solidFill>
                <a:latin typeface="Consolas"/>
              </a:rPr>
              <a:t>write</a:t>
            </a:r>
            <a:r>
              <a:rPr lang="en-US" sz="1600" b="0">
                <a:solidFill>
                  <a:srgbClr val="000000"/>
                </a:solidFill>
                <a:latin typeface="Consolas"/>
              </a:rPr>
              <a:t>(</a:t>
            </a:r>
            <a:r>
              <a:rPr lang="en-US" sz="1600" b="0">
                <a:solidFill>
                  <a:srgbClr val="A31515"/>
                </a:solidFill>
                <a:latin typeface="Consolas"/>
              </a:rPr>
              <a:t>"&lt;p&gt;My first programm!&lt;/p&gt;"</a:t>
            </a:r>
            <a:r>
              <a:rPr lang="en-US" sz="1600" b="0">
                <a:solidFill>
                  <a:srgbClr val="000000"/>
                </a:solidFill>
                <a:latin typeface="Consolas"/>
              </a:rPr>
              <a:t>); </a:t>
            </a:r>
            <a:r>
              <a:rPr lang="en-US" sz="1600" b="0">
                <a:solidFill>
                  <a:srgbClr val="001080"/>
                </a:solidFill>
                <a:latin typeface="Consolas"/>
              </a:rPr>
              <a:t>document</a:t>
            </a:r>
            <a:r>
              <a:rPr lang="en-US" sz="1600" b="0">
                <a:solidFill>
                  <a:srgbClr val="000000"/>
                </a:solidFill>
                <a:latin typeface="Consolas"/>
              </a:rPr>
              <a:t>.</a:t>
            </a:r>
            <a:r>
              <a:rPr lang="en-US" sz="1600" b="0">
                <a:solidFill>
                  <a:srgbClr val="795E26"/>
                </a:solidFill>
                <a:latin typeface="Consolas"/>
              </a:rPr>
              <a:t>write</a:t>
            </a:r>
            <a:r>
              <a:rPr lang="en-US" sz="1600" b="0">
                <a:solidFill>
                  <a:srgbClr val="000000"/>
                </a:solidFill>
                <a:latin typeface="Consolas"/>
              </a:rPr>
              <a:t>(</a:t>
            </a:r>
            <a:r>
              <a:rPr lang="en-US" sz="1600" b="0">
                <a:solidFill>
                  <a:srgbClr val="A31515"/>
                </a:solidFill>
                <a:latin typeface="Consolas"/>
              </a:rPr>
              <a:t>"&lt;ol&gt;&lt;li&gt;My first programm!&lt;/li&gt;&lt;/ol&gt;"</a:t>
            </a:r>
            <a:r>
              <a:rPr lang="en-US" sz="1600" b="0">
                <a:solidFill>
                  <a:srgbClr val="000000"/>
                </a:solidFill>
                <a:latin typeface="Consolas"/>
              </a:rPr>
              <a:t>);</a:t>
            </a:r>
            <a:r>
              <a:rPr lang="en-US" sz="1600" b="0">
                <a:solidFill>
                  <a:srgbClr val="001080"/>
                </a:solidFill>
                <a:latin typeface="Consolas"/>
              </a:rPr>
              <a:t>document</a:t>
            </a:r>
            <a:r>
              <a:rPr lang="en-US" sz="1600" b="0">
                <a:solidFill>
                  <a:srgbClr val="000000"/>
                </a:solidFill>
                <a:latin typeface="Consolas"/>
              </a:rPr>
              <a:t>.</a:t>
            </a:r>
            <a:r>
              <a:rPr lang="en-US" sz="1600" b="0">
                <a:solidFill>
                  <a:srgbClr val="795E26"/>
                </a:solidFill>
                <a:latin typeface="Consolas"/>
              </a:rPr>
              <a:t>write</a:t>
            </a:r>
            <a:r>
              <a:rPr lang="en-US" sz="1600" b="0">
                <a:solidFill>
                  <a:srgbClr val="000000"/>
                </a:solidFill>
                <a:latin typeface="Consolas"/>
              </a:rPr>
              <a:t>(</a:t>
            </a:r>
            <a:r>
              <a:rPr lang="en-US" sz="1600" b="0">
                <a:solidFill>
                  <a:srgbClr val="A31515"/>
                </a:solidFill>
                <a:latin typeface="Consolas"/>
              </a:rPr>
              <a:t>"&lt;ul&gt;&lt;li&gt;My first programm!&lt;/li&gt;&lt;/ul&gt;"</a:t>
            </a:r>
            <a:r>
              <a:rPr lang="en-US" sz="1600" b="0">
                <a:solidFill>
                  <a:srgbClr val="000000"/>
                </a:solidFill>
                <a:latin typeface="Consolas"/>
              </a:rPr>
              <a:t>); </a:t>
            </a:r>
            <a:r>
              <a:rPr lang="en-US" sz="1600" b="0">
                <a:solidFill>
                  <a:srgbClr val="001080"/>
                </a:solidFill>
                <a:latin typeface="Consolas"/>
              </a:rPr>
              <a:t>document</a:t>
            </a:r>
            <a:r>
              <a:rPr lang="en-US" sz="1600" b="0">
                <a:solidFill>
                  <a:srgbClr val="000000"/>
                </a:solidFill>
                <a:latin typeface="Consolas"/>
              </a:rPr>
              <a:t>.</a:t>
            </a:r>
            <a:r>
              <a:rPr lang="en-US" sz="1600" b="0">
                <a:solidFill>
                  <a:srgbClr val="795E26"/>
                </a:solidFill>
                <a:latin typeface="Consolas"/>
              </a:rPr>
              <a:t>write</a:t>
            </a:r>
            <a:r>
              <a:rPr lang="en-US" sz="1600" b="0">
                <a:solidFill>
                  <a:srgbClr val="000000"/>
                </a:solidFill>
                <a:latin typeface="Consolas"/>
              </a:rPr>
              <a:t>(</a:t>
            </a:r>
            <a:r>
              <a:rPr lang="en-US" sz="1600" b="0">
                <a:solidFill>
                  <a:srgbClr val="A31515"/>
                </a:solidFill>
                <a:latin typeface="Consolas"/>
              </a:rPr>
              <a:t>"&lt;br&gt;"</a:t>
            </a:r>
            <a:r>
              <a:rPr lang="en-US" sz="1600" b="0">
                <a:solidFill>
                  <a:srgbClr val="000000"/>
                </a:solidFill>
                <a:latin typeface="Consolas"/>
              </a:rPr>
              <a:t>); </a:t>
            </a:r>
            <a:r>
              <a:rPr lang="en-US" sz="1600" b="0">
                <a:solidFill>
                  <a:srgbClr val="001080"/>
                </a:solidFill>
                <a:latin typeface="Consolas"/>
              </a:rPr>
              <a:t>document</a:t>
            </a:r>
            <a:r>
              <a:rPr lang="en-US" sz="1600" b="0">
                <a:solidFill>
                  <a:srgbClr val="000000"/>
                </a:solidFill>
                <a:latin typeface="Consolas"/>
              </a:rPr>
              <a:t>.</a:t>
            </a:r>
            <a:r>
              <a:rPr lang="en-US" sz="1600" b="0">
                <a:solidFill>
                  <a:srgbClr val="795E26"/>
                </a:solidFill>
                <a:latin typeface="Consolas"/>
              </a:rPr>
              <a:t>write</a:t>
            </a:r>
            <a:r>
              <a:rPr lang="en-US" sz="1600" b="0">
                <a:solidFill>
                  <a:srgbClr val="000000"/>
                </a:solidFill>
                <a:latin typeface="Consolas"/>
              </a:rPr>
              <a:t>(</a:t>
            </a:r>
            <a:r>
              <a:rPr lang="en-US" sz="1600" b="0">
                <a:solidFill>
                  <a:srgbClr val="A31515"/>
                </a:solidFill>
                <a:latin typeface="Consolas"/>
              </a:rPr>
              <a:t>"&lt;b&gt;My first programm!&lt;/b&gt;"</a:t>
            </a:r>
            <a:r>
              <a:rPr lang="en-US" sz="1600" b="0">
                <a:solidFill>
                  <a:srgbClr val="000000"/>
                </a:solidFill>
                <a:latin typeface="Consolas"/>
              </a:rPr>
              <a:t>);</a:t>
            </a:r>
            <a:r>
              <a:rPr lang="en-US" sz="1600" b="0">
                <a:solidFill>
                  <a:srgbClr val="001080"/>
                </a:solidFill>
                <a:latin typeface="Consolas"/>
              </a:rPr>
              <a:t>document</a:t>
            </a:r>
            <a:r>
              <a:rPr lang="en-US" sz="1600" b="0">
                <a:solidFill>
                  <a:srgbClr val="000000"/>
                </a:solidFill>
                <a:latin typeface="Consolas"/>
              </a:rPr>
              <a:t>.</a:t>
            </a:r>
            <a:r>
              <a:rPr lang="en-US" sz="1600" b="0">
                <a:solidFill>
                  <a:srgbClr val="795E26"/>
                </a:solidFill>
                <a:latin typeface="Consolas"/>
              </a:rPr>
              <a:t>write</a:t>
            </a:r>
            <a:r>
              <a:rPr lang="en-US" sz="1600" b="0">
                <a:solidFill>
                  <a:srgbClr val="000000"/>
                </a:solidFill>
                <a:latin typeface="Consolas"/>
              </a:rPr>
              <a:t>(</a:t>
            </a:r>
            <a:r>
              <a:rPr lang="en-US" sz="1600" b="0">
                <a:solidFill>
                  <a:srgbClr val="A31515"/>
                </a:solidFill>
                <a:latin typeface="Consolas"/>
              </a:rPr>
              <a:t>"&lt;br&gt;"</a:t>
            </a:r>
            <a:r>
              <a:rPr lang="en-US" sz="1600" b="0">
                <a:solidFill>
                  <a:srgbClr val="000000"/>
                </a:solidFill>
                <a:latin typeface="Consolas"/>
              </a:rPr>
              <a:t>);</a:t>
            </a:r>
            <a:r>
              <a:rPr lang="en-US" sz="1600" b="0">
                <a:solidFill>
                  <a:srgbClr val="001080"/>
                </a:solidFill>
                <a:latin typeface="Consolas"/>
              </a:rPr>
              <a:t>document</a:t>
            </a:r>
            <a:r>
              <a:rPr lang="en-US" sz="1600" b="0">
                <a:solidFill>
                  <a:srgbClr val="000000"/>
                </a:solidFill>
                <a:latin typeface="Consolas"/>
              </a:rPr>
              <a:t>.</a:t>
            </a:r>
            <a:r>
              <a:rPr lang="en-US" sz="1600" b="0">
                <a:solidFill>
                  <a:srgbClr val="795E26"/>
                </a:solidFill>
                <a:latin typeface="Consolas"/>
              </a:rPr>
              <a:t>write</a:t>
            </a:r>
            <a:r>
              <a:rPr lang="en-US" sz="1600" b="0">
                <a:solidFill>
                  <a:srgbClr val="000000"/>
                </a:solidFill>
                <a:latin typeface="Consolas"/>
              </a:rPr>
              <a:t>(</a:t>
            </a:r>
            <a:r>
              <a:rPr lang="en-US" sz="1600" b="0">
                <a:solidFill>
                  <a:srgbClr val="A31515"/>
                </a:solidFill>
                <a:latin typeface="Consolas"/>
              </a:rPr>
              <a:t>"&lt;i&gt;My first programm!&lt;/i&gt;"</a:t>
            </a:r>
            <a:r>
              <a:rPr lang="en-US" sz="1600" b="0">
                <a:solidFill>
                  <a:srgbClr val="000000"/>
                </a:solidFill>
                <a:latin typeface="Consolas"/>
              </a:rPr>
              <a:t>);</a:t>
            </a:r>
            <a:r>
              <a:rPr lang="en-US" sz="1600" b="0">
                <a:solidFill>
                  <a:srgbClr val="001080"/>
                </a:solidFill>
                <a:latin typeface="Consolas"/>
              </a:rPr>
              <a:t>document</a:t>
            </a:r>
            <a:r>
              <a:rPr lang="en-US" sz="1600" b="0">
                <a:solidFill>
                  <a:srgbClr val="000000"/>
                </a:solidFill>
                <a:latin typeface="Consolas"/>
              </a:rPr>
              <a:t>.</a:t>
            </a:r>
            <a:r>
              <a:rPr lang="en-US" sz="1600" b="0">
                <a:solidFill>
                  <a:srgbClr val="795E26"/>
                </a:solidFill>
                <a:latin typeface="Consolas"/>
              </a:rPr>
              <a:t>write</a:t>
            </a:r>
            <a:r>
              <a:rPr lang="en-US" sz="1600" b="0">
                <a:solidFill>
                  <a:srgbClr val="000000"/>
                </a:solidFill>
                <a:latin typeface="Consolas"/>
              </a:rPr>
              <a:t>(</a:t>
            </a:r>
            <a:r>
              <a:rPr lang="en-US" sz="1600" b="0">
                <a:solidFill>
                  <a:srgbClr val="A31515"/>
                </a:solidFill>
                <a:latin typeface="Consolas"/>
              </a:rPr>
              <a:t>"&lt;br&gt;"</a:t>
            </a:r>
            <a:r>
              <a:rPr lang="en-US" sz="1600" b="0">
                <a:solidFill>
                  <a:srgbClr val="000000"/>
                </a:solidFill>
                <a:latin typeface="Consolas"/>
              </a:rPr>
              <a:t>);</a:t>
            </a:r>
            <a:r>
              <a:rPr lang="en-US" sz="1600" b="0">
                <a:solidFill>
                  <a:srgbClr val="001080"/>
                </a:solidFill>
                <a:latin typeface="Consolas"/>
              </a:rPr>
              <a:t>document</a:t>
            </a:r>
            <a:r>
              <a:rPr lang="en-US" sz="1600" b="0">
                <a:solidFill>
                  <a:srgbClr val="000000"/>
                </a:solidFill>
                <a:latin typeface="Consolas"/>
              </a:rPr>
              <a:t>.</a:t>
            </a:r>
            <a:r>
              <a:rPr lang="en-US" sz="1600" b="0">
                <a:solidFill>
                  <a:srgbClr val="795E26"/>
                </a:solidFill>
                <a:latin typeface="Consolas"/>
              </a:rPr>
              <a:t>write</a:t>
            </a:r>
            <a:r>
              <a:rPr lang="en-US" sz="1600" b="0">
                <a:solidFill>
                  <a:srgbClr val="000000"/>
                </a:solidFill>
                <a:latin typeface="Consolas"/>
              </a:rPr>
              <a:t>(</a:t>
            </a:r>
            <a:r>
              <a:rPr lang="en-US" sz="1600" b="0">
                <a:solidFill>
                  <a:srgbClr val="A31515"/>
                </a:solidFill>
                <a:latin typeface="Consolas"/>
              </a:rPr>
              <a:t>"&lt;del&gt;My first programm!&lt;/del&gt;"</a:t>
            </a:r>
            <a:r>
              <a:rPr lang="en-US" sz="1600" b="0">
                <a:solidFill>
                  <a:srgbClr val="000000"/>
                </a:solidFill>
                <a:latin typeface="Consolas"/>
              </a:rPr>
              <a:t>);</a:t>
            </a:r>
            <a:endParaRPr lang="en-US" sz="1600"/>
          </a:p>
        </p:txBody>
      </p:sp>
      <p:sp>
        <p:nvSpPr>
          <p:cNvPr id="5" name="Text Box 4"/>
          <p:cNvSpPr txBox="1"/>
          <p:nvPr/>
        </p:nvSpPr>
        <p:spPr>
          <a:xfrm>
            <a:off x="466725" y="173355"/>
            <a:ext cx="5206365" cy="829945"/>
          </a:xfrm>
          <a:prstGeom prst="rect">
            <a:avLst/>
          </a:prstGeom>
          <a:noFill/>
        </p:spPr>
        <p:txBody>
          <a:bodyPr wrap="square" rtlCol="0" anchor="t">
            <a:spAutoFit/>
          </a:bodyPr>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R="0" indent="0">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807085" y="1483995"/>
            <a:ext cx="10577195" cy="3692525"/>
          </a:xfrm>
          <a:prstGeom prst="rect">
            <a:avLst/>
          </a:prstGeom>
          <a:noFill/>
          <a:ln w="9525">
            <a:noFill/>
          </a:ln>
        </p:spPr>
        <p:txBody>
          <a:bodyPr wrap="square">
            <a:spAutoFit/>
          </a:bodyPr>
          <a:p>
            <a:pPr indent="0" algn="just">
              <a:lnSpc>
                <a:spcPct val="150000"/>
              </a:lnSpc>
            </a:pPr>
            <a:r>
              <a:rPr lang="ru-RU" altLang="en-US" sz="2400" b="0">
                <a:latin typeface="Arial Regular" panose="020B0704020202020204" charset="0"/>
                <a:cs typeface="Arial Regular" panose="020B0704020202020204" charset="0"/>
              </a:rPr>
              <a:t>	</a:t>
            </a:r>
            <a:r>
              <a:rPr lang="en-US" sz="2400" b="0">
                <a:latin typeface="Arial Regular" panose="020B0704020202020204" charset="0"/>
                <a:cs typeface="Arial Regular" panose="020B0704020202020204" charset="0"/>
              </a:rPr>
              <a:t>HTML теги можно дополнять стилями, например изменить шрифт или цвет текста. Самостоятельно создайте скрипт, в котором на страницу добавляется отформатированный текст. </a:t>
            </a:r>
            <a:endParaRPr lang="en-US" sz="2400" b="0">
              <a:latin typeface="Arial Regular" panose="020B0704020202020204" charset="0"/>
              <a:cs typeface="Arial Regular" panose="020B0704020202020204" charset="0"/>
            </a:endParaRPr>
          </a:p>
          <a:p>
            <a:pPr indent="0" algn="just">
              <a:lnSpc>
                <a:spcPct val="150000"/>
              </a:lnSpc>
            </a:pPr>
            <a:endParaRPr lang="en-US" sz="2800" b="0">
              <a:latin typeface="Arial Regular" panose="020B0704020202020204" charset="0"/>
              <a:cs typeface="Arial Regular" panose="020B0704020202020204" charset="0"/>
            </a:endParaRPr>
          </a:p>
          <a:p>
            <a:pPr indent="0" algn="just">
              <a:lnSpc>
                <a:spcPct val="150000"/>
              </a:lnSpc>
            </a:pPr>
            <a:r>
              <a:rPr lang="zh-CN" sz="2800" b="0">
                <a:latin typeface="Arial Regular" panose="020B0704020202020204" charset="0"/>
                <a:cs typeface="Arial Regular" panose="020B0704020202020204" charset="0"/>
              </a:rPr>
              <a:t>HTML标签可以添加样式，例如更改字体或文本颜色。创建一个脚本，将格式化文本添加到页面，例如</a:t>
            </a:r>
            <a:endParaRPr lang="en-US" sz="2800">
              <a:latin typeface="Arial Regular" panose="020B0704020202020204" charset="0"/>
              <a:cs typeface="Arial Regular" panose="020B0704020202020204" charset="0"/>
            </a:endParaRPr>
          </a:p>
        </p:txBody>
      </p:sp>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66725" y="2200910"/>
            <a:ext cx="7011670" cy="3046095"/>
          </a:xfrm>
          <a:prstGeom prst="rect">
            <a:avLst/>
          </a:prstGeom>
          <a:noFill/>
          <a:ln w="9525">
            <a:noFill/>
          </a:ln>
        </p:spPr>
        <p:txBody>
          <a:bodyPr wrap="square">
            <a:spAutoFit/>
          </a:bodyPr>
          <a:p>
            <a:pPr indent="0"/>
            <a:r>
              <a:rPr lang="en-US" sz="2400" b="0">
                <a:solidFill>
                  <a:srgbClr val="800000"/>
                </a:solidFill>
                <a:latin typeface="Consolas"/>
              </a:rPr>
              <a:t>&lt;!DOCTYPE</a:t>
            </a:r>
            <a:r>
              <a:rPr lang="en-US" sz="2400" b="0">
                <a:solidFill>
                  <a:srgbClr val="000000"/>
                </a:solidFill>
                <a:latin typeface="Consolas"/>
              </a:rPr>
              <a:t> </a:t>
            </a:r>
            <a:r>
              <a:rPr lang="en-US" sz="2400" b="0">
                <a:solidFill>
                  <a:srgbClr val="E50000"/>
                </a:solidFill>
                <a:latin typeface="Consolas"/>
              </a:rPr>
              <a:t>HTML</a:t>
            </a:r>
            <a:r>
              <a:rPr lang="en-US" sz="2400" b="0">
                <a:solidFill>
                  <a:srgbClr val="800000"/>
                </a:solidFill>
                <a:latin typeface="Consolas"/>
              </a:rPr>
              <a:t>&gt;&lt;html&gt;&lt;body&gt;</a:t>
            </a:r>
            <a:r>
              <a:rPr lang="en-US" sz="2400" b="0">
                <a:solidFill>
                  <a:srgbClr val="000000"/>
                </a:solidFill>
                <a:latin typeface="Consolas"/>
              </a:rPr>
              <a:t>    </a:t>
            </a:r>
            <a:r>
              <a:rPr lang="en-US" sz="2400" b="0">
                <a:solidFill>
                  <a:srgbClr val="800000"/>
                </a:solidFill>
                <a:latin typeface="Consolas"/>
              </a:rPr>
              <a:t>&lt;p&gt;</a:t>
            </a:r>
            <a:r>
              <a:rPr lang="en-US" sz="2400" b="0">
                <a:solidFill>
                  <a:srgbClr val="000000"/>
                </a:solidFill>
                <a:latin typeface="Consolas"/>
              </a:rPr>
              <a:t>Some text ...</a:t>
            </a:r>
            <a:r>
              <a:rPr lang="en-US" sz="2400" b="0">
                <a:solidFill>
                  <a:srgbClr val="800000"/>
                </a:solidFill>
                <a:latin typeface="Consolas"/>
              </a:rPr>
              <a:t>&lt;/p&gt;</a:t>
            </a:r>
            <a:r>
              <a:rPr lang="en-US" sz="2400" b="0">
                <a:solidFill>
                  <a:srgbClr val="000000"/>
                </a:solidFill>
                <a:latin typeface="Consolas"/>
              </a:rPr>
              <a:t>    </a:t>
            </a:r>
            <a:r>
              <a:rPr lang="en-US" sz="2400" b="0">
                <a:solidFill>
                  <a:srgbClr val="800000"/>
                </a:solidFill>
                <a:latin typeface="Consolas"/>
              </a:rPr>
              <a:t>&lt;script</a:t>
            </a:r>
            <a:r>
              <a:rPr lang="en-US" sz="2400" b="0">
                <a:solidFill>
                  <a:srgbClr val="000000"/>
                </a:solidFill>
                <a:latin typeface="Consolas"/>
              </a:rPr>
              <a:t> </a:t>
            </a:r>
            <a:r>
              <a:rPr lang="en-US" sz="2400" b="0">
                <a:solidFill>
                  <a:srgbClr val="E50000"/>
                </a:solidFill>
                <a:latin typeface="Consolas"/>
              </a:rPr>
              <a:t>src</a:t>
            </a:r>
            <a:r>
              <a:rPr lang="en-US" sz="2400" b="0">
                <a:solidFill>
                  <a:srgbClr val="000000"/>
                </a:solidFill>
                <a:latin typeface="Consolas"/>
              </a:rPr>
              <a:t>=</a:t>
            </a:r>
            <a:r>
              <a:rPr lang="en-US" sz="2400" b="0">
                <a:solidFill>
                  <a:srgbClr val="0000FF"/>
                </a:solidFill>
                <a:latin typeface="Consolas"/>
              </a:rPr>
              <a:t>"</a:t>
            </a:r>
            <a:r>
              <a:rPr lang="en-US" sz="2400">
                <a:solidFill>
                  <a:srgbClr val="0000FF"/>
                </a:solidFill>
                <a:latin typeface="Consolas"/>
                <a:sym typeface="+mn-ea"/>
              </a:rPr>
              <a:t>script</a:t>
            </a:r>
            <a:r>
              <a:rPr lang="en-US" sz="2400" b="0">
                <a:solidFill>
                  <a:srgbClr val="0000FF"/>
                </a:solidFill>
                <a:latin typeface="Consolas"/>
              </a:rPr>
              <a:t>.js"</a:t>
            </a:r>
            <a:r>
              <a:rPr lang="en-US" sz="2400" b="0">
                <a:solidFill>
                  <a:srgbClr val="800000"/>
                </a:solidFill>
                <a:latin typeface="Consolas"/>
              </a:rPr>
              <a:t>&gt;&lt;/script&gt;</a:t>
            </a:r>
            <a:r>
              <a:rPr lang="en-US" sz="2400" b="0">
                <a:solidFill>
                  <a:srgbClr val="000000"/>
                </a:solidFill>
                <a:latin typeface="Consolas"/>
              </a:rPr>
              <a:t>    </a:t>
            </a:r>
            <a:r>
              <a:rPr lang="en-US" sz="2400" b="0">
                <a:solidFill>
                  <a:srgbClr val="800000"/>
                </a:solidFill>
                <a:latin typeface="Consolas"/>
              </a:rPr>
              <a:t>&lt;p&gt;</a:t>
            </a:r>
            <a:r>
              <a:rPr lang="en-US" sz="2400" b="0">
                <a:solidFill>
                  <a:srgbClr val="000000"/>
                </a:solidFill>
                <a:latin typeface="Consolas"/>
              </a:rPr>
              <a:t>... some text</a:t>
            </a:r>
            <a:r>
              <a:rPr lang="en-US" sz="2400" b="0">
                <a:solidFill>
                  <a:srgbClr val="800000"/>
                </a:solidFill>
                <a:latin typeface="Consolas"/>
              </a:rPr>
              <a:t>&lt;/p&gt;&lt;/body&gt;&lt;/html&gt;</a:t>
            </a:r>
            <a:endParaRPr lang="en-US" sz="2400"/>
          </a:p>
        </p:txBody>
      </p:sp>
      <p:pic>
        <p:nvPicPr>
          <p:cNvPr id="237" name="image1.png"/>
          <p:cNvPicPr preferRelativeResize="0"/>
          <p:nvPr/>
        </p:nvPicPr>
        <p:blipFill>
          <a:blip r:embed="rId1"/>
          <a:srcRect/>
          <a:stretch>
            <a:fillRect/>
          </a:stretch>
        </p:blipFill>
        <p:spPr>
          <a:xfrm>
            <a:off x="6047423" y="2100580"/>
            <a:ext cx="5940425" cy="2656840"/>
          </a:xfrm>
          <a:prstGeom prst="rect">
            <a:avLst/>
          </a:prstGeom>
        </p:spPr>
      </p:pic>
      <p:sp>
        <p:nvSpPr>
          <p:cNvPr id="5" name="Text Box 4"/>
          <p:cNvSpPr txBox="1"/>
          <p:nvPr/>
        </p:nvSpPr>
        <p:spPr>
          <a:xfrm>
            <a:off x="575310" y="908050"/>
            <a:ext cx="4376420" cy="829945"/>
          </a:xfrm>
          <a:prstGeom prst="rect">
            <a:avLst/>
          </a:prstGeom>
          <a:noFill/>
        </p:spPr>
        <p:txBody>
          <a:bodyPr wrap="square" rtlCol="0" anchor="t">
            <a:spAutoFit/>
          </a:bodyPr>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R="0" indent="0">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3" name="Slide Number Placeholder 2"/>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372110" y="1142365"/>
            <a:ext cx="11216640" cy="2861310"/>
          </a:xfrm>
          <a:prstGeom prst="rect">
            <a:avLst/>
          </a:prstGeom>
          <a:noFill/>
          <a:ln w="9525">
            <a:noFill/>
          </a:ln>
        </p:spPr>
        <p:txBody>
          <a:bodyPr wrap="square">
            <a:spAutoFit/>
          </a:bodyPr>
          <a:p>
            <a:pPr marL="0" indent="0"/>
            <a:r>
              <a:rPr lang="en-US" sz="2000" b="0">
                <a:solidFill>
                  <a:srgbClr val="001080"/>
                </a:solidFill>
                <a:latin typeface="Consolas"/>
              </a:rPr>
              <a:t>document</a:t>
            </a:r>
            <a:r>
              <a:rPr lang="en-US" sz="2000" b="0">
                <a:solidFill>
                  <a:srgbClr val="000000"/>
                </a:solidFill>
                <a:latin typeface="Consolas"/>
              </a:rPr>
              <a:t>.</a:t>
            </a:r>
            <a:r>
              <a:rPr lang="en-US" sz="2000" b="0">
                <a:solidFill>
                  <a:srgbClr val="795E26"/>
                </a:solidFill>
                <a:latin typeface="Consolas"/>
              </a:rPr>
              <a:t>write</a:t>
            </a:r>
            <a:r>
              <a:rPr lang="en-US" sz="2000" b="0">
                <a:solidFill>
                  <a:srgbClr val="000000"/>
                </a:solidFill>
                <a:latin typeface="Consolas"/>
              </a:rPr>
              <a:t>(</a:t>
            </a:r>
            <a:r>
              <a:rPr lang="en-US" sz="2000" b="0">
                <a:solidFill>
                  <a:srgbClr val="A31515"/>
                </a:solidFill>
                <a:latin typeface="Consolas"/>
              </a:rPr>
              <a:t>"&lt;h1&gt;My first programm!&lt;/h1&gt;"</a:t>
            </a:r>
            <a:r>
              <a:rPr lang="en-US" sz="2000" b="0">
                <a:solidFill>
                  <a:srgbClr val="000000"/>
                </a:solidFill>
                <a:latin typeface="Consolas"/>
              </a:rPr>
              <a:t>); </a:t>
            </a:r>
            <a:r>
              <a:rPr lang="en-US" sz="2000" b="0">
                <a:solidFill>
                  <a:srgbClr val="001080"/>
                </a:solidFill>
                <a:latin typeface="Consolas"/>
              </a:rPr>
              <a:t>document</a:t>
            </a:r>
            <a:r>
              <a:rPr lang="en-US" sz="2000" b="0">
                <a:solidFill>
                  <a:srgbClr val="000000"/>
                </a:solidFill>
                <a:latin typeface="Consolas"/>
              </a:rPr>
              <a:t>.</a:t>
            </a:r>
            <a:r>
              <a:rPr lang="en-US" sz="2000" b="0">
                <a:solidFill>
                  <a:srgbClr val="795E26"/>
                </a:solidFill>
                <a:latin typeface="Consolas"/>
              </a:rPr>
              <a:t>write</a:t>
            </a:r>
            <a:r>
              <a:rPr lang="en-US" sz="2000" b="0">
                <a:solidFill>
                  <a:srgbClr val="000000"/>
                </a:solidFill>
                <a:latin typeface="Consolas"/>
              </a:rPr>
              <a:t>(</a:t>
            </a:r>
            <a:r>
              <a:rPr lang="en-US" sz="2000" b="0">
                <a:solidFill>
                  <a:srgbClr val="A31515"/>
                </a:solidFill>
                <a:latin typeface="Consolas"/>
              </a:rPr>
              <a:t>"&lt;p style='font-size: 50px'&gt;This is my first JavaScript programm!&lt;/p&gt;"</a:t>
            </a:r>
            <a:r>
              <a:rPr lang="en-US" sz="2000" b="0">
                <a:solidFill>
                  <a:srgbClr val="000000"/>
                </a:solidFill>
                <a:latin typeface="Consolas"/>
              </a:rPr>
              <a:t>); </a:t>
            </a:r>
            <a:r>
              <a:rPr lang="en-US" sz="2000" b="0">
                <a:solidFill>
                  <a:srgbClr val="001080"/>
                </a:solidFill>
                <a:latin typeface="Consolas"/>
              </a:rPr>
              <a:t>document</a:t>
            </a:r>
            <a:r>
              <a:rPr lang="en-US" sz="2000" b="0">
                <a:solidFill>
                  <a:srgbClr val="000000"/>
                </a:solidFill>
                <a:latin typeface="Consolas"/>
              </a:rPr>
              <a:t>.</a:t>
            </a:r>
            <a:r>
              <a:rPr lang="en-US" sz="2000" b="0">
                <a:solidFill>
                  <a:srgbClr val="795E26"/>
                </a:solidFill>
                <a:latin typeface="Consolas"/>
              </a:rPr>
              <a:t>write</a:t>
            </a:r>
            <a:r>
              <a:rPr lang="en-US" sz="2000" b="0">
                <a:solidFill>
                  <a:srgbClr val="000000"/>
                </a:solidFill>
                <a:latin typeface="Consolas"/>
              </a:rPr>
              <a:t>(</a:t>
            </a:r>
            <a:r>
              <a:rPr lang="en-US" sz="2000" b="0">
                <a:solidFill>
                  <a:srgbClr val="A31515"/>
                </a:solidFill>
                <a:latin typeface="Consolas"/>
              </a:rPr>
              <a:t>"&lt;ul&gt;"</a:t>
            </a:r>
            <a:r>
              <a:rPr lang="en-US" sz="2000" b="0">
                <a:solidFill>
                  <a:srgbClr val="000000"/>
                </a:solidFill>
                <a:latin typeface="Consolas"/>
              </a:rPr>
              <a:t>);</a:t>
            </a:r>
            <a:r>
              <a:rPr lang="en-US" sz="2000" b="0">
                <a:solidFill>
                  <a:srgbClr val="001080"/>
                </a:solidFill>
                <a:latin typeface="Consolas"/>
              </a:rPr>
              <a:t>document</a:t>
            </a:r>
            <a:r>
              <a:rPr lang="en-US" sz="2000" b="0">
                <a:solidFill>
                  <a:srgbClr val="000000"/>
                </a:solidFill>
                <a:latin typeface="Consolas"/>
              </a:rPr>
              <a:t>.</a:t>
            </a:r>
            <a:r>
              <a:rPr lang="en-US" sz="2000" b="0">
                <a:solidFill>
                  <a:srgbClr val="795E26"/>
                </a:solidFill>
                <a:latin typeface="Consolas"/>
              </a:rPr>
              <a:t>write</a:t>
            </a:r>
            <a:r>
              <a:rPr lang="en-US" sz="2000" b="0">
                <a:solidFill>
                  <a:srgbClr val="000000"/>
                </a:solidFill>
                <a:latin typeface="Consolas"/>
              </a:rPr>
              <a:t>(</a:t>
            </a:r>
            <a:r>
              <a:rPr lang="en-US" sz="2000" b="0">
                <a:solidFill>
                  <a:srgbClr val="A31515"/>
                </a:solidFill>
                <a:latin typeface="Consolas"/>
              </a:rPr>
              <a:t>"&lt;li style='color:blue'&gt;HTML&lt;/li&gt;"</a:t>
            </a:r>
            <a:r>
              <a:rPr lang="en-US" sz="2000" b="0">
                <a:solidFill>
                  <a:srgbClr val="000000"/>
                </a:solidFill>
                <a:latin typeface="Consolas"/>
              </a:rPr>
              <a:t>);</a:t>
            </a:r>
            <a:r>
              <a:rPr lang="en-US" sz="2000" b="0">
                <a:solidFill>
                  <a:srgbClr val="001080"/>
                </a:solidFill>
                <a:latin typeface="Consolas"/>
              </a:rPr>
              <a:t>document</a:t>
            </a:r>
            <a:r>
              <a:rPr lang="en-US" sz="2000" b="0">
                <a:solidFill>
                  <a:srgbClr val="000000"/>
                </a:solidFill>
                <a:latin typeface="Consolas"/>
              </a:rPr>
              <a:t>.</a:t>
            </a:r>
            <a:r>
              <a:rPr lang="en-US" sz="2000" b="0">
                <a:solidFill>
                  <a:srgbClr val="795E26"/>
                </a:solidFill>
                <a:latin typeface="Consolas"/>
              </a:rPr>
              <a:t>write</a:t>
            </a:r>
            <a:r>
              <a:rPr lang="en-US" sz="2000" b="0">
                <a:solidFill>
                  <a:srgbClr val="000000"/>
                </a:solidFill>
                <a:latin typeface="Consolas"/>
              </a:rPr>
              <a:t>(</a:t>
            </a:r>
            <a:r>
              <a:rPr lang="en-US" sz="2000" b="0">
                <a:solidFill>
                  <a:srgbClr val="A31515"/>
                </a:solidFill>
                <a:latin typeface="Consolas"/>
              </a:rPr>
              <a:t>"&lt;li style='color:green'&gt;CSS&lt;/li&gt;"</a:t>
            </a:r>
            <a:r>
              <a:rPr lang="en-US" sz="2000" b="0">
                <a:solidFill>
                  <a:srgbClr val="000000"/>
                </a:solidFill>
                <a:latin typeface="Consolas"/>
              </a:rPr>
              <a:t>);</a:t>
            </a:r>
            <a:r>
              <a:rPr lang="en-US" sz="2000" b="0">
                <a:solidFill>
                  <a:srgbClr val="001080"/>
                </a:solidFill>
                <a:latin typeface="Consolas"/>
              </a:rPr>
              <a:t>document</a:t>
            </a:r>
            <a:r>
              <a:rPr lang="en-US" sz="2000" b="0">
                <a:solidFill>
                  <a:srgbClr val="000000"/>
                </a:solidFill>
                <a:latin typeface="Consolas"/>
              </a:rPr>
              <a:t>.</a:t>
            </a:r>
            <a:r>
              <a:rPr lang="en-US" sz="2000" b="0">
                <a:solidFill>
                  <a:srgbClr val="795E26"/>
                </a:solidFill>
                <a:latin typeface="Consolas"/>
              </a:rPr>
              <a:t>write</a:t>
            </a:r>
            <a:r>
              <a:rPr lang="en-US" sz="2000" b="0">
                <a:solidFill>
                  <a:srgbClr val="000000"/>
                </a:solidFill>
                <a:latin typeface="Consolas"/>
              </a:rPr>
              <a:t>(</a:t>
            </a:r>
            <a:r>
              <a:rPr lang="en-US" sz="2000" b="0">
                <a:solidFill>
                  <a:srgbClr val="A31515"/>
                </a:solidFill>
                <a:latin typeface="Consolas"/>
              </a:rPr>
              <a:t>"&lt;li style='color:red'&gt;JavaScript&lt;/li&gt;"</a:t>
            </a:r>
            <a:r>
              <a:rPr lang="en-US" sz="2000" b="0">
                <a:solidFill>
                  <a:srgbClr val="000000"/>
                </a:solidFill>
                <a:latin typeface="Consolas"/>
              </a:rPr>
              <a:t>);</a:t>
            </a:r>
            <a:r>
              <a:rPr lang="en-US" sz="2000" b="0">
                <a:solidFill>
                  <a:srgbClr val="001080"/>
                </a:solidFill>
                <a:latin typeface="Consolas"/>
              </a:rPr>
              <a:t>document</a:t>
            </a:r>
            <a:r>
              <a:rPr lang="en-US" sz="2000" b="0">
                <a:solidFill>
                  <a:srgbClr val="000000"/>
                </a:solidFill>
                <a:latin typeface="Consolas"/>
              </a:rPr>
              <a:t>.</a:t>
            </a:r>
            <a:r>
              <a:rPr lang="en-US" sz="2000" b="0">
                <a:solidFill>
                  <a:srgbClr val="795E26"/>
                </a:solidFill>
                <a:latin typeface="Consolas"/>
              </a:rPr>
              <a:t>write</a:t>
            </a:r>
            <a:r>
              <a:rPr lang="en-US" sz="2000" b="0">
                <a:solidFill>
                  <a:srgbClr val="000000"/>
                </a:solidFill>
                <a:latin typeface="Consolas"/>
              </a:rPr>
              <a:t>(</a:t>
            </a:r>
            <a:r>
              <a:rPr lang="en-US" sz="2000" b="0">
                <a:solidFill>
                  <a:srgbClr val="A31515"/>
                </a:solidFill>
                <a:latin typeface="Consolas"/>
              </a:rPr>
              <a:t>"&lt;/ul&gt;"</a:t>
            </a:r>
            <a:r>
              <a:rPr lang="en-US" sz="2000" b="0">
                <a:solidFill>
                  <a:srgbClr val="000000"/>
                </a:solidFill>
                <a:latin typeface="Consolas"/>
              </a:rPr>
              <a:t>);</a:t>
            </a:r>
            <a:endParaRPr lang="en-US" sz="2000" b="0">
              <a:solidFill>
                <a:srgbClr val="000000"/>
              </a:solidFill>
              <a:latin typeface="Consolas"/>
            </a:endParaRPr>
          </a:p>
        </p:txBody>
      </p:sp>
      <p:sp>
        <p:nvSpPr>
          <p:cNvPr id="5" name="Text Box 4"/>
          <p:cNvSpPr txBox="1"/>
          <p:nvPr/>
        </p:nvSpPr>
        <p:spPr>
          <a:xfrm>
            <a:off x="372110" y="183197"/>
            <a:ext cx="5080000" cy="829945"/>
          </a:xfrm>
          <a:prstGeom prst="rect">
            <a:avLst/>
          </a:prstGeom>
          <a:noFill/>
          <a:ln w="9525">
            <a:noFill/>
          </a:ln>
        </p:spPr>
        <p:txBody>
          <a:bodyPr>
            <a:spAutoFit/>
          </a:bodyPr>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pic>
        <p:nvPicPr>
          <p:cNvPr id="237" name="image1.png"/>
          <p:cNvPicPr preferRelativeResize="0"/>
          <p:nvPr/>
        </p:nvPicPr>
        <p:blipFill>
          <a:blip r:embed="rId1"/>
          <a:srcRect/>
          <a:stretch>
            <a:fillRect/>
          </a:stretch>
        </p:blipFill>
        <p:spPr>
          <a:xfrm>
            <a:off x="5834380" y="4105275"/>
            <a:ext cx="5519420" cy="2725420"/>
          </a:xfrm>
          <a:prstGeom prst="rect">
            <a:avLst/>
          </a:prstGeom>
        </p:spPr>
      </p:pic>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678180" y="1290320"/>
            <a:ext cx="10835640" cy="4236720"/>
          </a:xfrm>
          <a:prstGeom prst="rect">
            <a:avLst/>
          </a:prstGeom>
          <a:noFill/>
          <a:ln w="9525">
            <a:noFill/>
          </a:ln>
        </p:spPr>
        <p:txBody>
          <a:bodyPr wrap="square">
            <a:spAutoFit/>
          </a:bodyPr>
          <a:p>
            <a:pPr marL="0" indent="449580" algn="just"/>
            <a:r>
              <a:rPr lang="en-US" sz="2400" b="0">
                <a:latin typeface="Arial Regular" panose="020B0704020202020204" charset="0"/>
                <a:cs typeface="Arial Regular" panose="020B0704020202020204" charset="0"/>
              </a:rPr>
              <a:t>Вы можете добавить в свой код комментарии, чтобы в будущем Вам или Вашим коллегам было удобнее разбираться в написанном вами скрипте. Комментарии не обрабатываются интерпретатором </a:t>
            </a:r>
            <a:r>
              <a:rPr lang="en-US" sz="2400" b="0" i="1">
                <a:latin typeface="Arial Regular" panose="020B0704020202020204" charset="0"/>
                <a:cs typeface="Arial Regular" panose="020B0704020202020204" charset="0"/>
              </a:rPr>
              <a:t>JavaScript</a:t>
            </a:r>
            <a:r>
              <a:rPr lang="en-US" sz="2400" b="0">
                <a:latin typeface="Arial Regular" panose="020B0704020202020204" charset="0"/>
                <a:cs typeface="Arial Regular" panose="020B0704020202020204" charset="0"/>
              </a:rPr>
              <a:t> и никак не учитываются в работе программы. Они предназначены для ориентации по коду, чтобы указать, что делает тот или иной код.</a:t>
            </a:r>
            <a:endParaRPr lang="en-US" sz="2400" b="0">
              <a:latin typeface="Arial Regular" panose="020B0704020202020204" charset="0"/>
              <a:cs typeface="Arial Regular" panose="020B0704020202020204" charset="0"/>
            </a:endParaRPr>
          </a:p>
          <a:p>
            <a:pPr marL="0" indent="449580" algn="just"/>
            <a:endParaRPr lang="en-US" sz="2400" b="0">
              <a:latin typeface="Arial Regular" panose="020B0704020202020204" charset="0"/>
              <a:cs typeface="Arial Regular" panose="020B0704020202020204" charset="0"/>
            </a:endParaRPr>
          </a:p>
          <a:p>
            <a:pPr marL="0" indent="449580" algn="just"/>
            <a:r>
              <a:rPr lang="en-US" sz="3200">
                <a:latin typeface="Arial Regular" panose="020B0704020202020204" charset="0"/>
                <a:cs typeface="Arial Regular" panose="020B0704020202020204" charset="0"/>
              </a:rPr>
              <a:t>您可以为代码添加注释，以便您和您的同事将来更容易理解您的脚本。注释不会被 JavaScript 解释器处理，也不会被程序以任何方式使用。注释旨在帮助您浏览代码并说明每段代码的作用。</a:t>
            </a:r>
            <a:endParaRPr lang="en-US" sz="3200">
              <a:latin typeface="Arial Regular" panose="020B0704020202020204" charset="0"/>
              <a:cs typeface="Arial Regular" panose="020B0704020202020204" charset="0"/>
            </a:endParaRPr>
          </a:p>
        </p:txBody>
      </p:sp>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507365" y="329565"/>
            <a:ext cx="11230610" cy="2895600"/>
          </a:xfrm>
          <a:prstGeom prst="rect">
            <a:avLst/>
          </a:prstGeom>
          <a:noFill/>
          <a:ln w="9525">
            <a:noFill/>
          </a:ln>
        </p:spPr>
        <p:txBody>
          <a:bodyPr wrap="square">
            <a:spAutoFit/>
          </a:bodyPr>
          <a:p>
            <a:pPr indent="0" algn="just"/>
            <a:r>
              <a:rPr lang="ru-RU" altLang="en-US" sz="2400" b="0">
                <a:latin typeface="Arial Regular" panose="020B0704020202020204" charset="0"/>
                <a:cs typeface="Arial Regular" panose="020B0704020202020204" charset="0"/>
              </a:rPr>
              <a:t>	</a:t>
            </a:r>
            <a:r>
              <a:rPr lang="en-US" sz="2400" b="0">
                <a:latin typeface="Arial Regular" panose="020B0704020202020204" charset="0"/>
                <a:cs typeface="Arial Regular" panose="020B0704020202020204" charset="0"/>
              </a:rPr>
              <a:t>Комментарии могут быть однострочными, для которых используется двойной слеш - </a:t>
            </a:r>
            <a:r>
              <a:rPr lang="en-US" sz="2400" b="0" i="1">
                <a:latin typeface="Arial Regular" panose="020B0704020202020204" charset="0"/>
                <a:cs typeface="Arial Regular" panose="020B0704020202020204" charset="0"/>
              </a:rPr>
              <a:t>//</a:t>
            </a:r>
            <a:r>
              <a:rPr lang="en-US" sz="2400" b="0">
                <a:latin typeface="Arial Regular" panose="020B0704020202020204" charset="0"/>
                <a:cs typeface="Arial Regular" panose="020B0704020202020204" charset="0"/>
              </a:rPr>
              <a:t>. Кроме однострочных комментариев могут использоваться и многострочные. Такие комментарии заключаются между символами </a:t>
            </a:r>
            <a:endParaRPr lang="en-US" sz="2400" b="0">
              <a:latin typeface="Arial Regular" panose="020B0704020202020204" charset="0"/>
              <a:cs typeface="Arial Regular" panose="020B0704020202020204" charset="0"/>
            </a:endParaRPr>
          </a:p>
          <a:p>
            <a:pPr indent="0" algn="just"/>
            <a:r>
              <a:rPr lang="en-US" sz="2400" b="0" i="1">
                <a:latin typeface="Arial Regular" panose="020B0704020202020204" charset="0"/>
                <a:cs typeface="Arial Regular" panose="020B0704020202020204" charset="0"/>
              </a:rPr>
              <a:t>/* </a:t>
            </a:r>
            <a:r>
              <a:rPr lang="ru-RU" altLang="en-US" sz="2400" b="0" i="1">
                <a:latin typeface="Arial Regular" panose="020B0704020202020204" charset="0"/>
                <a:cs typeface="Arial Regular" panose="020B0704020202020204" charset="0"/>
              </a:rPr>
              <a:t>т</a:t>
            </a:r>
            <a:r>
              <a:rPr lang="en-US" sz="2400" b="0" i="1">
                <a:latin typeface="Arial Regular" panose="020B0704020202020204" charset="0"/>
                <a:cs typeface="Arial Regular" panose="020B0704020202020204" charset="0"/>
              </a:rPr>
              <a:t>екст комментария */</a:t>
            </a:r>
            <a:r>
              <a:rPr lang="en-US" sz="2400" b="0">
                <a:latin typeface="Arial Regular" panose="020B0704020202020204" charset="0"/>
                <a:cs typeface="Arial Regular" panose="020B0704020202020204" charset="0"/>
              </a:rPr>
              <a:t>. Например:</a:t>
            </a:r>
            <a:endParaRPr lang="en-US" sz="2400" b="0">
              <a:latin typeface="Arial Regular" panose="020B0704020202020204" charset="0"/>
              <a:cs typeface="Arial Regular" panose="020B0704020202020204" charset="0"/>
            </a:endParaRPr>
          </a:p>
          <a:p>
            <a:pPr indent="0" algn="just"/>
            <a:endParaRPr lang="en-US" sz="2400" b="0">
              <a:latin typeface="Arial Regular" panose="020B0704020202020204" charset="0"/>
              <a:cs typeface="Arial Regular" panose="020B0704020202020204" charset="0"/>
            </a:endParaRPr>
          </a:p>
          <a:p>
            <a:pPr indent="0" algn="just"/>
            <a:r>
              <a:rPr lang="en-US" sz="3200">
                <a:latin typeface="Arial Regular" panose="020B0704020202020204" charset="0"/>
                <a:cs typeface="Arial Regular" panose="020B0704020202020204" charset="0"/>
              </a:rPr>
              <a:t>注释可以是单行的，使用双斜杠 (/)。除了单行注释外，还可以使用多行注释。多行注释用 /* 注释文本 */ 括起来。例如：</a:t>
            </a:r>
            <a:endParaRPr lang="en-US" sz="3200">
              <a:latin typeface="Arial Regular" panose="020B0704020202020204" charset="0"/>
              <a:cs typeface="Arial Regular" panose="020B0704020202020204" charset="0"/>
            </a:endParaRPr>
          </a:p>
        </p:txBody>
      </p:sp>
      <p:sp>
        <p:nvSpPr>
          <p:cNvPr id="2" name="Text Box 1"/>
          <p:cNvSpPr txBox="1"/>
          <p:nvPr/>
        </p:nvSpPr>
        <p:spPr>
          <a:xfrm>
            <a:off x="617220" y="4418330"/>
            <a:ext cx="8222615" cy="1938020"/>
          </a:xfrm>
          <a:prstGeom prst="rect">
            <a:avLst/>
          </a:prstGeom>
          <a:noFill/>
          <a:ln w="9525">
            <a:noFill/>
          </a:ln>
        </p:spPr>
        <p:txBody>
          <a:bodyPr wrap="square">
            <a:spAutoFit/>
          </a:bodyPr>
          <a:p>
            <a:pPr marL="0" indent="0"/>
            <a:r>
              <a:rPr lang="en-US" sz="2400" b="0">
                <a:solidFill>
                  <a:srgbClr val="008000"/>
                </a:solidFill>
                <a:latin typeface="Consolas"/>
              </a:rPr>
              <a:t>// comments/* </a:t>
            </a:r>
            <a:endParaRPr lang="en-US" sz="2400" b="0">
              <a:solidFill>
                <a:srgbClr val="008000"/>
              </a:solidFill>
              <a:latin typeface="Consolas"/>
            </a:endParaRPr>
          </a:p>
          <a:p>
            <a:pPr marL="0" indent="0"/>
            <a:r>
              <a:rPr lang="en-US" sz="2400" b="0">
                <a:solidFill>
                  <a:srgbClr val="008000"/>
                </a:solidFill>
                <a:latin typeface="Consolas"/>
              </a:rPr>
              <a:t>comments </a:t>
            </a:r>
            <a:endParaRPr lang="en-US" sz="2400" b="0">
              <a:solidFill>
                <a:srgbClr val="008000"/>
              </a:solidFill>
              <a:latin typeface="Consolas"/>
            </a:endParaRPr>
          </a:p>
          <a:p>
            <a:pPr marL="0" indent="0"/>
            <a:r>
              <a:rPr lang="en-US" sz="2400" b="0">
                <a:solidFill>
                  <a:srgbClr val="008000"/>
                </a:solidFill>
                <a:latin typeface="Consolas"/>
              </a:rPr>
              <a:t>*/</a:t>
            </a:r>
            <a:r>
              <a:rPr lang="en-US" sz="2400" b="0">
                <a:solidFill>
                  <a:srgbClr val="001080"/>
                </a:solidFill>
                <a:latin typeface="Consolas"/>
              </a:rPr>
              <a:t>document</a:t>
            </a:r>
            <a:r>
              <a:rPr lang="en-US" sz="2400" b="0">
                <a:solidFill>
                  <a:srgbClr val="000000"/>
                </a:solidFill>
                <a:latin typeface="Consolas"/>
              </a:rPr>
              <a:t>.</a:t>
            </a:r>
            <a:r>
              <a:rPr lang="en-US" sz="2400" b="0">
                <a:solidFill>
                  <a:srgbClr val="795E26"/>
                </a:solidFill>
                <a:latin typeface="Consolas"/>
              </a:rPr>
              <a:t>write</a:t>
            </a:r>
            <a:r>
              <a:rPr lang="en-US" sz="2400" b="0">
                <a:solidFill>
                  <a:srgbClr val="000000"/>
                </a:solidFill>
                <a:latin typeface="Consolas"/>
              </a:rPr>
              <a:t>(</a:t>
            </a:r>
            <a:r>
              <a:rPr lang="en-US" sz="2400" b="0">
                <a:solidFill>
                  <a:srgbClr val="A31515"/>
                </a:solidFill>
                <a:latin typeface="Consolas"/>
              </a:rPr>
              <a:t>"&lt;h1&gt;My first programm!&lt;/h1&gt;"</a:t>
            </a:r>
            <a:r>
              <a:rPr lang="en-US" sz="2400" b="0">
                <a:solidFill>
                  <a:srgbClr val="000000"/>
                </a:solidFill>
                <a:latin typeface="Consolas"/>
              </a:rPr>
              <a:t>);</a:t>
            </a:r>
            <a:endParaRPr lang="en-US" sz="2400"/>
          </a:p>
        </p:txBody>
      </p:sp>
      <p:sp>
        <p:nvSpPr>
          <p:cNvPr id="4" name="Text Box 3"/>
          <p:cNvSpPr txBox="1"/>
          <p:nvPr/>
        </p:nvSpPr>
        <p:spPr>
          <a:xfrm>
            <a:off x="617220" y="3598862"/>
            <a:ext cx="5080000" cy="829945"/>
          </a:xfrm>
          <a:prstGeom prst="rect">
            <a:avLst/>
          </a:prstGeom>
          <a:noFill/>
          <a:ln w="9525">
            <a:noFill/>
          </a:ln>
        </p:spPr>
        <p:txBody>
          <a:bodyPr>
            <a:spAutoFit/>
          </a:bodyPr>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3" name="Slide Number Placeholder 2"/>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466725" y="432435"/>
            <a:ext cx="11297920" cy="5077460"/>
          </a:xfrm>
          <a:prstGeom prst="rect">
            <a:avLst/>
          </a:prstGeom>
          <a:noFill/>
          <a:ln w="9525">
            <a:noFill/>
          </a:ln>
        </p:spPr>
        <p:txBody>
          <a:bodyPr wrap="square">
            <a:spAutoFit/>
          </a:bodyPr>
          <a:p>
            <a:pPr marL="0" indent="450215" algn="just">
              <a:lnSpc>
                <a:spcPct val="150000"/>
              </a:lnSpc>
            </a:pPr>
            <a:r>
              <a:rPr lang="en-US" sz="2400" b="0">
                <a:latin typeface="Arial Regular" panose="020B0704020202020204" charset="0"/>
                <a:cs typeface="Arial Regular" panose="020B0704020202020204" charset="0"/>
              </a:rPr>
              <a:t>Помимо комментариев в разработке может помочь следующая конструкция: </a:t>
            </a:r>
            <a:r>
              <a:rPr lang="en-US" sz="2400" b="0">
                <a:solidFill>
                  <a:srgbClr val="001080"/>
                </a:solidFill>
                <a:latin typeface="Arial Regular" panose="020B0704020202020204" charset="0"/>
                <a:cs typeface="Arial Regular" panose="020B0704020202020204" charset="0"/>
              </a:rPr>
              <a:t>console</a:t>
            </a:r>
            <a:r>
              <a:rPr lang="en-US" sz="2400" b="0">
                <a:solidFill>
                  <a:srgbClr val="000000"/>
                </a:solidFill>
                <a:latin typeface="Arial Regular" panose="020B0704020202020204" charset="0"/>
                <a:cs typeface="Arial Regular" panose="020B0704020202020204" charset="0"/>
              </a:rPr>
              <a:t>.</a:t>
            </a:r>
            <a:r>
              <a:rPr lang="en-US" sz="2400" b="0">
                <a:solidFill>
                  <a:srgbClr val="795E26"/>
                </a:solidFill>
                <a:latin typeface="Arial Regular" panose="020B0704020202020204" charset="0"/>
                <a:cs typeface="Arial Regular" panose="020B0704020202020204" charset="0"/>
              </a:rPr>
              <a:t>log</a:t>
            </a:r>
            <a:r>
              <a:rPr lang="en-US" sz="2400" b="0">
                <a:solidFill>
                  <a:srgbClr val="000000"/>
                </a:solidFill>
                <a:latin typeface="Arial Regular" panose="020B0704020202020204" charset="0"/>
                <a:cs typeface="Arial Regular" panose="020B0704020202020204" charset="0"/>
              </a:rPr>
              <a:t>(</a:t>
            </a:r>
            <a:r>
              <a:rPr lang="en-US" sz="2400" b="0">
                <a:solidFill>
                  <a:srgbClr val="001080"/>
                </a:solidFill>
                <a:latin typeface="Arial Regular" panose="020B0704020202020204" charset="0"/>
                <a:cs typeface="Arial Regular" panose="020B0704020202020204" charset="0"/>
              </a:rPr>
              <a:t>message</a:t>
            </a:r>
            <a:r>
              <a:rPr lang="en-US" sz="2400" b="0">
                <a:solidFill>
                  <a:srgbClr val="000000"/>
                </a:solidFill>
                <a:latin typeface="Arial Regular" panose="020B0704020202020204" charset="0"/>
                <a:cs typeface="Arial Regular" panose="020B0704020202020204" charset="0"/>
              </a:rPr>
              <a:t>)</a:t>
            </a:r>
            <a:r>
              <a:rPr lang="en-US" sz="2400" b="0" i="1">
                <a:latin typeface="Arial Regular" panose="020B0704020202020204" charset="0"/>
                <a:cs typeface="Arial Regular" panose="020B0704020202020204" charset="0"/>
              </a:rPr>
              <a:t>. </a:t>
            </a:r>
            <a:r>
              <a:rPr lang="en-US" sz="2400" b="0">
                <a:latin typeface="Arial Regular" panose="020B0704020202020204" charset="0"/>
                <a:cs typeface="Arial Regular" panose="020B0704020202020204" charset="0"/>
              </a:rPr>
              <a:t>Это метод, предназначенный для печати в консоль браузера. Попробуйте добавить в существующий скрипт данный метод и посмотреть результат.</a:t>
            </a:r>
            <a:endParaRPr lang="en-US" sz="2400" b="0">
              <a:latin typeface="Arial Regular" panose="020B0704020202020204" charset="0"/>
              <a:cs typeface="Arial Regular" panose="020B0704020202020204" charset="0"/>
            </a:endParaRPr>
          </a:p>
          <a:p>
            <a:pPr marL="0" indent="450215" algn="just">
              <a:lnSpc>
                <a:spcPct val="150000"/>
              </a:lnSpc>
            </a:pPr>
            <a:endParaRPr lang="en-US" sz="2400" b="0">
              <a:latin typeface="Arial Regular" panose="020B0704020202020204" charset="0"/>
              <a:cs typeface="Arial Regular" panose="020B0704020202020204" charset="0"/>
            </a:endParaRPr>
          </a:p>
          <a:p>
            <a:pPr marL="0" indent="450215" algn="just">
              <a:lnSpc>
                <a:spcPct val="150000"/>
              </a:lnSpc>
            </a:pPr>
            <a:r>
              <a:rPr lang="zh-CN" sz="3200" b="0">
                <a:latin typeface="Arial Regular" panose="020B0704020202020204" charset="0"/>
                <a:cs typeface="Arial Regular" panose="020B0704020202020204" charset="0"/>
              </a:rPr>
              <a:t>除了注释外，以下结构也可以帮助开发：console.log（message）。这是一种设计用于在浏览器控制台中打印的方法。尝试将此方法添加到现有脚本并查看结果。</a:t>
            </a:r>
            <a:endParaRPr lang="zh-CN" sz="3200" b="0">
              <a:latin typeface="Arial Regular" panose="020B0704020202020204" charset="0"/>
              <a:cs typeface="Arial Regular" panose="020B0704020202020204" charset="0"/>
            </a:endParaRPr>
          </a:p>
        </p:txBody>
      </p:sp>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596900" y="1443990"/>
            <a:ext cx="10998835" cy="3931920"/>
          </a:xfrm>
          <a:prstGeom prst="rect">
            <a:avLst/>
          </a:prstGeom>
          <a:noFill/>
          <a:ln w="9525">
            <a:noFill/>
          </a:ln>
        </p:spPr>
        <p:txBody>
          <a:bodyPr wrap="square">
            <a:spAutoFit/>
          </a:bodyPr>
          <a:p>
            <a:pPr marL="0" indent="450215" algn="just">
              <a:lnSpc>
                <a:spcPct val="150000"/>
              </a:lnSpc>
            </a:pPr>
            <a:r>
              <a:rPr lang="en-US" sz="2400" b="0">
                <a:latin typeface="Arial Regular" panose="020B0704020202020204" charset="0"/>
                <a:cs typeface="Arial Regular" panose="020B0704020202020204" charset="0"/>
              </a:rPr>
              <a:t>При написании скриптов иногда нужно увидеть промежуточный результат прямо в консоли браузера — это просто, удобно и не требует никакой дополнительной логики для отображения. Чтобы открыть консоль используется горячая клавиша F12.</a:t>
            </a:r>
            <a:endParaRPr lang="en-US" sz="2400" b="0">
              <a:latin typeface="Arial Regular" panose="020B0704020202020204" charset="0"/>
              <a:cs typeface="Arial Regular" panose="020B0704020202020204" charset="0"/>
            </a:endParaRPr>
          </a:p>
          <a:p>
            <a:pPr marL="0" indent="450215" algn="just">
              <a:lnSpc>
                <a:spcPct val="150000"/>
              </a:lnSpc>
            </a:pPr>
            <a:endParaRPr lang="en-US" sz="2400" b="0">
              <a:latin typeface="Arial Regular" panose="020B0704020202020204" charset="0"/>
              <a:cs typeface="Arial Regular" panose="020B0704020202020204" charset="0"/>
            </a:endParaRPr>
          </a:p>
          <a:p>
            <a:pPr marL="0" indent="450215" algn="just">
              <a:lnSpc>
                <a:spcPct val="150000"/>
              </a:lnSpc>
            </a:pPr>
            <a:r>
              <a:rPr lang="en-US" sz="2400">
                <a:latin typeface="Arial Regular" panose="020B0704020202020204" charset="0"/>
                <a:cs typeface="Arial Regular" panose="020B0704020202020204" charset="0"/>
              </a:rPr>
              <a:t>编写脚本时，有时需要直接在浏览器控制台中查看中间结果——这既简单又方便，而且不需要任何额外的显示逻辑。要打开控制台，请使用 F12 快捷键。</a:t>
            </a:r>
            <a:endParaRPr lang="en-US" sz="2400">
              <a:latin typeface="Arial Regular" panose="020B0704020202020204" charset="0"/>
              <a:cs typeface="Arial Regular" panose="020B0704020202020204" charset="0"/>
            </a:endParaRPr>
          </a:p>
        </p:txBody>
      </p:sp>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426720" y="300355"/>
            <a:ext cx="11148695" cy="3415030"/>
          </a:xfrm>
          <a:prstGeom prst="rect">
            <a:avLst/>
          </a:prstGeom>
          <a:noFill/>
          <a:ln w="9525">
            <a:noFill/>
          </a:ln>
        </p:spPr>
        <p:txBody>
          <a:bodyPr wrap="square">
            <a:spAutoFit/>
          </a:bodyPr>
          <a:p>
            <a:pPr marL="0" indent="450215" algn="just">
              <a:lnSpc>
                <a:spcPct val="150000"/>
              </a:lnSpc>
            </a:pPr>
            <a:r>
              <a:rPr lang="en-US" sz="2400" b="0">
                <a:latin typeface="Arial Regular" panose="020B0704020202020204" charset="0"/>
                <a:cs typeface="Arial Regular" panose="020B0704020202020204" charset="0"/>
              </a:rPr>
              <a:t>Попробуем написать простую программу, соединив весь изученный ранее материал. Программа должна запрашивать имя пользователя и выводить его на страницу и в консоль.</a:t>
            </a:r>
            <a:endParaRPr lang="en-US" sz="2400" b="0">
              <a:latin typeface="Arial Regular" panose="020B0704020202020204" charset="0"/>
              <a:cs typeface="Arial Regular" panose="020B0704020202020204" charset="0"/>
            </a:endParaRPr>
          </a:p>
          <a:p>
            <a:pPr marL="0" indent="450215" algn="just">
              <a:lnSpc>
                <a:spcPct val="150000"/>
              </a:lnSpc>
            </a:pPr>
            <a:endParaRPr lang="en-US" sz="2400" b="0">
              <a:latin typeface="Arial Regular" panose="020B0704020202020204" charset="0"/>
              <a:cs typeface="Arial Regular" panose="020B0704020202020204" charset="0"/>
            </a:endParaRPr>
          </a:p>
          <a:p>
            <a:pPr marL="0" indent="450215" algn="just">
              <a:lnSpc>
                <a:spcPct val="150000"/>
              </a:lnSpc>
            </a:pPr>
            <a:r>
              <a:rPr lang="zh-CN" sz="2400" b="0">
                <a:latin typeface="Arial Regular" panose="020B0704020202020204" charset="0"/>
                <a:cs typeface="Arial Regular" panose="020B0704020202020204" charset="0"/>
              </a:rPr>
              <a:t>让我们试着写一个简单的程序，把以前学习的所有材料结合起来。程序必须查询用户名并将其输出到页面和控制台。</a:t>
            </a:r>
            <a:endParaRPr lang="en-US" sz="2400">
              <a:latin typeface="Arial Regular" panose="020B0704020202020204" charset="0"/>
              <a:cs typeface="Arial Regular" panose="020B0704020202020204" charset="0"/>
            </a:endParaRPr>
          </a:p>
        </p:txBody>
      </p:sp>
      <p:pic>
        <p:nvPicPr>
          <p:cNvPr id="236" name="image6.png"/>
          <p:cNvPicPr preferRelativeResize="0"/>
          <p:nvPr/>
        </p:nvPicPr>
        <p:blipFill>
          <a:blip r:embed="rId1"/>
          <a:srcRect/>
          <a:stretch>
            <a:fillRect/>
          </a:stretch>
        </p:blipFill>
        <p:spPr>
          <a:xfrm>
            <a:off x="2542540" y="3919855"/>
            <a:ext cx="6701155" cy="2566670"/>
          </a:xfrm>
          <a:prstGeom prst="rect">
            <a:avLst/>
          </a:prstGeom>
        </p:spPr>
      </p:pic>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466725" y="1165225"/>
            <a:ext cx="8291195" cy="3046095"/>
          </a:xfrm>
          <a:prstGeom prst="rect">
            <a:avLst/>
          </a:prstGeom>
          <a:noFill/>
          <a:ln w="9525">
            <a:noFill/>
          </a:ln>
        </p:spPr>
        <p:txBody>
          <a:bodyPr wrap="square">
            <a:spAutoFit/>
          </a:bodyPr>
          <a:p>
            <a:pPr indent="0"/>
            <a:r>
              <a:rPr lang="en-US" sz="2400" b="0">
                <a:solidFill>
                  <a:srgbClr val="800000"/>
                </a:solidFill>
                <a:latin typeface="Consolas"/>
              </a:rPr>
              <a:t>&lt;!DOCTYPE</a:t>
            </a:r>
            <a:r>
              <a:rPr lang="en-US" sz="2400" b="0">
                <a:solidFill>
                  <a:srgbClr val="000000"/>
                </a:solidFill>
                <a:latin typeface="Consolas"/>
              </a:rPr>
              <a:t> </a:t>
            </a:r>
            <a:r>
              <a:rPr lang="en-US" sz="2400" b="0">
                <a:solidFill>
                  <a:srgbClr val="E50000"/>
                </a:solidFill>
                <a:latin typeface="Consolas"/>
              </a:rPr>
              <a:t>HTML</a:t>
            </a:r>
            <a:r>
              <a:rPr lang="en-US" sz="2400" b="0">
                <a:solidFill>
                  <a:srgbClr val="800000"/>
                </a:solidFill>
                <a:latin typeface="Consolas"/>
              </a:rPr>
              <a:t>&gt;&lt;html&gt;&lt;body&gt;</a:t>
            </a:r>
            <a:r>
              <a:rPr lang="en-US" sz="2400" b="0">
                <a:solidFill>
                  <a:srgbClr val="000000"/>
                </a:solidFill>
                <a:latin typeface="Consolas"/>
              </a:rPr>
              <a:t>    </a:t>
            </a:r>
            <a:r>
              <a:rPr lang="en-US" sz="2400" b="0">
                <a:solidFill>
                  <a:srgbClr val="800000"/>
                </a:solidFill>
                <a:latin typeface="Consolas"/>
              </a:rPr>
              <a:t>&lt;p&gt;</a:t>
            </a:r>
            <a:r>
              <a:rPr lang="en-US" sz="2400" b="0">
                <a:solidFill>
                  <a:srgbClr val="000000"/>
                </a:solidFill>
                <a:latin typeface="Consolas"/>
              </a:rPr>
              <a:t>Some text ...</a:t>
            </a:r>
            <a:r>
              <a:rPr lang="en-US" sz="2400" b="0">
                <a:solidFill>
                  <a:srgbClr val="800000"/>
                </a:solidFill>
                <a:latin typeface="Consolas"/>
              </a:rPr>
              <a:t>&lt;/p&gt;</a:t>
            </a:r>
            <a:r>
              <a:rPr lang="en-US" sz="2400" b="0">
                <a:solidFill>
                  <a:srgbClr val="000000"/>
                </a:solidFill>
                <a:latin typeface="Consolas"/>
              </a:rPr>
              <a:t>    </a:t>
            </a:r>
            <a:r>
              <a:rPr lang="en-US" sz="2400" b="0">
                <a:solidFill>
                  <a:srgbClr val="800000"/>
                </a:solidFill>
                <a:latin typeface="Consolas"/>
              </a:rPr>
              <a:t>&lt;script</a:t>
            </a:r>
            <a:r>
              <a:rPr lang="en-US" sz="2400" b="0">
                <a:solidFill>
                  <a:srgbClr val="000000"/>
                </a:solidFill>
                <a:latin typeface="Consolas"/>
              </a:rPr>
              <a:t> </a:t>
            </a:r>
            <a:r>
              <a:rPr lang="en-US" sz="2400" b="0">
                <a:solidFill>
                  <a:srgbClr val="E50000"/>
                </a:solidFill>
                <a:latin typeface="Consolas"/>
              </a:rPr>
              <a:t>src</a:t>
            </a:r>
            <a:r>
              <a:rPr lang="en-US" sz="2400" b="0">
                <a:solidFill>
                  <a:srgbClr val="000000"/>
                </a:solidFill>
                <a:latin typeface="Consolas"/>
              </a:rPr>
              <a:t>=</a:t>
            </a:r>
            <a:r>
              <a:rPr lang="en-US" sz="2400" b="0">
                <a:solidFill>
                  <a:srgbClr val="0000FF"/>
                </a:solidFill>
                <a:latin typeface="Consolas"/>
              </a:rPr>
              <a:t>"script.js"</a:t>
            </a:r>
            <a:r>
              <a:rPr lang="en-US" sz="2400" b="0">
                <a:solidFill>
                  <a:srgbClr val="800000"/>
                </a:solidFill>
                <a:latin typeface="Consolas"/>
              </a:rPr>
              <a:t>&gt;&lt;/script&gt;</a:t>
            </a:r>
            <a:r>
              <a:rPr lang="en-US" sz="2400" b="0">
                <a:solidFill>
                  <a:srgbClr val="000000"/>
                </a:solidFill>
                <a:latin typeface="Consolas"/>
              </a:rPr>
              <a:t>    </a:t>
            </a:r>
            <a:r>
              <a:rPr lang="en-US" sz="2400" b="0">
                <a:solidFill>
                  <a:srgbClr val="800000"/>
                </a:solidFill>
                <a:latin typeface="Consolas"/>
              </a:rPr>
              <a:t>&lt;p&gt;</a:t>
            </a:r>
            <a:r>
              <a:rPr lang="en-US" sz="2400" b="0">
                <a:solidFill>
                  <a:srgbClr val="000000"/>
                </a:solidFill>
                <a:latin typeface="Consolas"/>
              </a:rPr>
              <a:t>... some text</a:t>
            </a:r>
            <a:r>
              <a:rPr lang="en-US" sz="2400" b="0">
                <a:solidFill>
                  <a:srgbClr val="800000"/>
                </a:solidFill>
                <a:latin typeface="Consolas"/>
              </a:rPr>
              <a:t>&lt;/p&gt;&lt;/body&gt;&lt;/html&gt;</a:t>
            </a:r>
            <a:endParaRPr lang="en-US" sz="2400"/>
          </a:p>
        </p:txBody>
      </p:sp>
      <p:sp>
        <p:nvSpPr>
          <p:cNvPr id="5" name="Text Box 4"/>
          <p:cNvSpPr txBox="1"/>
          <p:nvPr/>
        </p:nvSpPr>
        <p:spPr>
          <a:xfrm>
            <a:off x="466725" y="173355"/>
            <a:ext cx="4376420" cy="829945"/>
          </a:xfrm>
          <a:prstGeom prst="rect">
            <a:avLst/>
          </a:prstGeom>
          <a:noFill/>
        </p:spPr>
        <p:txBody>
          <a:bodyPr wrap="square" rtlCol="0" anchor="t">
            <a:spAutoFit/>
          </a:bodyPr>
          <a:p>
            <a:pPr marR="0" indent="0" algn="just">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R="0" indent="0" algn="just">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pic>
        <p:nvPicPr>
          <p:cNvPr id="236" name="image6.png"/>
          <p:cNvPicPr preferRelativeResize="0"/>
          <p:nvPr/>
        </p:nvPicPr>
        <p:blipFill>
          <a:blip r:embed="rId1"/>
          <a:srcRect/>
          <a:stretch>
            <a:fillRect/>
          </a:stretch>
        </p:blipFill>
        <p:spPr>
          <a:xfrm>
            <a:off x="4038600" y="3618230"/>
            <a:ext cx="7639685" cy="2660650"/>
          </a:xfrm>
          <a:prstGeom prst="rect">
            <a:avLst/>
          </a:prstGeom>
        </p:spPr>
      </p:pic>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222250" y="400367"/>
            <a:ext cx="5080000" cy="829945"/>
          </a:xfrm>
          <a:prstGeom prst="rect">
            <a:avLst/>
          </a:prstGeom>
          <a:noFill/>
          <a:ln w="9525">
            <a:noFill/>
          </a:ln>
        </p:spPr>
        <p:txBody>
          <a:bodyPr>
            <a:spAutoFit/>
          </a:bodyPr>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5" name="Text Box 4"/>
          <p:cNvSpPr txBox="1"/>
          <p:nvPr/>
        </p:nvSpPr>
        <p:spPr>
          <a:xfrm>
            <a:off x="222250" y="1508760"/>
            <a:ext cx="6671310" cy="1568450"/>
          </a:xfrm>
          <a:prstGeom prst="rect">
            <a:avLst/>
          </a:prstGeom>
          <a:noFill/>
          <a:ln w="9525">
            <a:noFill/>
          </a:ln>
        </p:spPr>
        <p:txBody>
          <a:bodyPr wrap="square">
            <a:spAutoFit/>
          </a:bodyPr>
          <a:p>
            <a:pPr marL="0" indent="0"/>
            <a:r>
              <a:rPr lang="en-US" sz="2400" b="0">
                <a:solidFill>
                  <a:srgbClr val="001080"/>
                </a:solidFill>
                <a:latin typeface="Consolas"/>
              </a:rPr>
              <a:t>result</a:t>
            </a:r>
            <a:r>
              <a:rPr lang="en-US" sz="2400" b="0">
                <a:solidFill>
                  <a:srgbClr val="000000"/>
                </a:solidFill>
                <a:latin typeface="Consolas"/>
              </a:rPr>
              <a:t> = </a:t>
            </a:r>
            <a:r>
              <a:rPr lang="en-US" sz="2400" b="0">
                <a:solidFill>
                  <a:srgbClr val="795E26"/>
                </a:solidFill>
                <a:latin typeface="Consolas"/>
              </a:rPr>
              <a:t>prompt</a:t>
            </a:r>
            <a:r>
              <a:rPr lang="en-US" sz="2400" b="0">
                <a:solidFill>
                  <a:srgbClr val="000000"/>
                </a:solidFill>
                <a:latin typeface="Consolas"/>
              </a:rPr>
              <a:t>(</a:t>
            </a:r>
            <a:r>
              <a:rPr lang="en-US" sz="2400" b="0">
                <a:solidFill>
                  <a:srgbClr val="A31515"/>
                </a:solidFill>
                <a:latin typeface="Consolas"/>
              </a:rPr>
              <a:t>'What is your name?'</a:t>
            </a:r>
            <a:r>
              <a:rPr lang="en-US" sz="2400" b="0">
                <a:solidFill>
                  <a:srgbClr val="000000"/>
                </a:solidFill>
                <a:latin typeface="Consolas"/>
              </a:rPr>
              <a:t>); </a:t>
            </a:r>
            <a:r>
              <a:rPr lang="en-US" sz="2400" b="0">
                <a:solidFill>
                  <a:srgbClr val="001080"/>
                </a:solidFill>
                <a:latin typeface="Consolas"/>
              </a:rPr>
              <a:t>console</a:t>
            </a:r>
            <a:r>
              <a:rPr lang="en-US" sz="2400" b="0">
                <a:solidFill>
                  <a:srgbClr val="000000"/>
                </a:solidFill>
                <a:latin typeface="Consolas"/>
              </a:rPr>
              <a:t>.</a:t>
            </a:r>
            <a:r>
              <a:rPr lang="en-US" sz="2400" b="0">
                <a:solidFill>
                  <a:srgbClr val="795E26"/>
                </a:solidFill>
                <a:latin typeface="Consolas"/>
              </a:rPr>
              <a:t>log</a:t>
            </a:r>
            <a:r>
              <a:rPr lang="en-US" sz="2400" b="0">
                <a:solidFill>
                  <a:srgbClr val="000000"/>
                </a:solidFill>
                <a:latin typeface="Consolas"/>
              </a:rPr>
              <a:t>(</a:t>
            </a:r>
            <a:r>
              <a:rPr lang="en-US" sz="2400" b="0">
                <a:solidFill>
                  <a:srgbClr val="001080"/>
                </a:solidFill>
                <a:latin typeface="Consolas"/>
              </a:rPr>
              <a:t>result</a:t>
            </a:r>
            <a:r>
              <a:rPr lang="en-US" sz="2400" b="0">
                <a:solidFill>
                  <a:srgbClr val="000000"/>
                </a:solidFill>
                <a:latin typeface="Consolas"/>
              </a:rPr>
              <a:t>);</a:t>
            </a:r>
            <a:r>
              <a:rPr lang="en-US" sz="2400" b="0">
                <a:solidFill>
                  <a:srgbClr val="001080"/>
                </a:solidFill>
                <a:latin typeface="Consolas"/>
              </a:rPr>
              <a:t>document</a:t>
            </a:r>
            <a:r>
              <a:rPr lang="en-US" sz="2400" b="0">
                <a:solidFill>
                  <a:srgbClr val="000000"/>
                </a:solidFill>
                <a:latin typeface="Consolas"/>
              </a:rPr>
              <a:t>.</a:t>
            </a:r>
            <a:r>
              <a:rPr lang="en-US" sz="2400" b="0">
                <a:solidFill>
                  <a:srgbClr val="795E26"/>
                </a:solidFill>
                <a:latin typeface="Consolas"/>
              </a:rPr>
              <a:t>write</a:t>
            </a:r>
            <a:r>
              <a:rPr lang="en-US" sz="2400" b="0">
                <a:solidFill>
                  <a:srgbClr val="000000"/>
                </a:solidFill>
                <a:latin typeface="Consolas"/>
              </a:rPr>
              <a:t>(</a:t>
            </a:r>
            <a:r>
              <a:rPr lang="en-US" sz="2400" b="0">
                <a:solidFill>
                  <a:srgbClr val="A31515"/>
                </a:solidFill>
                <a:latin typeface="Consolas"/>
              </a:rPr>
              <a:t>"&lt;h1&gt;"</a:t>
            </a:r>
            <a:r>
              <a:rPr lang="en-US" sz="2400" b="0">
                <a:solidFill>
                  <a:srgbClr val="000000"/>
                </a:solidFill>
                <a:latin typeface="Consolas"/>
              </a:rPr>
              <a:t>+</a:t>
            </a:r>
            <a:r>
              <a:rPr lang="en-US" sz="2400" b="0">
                <a:solidFill>
                  <a:srgbClr val="001080"/>
                </a:solidFill>
                <a:latin typeface="Consolas"/>
              </a:rPr>
              <a:t>result</a:t>
            </a:r>
            <a:r>
              <a:rPr lang="en-US" sz="2400" b="0">
                <a:solidFill>
                  <a:srgbClr val="000000"/>
                </a:solidFill>
                <a:latin typeface="Consolas"/>
              </a:rPr>
              <a:t>+</a:t>
            </a:r>
            <a:r>
              <a:rPr lang="en-US" sz="2400" b="0">
                <a:solidFill>
                  <a:srgbClr val="A31515"/>
                </a:solidFill>
                <a:latin typeface="Consolas"/>
              </a:rPr>
              <a:t>"&lt;/h1&gt;"</a:t>
            </a:r>
            <a:r>
              <a:rPr lang="en-US" sz="2400" b="0">
                <a:solidFill>
                  <a:srgbClr val="000000"/>
                </a:solidFill>
                <a:latin typeface="Consolas"/>
              </a:rPr>
              <a:t>);</a:t>
            </a:r>
            <a:endParaRPr lang="en-US" sz="2400"/>
          </a:p>
        </p:txBody>
      </p:sp>
      <p:pic>
        <p:nvPicPr>
          <p:cNvPr id="236" name="image6.png"/>
          <p:cNvPicPr preferRelativeResize="0"/>
          <p:nvPr/>
        </p:nvPicPr>
        <p:blipFill>
          <a:blip r:embed="rId1"/>
          <a:srcRect/>
          <a:stretch>
            <a:fillRect/>
          </a:stretch>
        </p:blipFill>
        <p:spPr>
          <a:xfrm>
            <a:off x="4351655" y="3355975"/>
            <a:ext cx="7404735" cy="2429510"/>
          </a:xfrm>
          <a:prstGeom prst="rect">
            <a:avLst/>
          </a:prstGeom>
        </p:spPr>
      </p:pic>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508000" y="412750"/>
            <a:ext cx="10903585" cy="2306955"/>
          </a:xfrm>
          <a:prstGeom prst="rect">
            <a:avLst/>
          </a:prstGeom>
          <a:noFill/>
          <a:ln w="9525">
            <a:noFill/>
          </a:ln>
        </p:spPr>
        <p:txBody>
          <a:bodyPr wrap="square">
            <a:spAutoFit/>
          </a:bodyPr>
          <a:p>
            <a:pPr marL="0" indent="0" algn="just">
              <a:lnSpc>
                <a:spcPct val="150000"/>
              </a:lnSpc>
            </a:pPr>
            <a:r>
              <a:rPr lang="ru-RU" altLang="en-US" sz="2400" b="0">
                <a:latin typeface="Arial Regular" panose="020B0704020202020204" charset="0"/>
                <a:cs typeface="Arial Regular" panose="020B0704020202020204" charset="0"/>
              </a:rPr>
              <a:t>	</a:t>
            </a:r>
            <a:r>
              <a:rPr lang="en-US" sz="2400" b="0">
                <a:latin typeface="Arial Regular" panose="020B0704020202020204" charset="0"/>
                <a:cs typeface="Arial Regular" panose="020B0704020202020204" charset="0"/>
              </a:rPr>
              <a:t>При запуске данного скрипта текст, который был введен пользователем, отразится на странице и в консоли браузера.</a:t>
            </a:r>
            <a:endParaRPr lang="en-US" sz="2400" b="0">
              <a:latin typeface="Arial Regular" panose="020B0704020202020204" charset="0"/>
              <a:cs typeface="Arial Regular" panose="020B0704020202020204" charset="0"/>
            </a:endParaRPr>
          </a:p>
          <a:p>
            <a:pPr marL="0" indent="0" algn="just">
              <a:lnSpc>
                <a:spcPct val="150000"/>
              </a:lnSpc>
            </a:pPr>
            <a:endParaRPr lang="en-US" sz="2400" b="0">
              <a:latin typeface="Arial Regular" panose="020B0704020202020204" charset="0"/>
              <a:cs typeface="Arial Regular" panose="020B0704020202020204" charset="0"/>
            </a:endParaRPr>
          </a:p>
          <a:p>
            <a:pPr marL="0" indent="0" algn="just">
              <a:lnSpc>
                <a:spcPct val="150000"/>
              </a:lnSpc>
            </a:pPr>
            <a:r>
              <a:rPr lang="zh-CN" sz="2400" b="0">
                <a:latin typeface="Arial Regular" panose="020B0704020202020204" charset="0"/>
                <a:cs typeface="Arial Regular" panose="020B0704020202020204" charset="0"/>
              </a:rPr>
              <a:t>运行此脚本时，用户输入的文本将反映在页面和浏览器控制台中。</a:t>
            </a:r>
            <a:endParaRPr lang="en-US" sz="2400">
              <a:latin typeface="Arial Regular" panose="020B0704020202020204" charset="0"/>
              <a:cs typeface="Arial Regular" panose="020B0704020202020204" charset="0"/>
            </a:endParaRPr>
          </a:p>
        </p:txBody>
      </p:sp>
      <p:pic>
        <p:nvPicPr>
          <p:cNvPr id="236" name="image6.png"/>
          <p:cNvPicPr preferRelativeResize="0"/>
          <p:nvPr/>
        </p:nvPicPr>
        <p:blipFill>
          <a:blip r:embed="rId1"/>
          <a:srcRect/>
          <a:stretch>
            <a:fillRect/>
          </a:stretch>
        </p:blipFill>
        <p:spPr>
          <a:xfrm>
            <a:off x="2221230" y="3147060"/>
            <a:ext cx="7924800" cy="2879090"/>
          </a:xfrm>
          <a:prstGeom prst="rect">
            <a:avLst/>
          </a:prstGeom>
        </p:spPr>
      </p:pic>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739775" y="1443990"/>
            <a:ext cx="10713085" cy="3749040"/>
          </a:xfrm>
          <a:prstGeom prst="rect">
            <a:avLst/>
          </a:prstGeom>
          <a:noFill/>
          <a:ln w="9525">
            <a:noFill/>
          </a:ln>
        </p:spPr>
        <p:txBody>
          <a:bodyPr wrap="square">
            <a:spAutoFit/>
          </a:bodyPr>
          <a:p>
            <a:pPr indent="449580" algn="just">
              <a:lnSpc>
                <a:spcPct val="150000"/>
              </a:lnSpc>
            </a:pPr>
            <a:r>
              <a:rPr lang="en-US" sz="2400" b="0">
                <a:latin typeface="Times New Roman" panose="02020603050405020304"/>
              </a:rPr>
              <a:t>Распространенный вариант взаимодействия пользователя с веб-странице - это кнопки.  По кнопке можно вызвать какое-то действие или перейти на другую страницу. Попробуем создать на странице кнопку. </a:t>
            </a:r>
            <a:endParaRPr lang="en-US" sz="2400" b="0">
              <a:latin typeface="Times New Roman" panose="02020603050405020304"/>
            </a:endParaRPr>
          </a:p>
          <a:p>
            <a:pPr indent="449580" algn="just">
              <a:lnSpc>
                <a:spcPct val="150000"/>
              </a:lnSpc>
            </a:pPr>
            <a:endParaRPr lang="en-US" sz="3200" b="0">
              <a:latin typeface="Times New Roman" panose="02020603050405020304"/>
              <a:cs typeface="Times New Roman" panose="02020603050405020304"/>
            </a:endParaRPr>
          </a:p>
          <a:p>
            <a:pPr indent="449580" algn="just">
              <a:lnSpc>
                <a:spcPct val="150000"/>
              </a:lnSpc>
            </a:pPr>
            <a:r>
              <a:rPr lang="en-US" sz="2800"/>
              <a:t>用户与网页交互的常见方式之一是通过按钮。按钮可以触发操作或导航到另一个页面。让我们尝试在页面上创建一个按钮。</a:t>
            </a:r>
            <a:endParaRPr lang="en-US" sz="2800"/>
          </a:p>
        </p:txBody>
      </p:sp>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466725" y="4748530"/>
            <a:ext cx="9515475" cy="1322070"/>
          </a:xfrm>
          <a:prstGeom prst="rect">
            <a:avLst/>
          </a:prstGeom>
          <a:noFill/>
          <a:ln w="9525">
            <a:noFill/>
          </a:ln>
        </p:spPr>
        <p:txBody>
          <a:bodyPr wrap="square">
            <a:spAutoFit/>
          </a:bodyPr>
          <a:p>
            <a:pPr marL="0" indent="0"/>
            <a:r>
              <a:rPr lang="en-US" sz="2000" b="0">
                <a:solidFill>
                  <a:srgbClr val="0000FF"/>
                </a:solidFill>
                <a:latin typeface="Consolas"/>
              </a:rPr>
              <a:t>const</a:t>
            </a:r>
            <a:r>
              <a:rPr lang="en-US" sz="2000" b="0">
                <a:solidFill>
                  <a:srgbClr val="000000"/>
                </a:solidFill>
                <a:latin typeface="Consolas"/>
              </a:rPr>
              <a:t> </a:t>
            </a:r>
            <a:r>
              <a:rPr lang="en-US" sz="2000" b="0">
                <a:solidFill>
                  <a:srgbClr val="0070C1"/>
                </a:solidFill>
                <a:latin typeface="Consolas"/>
              </a:rPr>
              <a:t>button</a:t>
            </a:r>
            <a:r>
              <a:rPr lang="en-US" sz="2000" b="0">
                <a:solidFill>
                  <a:srgbClr val="000000"/>
                </a:solidFill>
                <a:latin typeface="Consolas"/>
              </a:rPr>
              <a:t> = </a:t>
            </a:r>
            <a:r>
              <a:rPr lang="en-US" sz="2000" b="0">
                <a:solidFill>
                  <a:srgbClr val="001080"/>
                </a:solidFill>
                <a:latin typeface="Consolas"/>
              </a:rPr>
              <a:t>document</a:t>
            </a:r>
            <a:r>
              <a:rPr lang="en-US" sz="2000" b="0">
                <a:solidFill>
                  <a:srgbClr val="000000"/>
                </a:solidFill>
                <a:latin typeface="Consolas"/>
              </a:rPr>
              <a:t>.</a:t>
            </a:r>
            <a:r>
              <a:rPr lang="en-US" sz="2000" b="0">
                <a:solidFill>
                  <a:srgbClr val="795E26"/>
                </a:solidFill>
                <a:latin typeface="Consolas"/>
              </a:rPr>
              <a:t>getElementById</a:t>
            </a:r>
            <a:r>
              <a:rPr lang="en-US" sz="2000" b="0">
                <a:solidFill>
                  <a:srgbClr val="000000"/>
                </a:solidFill>
                <a:latin typeface="Consolas"/>
              </a:rPr>
              <a:t>(</a:t>
            </a:r>
            <a:r>
              <a:rPr lang="en-US" sz="2000" b="0">
                <a:solidFill>
                  <a:srgbClr val="A31515"/>
                </a:solidFill>
                <a:latin typeface="Consolas"/>
              </a:rPr>
              <a:t>'myButton'</a:t>
            </a:r>
            <a:r>
              <a:rPr lang="en-US" sz="2000" b="0">
                <a:solidFill>
                  <a:srgbClr val="000000"/>
                </a:solidFill>
                <a:latin typeface="Consolas"/>
              </a:rPr>
              <a:t>);</a:t>
            </a:r>
            <a:r>
              <a:rPr lang="en-US" sz="2000" b="0">
                <a:solidFill>
                  <a:srgbClr val="0070C1"/>
                </a:solidFill>
                <a:latin typeface="Consolas"/>
              </a:rPr>
              <a:t>button</a:t>
            </a:r>
            <a:r>
              <a:rPr lang="en-US" sz="2000" b="0">
                <a:solidFill>
                  <a:srgbClr val="000000"/>
                </a:solidFill>
                <a:latin typeface="Consolas"/>
              </a:rPr>
              <a:t>.</a:t>
            </a:r>
            <a:r>
              <a:rPr lang="en-US" sz="2000" b="0">
                <a:solidFill>
                  <a:srgbClr val="795E26"/>
                </a:solidFill>
                <a:latin typeface="Consolas"/>
              </a:rPr>
              <a:t>onclick</a:t>
            </a:r>
            <a:r>
              <a:rPr lang="en-US" sz="2000" b="0">
                <a:solidFill>
                  <a:srgbClr val="000000"/>
                </a:solidFill>
                <a:latin typeface="Consolas"/>
              </a:rPr>
              <a:t> = () </a:t>
            </a:r>
            <a:r>
              <a:rPr lang="en-US" sz="2000" b="0">
                <a:solidFill>
                  <a:srgbClr val="0000FF"/>
                </a:solidFill>
                <a:latin typeface="Consolas"/>
              </a:rPr>
              <a:t>=&gt;</a:t>
            </a:r>
            <a:r>
              <a:rPr lang="en-US" sz="2000" b="0">
                <a:solidFill>
                  <a:srgbClr val="000000"/>
                </a:solidFill>
                <a:latin typeface="Consolas"/>
              </a:rPr>
              <a:t> {  </a:t>
            </a:r>
            <a:r>
              <a:rPr lang="en-US" sz="2000" b="0">
                <a:solidFill>
                  <a:srgbClr val="795E26"/>
                </a:solidFill>
                <a:latin typeface="Consolas"/>
              </a:rPr>
              <a:t>alert</a:t>
            </a:r>
            <a:r>
              <a:rPr lang="en-US" sz="2000" b="0">
                <a:solidFill>
                  <a:srgbClr val="000000"/>
                </a:solidFill>
                <a:latin typeface="Consolas"/>
              </a:rPr>
              <a:t>(</a:t>
            </a:r>
            <a:r>
              <a:rPr lang="en-US" sz="2000" b="0">
                <a:solidFill>
                  <a:srgbClr val="A31515"/>
                </a:solidFill>
                <a:latin typeface="Consolas"/>
              </a:rPr>
              <a:t>"Button is clicked"</a:t>
            </a:r>
            <a:r>
              <a:rPr lang="en-US" sz="2000" b="0">
                <a:solidFill>
                  <a:srgbClr val="000000"/>
                </a:solidFill>
                <a:latin typeface="Consolas"/>
              </a:rPr>
              <a:t>);};</a:t>
            </a:r>
            <a:endParaRPr lang="en-US" sz="2000"/>
          </a:p>
        </p:txBody>
      </p:sp>
      <p:sp>
        <p:nvSpPr>
          <p:cNvPr id="2" name="Text Box 1"/>
          <p:cNvSpPr txBox="1"/>
          <p:nvPr/>
        </p:nvSpPr>
        <p:spPr>
          <a:xfrm>
            <a:off x="466725" y="997585"/>
            <a:ext cx="8698865" cy="2245360"/>
          </a:xfrm>
          <a:prstGeom prst="rect">
            <a:avLst/>
          </a:prstGeom>
          <a:noFill/>
          <a:ln w="9525">
            <a:noFill/>
          </a:ln>
        </p:spPr>
        <p:txBody>
          <a:bodyPr wrap="square">
            <a:spAutoFit/>
          </a:bodyPr>
          <a:p>
            <a:pPr marL="0" indent="0"/>
            <a:r>
              <a:rPr lang="en-US" sz="2000" b="0">
                <a:solidFill>
                  <a:srgbClr val="800000"/>
                </a:solidFill>
                <a:latin typeface="Consolas"/>
              </a:rPr>
              <a:t>&lt;!DOCTYPE</a:t>
            </a:r>
            <a:r>
              <a:rPr lang="en-US" sz="2000" b="0">
                <a:solidFill>
                  <a:srgbClr val="000000"/>
                </a:solidFill>
                <a:latin typeface="Consolas"/>
              </a:rPr>
              <a:t> </a:t>
            </a:r>
            <a:r>
              <a:rPr lang="en-US" sz="2000" b="0">
                <a:solidFill>
                  <a:srgbClr val="E50000"/>
                </a:solidFill>
                <a:latin typeface="Consolas"/>
              </a:rPr>
              <a:t>HTML</a:t>
            </a:r>
            <a:r>
              <a:rPr lang="en-US" sz="2000" b="0">
                <a:solidFill>
                  <a:srgbClr val="800000"/>
                </a:solidFill>
                <a:latin typeface="Consolas"/>
              </a:rPr>
              <a:t>&gt;&lt;html&gt;&lt;body&gt;</a:t>
            </a:r>
            <a:r>
              <a:rPr lang="en-US" sz="2000" b="0">
                <a:solidFill>
                  <a:srgbClr val="000000"/>
                </a:solidFill>
                <a:latin typeface="Consolas"/>
              </a:rPr>
              <a:t>    </a:t>
            </a:r>
            <a:r>
              <a:rPr lang="en-US" sz="2000" b="0">
                <a:solidFill>
                  <a:srgbClr val="800000"/>
                </a:solidFill>
                <a:latin typeface="Consolas"/>
              </a:rPr>
              <a:t>&lt;button</a:t>
            </a:r>
            <a:r>
              <a:rPr lang="en-US" sz="2000" b="0">
                <a:solidFill>
                  <a:srgbClr val="000000"/>
                </a:solidFill>
                <a:latin typeface="Consolas"/>
              </a:rPr>
              <a:t> </a:t>
            </a:r>
            <a:r>
              <a:rPr lang="en-US" sz="2000" b="0">
                <a:solidFill>
                  <a:srgbClr val="E50000"/>
                </a:solidFill>
                <a:latin typeface="Consolas"/>
              </a:rPr>
              <a:t>id</a:t>
            </a:r>
            <a:r>
              <a:rPr lang="en-US" sz="2000" b="0">
                <a:solidFill>
                  <a:srgbClr val="000000"/>
                </a:solidFill>
                <a:latin typeface="Consolas"/>
              </a:rPr>
              <a:t>=</a:t>
            </a:r>
            <a:r>
              <a:rPr lang="en-US" sz="2000" b="0">
                <a:solidFill>
                  <a:srgbClr val="0000FF"/>
                </a:solidFill>
                <a:latin typeface="Consolas"/>
              </a:rPr>
              <a:t>"myButton"</a:t>
            </a:r>
            <a:r>
              <a:rPr lang="en-US" sz="2000" b="0">
                <a:solidFill>
                  <a:srgbClr val="800000"/>
                </a:solidFill>
                <a:latin typeface="Consolas"/>
              </a:rPr>
              <a:t>&gt;</a:t>
            </a:r>
            <a:r>
              <a:rPr lang="en-US" sz="2000" b="0">
                <a:solidFill>
                  <a:srgbClr val="000000"/>
                </a:solidFill>
                <a:latin typeface="Consolas"/>
              </a:rPr>
              <a:t>Click on me</a:t>
            </a:r>
            <a:r>
              <a:rPr lang="en-US" sz="2000" b="0">
                <a:solidFill>
                  <a:srgbClr val="800000"/>
                </a:solidFill>
                <a:latin typeface="Consolas"/>
              </a:rPr>
              <a:t>&lt;/button&gt;</a:t>
            </a:r>
            <a:r>
              <a:rPr lang="en-US" sz="2000" b="0">
                <a:solidFill>
                  <a:srgbClr val="000000"/>
                </a:solidFill>
                <a:latin typeface="Consolas"/>
              </a:rPr>
              <a:t>    </a:t>
            </a:r>
            <a:r>
              <a:rPr lang="en-US" sz="2000" b="0">
                <a:solidFill>
                  <a:srgbClr val="800000"/>
                </a:solidFill>
                <a:latin typeface="Consolas"/>
              </a:rPr>
              <a:t>&lt;script</a:t>
            </a:r>
            <a:r>
              <a:rPr lang="en-US" sz="2000" b="0">
                <a:solidFill>
                  <a:srgbClr val="000000"/>
                </a:solidFill>
                <a:latin typeface="Consolas"/>
              </a:rPr>
              <a:t> </a:t>
            </a:r>
            <a:r>
              <a:rPr lang="en-US" sz="2000" b="0">
                <a:solidFill>
                  <a:srgbClr val="E50000"/>
                </a:solidFill>
                <a:latin typeface="Consolas"/>
              </a:rPr>
              <a:t>src</a:t>
            </a:r>
            <a:r>
              <a:rPr lang="en-US" sz="2000" b="0">
                <a:solidFill>
                  <a:srgbClr val="000000"/>
                </a:solidFill>
                <a:latin typeface="Consolas"/>
              </a:rPr>
              <a:t>=</a:t>
            </a:r>
            <a:r>
              <a:rPr lang="en-US" sz="2000" b="0">
                <a:solidFill>
                  <a:srgbClr val="0000FF"/>
                </a:solidFill>
                <a:latin typeface="Consolas"/>
              </a:rPr>
              <a:t>"script.js"</a:t>
            </a:r>
            <a:r>
              <a:rPr lang="en-US" sz="2000" b="0">
                <a:solidFill>
                  <a:srgbClr val="800000"/>
                </a:solidFill>
                <a:latin typeface="Consolas"/>
              </a:rPr>
              <a:t>&gt;&lt;/script&gt;&lt;/body&gt;&lt;/html&gt;</a:t>
            </a:r>
            <a:endParaRPr lang="en-US" sz="2000"/>
          </a:p>
        </p:txBody>
      </p:sp>
      <p:sp>
        <p:nvSpPr>
          <p:cNvPr id="5" name="Text Box 4"/>
          <p:cNvSpPr txBox="1"/>
          <p:nvPr/>
        </p:nvSpPr>
        <p:spPr>
          <a:xfrm>
            <a:off x="466725" y="167640"/>
            <a:ext cx="4376420" cy="829945"/>
          </a:xfrm>
          <a:prstGeom prst="rect">
            <a:avLst/>
          </a:prstGeom>
          <a:noFill/>
        </p:spPr>
        <p:txBody>
          <a:bodyPr wrap="square" rtlCol="0" anchor="t">
            <a:spAutoFit/>
          </a:bodyPr>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HTML</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R="0" indent="0">
              <a:spcBef>
                <a:spcPts val="0"/>
              </a:spcBef>
              <a:spcAft>
                <a:spcPts val="0"/>
              </a:spcAft>
              <a:buNone/>
            </a:pPr>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HTML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4" name="Text Box 3"/>
          <p:cNvSpPr txBox="1"/>
          <p:nvPr/>
        </p:nvSpPr>
        <p:spPr>
          <a:xfrm>
            <a:off x="466725" y="3819842"/>
            <a:ext cx="5080000" cy="829945"/>
          </a:xfrm>
          <a:prstGeom prst="rect">
            <a:avLst/>
          </a:prstGeom>
          <a:noFill/>
          <a:ln w="9525">
            <a:noFill/>
          </a:ln>
        </p:spPr>
        <p:txBody>
          <a:bodyPr>
            <a:spAutoFit/>
          </a:bodyPr>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pic>
        <p:nvPicPr>
          <p:cNvPr id="6" name="Picture 5"/>
          <p:cNvPicPr>
            <a:picLocks noChangeAspect="1"/>
          </p:cNvPicPr>
          <p:nvPr/>
        </p:nvPicPr>
        <p:blipFill>
          <a:blip r:embed="rId1"/>
          <a:stretch>
            <a:fillRect/>
          </a:stretch>
        </p:blipFill>
        <p:spPr>
          <a:xfrm>
            <a:off x="6903085" y="652145"/>
            <a:ext cx="4944110" cy="1773555"/>
          </a:xfrm>
          <a:prstGeom prst="rect">
            <a:avLst/>
          </a:prstGeom>
        </p:spPr>
      </p:pic>
      <p:pic>
        <p:nvPicPr>
          <p:cNvPr id="7" name="Picture 6"/>
          <p:cNvPicPr>
            <a:picLocks noChangeAspect="1"/>
          </p:cNvPicPr>
          <p:nvPr/>
        </p:nvPicPr>
        <p:blipFill>
          <a:blip r:embed="rId2"/>
          <a:stretch>
            <a:fillRect/>
          </a:stretch>
        </p:blipFill>
        <p:spPr>
          <a:xfrm>
            <a:off x="6752590" y="2699385"/>
            <a:ext cx="5245735" cy="1775460"/>
          </a:xfrm>
          <a:prstGeom prst="rect">
            <a:avLst/>
          </a:prstGeom>
        </p:spPr>
      </p:pic>
      <p:sp>
        <p:nvSpPr>
          <p:cNvPr id="3" name="Slide Number Placeholder 2"/>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725805" y="1035685"/>
            <a:ext cx="10822305" cy="3931920"/>
          </a:xfrm>
          <a:prstGeom prst="rect">
            <a:avLst/>
          </a:prstGeom>
          <a:noFill/>
          <a:ln w="9525">
            <a:noFill/>
          </a:ln>
        </p:spPr>
        <p:txBody>
          <a:bodyPr wrap="square">
            <a:spAutoFit/>
          </a:bodyPr>
          <a:p>
            <a:pPr marL="0" indent="0" algn="just">
              <a:lnSpc>
                <a:spcPct val="150000"/>
              </a:lnSpc>
            </a:pPr>
            <a:r>
              <a:rPr lang="ru-RU" altLang="en-US" sz="2400" b="0">
                <a:solidFill>
                  <a:srgbClr val="000000"/>
                </a:solidFill>
                <a:latin typeface="Arial Regular" panose="020B0704020202020204" charset="0"/>
                <a:cs typeface="Arial Regular" panose="020B0704020202020204" charset="0"/>
              </a:rPr>
              <a:t>	</a:t>
            </a:r>
            <a:r>
              <a:rPr lang="en-US" sz="2400" b="0">
                <a:solidFill>
                  <a:srgbClr val="000000"/>
                </a:solidFill>
                <a:latin typeface="Arial Regular" panose="020B0704020202020204" charset="0"/>
                <a:cs typeface="Arial Regular" panose="020B0704020202020204" charset="0"/>
              </a:rPr>
              <a:t>Бывают ситуации, когда действие на странице нужно вызывать не по нажатию кнопки или другому действию пользователя, а по прошествии какого-то времени. Например, каждую минуту напоминать пользователю об оплате заказа. </a:t>
            </a:r>
            <a:endParaRPr lang="en-US" sz="2400" b="0">
              <a:solidFill>
                <a:srgbClr val="000000"/>
              </a:solidFill>
              <a:latin typeface="Arial Regular" panose="020B0704020202020204" charset="0"/>
              <a:cs typeface="Arial Regular" panose="020B0704020202020204" charset="0"/>
            </a:endParaRPr>
          </a:p>
          <a:p>
            <a:pPr marL="0" indent="0" algn="just">
              <a:lnSpc>
                <a:spcPct val="150000"/>
              </a:lnSpc>
            </a:pPr>
            <a:endParaRPr lang="en-US" sz="2400" b="0">
              <a:solidFill>
                <a:srgbClr val="000000"/>
              </a:solidFill>
              <a:latin typeface="Arial Regular" panose="020B0704020202020204" charset="0"/>
              <a:cs typeface="Arial Regular" panose="020B0704020202020204" charset="0"/>
            </a:endParaRPr>
          </a:p>
          <a:p>
            <a:pPr marL="0" indent="0" algn="just">
              <a:lnSpc>
                <a:spcPct val="150000"/>
              </a:lnSpc>
            </a:pPr>
            <a:r>
              <a:rPr lang="ru-RU" altLang="zh-CN" sz="2400" b="0">
                <a:solidFill>
                  <a:srgbClr val="000000"/>
                </a:solidFill>
                <a:latin typeface="Arial Regular" panose="020B0704020202020204" charset="0"/>
                <a:cs typeface="Arial Regular" panose="020B0704020202020204" charset="0"/>
              </a:rPr>
              <a:t>	有些情况下，页面上的某个操作需要经过一段时间后触发，而不是通过按钮点击或其他用户操作。例如，每隔一分钟提醒用户支付订单。</a:t>
            </a:r>
            <a:endParaRPr lang="en-US" sz="2800">
              <a:latin typeface="Arial Regular" panose="020B0704020202020204" charset="0"/>
              <a:cs typeface="Arial Regular" panose="020B0704020202020204" charset="0"/>
            </a:endParaRPr>
          </a:p>
        </p:txBody>
      </p:sp>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787400" y="1539240"/>
            <a:ext cx="10617200" cy="3383280"/>
          </a:xfrm>
          <a:prstGeom prst="rect">
            <a:avLst/>
          </a:prstGeom>
          <a:noFill/>
          <a:ln w="9525">
            <a:noFill/>
          </a:ln>
        </p:spPr>
        <p:txBody>
          <a:bodyPr wrap="square">
            <a:spAutoFit/>
          </a:bodyPr>
          <a:p>
            <a:pPr marL="0" indent="0" algn="just">
              <a:lnSpc>
                <a:spcPct val="150000"/>
              </a:lnSpc>
            </a:pPr>
            <a:r>
              <a:rPr lang="ru-RU" altLang="en-US" sz="2400" b="0">
                <a:solidFill>
                  <a:srgbClr val="000000"/>
                </a:solidFill>
                <a:latin typeface="Arial Regular" panose="020B0704020202020204" charset="0"/>
                <a:cs typeface="Arial Regular" panose="020B0704020202020204" charset="0"/>
              </a:rPr>
              <a:t>	</a:t>
            </a:r>
            <a:r>
              <a:rPr lang="en-US" sz="2400" b="0">
                <a:solidFill>
                  <a:srgbClr val="000000"/>
                </a:solidFill>
                <a:latin typeface="Arial Regular" panose="020B0704020202020204" charset="0"/>
                <a:cs typeface="Arial Regular" panose="020B0704020202020204" charset="0"/>
              </a:rPr>
              <a:t>Мы можем вызвать функцию не в данный момент, а позже, через заданный интервал времени. Это называется «планирование вызова». Для этого существуют два метода:</a:t>
            </a:r>
            <a:endParaRPr lang="en-US" sz="2400" b="0">
              <a:solidFill>
                <a:srgbClr val="000000"/>
              </a:solidFill>
              <a:latin typeface="Arial Regular" panose="020B0704020202020204" charset="0"/>
              <a:cs typeface="Arial Regular" panose="020B0704020202020204" charset="0"/>
            </a:endParaRPr>
          </a:p>
          <a:p>
            <a:pPr marL="0" indent="0" algn="just">
              <a:lnSpc>
                <a:spcPct val="150000"/>
              </a:lnSpc>
            </a:pPr>
            <a:endParaRPr lang="en-US" sz="2400" b="0">
              <a:solidFill>
                <a:srgbClr val="000000"/>
              </a:solidFill>
              <a:latin typeface="Arial Regular" panose="020B0704020202020204" charset="0"/>
              <a:cs typeface="Arial Regular" panose="020B0704020202020204" charset="0"/>
            </a:endParaRPr>
          </a:p>
          <a:p>
            <a:pPr marL="0" indent="0" algn="just">
              <a:lnSpc>
                <a:spcPct val="150000"/>
              </a:lnSpc>
            </a:pPr>
            <a:r>
              <a:rPr lang="ru-RU" altLang="zh-CN" sz="2400" b="0">
                <a:solidFill>
                  <a:srgbClr val="000000"/>
                </a:solidFill>
                <a:latin typeface="Arial Regular" panose="020B0704020202020204" charset="0"/>
                <a:cs typeface="Arial Regular" panose="020B0704020202020204" charset="0"/>
              </a:rPr>
              <a:t>	我们可以稍后在指定的时间间隔内调用函数，而不是立即调用。这称为“调用调度”。有两种方法可以实现这一点：</a:t>
            </a:r>
            <a:endParaRPr lang="zh-CN" sz="2800" b="0">
              <a:solidFill>
                <a:srgbClr val="000000"/>
              </a:solidFill>
              <a:latin typeface="Arial Regular" panose="020B0704020202020204" charset="0"/>
              <a:cs typeface="Arial Regular" panose="020B0704020202020204" charset="0"/>
            </a:endParaRPr>
          </a:p>
        </p:txBody>
      </p:sp>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834390" y="1172845"/>
            <a:ext cx="10264140" cy="4154170"/>
          </a:xfrm>
          <a:prstGeom prst="rect">
            <a:avLst/>
          </a:prstGeom>
          <a:noFill/>
          <a:ln w="9525">
            <a:noFill/>
          </a:ln>
        </p:spPr>
        <p:txBody>
          <a:bodyPr wrap="square">
            <a:spAutoFit/>
          </a:bodyPr>
          <a:p>
            <a:pPr indent="0" algn="just">
              <a:lnSpc>
                <a:spcPct val="150000"/>
              </a:lnSpc>
              <a:buFont typeface="Arial" panose="020B0704020202020204" pitchFamily="34" charset="0"/>
              <a:buNone/>
            </a:pPr>
            <a:r>
              <a:rPr lang="en-US" sz="2400" b="0" i="1">
                <a:solidFill>
                  <a:srgbClr val="000000"/>
                </a:solidFill>
                <a:latin typeface="Arial Regular" panose="020B0704020202020204" charset="0"/>
                <a:cs typeface="Arial Regular" panose="020B0704020202020204" charset="0"/>
              </a:rPr>
              <a:t>setTimeout</a:t>
            </a:r>
            <a:r>
              <a:rPr lang="en-US" sz="2400" b="0">
                <a:solidFill>
                  <a:srgbClr val="000000"/>
                </a:solidFill>
                <a:latin typeface="Arial Regular" panose="020B0704020202020204" charset="0"/>
                <a:cs typeface="Arial Regular" panose="020B0704020202020204" charset="0"/>
              </a:rPr>
              <a:t> позволяет вызвать функцию один раз через </a:t>
            </a:r>
            <a:r>
              <a:rPr lang="en-US" sz="2400" b="0">
                <a:latin typeface="Arial Regular" panose="020B0704020202020204" charset="0"/>
                <a:cs typeface="Arial Regular" panose="020B0704020202020204" charset="0"/>
              </a:rPr>
              <a:t>определенный</a:t>
            </a:r>
            <a:r>
              <a:rPr lang="en-US" sz="2400" b="0">
                <a:solidFill>
                  <a:srgbClr val="000000"/>
                </a:solidFill>
                <a:latin typeface="Arial Regular" panose="020B0704020202020204" charset="0"/>
                <a:cs typeface="Arial Regular" panose="020B0704020202020204" charset="0"/>
              </a:rPr>
              <a:t> интервал времени.</a:t>
            </a:r>
            <a:endParaRPr lang="en-US" sz="2400" b="0">
              <a:solidFill>
                <a:srgbClr val="000000"/>
              </a:solidFill>
              <a:latin typeface="Arial Regular" panose="020B0704020202020204" charset="0"/>
              <a:cs typeface="Arial Regular" panose="020B0704020202020204" charset="0"/>
            </a:endParaRPr>
          </a:p>
          <a:p>
            <a:pPr indent="0" algn="just">
              <a:lnSpc>
                <a:spcPct val="150000"/>
              </a:lnSpc>
              <a:buFont typeface="Arial" panose="020B0704020202020204" pitchFamily="34" charset="0"/>
              <a:buNone/>
            </a:pPr>
            <a:r>
              <a:rPr lang="en-US" sz="2800" i="1">
                <a:solidFill>
                  <a:srgbClr val="000000"/>
                </a:solidFill>
                <a:latin typeface="Arial Regular" panose="020B0704020202020204" charset="0"/>
                <a:cs typeface="Arial Regular" panose="020B0704020202020204" charset="0"/>
                <a:sym typeface="+mn-ea"/>
              </a:rPr>
              <a:t>setTimeout</a:t>
            </a:r>
            <a:r>
              <a:rPr lang="en-US" sz="2800">
                <a:solidFill>
                  <a:srgbClr val="000000"/>
                </a:solidFill>
                <a:latin typeface="Arial Regular" panose="020B0704020202020204" charset="0"/>
                <a:cs typeface="Arial Regular" panose="020B0704020202020204" charset="0"/>
                <a:sym typeface="+mn-ea"/>
              </a:rPr>
              <a:t> </a:t>
            </a:r>
            <a:r>
              <a:rPr lang="zh-CN" sz="2800" b="0">
                <a:solidFill>
                  <a:srgbClr val="000000"/>
                </a:solidFill>
                <a:latin typeface="Arial Regular" panose="020B0704020202020204" charset="0"/>
                <a:cs typeface="Arial Regular" panose="020B0704020202020204" charset="0"/>
              </a:rPr>
              <a:t>允许您每隔一段时间调用函数一次。</a:t>
            </a:r>
            <a:endParaRPr lang="zh-CN" sz="2800" b="0">
              <a:solidFill>
                <a:srgbClr val="000000"/>
              </a:solidFill>
              <a:latin typeface="Arial Regular" panose="020B0704020202020204" charset="0"/>
              <a:cs typeface="Arial Regular" panose="020B0704020202020204" charset="0"/>
            </a:endParaRPr>
          </a:p>
          <a:p>
            <a:pPr indent="0" algn="just">
              <a:lnSpc>
                <a:spcPct val="150000"/>
              </a:lnSpc>
              <a:buFont typeface="Arial" panose="020B0704020202020204" pitchFamily="34" charset="0"/>
              <a:buNone/>
            </a:pPr>
            <a:endParaRPr lang="zh-CN" sz="2400" b="0" i="1">
              <a:solidFill>
                <a:srgbClr val="000000"/>
              </a:solidFill>
              <a:latin typeface="Arial Regular" panose="020B0704020202020204" charset="0"/>
              <a:cs typeface="Arial Regular" panose="020B0704020202020204" charset="0"/>
            </a:endParaRPr>
          </a:p>
          <a:p>
            <a:pPr indent="0" algn="just">
              <a:lnSpc>
                <a:spcPct val="150000"/>
              </a:lnSpc>
              <a:buFont typeface="Arial" panose="020B0704020202020204" pitchFamily="34" charset="0"/>
              <a:buNone/>
            </a:pPr>
            <a:r>
              <a:rPr lang="en-US" sz="2400" b="0" i="1">
                <a:solidFill>
                  <a:srgbClr val="000000"/>
                </a:solidFill>
                <a:latin typeface="Arial Regular" panose="020B0704020202020204" charset="0"/>
                <a:cs typeface="Arial Regular" panose="020B0704020202020204" charset="0"/>
              </a:rPr>
              <a:t>setInterval</a:t>
            </a:r>
            <a:r>
              <a:rPr lang="en-US" sz="2400" b="0">
                <a:solidFill>
                  <a:srgbClr val="000000"/>
                </a:solidFill>
                <a:latin typeface="Arial Regular" panose="020B0704020202020204" charset="0"/>
                <a:cs typeface="Arial Regular" panose="020B0704020202020204" charset="0"/>
              </a:rPr>
              <a:t> позволяет вызывать функцию регулярно, повторяя вызов через определённый интервал времени.</a:t>
            </a:r>
            <a:endParaRPr lang="en-US" sz="2400" b="0">
              <a:solidFill>
                <a:srgbClr val="000000"/>
              </a:solidFill>
              <a:latin typeface="Arial Regular" panose="020B0704020202020204" charset="0"/>
              <a:cs typeface="Arial Regular" panose="020B0704020202020204" charset="0"/>
            </a:endParaRPr>
          </a:p>
          <a:p>
            <a:pPr indent="0" algn="just">
              <a:lnSpc>
                <a:spcPct val="150000"/>
              </a:lnSpc>
              <a:buFont typeface="Arial" panose="020B0704020202020204" pitchFamily="34" charset="0"/>
              <a:buNone/>
            </a:pPr>
            <a:r>
              <a:rPr lang="en-US" sz="2800" i="1">
                <a:solidFill>
                  <a:srgbClr val="000000"/>
                </a:solidFill>
                <a:latin typeface="Arial Regular" panose="020B0704020202020204" charset="0"/>
                <a:cs typeface="Arial Regular" panose="020B0704020202020204" charset="0"/>
                <a:sym typeface="+mn-ea"/>
              </a:rPr>
              <a:t>setInterval</a:t>
            </a:r>
            <a:r>
              <a:rPr lang="en-US" sz="2800">
                <a:solidFill>
                  <a:srgbClr val="000000"/>
                </a:solidFill>
                <a:latin typeface="Arial Regular" panose="020B0704020202020204" charset="0"/>
                <a:cs typeface="Arial Regular" panose="020B0704020202020204" charset="0"/>
                <a:sym typeface="+mn-ea"/>
              </a:rPr>
              <a:t> </a:t>
            </a:r>
            <a:r>
              <a:rPr lang="zh-CN" sz="2800" b="0">
                <a:solidFill>
                  <a:srgbClr val="000000"/>
                </a:solidFill>
                <a:latin typeface="Arial Regular" panose="020B0704020202020204" charset="0"/>
                <a:cs typeface="Arial Regular" panose="020B0704020202020204" charset="0"/>
              </a:rPr>
              <a:t>允许您定期调用函数，每隔一定的时间重复调用。</a:t>
            </a:r>
            <a:endParaRPr lang="en-US" sz="2800">
              <a:latin typeface="Arial Regular" panose="020B0704020202020204" charset="0"/>
              <a:cs typeface="Arial Regular" panose="020B0704020202020204" charset="0"/>
            </a:endParaRPr>
          </a:p>
        </p:txBody>
      </p:sp>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828040" y="1257935"/>
            <a:ext cx="10536555" cy="4480560"/>
          </a:xfrm>
          <a:prstGeom prst="rect">
            <a:avLst/>
          </a:prstGeom>
          <a:noFill/>
          <a:ln w="9525">
            <a:noFill/>
          </a:ln>
        </p:spPr>
        <p:txBody>
          <a:bodyPr wrap="square">
            <a:spAutoFit/>
          </a:bodyPr>
          <a:p>
            <a:pPr marL="0" indent="450215" algn="just">
              <a:lnSpc>
                <a:spcPct val="150000"/>
              </a:lnSpc>
            </a:pPr>
            <a:r>
              <a:rPr lang="en-US" sz="2400" b="0">
                <a:solidFill>
                  <a:srgbClr val="000000"/>
                </a:solidFill>
                <a:latin typeface="Times New Roman" panose="02020603050405020304"/>
              </a:rPr>
              <a:t>Эти методы не являются частью спецификации </a:t>
            </a:r>
            <a:r>
              <a:rPr lang="en-US" sz="2400" b="0" i="1">
                <a:solidFill>
                  <a:srgbClr val="000000"/>
                </a:solidFill>
                <a:latin typeface="Times New Roman" panose="02020603050405020304"/>
              </a:rPr>
              <a:t>JavaScript</a:t>
            </a:r>
            <a:r>
              <a:rPr lang="en-US" sz="2400" b="0">
                <a:solidFill>
                  <a:srgbClr val="000000"/>
                </a:solidFill>
                <a:latin typeface="Times New Roman" panose="02020603050405020304"/>
              </a:rPr>
              <a:t>. Но большинство сред выполнения JS-кода имеют внутренний планировщик и предоставляют доступ к этим методам.</a:t>
            </a:r>
            <a:endParaRPr lang="en-US" sz="2400" b="0">
              <a:solidFill>
                <a:srgbClr val="000000"/>
              </a:solidFill>
              <a:latin typeface="Times New Roman" panose="02020603050405020304"/>
            </a:endParaRPr>
          </a:p>
          <a:p>
            <a:pPr marL="0" indent="450215" algn="just">
              <a:lnSpc>
                <a:spcPct val="150000"/>
              </a:lnSpc>
            </a:pPr>
            <a:endParaRPr lang="en-US" sz="2400" b="0">
              <a:solidFill>
                <a:srgbClr val="000000"/>
              </a:solidFill>
              <a:latin typeface="Times New Roman" panose="02020603050405020304"/>
              <a:cs typeface="Times New Roman" panose="02020603050405020304"/>
            </a:endParaRPr>
          </a:p>
          <a:p>
            <a:pPr marL="0" indent="450215" algn="just">
              <a:lnSpc>
                <a:spcPct val="150000"/>
              </a:lnSpc>
            </a:pPr>
            <a:r>
              <a:rPr lang="en-US" sz="3200"/>
              <a:t>这些方法并非 JavaScript 规范的一部分。但是，大多数 JavaScript 运行时都有内部调度器，并提供对这些方法的访问。</a:t>
            </a:r>
            <a:endParaRPr lang="en-US" sz="3200"/>
          </a:p>
        </p:txBody>
      </p:sp>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494665" y="1751330"/>
            <a:ext cx="7270750" cy="460375"/>
          </a:xfrm>
          <a:prstGeom prst="rect">
            <a:avLst/>
          </a:prstGeom>
          <a:noFill/>
          <a:ln w="9525">
            <a:noFill/>
          </a:ln>
        </p:spPr>
        <p:txBody>
          <a:bodyPr wrap="square">
            <a:spAutoFit/>
          </a:bodyPr>
          <a:p>
            <a:pPr indent="0"/>
            <a:r>
              <a:rPr lang="en-US" sz="2400" b="0">
                <a:solidFill>
                  <a:srgbClr val="795E26"/>
                </a:solidFill>
                <a:latin typeface="Consolas"/>
              </a:rPr>
              <a:t>setTimeout</a:t>
            </a:r>
            <a:r>
              <a:rPr lang="en-US" sz="2400" b="0">
                <a:solidFill>
                  <a:srgbClr val="000000"/>
                </a:solidFill>
                <a:latin typeface="Consolas"/>
              </a:rPr>
              <a:t>(() </a:t>
            </a:r>
            <a:r>
              <a:rPr lang="en-US" sz="2400" b="0">
                <a:solidFill>
                  <a:srgbClr val="0000FF"/>
                </a:solidFill>
                <a:latin typeface="Consolas"/>
              </a:rPr>
              <a:t>=&gt;</a:t>
            </a:r>
            <a:r>
              <a:rPr lang="en-US" sz="2400" b="0">
                <a:solidFill>
                  <a:srgbClr val="000000"/>
                </a:solidFill>
                <a:latin typeface="Consolas"/>
              </a:rPr>
              <a:t> </a:t>
            </a:r>
            <a:r>
              <a:rPr lang="en-US" sz="2400" b="0">
                <a:solidFill>
                  <a:srgbClr val="795E26"/>
                </a:solidFill>
                <a:latin typeface="Consolas"/>
              </a:rPr>
              <a:t>alert</a:t>
            </a:r>
            <a:r>
              <a:rPr lang="en-US" sz="2400" b="0">
                <a:solidFill>
                  <a:srgbClr val="000000"/>
                </a:solidFill>
                <a:latin typeface="Consolas"/>
              </a:rPr>
              <a:t>(</a:t>
            </a:r>
            <a:r>
              <a:rPr lang="en-US" sz="2400" b="0">
                <a:solidFill>
                  <a:srgbClr val="A31515"/>
                </a:solidFill>
                <a:latin typeface="Consolas"/>
              </a:rPr>
              <a:t>'Hello!'</a:t>
            </a:r>
            <a:r>
              <a:rPr lang="en-US" sz="2400" b="0">
                <a:solidFill>
                  <a:srgbClr val="000000"/>
                </a:solidFill>
                <a:latin typeface="Consolas"/>
              </a:rPr>
              <a:t>), </a:t>
            </a:r>
            <a:r>
              <a:rPr lang="en-US" sz="2400" b="0">
                <a:solidFill>
                  <a:srgbClr val="098658"/>
                </a:solidFill>
                <a:latin typeface="Consolas"/>
              </a:rPr>
              <a:t>5000</a:t>
            </a:r>
            <a:r>
              <a:rPr lang="en-US" sz="2400" b="0">
                <a:solidFill>
                  <a:srgbClr val="000000"/>
                </a:solidFill>
                <a:latin typeface="Consolas"/>
              </a:rPr>
              <a:t>);</a:t>
            </a:r>
            <a:endParaRPr lang="en-US" sz="2400"/>
          </a:p>
        </p:txBody>
      </p:sp>
      <p:sp>
        <p:nvSpPr>
          <p:cNvPr id="4" name="Text Box 3"/>
          <p:cNvSpPr txBox="1"/>
          <p:nvPr/>
        </p:nvSpPr>
        <p:spPr>
          <a:xfrm>
            <a:off x="494665" y="799147"/>
            <a:ext cx="5080000" cy="829945"/>
          </a:xfrm>
          <a:prstGeom prst="rect">
            <a:avLst/>
          </a:prstGeom>
          <a:noFill/>
          <a:ln w="9525">
            <a:noFill/>
          </a:ln>
        </p:spPr>
        <p:txBody>
          <a:bodyPr>
            <a:spAutoFit/>
          </a:bodyPr>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2" name="Text Box 1"/>
          <p:cNvSpPr txBox="1"/>
          <p:nvPr/>
        </p:nvSpPr>
        <p:spPr>
          <a:xfrm>
            <a:off x="494665" y="3183890"/>
            <a:ext cx="11203305" cy="2529840"/>
          </a:xfrm>
          <a:prstGeom prst="rect">
            <a:avLst/>
          </a:prstGeom>
          <a:noFill/>
          <a:ln w="9525">
            <a:noFill/>
          </a:ln>
        </p:spPr>
        <p:txBody>
          <a:bodyPr wrap="square">
            <a:spAutoFit/>
          </a:bodyPr>
          <a:p>
            <a:pPr marL="0" indent="0" algn="just"/>
            <a:r>
              <a:rPr lang="ru-RU" altLang="en-US" sz="2400" b="0">
                <a:solidFill>
                  <a:srgbClr val="000000"/>
                </a:solidFill>
                <a:latin typeface="Times New Roman" panose="02020603050405020304"/>
              </a:rPr>
              <a:t>	</a:t>
            </a:r>
            <a:r>
              <a:rPr lang="en-US" sz="2400" b="0">
                <a:solidFill>
                  <a:srgbClr val="000000"/>
                </a:solidFill>
                <a:latin typeface="Times New Roman" panose="02020603050405020304"/>
              </a:rPr>
              <a:t>Запустите самостоятельно скрипт и попробуйте изменить </a:t>
            </a:r>
            <a:r>
              <a:rPr lang="en-US" sz="2400" b="0">
                <a:solidFill>
                  <a:srgbClr val="098658"/>
                </a:solidFill>
                <a:latin typeface="Consolas"/>
              </a:rPr>
              <a:t>5000</a:t>
            </a:r>
            <a:r>
              <a:rPr lang="en-US" sz="2400" b="0">
                <a:solidFill>
                  <a:schemeClr val="tx1"/>
                </a:solidFill>
                <a:latin typeface="Consolas"/>
              </a:rPr>
              <a:t> – </a:t>
            </a:r>
            <a:r>
              <a:rPr lang="en-US" sz="2400" b="0">
                <a:solidFill>
                  <a:srgbClr val="000000"/>
                </a:solidFill>
                <a:latin typeface="Times New Roman" panose="02020603050405020304"/>
              </a:rPr>
              <a:t>количество миллисекунд</a:t>
            </a:r>
            <a:r>
              <a:rPr lang="en-US" sz="2400" b="0">
                <a:solidFill>
                  <a:srgbClr val="000000"/>
                </a:solidFill>
                <a:latin typeface="Consolas"/>
              </a:rPr>
              <a:t> </a:t>
            </a:r>
            <a:r>
              <a:rPr lang="en-US" sz="2400" b="0">
                <a:solidFill>
                  <a:srgbClr val="000000"/>
                </a:solidFill>
                <a:latin typeface="Times New Roman" panose="02020603050405020304"/>
              </a:rPr>
              <a:t>на друге значение. Поменяйте метод </a:t>
            </a:r>
            <a:r>
              <a:rPr lang="en-US" sz="2400" b="0" i="1">
                <a:solidFill>
                  <a:srgbClr val="000000"/>
                </a:solidFill>
                <a:latin typeface="Times New Roman" panose="02020603050405020304"/>
              </a:rPr>
              <a:t>setTimeout</a:t>
            </a:r>
            <a:r>
              <a:rPr lang="en-US" sz="2400" b="0">
                <a:solidFill>
                  <a:srgbClr val="000000"/>
                </a:solidFill>
                <a:latin typeface="Times New Roman" panose="02020603050405020304"/>
              </a:rPr>
              <a:t> на </a:t>
            </a:r>
            <a:r>
              <a:rPr lang="en-US" sz="2400" b="0" i="1">
                <a:solidFill>
                  <a:srgbClr val="000000"/>
                </a:solidFill>
                <a:latin typeface="Times New Roman" panose="02020603050405020304"/>
              </a:rPr>
              <a:t>setInterval. </a:t>
            </a:r>
            <a:r>
              <a:rPr lang="en-US" sz="2400" b="0">
                <a:solidFill>
                  <a:srgbClr val="000000"/>
                </a:solidFill>
                <a:latin typeface="Times New Roman" panose="02020603050405020304"/>
              </a:rPr>
              <a:t>Сравните полученные результаты.</a:t>
            </a:r>
            <a:endParaRPr lang="en-US" sz="2400" b="0">
              <a:solidFill>
                <a:srgbClr val="000000"/>
              </a:solidFill>
              <a:latin typeface="Times New Roman" panose="02020603050405020304"/>
            </a:endParaRPr>
          </a:p>
          <a:p>
            <a:pPr marL="0" indent="0" algn="just"/>
            <a:endParaRPr lang="en-US" sz="2400" b="0">
              <a:solidFill>
                <a:srgbClr val="000000"/>
              </a:solidFill>
              <a:latin typeface="Times New Roman" panose="02020603050405020304"/>
              <a:cs typeface="Times New Roman" panose="02020603050405020304"/>
            </a:endParaRPr>
          </a:p>
          <a:p>
            <a:pPr marL="0" indent="0" algn="just"/>
            <a:r>
              <a:rPr lang="ru-RU" altLang="zh-CN" sz="3200" b="0">
                <a:solidFill>
                  <a:srgbClr val="000000"/>
                </a:solidFill>
                <a:cs typeface="Times New Roman" panose="02020603050405020304"/>
              </a:rPr>
              <a:t>	自己运行脚本，尝试将 5000（毫秒数）更改为其他值。将 setTimeout 方法更改为 setInterval。比较结果。</a:t>
            </a:r>
            <a:endParaRPr lang="en-US" sz="3200"/>
          </a:p>
        </p:txBody>
      </p:sp>
      <p:sp>
        <p:nvSpPr>
          <p:cNvPr id="3" name="Slide Number Placeholder 2"/>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494665" y="890270"/>
            <a:ext cx="11202670" cy="5077460"/>
          </a:xfrm>
          <a:prstGeom prst="rect">
            <a:avLst/>
          </a:prstGeom>
          <a:noFill/>
          <a:ln w="9525">
            <a:noFill/>
          </a:ln>
        </p:spPr>
        <p:txBody>
          <a:bodyPr wrap="square">
            <a:spAutoFit/>
          </a:bodyPr>
          <a:p>
            <a:pPr marL="0" indent="0" algn="just">
              <a:lnSpc>
                <a:spcPct val="150000"/>
              </a:lnSpc>
            </a:pPr>
            <a:r>
              <a:rPr lang="ru-RU" altLang="en-US" sz="2400" b="0">
                <a:solidFill>
                  <a:srgbClr val="000000"/>
                </a:solidFill>
                <a:latin typeface="Arial Regular" panose="020B0704020202020204" charset="0"/>
                <a:cs typeface="Arial Regular" panose="020B0704020202020204" charset="0"/>
              </a:rPr>
              <a:t>	</a:t>
            </a:r>
            <a:r>
              <a:rPr lang="en-US" sz="2400" b="0">
                <a:solidFill>
                  <a:srgbClr val="000000"/>
                </a:solidFill>
                <a:latin typeface="Times New Roman" panose="02020603050405020304"/>
                <a:cs typeface="Times New Roman" panose="02020603050405020304"/>
              </a:rPr>
              <a:t>Для отмены выполнения действий необходимо вызвать clearInterval/clearTimeout со значением, которое возвращают методы setInterval/setTimeout. Например, если пользователь уже оплатил заказ, и разработчику уже нет необходимости напоминать об этом. Добавим в скрипт условие, что нужно прекратить вывод диалогового окна через 15 секунд.</a:t>
            </a:r>
            <a:endParaRPr lang="en-US" sz="2400" b="0">
              <a:solidFill>
                <a:srgbClr val="000000"/>
              </a:solidFill>
              <a:latin typeface="Times New Roman" panose="02020603050405020304"/>
              <a:cs typeface="Times New Roman" panose="02020603050405020304"/>
            </a:endParaRPr>
          </a:p>
          <a:p>
            <a:pPr marL="0" indent="0" algn="just">
              <a:lnSpc>
                <a:spcPct val="150000"/>
              </a:lnSpc>
            </a:pPr>
            <a:endParaRPr lang="en-US" sz="2400" b="0">
              <a:solidFill>
                <a:srgbClr val="000000"/>
              </a:solidFill>
              <a:latin typeface="Arial Regular" panose="020B0704020202020204" charset="0"/>
              <a:cs typeface="Arial Regular" panose="020B0704020202020204" charset="0"/>
            </a:endParaRPr>
          </a:p>
          <a:p>
            <a:pPr marL="0" indent="0" algn="just">
              <a:lnSpc>
                <a:spcPct val="150000"/>
              </a:lnSpc>
            </a:pPr>
            <a:r>
              <a:rPr lang="zh-CN" sz="2400" b="0">
                <a:solidFill>
                  <a:srgbClr val="000000"/>
                </a:solidFill>
                <a:latin typeface="Arial Regular" panose="020B0704020202020204" charset="0"/>
                <a:cs typeface="Arial Regular" panose="020B0704020202020204" charset="0"/>
              </a:rPr>
              <a:t>要取消操作，必须调用clearinterval/cleartimeout，其值返回</a:t>
            </a:r>
            <a:r>
              <a:rPr lang="en-US" sz="2400" i="1">
                <a:solidFill>
                  <a:srgbClr val="000000"/>
                </a:solidFill>
                <a:latin typeface="Arial Regular" panose="020B0704020202020204" charset="0"/>
                <a:cs typeface="Arial Regular" panose="020B0704020202020204" charset="0"/>
                <a:sym typeface="+mn-ea"/>
              </a:rPr>
              <a:t>setTimeout</a:t>
            </a:r>
            <a:r>
              <a:rPr lang="en-US" sz="2400">
                <a:solidFill>
                  <a:srgbClr val="000000"/>
                </a:solidFill>
                <a:latin typeface="Arial Regular" panose="020B0704020202020204" charset="0"/>
                <a:cs typeface="Arial Regular" panose="020B0704020202020204" charset="0"/>
                <a:sym typeface="+mn-ea"/>
              </a:rPr>
              <a:t> </a:t>
            </a:r>
            <a:r>
              <a:rPr lang="zh-CN" sz="2400" b="0">
                <a:solidFill>
                  <a:srgbClr val="000000"/>
                </a:solidFill>
                <a:latin typeface="Arial Regular" panose="020B0704020202020204" charset="0"/>
                <a:cs typeface="Arial Regular" panose="020B0704020202020204" charset="0"/>
              </a:rPr>
              <a:t>/</a:t>
            </a:r>
            <a:r>
              <a:rPr lang="en-US" sz="2400" i="1">
                <a:solidFill>
                  <a:srgbClr val="000000"/>
                </a:solidFill>
                <a:latin typeface="Arial Regular" panose="020B0704020202020204" charset="0"/>
                <a:cs typeface="Arial Regular" panose="020B0704020202020204" charset="0"/>
                <a:sym typeface="+mn-ea"/>
              </a:rPr>
              <a:t>setTimeout</a:t>
            </a:r>
            <a:r>
              <a:rPr lang="en-US" sz="2400">
                <a:solidFill>
                  <a:srgbClr val="000000"/>
                </a:solidFill>
                <a:latin typeface="Arial Regular" panose="020B0704020202020204" charset="0"/>
                <a:cs typeface="Arial Regular" panose="020B0704020202020204" charset="0"/>
                <a:sym typeface="+mn-ea"/>
              </a:rPr>
              <a:t> </a:t>
            </a:r>
            <a:r>
              <a:rPr lang="zh-CN" sz="2400" b="0">
                <a:solidFill>
                  <a:srgbClr val="000000"/>
                </a:solidFill>
                <a:latin typeface="Arial Regular" panose="020B0704020202020204" charset="0"/>
                <a:cs typeface="Arial Regular" panose="020B0704020202020204" charset="0"/>
              </a:rPr>
              <a:t>方法。例如，如果用户已经支付了订单，并且不再需要提醒开发人员。在脚本中添加一个条件，即必须在15秒内停止显示对话框。</a:t>
            </a:r>
            <a:endParaRPr lang="en-US" sz="2400">
              <a:latin typeface="Arial Regular" panose="020B0704020202020204" charset="0"/>
              <a:cs typeface="Arial Regular" panose="020B0704020202020204" charset="0"/>
            </a:endParaRPr>
          </a:p>
        </p:txBody>
      </p:sp>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793750" y="2829560"/>
            <a:ext cx="9325610" cy="1198880"/>
          </a:xfrm>
          <a:prstGeom prst="rect">
            <a:avLst/>
          </a:prstGeom>
          <a:noFill/>
          <a:ln w="9525">
            <a:noFill/>
          </a:ln>
        </p:spPr>
        <p:txBody>
          <a:bodyPr wrap="square">
            <a:spAutoFit/>
          </a:bodyPr>
          <a:p>
            <a:pPr marL="0" indent="0" algn="just">
              <a:lnSpc>
                <a:spcPct val="150000"/>
              </a:lnSpc>
            </a:pPr>
            <a:r>
              <a:rPr lang="en-US" sz="2400" b="0">
                <a:solidFill>
                  <a:srgbClr val="0000FF"/>
                </a:solidFill>
                <a:latin typeface="Consolas"/>
              </a:rPr>
              <a:t>const</a:t>
            </a:r>
            <a:r>
              <a:rPr lang="en-US" sz="2400" b="0">
                <a:solidFill>
                  <a:srgbClr val="000000"/>
                </a:solidFill>
                <a:latin typeface="Consolas"/>
              </a:rPr>
              <a:t> </a:t>
            </a:r>
            <a:r>
              <a:rPr lang="en-US" sz="2400" b="0">
                <a:solidFill>
                  <a:srgbClr val="0070C1"/>
                </a:solidFill>
                <a:latin typeface="Consolas"/>
              </a:rPr>
              <a:t>interval</a:t>
            </a:r>
            <a:r>
              <a:rPr lang="en-US" sz="2400" b="0">
                <a:solidFill>
                  <a:srgbClr val="000000"/>
                </a:solidFill>
                <a:latin typeface="Consolas"/>
              </a:rPr>
              <a:t> = </a:t>
            </a:r>
            <a:r>
              <a:rPr lang="en-US" sz="2400" b="0">
                <a:solidFill>
                  <a:srgbClr val="795E26"/>
                </a:solidFill>
                <a:latin typeface="Consolas"/>
              </a:rPr>
              <a:t>setInterval</a:t>
            </a:r>
            <a:r>
              <a:rPr lang="en-US" sz="2400" b="0">
                <a:solidFill>
                  <a:srgbClr val="000000"/>
                </a:solidFill>
                <a:latin typeface="Consolas"/>
              </a:rPr>
              <a:t>(() </a:t>
            </a:r>
            <a:r>
              <a:rPr lang="en-US" sz="2400" b="0">
                <a:solidFill>
                  <a:srgbClr val="0000FF"/>
                </a:solidFill>
                <a:latin typeface="Consolas"/>
              </a:rPr>
              <a:t>=&gt;</a:t>
            </a:r>
            <a:r>
              <a:rPr lang="en-US" sz="2400" b="0">
                <a:solidFill>
                  <a:srgbClr val="000000"/>
                </a:solidFill>
                <a:latin typeface="Consolas"/>
              </a:rPr>
              <a:t> </a:t>
            </a:r>
            <a:r>
              <a:rPr lang="en-US" sz="2400" b="0">
                <a:solidFill>
                  <a:srgbClr val="795E26"/>
                </a:solidFill>
                <a:latin typeface="Consolas"/>
              </a:rPr>
              <a:t>alert</a:t>
            </a:r>
            <a:r>
              <a:rPr lang="en-US" sz="2400" b="0">
                <a:solidFill>
                  <a:srgbClr val="000000"/>
                </a:solidFill>
                <a:latin typeface="Consolas"/>
              </a:rPr>
              <a:t>(</a:t>
            </a:r>
            <a:r>
              <a:rPr lang="en-US" sz="2400" b="0">
                <a:solidFill>
                  <a:srgbClr val="A31515"/>
                </a:solidFill>
                <a:latin typeface="Consolas"/>
              </a:rPr>
              <a:t>'Hello!'</a:t>
            </a:r>
            <a:r>
              <a:rPr lang="en-US" sz="2400" b="0">
                <a:solidFill>
                  <a:srgbClr val="000000"/>
                </a:solidFill>
                <a:latin typeface="Consolas"/>
              </a:rPr>
              <a:t>), </a:t>
            </a:r>
            <a:r>
              <a:rPr lang="en-US" sz="2400" b="0">
                <a:solidFill>
                  <a:srgbClr val="098658"/>
                </a:solidFill>
                <a:latin typeface="Consolas"/>
              </a:rPr>
              <a:t>5000</a:t>
            </a:r>
            <a:r>
              <a:rPr lang="en-US" sz="2400" b="0">
                <a:solidFill>
                  <a:srgbClr val="000000"/>
                </a:solidFill>
                <a:latin typeface="Consolas"/>
              </a:rPr>
              <a:t>);</a:t>
            </a:r>
            <a:r>
              <a:rPr lang="en-US" sz="2400" b="0">
                <a:solidFill>
                  <a:srgbClr val="795E26"/>
                </a:solidFill>
                <a:latin typeface="Consolas"/>
              </a:rPr>
              <a:t>setTimeout</a:t>
            </a:r>
            <a:r>
              <a:rPr lang="en-US" sz="2400" b="0">
                <a:solidFill>
                  <a:srgbClr val="000000"/>
                </a:solidFill>
                <a:latin typeface="Consolas"/>
              </a:rPr>
              <a:t>(() </a:t>
            </a:r>
            <a:r>
              <a:rPr lang="en-US" sz="2400" b="0">
                <a:solidFill>
                  <a:srgbClr val="0000FF"/>
                </a:solidFill>
                <a:latin typeface="Consolas"/>
              </a:rPr>
              <a:t>=&gt;</a:t>
            </a:r>
            <a:r>
              <a:rPr lang="en-US" sz="2400" b="0">
                <a:solidFill>
                  <a:srgbClr val="000000"/>
                </a:solidFill>
                <a:latin typeface="Consolas"/>
              </a:rPr>
              <a:t> </a:t>
            </a:r>
            <a:r>
              <a:rPr lang="en-US" sz="2400" b="0">
                <a:solidFill>
                  <a:srgbClr val="795E26"/>
                </a:solidFill>
                <a:latin typeface="Consolas"/>
              </a:rPr>
              <a:t>clearInterval</a:t>
            </a:r>
            <a:r>
              <a:rPr lang="en-US" sz="2400" b="0">
                <a:solidFill>
                  <a:srgbClr val="000000"/>
                </a:solidFill>
                <a:latin typeface="Consolas"/>
              </a:rPr>
              <a:t>(</a:t>
            </a:r>
            <a:r>
              <a:rPr lang="en-US" sz="2400" b="0">
                <a:solidFill>
                  <a:srgbClr val="0070C1"/>
                </a:solidFill>
                <a:latin typeface="Consolas"/>
              </a:rPr>
              <a:t>interval</a:t>
            </a:r>
            <a:r>
              <a:rPr lang="en-US" sz="2400" b="0">
                <a:solidFill>
                  <a:srgbClr val="000000"/>
                </a:solidFill>
                <a:latin typeface="Consolas"/>
              </a:rPr>
              <a:t>), </a:t>
            </a:r>
            <a:r>
              <a:rPr lang="en-US" sz="2400" b="0">
                <a:solidFill>
                  <a:srgbClr val="098658"/>
                </a:solidFill>
                <a:latin typeface="Consolas"/>
              </a:rPr>
              <a:t>15000</a:t>
            </a:r>
            <a:r>
              <a:rPr lang="en-US" sz="2400" b="0">
                <a:solidFill>
                  <a:srgbClr val="000000"/>
                </a:solidFill>
                <a:latin typeface="Consolas"/>
              </a:rPr>
              <a:t>);</a:t>
            </a:r>
            <a:endParaRPr lang="en-US" sz="2400"/>
          </a:p>
        </p:txBody>
      </p:sp>
      <p:sp>
        <p:nvSpPr>
          <p:cNvPr id="4" name="Text Box 3"/>
          <p:cNvSpPr txBox="1"/>
          <p:nvPr/>
        </p:nvSpPr>
        <p:spPr>
          <a:xfrm>
            <a:off x="793750" y="1707832"/>
            <a:ext cx="5080000" cy="829945"/>
          </a:xfrm>
          <a:prstGeom prst="rect">
            <a:avLst/>
          </a:prstGeom>
          <a:noFill/>
          <a:ln w="9525">
            <a:noFill/>
          </a:ln>
        </p:spPr>
        <p:txBody>
          <a:bodyPr>
            <a:spAutoFit/>
          </a:bodyPr>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494665" y="659765"/>
            <a:ext cx="11202670" cy="4663440"/>
          </a:xfrm>
          <a:prstGeom prst="rect">
            <a:avLst/>
          </a:prstGeom>
          <a:noFill/>
          <a:ln w="9525">
            <a:noFill/>
          </a:ln>
        </p:spPr>
        <p:txBody>
          <a:bodyPr wrap="square">
            <a:spAutoFit/>
          </a:bodyPr>
          <a:p>
            <a:pPr marL="0" indent="0" algn="just">
              <a:lnSpc>
                <a:spcPct val="150000"/>
              </a:lnSpc>
            </a:pPr>
            <a:r>
              <a:rPr lang="ru-RU" altLang="en-US" sz="2400" b="0">
                <a:solidFill>
                  <a:srgbClr val="000000"/>
                </a:solidFill>
                <a:latin typeface="Times New Roman" panose="02020603050405020304"/>
              </a:rPr>
              <a:t>	</a:t>
            </a:r>
            <a:r>
              <a:rPr lang="en-US" sz="2400" b="0">
                <a:solidFill>
                  <a:srgbClr val="000000"/>
                </a:solidFill>
                <a:latin typeface="Times New Roman" panose="02020603050405020304"/>
              </a:rPr>
              <a:t>Обратим внимание, что все методы планирования не гарантируют точную задержку. Например, таймер в браузере может замедляться по многим причинам</a:t>
            </a:r>
            <a:r>
              <a:rPr lang="ru-RU" altLang="en-US" sz="2400" b="0">
                <a:solidFill>
                  <a:srgbClr val="000000"/>
                </a:solidFill>
                <a:latin typeface="Times New Roman" panose="02020603050405020304"/>
              </a:rPr>
              <a:t>.</a:t>
            </a:r>
            <a:endParaRPr lang="en-US" sz="2400" b="0">
              <a:solidFill>
                <a:srgbClr val="000000"/>
              </a:solidFill>
              <a:latin typeface="Times New Roman" panose="02020603050405020304"/>
            </a:endParaRPr>
          </a:p>
          <a:p>
            <a:pPr marL="0" indent="0" algn="just">
              <a:lnSpc>
                <a:spcPct val="150000"/>
              </a:lnSpc>
            </a:pPr>
            <a:endParaRPr lang="zh-CN" sz="2400" b="0">
              <a:solidFill>
                <a:srgbClr val="000000"/>
              </a:solidFill>
              <a:cs typeface="Times New Roman" panose="02020603050405020304"/>
            </a:endParaRPr>
          </a:p>
          <a:p>
            <a:pPr marL="0" indent="0" algn="just">
              <a:lnSpc>
                <a:spcPct val="150000"/>
              </a:lnSpc>
            </a:pPr>
            <a:r>
              <a:rPr lang="en-US" altLang="zh-CN" sz="2400" b="0">
                <a:solidFill>
                  <a:srgbClr val="000000"/>
                </a:solidFill>
                <a:cs typeface="Times New Roman" panose="02020603050405020304"/>
              </a:rPr>
              <a:t>请注意，所有定时方法都无法保证精确的延迟时间。例如，浏览器计时器可能会因多种原因而变慢。</a:t>
            </a:r>
            <a:endParaRPr lang="en-US" altLang="zh-CN" sz="2400" b="0">
              <a:solidFill>
                <a:srgbClr val="000000"/>
              </a:solidFill>
              <a:cs typeface="Times New Roman" panose="02020603050405020304"/>
            </a:endParaRPr>
          </a:p>
          <a:p>
            <a:pPr marL="0" indent="0" algn="just">
              <a:lnSpc>
                <a:spcPct val="150000"/>
              </a:lnSpc>
            </a:pPr>
            <a:r>
              <a:rPr lang="en-US" altLang="zh-CN" sz="2400" b="0">
                <a:solidFill>
                  <a:srgbClr val="000000"/>
                </a:solidFill>
                <a:cs typeface="Times New Roman" panose="02020603050405020304"/>
              </a:rPr>
              <a:t>●Перегружен процессор.●</a:t>
            </a:r>
            <a:r>
              <a:rPr lang="en-US" altLang="zh-CN" sz="2800" b="0">
                <a:solidFill>
                  <a:srgbClr val="000000"/>
                </a:solidFill>
                <a:cs typeface="Times New Roman" panose="02020603050405020304"/>
              </a:rPr>
              <a:t>处理器</a:t>
            </a:r>
            <a:r>
              <a:rPr lang="zh-CN" altLang="en-US" sz="2800" b="0">
                <a:solidFill>
                  <a:srgbClr val="000000"/>
                </a:solidFill>
                <a:cs typeface="Times New Roman" panose="02020603050405020304"/>
              </a:rPr>
              <a:t>过</a:t>
            </a:r>
            <a:r>
              <a:rPr lang="en-US" altLang="zh-CN" sz="2800" b="0">
                <a:solidFill>
                  <a:srgbClr val="000000"/>
                </a:solidFill>
                <a:cs typeface="Times New Roman" panose="02020603050405020304"/>
              </a:rPr>
              <a:t>载。</a:t>
            </a:r>
            <a:endParaRPr lang="en-US" altLang="zh-CN" sz="2400" b="0">
              <a:solidFill>
                <a:srgbClr val="000000"/>
              </a:solidFill>
              <a:cs typeface="Times New Roman" panose="02020603050405020304"/>
            </a:endParaRPr>
          </a:p>
          <a:p>
            <a:pPr marL="0" indent="0" algn="just">
              <a:lnSpc>
                <a:spcPct val="150000"/>
              </a:lnSpc>
            </a:pPr>
            <a:r>
              <a:rPr lang="en-US" altLang="zh-CN" sz="2400" b="0">
                <a:solidFill>
                  <a:srgbClr val="000000"/>
                </a:solidFill>
                <a:cs typeface="Times New Roman" panose="02020603050405020304"/>
              </a:rPr>
              <a:t>●Вкладка браузера в фоновом режиме.●背景中的浏览器标签页。</a:t>
            </a:r>
            <a:endParaRPr lang="en-US" altLang="zh-CN" sz="2400" b="0">
              <a:solidFill>
                <a:srgbClr val="000000"/>
              </a:solidFill>
              <a:cs typeface="Times New Roman" panose="02020603050405020304"/>
            </a:endParaRPr>
          </a:p>
          <a:p>
            <a:pPr marL="0" indent="0" algn="just">
              <a:lnSpc>
                <a:spcPct val="150000"/>
              </a:lnSpc>
            </a:pPr>
            <a:r>
              <a:rPr lang="en-US" altLang="zh-CN" sz="2400" b="0">
                <a:solidFill>
                  <a:srgbClr val="000000"/>
                </a:solidFill>
                <a:cs typeface="Times New Roman" panose="02020603050405020304"/>
              </a:rPr>
              <a:t>●Работа ноутбука от аккумулятора.●</a:t>
            </a:r>
            <a:r>
              <a:rPr lang="en-US" altLang="zh-CN" sz="2800" b="0">
                <a:solidFill>
                  <a:srgbClr val="000000"/>
                </a:solidFill>
                <a:cs typeface="Times New Roman" panose="02020603050405020304"/>
              </a:rPr>
              <a:t>使用电池操作笔记本电脑</a:t>
            </a:r>
            <a:r>
              <a:rPr lang="en-US" altLang="zh-CN" sz="2400" b="0">
                <a:solidFill>
                  <a:srgbClr val="000000"/>
                </a:solidFill>
                <a:cs typeface="Times New Roman" panose="02020603050405020304"/>
              </a:rPr>
              <a:t>。</a:t>
            </a:r>
            <a:endParaRPr lang="en-US" altLang="zh-CN" sz="2400" b="0">
              <a:solidFill>
                <a:srgbClr val="000000"/>
              </a:solidFill>
              <a:cs typeface="Times New Roman" panose="02020603050405020304"/>
            </a:endParaRPr>
          </a:p>
        </p:txBody>
      </p:sp>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637540" y="1539240"/>
            <a:ext cx="10916920" cy="3657600"/>
          </a:xfrm>
          <a:prstGeom prst="rect">
            <a:avLst/>
          </a:prstGeom>
          <a:noFill/>
          <a:ln w="9525">
            <a:noFill/>
          </a:ln>
        </p:spPr>
        <p:txBody>
          <a:bodyPr wrap="square">
            <a:spAutoFit/>
          </a:bodyPr>
          <a:p>
            <a:pPr marL="0" indent="449580" algn="just">
              <a:lnSpc>
                <a:spcPct val="150000"/>
              </a:lnSpc>
            </a:pPr>
            <a:r>
              <a:rPr lang="en-US" sz="2400" b="0">
                <a:solidFill>
                  <a:srgbClr val="000000"/>
                </a:solidFill>
                <a:latin typeface="Times New Roman" panose="02020603050405020304"/>
              </a:rPr>
              <a:t>Всё это может увеличивать минимальный интервал срабатывания таймера (и минимальную задержку) до 300 или даже 1000 мс в зависимости от браузера и настроек производительности ОС.</a:t>
            </a:r>
            <a:endParaRPr lang="en-US" sz="2400" b="0">
              <a:solidFill>
                <a:srgbClr val="000000"/>
              </a:solidFill>
              <a:latin typeface="Times New Roman" panose="02020603050405020304"/>
            </a:endParaRPr>
          </a:p>
          <a:p>
            <a:pPr marL="0" indent="449580" algn="just">
              <a:lnSpc>
                <a:spcPct val="150000"/>
              </a:lnSpc>
            </a:pPr>
            <a:endParaRPr lang="en-US" sz="2800" b="0">
              <a:solidFill>
                <a:srgbClr val="000000"/>
              </a:solidFill>
              <a:latin typeface="Times New Roman" panose="02020603050405020304"/>
              <a:cs typeface="Times New Roman" panose="02020603050405020304"/>
            </a:endParaRPr>
          </a:p>
          <a:p>
            <a:pPr marL="0" indent="449580" algn="just">
              <a:lnSpc>
                <a:spcPct val="150000"/>
              </a:lnSpc>
            </a:pPr>
            <a:r>
              <a:rPr lang="en-US" sz="2800"/>
              <a:t>所有这些都可能将最小计时器间隔（和最小延迟）增加到 300 毫秒甚至 1000 毫秒，具体取决于浏览器和操作系统的性能设置。</a:t>
            </a:r>
            <a:endParaRPr lang="en-US" sz="2800"/>
          </a:p>
        </p:txBody>
      </p:sp>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460375" y="1413510"/>
            <a:ext cx="11271250" cy="3992880"/>
          </a:xfrm>
          <a:prstGeom prst="rect">
            <a:avLst/>
          </a:prstGeom>
          <a:noFill/>
          <a:ln w="9525">
            <a:noFill/>
          </a:ln>
        </p:spPr>
        <p:txBody>
          <a:bodyPr wrap="square">
            <a:spAutoFit/>
          </a:bodyPr>
          <a:p>
            <a:pPr marL="0" indent="0" algn="just"/>
            <a:r>
              <a:rPr lang="ru-RU" altLang="en-US" sz="2400" b="0">
                <a:latin typeface="Times New Roman" panose="02020603050405020304"/>
              </a:rPr>
              <a:t>	</a:t>
            </a:r>
            <a:r>
              <a:rPr lang="en-US" sz="2400" b="0">
                <a:latin typeface="Times New Roman" panose="02020603050405020304"/>
              </a:rPr>
              <a:t>Давайте подведем итоги занятия, написав скрипт в котором используется весь изученный материал. Вспомните свое любимое место в городе (или самое популярное место в городе) и опишите его несколькими словами. Цель скрипта: Выводить текст на страницу с заданным интервалом. Например сначала появляется название места, затем картинка, затем краткое описание. Пример рализации:</a:t>
            </a:r>
            <a:endParaRPr lang="en-US" sz="2400" b="0">
              <a:latin typeface="Times New Roman" panose="02020603050405020304"/>
            </a:endParaRPr>
          </a:p>
          <a:p>
            <a:pPr marL="0" indent="0" algn="just"/>
            <a:endParaRPr lang="en-US" sz="2400" b="0">
              <a:latin typeface="Times New Roman" panose="02020603050405020304"/>
              <a:cs typeface="Times New Roman" panose="02020603050405020304"/>
            </a:endParaRPr>
          </a:p>
          <a:p>
            <a:pPr marL="0" indent="0" algn="just"/>
            <a:r>
              <a:rPr lang="en-US" sz="2800"/>
              <a:t>让我们通过编写一个脚本来总结本课内容，该脚本将运用到所有已学知识点。想想你最喜欢的地方（或者最热门的地方），并用几句话描述一下。脚本的目的：按照指定的时间间隔在页面上显示文本。例如，先显示地点名称，然后是图片，最后是简短的描述。示例实现：</a:t>
            </a:r>
            <a:endParaRPr lang="en-US" sz="2800"/>
          </a:p>
        </p:txBody>
      </p:sp>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466725" y="1721485"/>
            <a:ext cx="8957310" cy="3415030"/>
          </a:xfrm>
          <a:prstGeom prst="rect">
            <a:avLst/>
          </a:prstGeom>
          <a:noFill/>
          <a:ln w="9525">
            <a:noFill/>
          </a:ln>
        </p:spPr>
        <p:txBody>
          <a:bodyPr wrap="square">
            <a:spAutoFit/>
          </a:bodyPr>
          <a:p>
            <a:pPr marL="0" indent="0"/>
            <a:r>
              <a:rPr lang="en-US" sz="2400">
                <a:solidFill>
                  <a:srgbClr val="800000"/>
                </a:solidFill>
                <a:latin typeface="Courier New" panose="02070609020205020404" charset="0"/>
                <a:cs typeface="Courier New" panose="02070609020205020404" charset="0"/>
              </a:rPr>
              <a:t>&lt;!DOCTYPE</a:t>
            </a:r>
            <a:r>
              <a:rPr lang="en-US" sz="2400">
                <a:solidFill>
                  <a:srgbClr val="3B3B3B"/>
                </a:solidFill>
                <a:latin typeface="Courier New" panose="02070609020205020404" charset="0"/>
                <a:cs typeface="Courier New" panose="02070609020205020404" charset="0"/>
              </a:rPr>
              <a:t> </a:t>
            </a:r>
            <a:r>
              <a:rPr lang="en-US" sz="2400">
                <a:solidFill>
                  <a:srgbClr val="E50000"/>
                </a:solidFill>
                <a:latin typeface="Courier New" panose="02070609020205020404" charset="0"/>
                <a:cs typeface="Courier New" panose="02070609020205020404" charset="0"/>
              </a:rPr>
              <a:t>HTML</a:t>
            </a:r>
            <a:r>
              <a:rPr lang="en-US" sz="2400">
                <a:solidFill>
                  <a:srgbClr val="800000"/>
                </a:solidFill>
                <a:latin typeface="Courier New" panose="02070609020205020404" charset="0"/>
                <a:cs typeface="Courier New" panose="02070609020205020404" charset="0"/>
              </a:rPr>
              <a:t>&gt;&lt;html&gt;&lt;head&gt;    &lt;title&gt;</a:t>
            </a:r>
            <a:r>
              <a:rPr lang="en-US" sz="2400">
                <a:solidFill>
                  <a:srgbClr val="3B3B3B"/>
                </a:solidFill>
                <a:latin typeface="Courier New" panose="02070609020205020404" charset="0"/>
                <a:cs typeface="Courier New" panose="02070609020205020404" charset="0"/>
              </a:rPr>
              <a:t>Древне Золотые ворота</a:t>
            </a:r>
            <a:r>
              <a:rPr lang="en-US" sz="2400">
                <a:solidFill>
                  <a:srgbClr val="800000"/>
                </a:solidFill>
                <a:latin typeface="Courier New" panose="02070609020205020404" charset="0"/>
                <a:cs typeface="Courier New" panose="02070609020205020404" charset="0"/>
              </a:rPr>
              <a:t>&lt;/title&gt;&lt;/head&gt;&lt;body&gt;    &lt;script</a:t>
            </a:r>
            <a:r>
              <a:rPr lang="en-US" sz="2400">
                <a:latin typeface="Courier New" panose="02070609020205020404" charset="0"/>
                <a:cs typeface="Courier New" panose="02070609020205020404" charset="0"/>
              </a:rPr>
              <a:t> </a:t>
            </a:r>
            <a:r>
              <a:rPr lang="en-US" sz="2400">
                <a:solidFill>
                  <a:srgbClr val="E50000"/>
                </a:solidFill>
                <a:latin typeface="Courier New" panose="02070609020205020404" charset="0"/>
                <a:cs typeface="Courier New" panose="02070609020205020404" charset="0"/>
              </a:rPr>
              <a:t>src</a:t>
            </a:r>
            <a:r>
              <a:rPr lang="en-US" sz="2400">
                <a:latin typeface="Courier New" panose="02070609020205020404" charset="0"/>
                <a:cs typeface="Courier New" panose="02070609020205020404" charset="0"/>
              </a:rPr>
              <a:t>=</a:t>
            </a:r>
            <a:r>
              <a:rPr lang="en-US" sz="2400">
                <a:solidFill>
                  <a:srgbClr val="0000FF"/>
                </a:solidFill>
                <a:latin typeface="Courier New" panose="02070609020205020404" charset="0"/>
                <a:cs typeface="Courier New" panose="02070609020205020404" charset="0"/>
              </a:rPr>
              <a:t>"script.js"</a:t>
            </a:r>
            <a:r>
              <a:rPr lang="en-US" sz="2400">
                <a:solidFill>
                  <a:srgbClr val="800000"/>
                </a:solidFill>
                <a:latin typeface="Courier New" panose="02070609020205020404" charset="0"/>
                <a:cs typeface="Courier New" panose="02070609020205020404" charset="0"/>
              </a:rPr>
              <a:t>&gt;&lt;/script&gt;&lt;/body&gt;&lt;/html&gt;</a:t>
            </a:r>
            <a:endParaRPr lang="en-US" sz="2400">
              <a:solidFill>
                <a:srgbClr val="800000"/>
              </a:solidFill>
              <a:latin typeface="Courier New" panose="02070609020205020404" charset="0"/>
              <a:cs typeface="Courier New" panose="02070609020205020404" charset="0"/>
            </a:endParaRPr>
          </a:p>
        </p:txBody>
      </p:sp>
      <p:sp>
        <p:nvSpPr>
          <p:cNvPr id="10" name="Text Box 9"/>
          <p:cNvSpPr txBox="1"/>
          <p:nvPr/>
        </p:nvSpPr>
        <p:spPr>
          <a:xfrm>
            <a:off x="629920" y="251777"/>
            <a:ext cx="5080000" cy="829945"/>
          </a:xfrm>
          <a:prstGeom prst="rect">
            <a:avLst/>
          </a:prstGeom>
          <a:noFill/>
          <a:ln w="9525">
            <a:noFill/>
          </a:ln>
        </p:spPr>
        <p:txBody>
          <a:bodyPr>
            <a:spAutoFit/>
          </a:bodyPr>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a:t>
            </a: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HTML</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HTML</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29920" y="251777"/>
            <a:ext cx="5080000" cy="829945"/>
          </a:xfrm>
          <a:prstGeom prst="rect">
            <a:avLst/>
          </a:prstGeom>
          <a:noFill/>
          <a:ln w="9525">
            <a:noFill/>
          </a:ln>
        </p:spPr>
        <p:txBody>
          <a:bodyPr>
            <a:spAutoFit/>
          </a:bodyPr>
          <a:p>
            <a:pPr marR="0" indent="0">
              <a:spcBef>
                <a:spcPts val="0"/>
              </a:spcBef>
              <a:spcAft>
                <a:spcPts val="0"/>
              </a:spcAft>
              <a:buNone/>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Содержание файла JavaScript</a:t>
            </a:r>
            <a:endParaRPr lang="en-US" sz="2400" b="0" i="0"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JavaScript </a:t>
            </a:r>
            <a:r>
              <a:rPr lang="zh-CN" altLang="en-US" sz="24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文件的内容</a:t>
            </a:r>
            <a:endParaRPr lang="en-US" sz="2400"/>
          </a:p>
        </p:txBody>
      </p:sp>
      <p:sp>
        <p:nvSpPr>
          <p:cNvPr id="100" name="Text Box 99"/>
          <p:cNvSpPr txBox="1"/>
          <p:nvPr/>
        </p:nvSpPr>
        <p:spPr>
          <a:xfrm>
            <a:off x="629920" y="1290955"/>
            <a:ext cx="11203305" cy="4276725"/>
          </a:xfrm>
          <a:prstGeom prst="rect">
            <a:avLst/>
          </a:prstGeom>
          <a:noFill/>
          <a:ln w="9525">
            <a:noFill/>
          </a:ln>
        </p:spPr>
        <p:txBody>
          <a:bodyPr wrap="square">
            <a:spAutoFit/>
          </a:bodyPr>
          <a:p>
            <a:pPr marL="0" indent="0"/>
            <a:r>
              <a:rPr lang="en-US" sz="1600">
                <a:solidFill>
                  <a:srgbClr val="795E26"/>
                </a:solidFill>
                <a:latin typeface="Courier New" panose="02070609020205020404" charset="0"/>
                <a:cs typeface="Courier New" panose="02070609020205020404" charset="0"/>
              </a:rPr>
              <a:t>setTimeout</a:t>
            </a:r>
            <a:r>
              <a:rPr lang="en-US" sz="1600">
                <a:solidFill>
                  <a:srgbClr val="3B3B3B"/>
                </a:solidFill>
                <a:latin typeface="Courier New" panose="02070609020205020404" charset="0"/>
                <a:cs typeface="Courier New" panose="02070609020205020404" charset="0"/>
              </a:rPr>
              <a:t>(() </a:t>
            </a:r>
            <a:r>
              <a:rPr lang="en-US" sz="1600">
                <a:solidFill>
                  <a:srgbClr val="0000FF"/>
                </a:solidFill>
                <a:latin typeface="Courier New" panose="02070609020205020404" charset="0"/>
                <a:cs typeface="Courier New" panose="02070609020205020404" charset="0"/>
              </a:rPr>
              <a:t>=&gt;</a:t>
            </a:r>
            <a:r>
              <a:rPr lang="en-US" sz="1600">
                <a:solidFill>
                  <a:srgbClr val="3B3B3B"/>
                </a:solidFill>
                <a:latin typeface="Courier New" panose="02070609020205020404" charset="0"/>
                <a:cs typeface="Courier New" panose="02070609020205020404" charset="0"/>
              </a:rPr>
              <a:t> </a:t>
            </a:r>
            <a:r>
              <a:rPr lang="en-US" sz="1600">
                <a:solidFill>
                  <a:srgbClr val="001080"/>
                </a:solidFill>
                <a:latin typeface="Courier New" panose="02070609020205020404" charset="0"/>
                <a:cs typeface="Courier New" panose="02070609020205020404" charset="0"/>
              </a:rPr>
              <a:t>document</a:t>
            </a:r>
            <a:r>
              <a:rPr lang="en-US" sz="1600">
                <a:solidFill>
                  <a:srgbClr val="3B3B3B"/>
                </a:solidFill>
                <a:latin typeface="Courier New" panose="02070609020205020404" charset="0"/>
                <a:cs typeface="Courier New" panose="02070609020205020404" charset="0"/>
              </a:rPr>
              <a:t>.</a:t>
            </a:r>
            <a:r>
              <a:rPr lang="en-US" sz="1600">
                <a:solidFill>
                  <a:srgbClr val="795E26"/>
                </a:solidFill>
                <a:latin typeface="Courier New" panose="02070609020205020404" charset="0"/>
                <a:cs typeface="Courier New" panose="02070609020205020404" charset="0"/>
              </a:rPr>
              <a:t>write</a:t>
            </a:r>
            <a:r>
              <a:rPr lang="en-US" sz="1600">
                <a:solidFill>
                  <a:srgbClr val="3B3B3B"/>
                </a:solidFill>
                <a:latin typeface="Courier New" panose="02070609020205020404" charset="0"/>
                <a:cs typeface="Courier New" panose="02070609020205020404" charset="0"/>
              </a:rPr>
              <a:t>(</a:t>
            </a:r>
            <a:r>
              <a:rPr lang="en-US" sz="1600">
                <a:solidFill>
                  <a:srgbClr val="A31515"/>
                </a:solidFill>
                <a:latin typeface="Courier New" panose="02070609020205020404" charset="0"/>
                <a:cs typeface="Courier New" panose="02070609020205020404" charset="0"/>
              </a:rPr>
              <a:t>'&lt;h1&gt;Древне Золотые ворота&lt;/h1&gt;'</a:t>
            </a:r>
            <a:r>
              <a:rPr lang="en-US" sz="1600">
                <a:solidFill>
                  <a:srgbClr val="3B3B3B"/>
                </a:solidFill>
                <a:latin typeface="Courier New" panose="02070609020205020404" charset="0"/>
                <a:cs typeface="Courier New" panose="02070609020205020404" charset="0"/>
              </a:rPr>
              <a:t>), </a:t>
            </a:r>
            <a:r>
              <a:rPr lang="en-US" sz="1600">
                <a:solidFill>
                  <a:srgbClr val="098658"/>
                </a:solidFill>
                <a:latin typeface="Courier New" panose="02070609020205020404" charset="0"/>
                <a:cs typeface="Courier New" panose="02070609020205020404" charset="0"/>
              </a:rPr>
              <a:t>1000</a:t>
            </a:r>
            <a:r>
              <a:rPr lang="en-US" sz="1600">
                <a:solidFill>
                  <a:srgbClr val="3B3B3B"/>
                </a:solidFill>
                <a:latin typeface="Courier New" panose="02070609020205020404" charset="0"/>
                <a:cs typeface="Courier New" panose="02070609020205020404" charset="0"/>
              </a:rPr>
              <a:t>); </a:t>
            </a:r>
            <a:r>
              <a:rPr lang="en-US" sz="1600">
                <a:solidFill>
                  <a:srgbClr val="795E26"/>
                </a:solidFill>
                <a:latin typeface="Courier New" panose="02070609020205020404" charset="0"/>
                <a:cs typeface="Courier New" panose="02070609020205020404" charset="0"/>
              </a:rPr>
              <a:t>setTimeout</a:t>
            </a:r>
            <a:r>
              <a:rPr lang="en-US" sz="1600">
                <a:solidFill>
                  <a:srgbClr val="3B3B3B"/>
                </a:solidFill>
                <a:latin typeface="Courier New" panose="02070609020205020404" charset="0"/>
                <a:cs typeface="Courier New" panose="02070609020205020404" charset="0"/>
              </a:rPr>
              <a:t>(() </a:t>
            </a:r>
            <a:r>
              <a:rPr lang="en-US" sz="1600">
                <a:solidFill>
                  <a:srgbClr val="0000FF"/>
                </a:solidFill>
                <a:latin typeface="Courier New" panose="02070609020205020404" charset="0"/>
                <a:cs typeface="Courier New" panose="02070609020205020404" charset="0"/>
              </a:rPr>
              <a:t>=&gt;</a:t>
            </a:r>
            <a:r>
              <a:rPr lang="en-US" sz="1600">
                <a:solidFill>
                  <a:srgbClr val="3B3B3B"/>
                </a:solidFill>
                <a:latin typeface="Courier New" panose="02070609020205020404" charset="0"/>
                <a:cs typeface="Courier New" panose="02070609020205020404" charset="0"/>
              </a:rPr>
              <a:t> </a:t>
            </a:r>
            <a:r>
              <a:rPr lang="en-US" sz="1600">
                <a:solidFill>
                  <a:srgbClr val="001080"/>
                </a:solidFill>
                <a:latin typeface="Courier New" panose="02070609020205020404" charset="0"/>
                <a:cs typeface="Courier New" panose="02070609020205020404" charset="0"/>
              </a:rPr>
              <a:t>document</a:t>
            </a:r>
            <a:r>
              <a:rPr lang="en-US" sz="1600">
                <a:solidFill>
                  <a:srgbClr val="3B3B3B"/>
                </a:solidFill>
                <a:latin typeface="Courier New" panose="02070609020205020404" charset="0"/>
                <a:cs typeface="Courier New" panose="02070609020205020404" charset="0"/>
              </a:rPr>
              <a:t>.</a:t>
            </a:r>
            <a:r>
              <a:rPr lang="en-US" sz="1600">
                <a:solidFill>
                  <a:srgbClr val="795E26"/>
                </a:solidFill>
                <a:latin typeface="Courier New" panose="02070609020205020404" charset="0"/>
                <a:cs typeface="Courier New" panose="02070609020205020404" charset="0"/>
              </a:rPr>
              <a:t>write</a:t>
            </a:r>
            <a:r>
              <a:rPr lang="en-US" sz="1600">
                <a:solidFill>
                  <a:srgbClr val="3B3B3B"/>
                </a:solidFill>
                <a:latin typeface="Courier New" panose="02070609020205020404" charset="0"/>
                <a:cs typeface="Courier New" panose="02070609020205020404" charset="0"/>
              </a:rPr>
              <a:t>(</a:t>
            </a:r>
            <a:r>
              <a:rPr lang="en-US" sz="1600">
                <a:solidFill>
                  <a:srgbClr val="A31515"/>
                </a:solidFill>
                <a:latin typeface="Courier New" panose="02070609020205020404" charset="0"/>
                <a:cs typeface="Courier New" panose="02070609020205020404" charset="0"/>
              </a:rPr>
              <a:t>'&lt;img src="picture.jpg"&gt;'</a:t>
            </a:r>
            <a:r>
              <a:rPr lang="en-US" sz="1600">
                <a:solidFill>
                  <a:srgbClr val="3B3B3B"/>
                </a:solidFill>
                <a:latin typeface="Courier New" panose="02070609020205020404" charset="0"/>
                <a:cs typeface="Courier New" panose="02070609020205020404" charset="0"/>
              </a:rPr>
              <a:t>), </a:t>
            </a:r>
            <a:r>
              <a:rPr lang="en-US" sz="1600">
                <a:solidFill>
                  <a:srgbClr val="098658"/>
                </a:solidFill>
                <a:latin typeface="Courier New" panose="02070609020205020404" charset="0"/>
                <a:cs typeface="Courier New" panose="02070609020205020404" charset="0"/>
              </a:rPr>
              <a:t>2000</a:t>
            </a:r>
            <a:r>
              <a:rPr lang="en-US" sz="1600">
                <a:solidFill>
                  <a:srgbClr val="3B3B3B"/>
                </a:solidFill>
                <a:latin typeface="Courier New" panose="02070609020205020404" charset="0"/>
                <a:cs typeface="Courier New" panose="02070609020205020404" charset="0"/>
              </a:rPr>
              <a:t>); </a:t>
            </a:r>
            <a:r>
              <a:rPr lang="en-US" sz="1600">
                <a:solidFill>
                  <a:srgbClr val="795E26"/>
                </a:solidFill>
                <a:latin typeface="Courier New" panose="02070609020205020404" charset="0"/>
                <a:cs typeface="Courier New" panose="02070609020205020404" charset="0"/>
              </a:rPr>
              <a:t>setTimeout</a:t>
            </a:r>
            <a:r>
              <a:rPr lang="en-US" sz="1600">
                <a:solidFill>
                  <a:srgbClr val="3B3B3B"/>
                </a:solidFill>
                <a:latin typeface="Courier New" panose="02070609020205020404" charset="0"/>
                <a:cs typeface="Courier New" panose="02070609020205020404" charset="0"/>
              </a:rPr>
              <a:t>(() </a:t>
            </a:r>
            <a:r>
              <a:rPr lang="en-US" sz="1600">
                <a:solidFill>
                  <a:srgbClr val="0000FF"/>
                </a:solidFill>
                <a:latin typeface="Courier New" panose="02070609020205020404" charset="0"/>
                <a:cs typeface="Courier New" panose="02070609020205020404" charset="0"/>
              </a:rPr>
              <a:t>=&gt;</a:t>
            </a:r>
            <a:r>
              <a:rPr lang="en-US" sz="1600">
                <a:solidFill>
                  <a:srgbClr val="3B3B3B"/>
                </a:solidFill>
                <a:latin typeface="Courier New" panose="02070609020205020404" charset="0"/>
                <a:cs typeface="Courier New" panose="02070609020205020404" charset="0"/>
              </a:rPr>
              <a:t> </a:t>
            </a:r>
            <a:r>
              <a:rPr lang="en-US" sz="1600">
                <a:solidFill>
                  <a:srgbClr val="001080"/>
                </a:solidFill>
                <a:latin typeface="Courier New" panose="02070609020205020404" charset="0"/>
                <a:cs typeface="Courier New" panose="02070609020205020404" charset="0"/>
              </a:rPr>
              <a:t>document</a:t>
            </a:r>
            <a:r>
              <a:rPr lang="en-US" sz="1600">
                <a:solidFill>
                  <a:srgbClr val="3B3B3B"/>
                </a:solidFill>
                <a:latin typeface="Courier New" panose="02070609020205020404" charset="0"/>
                <a:cs typeface="Courier New" panose="02070609020205020404" charset="0"/>
              </a:rPr>
              <a:t>.</a:t>
            </a:r>
            <a:r>
              <a:rPr lang="en-US" sz="1600">
                <a:solidFill>
                  <a:srgbClr val="795E26"/>
                </a:solidFill>
                <a:latin typeface="Courier New" panose="02070609020205020404" charset="0"/>
                <a:cs typeface="Courier New" panose="02070609020205020404" charset="0"/>
              </a:rPr>
              <a:t>write</a:t>
            </a:r>
            <a:r>
              <a:rPr lang="en-US" sz="1600">
                <a:solidFill>
                  <a:srgbClr val="3B3B3B"/>
                </a:solidFill>
                <a:latin typeface="Courier New" panose="02070609020205020404" charset="0"/>
                <a:cs typeface="Courier New" panose="02070609020205020404" charset="0"/>
              </a:rPr>
              <a:t>(</a:t>
            </a:r>
            <a:r>
              <a:rPr lang="en-US" sz="1600">
                <a:solidFill>
                  <a:srgbClr val="A31515"/>
                </a:solidFill>
                <a:latin typeface="Courier New" panose="02070609020205020404" charset="0"/>
                <a:cs typeface="Courier New" panose="02070609020205020404" charset="0"/>
              </a:rPr>
              <a:t>'&lt;p&gt;Золотые ворота, построенные в 1164 году – один из самых узнаваемых символов не только Владимира, но и всего Золотого кольца.&lt;/p&gt;'</a:t>
            </a:r>
            <a:r>
              <a:rPr lang="en-US" sz="1600">
                <a:solidFill>
                  <a:srgbClr val="3B3B3B"/>
                </a:solidFill>
                <a:latin typeface="Courier New" panose="02070609020205020404" charset="0"/>
                <a:cs typeface="Courier New" panose="02070609020205020404" charset="0"/>
              </a:rPr>
              <a:t>), </a:t>
            </a:r>
            <a:r>
              <a:rPr lang="en-US" sz="1600">
                <a:solidFill>
                  <a:srgbClr val="098658"/>
                </a:solidFill>
                <a:latin typeface="Courier New" panose="02070609020205020404" charset="0"/>
                <a:cs typeface="Courier New" panose="02070609020205020404" charset="0"/>
              </a:rPr>
              <a:t>3000</a:t>
            </a:r>
            <a:r>
              <a:rPr lang="en-US" sz="1600">
                <a:solidFill>
                  <a:srgbClr val="3B3B3B"/>
                </a:solidFill>
                <a:latin typeface="Courier New" panose="02070609020205020404" charset="0"/>
                <a:cs typeface="Courier New" panose="02070609020205020404" charset="0"/>
              </a:rPr>
              <a:t>);</a:t>
            </a:r>
            <a:r>
              <a:rPr lang="en-US" sz="1600">
                <a:solidFill>
                  <a:srgbClr val="795E26"/>
                </a:solidFill>
                <a:latin typeface="Courier New" panose="02070609020205020404" charset="0"/>
                <a:cs typeface="Courier New" panose="02070609020205020404" charset="0"/>
              </a:rPr>
              <a:t>setTimeout</a:t>
            </a:r>
            <a:r>
              <a:rPr lang="en-US" sz="1600">
                <a:solidFill>
                  <a:srgbClr val="3B3B3B"/>
                </a:solidFill>
                <a:latin typeface="Courier New" panose="02070609020205020404" charset="0"/>
                <a:cs typeface="Courier New" panose="02070609020205020404" charset="0"/>
              </a:rPr>
              <a:t>(() </a:t>
            </a:r>
            <a:r>
              <a:rPr lang="en-US" sz="1600">
                <a:solidFill>
                  <a:srgbClr val="0000FF"/>
                </a:solidFill>
                <a:latin typeface="Courier New" panose="02070609020205020404" charset="0"/>
                <a:cs typeface="Courier New" panose="02070609020205020404" charset="0"/>
              </a:rPr>
              <a:t>=&gt;</a:t>
            </a:r>
            <a:r>
              <a:rPr lang="en-US" sz="1600">
                <a:solidFill>
                  <a:srgbClr val="3B3B3B"/>
                </a:solidFill>
                <a:latin typeface="Courier New" panose="02070609020205020404" charset="0"/>
                <a:cs typeface="Courier New" panose="02070609020205020404" charset="0"/>
              </a:rPr>
              <a:t> </a:t>
            </a:r>
            <a:r>
              <a:rPr lang="en-US" sz="1600">
                <a:solidFill>
                  <a:srgbClr val="001080"/>
                </a:solidFill>
                <a:latin typeface="Courier New" panose="02070609020205020404" charset="0"/>
                <a:cs typeface="Courier New" panose="02070609020205020404" charset="0"/>
              </a:rPr>
              <a:t>document</a:t>
            </a:r>
            <a:r>
              <a:rPr lang="en-US" sz="1600">
                <a:solidFill>
                  <a:srgbClr val="3B3B3B"/>
                </a:solidFill>
                <a:latin typeface="Courier New" panose="02070609020205020404" charset="0"/>
                <a:cs typeface="Courier New" panose="02070609020205020404" charset="0"/>
              </a:rPr>
              <a:t>.</a:t>
            </a:r>
            <a:r>
              <a:rPr lang="en-US" sz="1600">
                <a:solidFill>
                  <a:srgbClr val="795E26"/>
                </a:solidFill>
                <a:latin typeface="Courier New" panose="02070609020205020404" charset="0"/>
                <a:cs typeface="Courier New" panose="02070609020205020404" charset="0"/>
              </a:rPr>
              <a:t>write</a:t>
            </a:r>
            <a:r>
              <a:rPr lang="en-US" sz="1600">
                <a:solidFill>
                  <a:srgbClr val="3B3B3B"/>
                </a:solidFill>
                <a:latin typeface="Courier New" panose="02070609020205020404" charset="0"/>
                <a:cs typeface="Courier New" panose="02070609020205020404" charset="0"/>
              </a:rPr>
              <a:t>(</a:t>
            </a:r>
            <a:r>
              <a:rPr lang="en-US" sz="1600">
                <a:solidFill>
                  <a:srgbClr val="A31515"/>
                </a:solidFill>
                <a:latin typeface="Courier New" panose="02070609020205020404" charset="0"/>
                <a:cs typeface="Courier New" panose="02070609020205020404" charset="0"/>
              </a:rPr>
              <a:t>'&lt;p&gt;Они служили для въезда в город и для защиты от врагов. С юга и севера к ним примыкали насыпные валы, образуя единое оборонительное сооружение.&lt;/p&gt;'</a:t>
            </a:r>
            <a:r>
              <a:rPr lang="en-US" sz="1600">
                <a:solidFill>
                  <a:srgbClr val="3B3B3B"/>
                </a:solidFill>
                <a:latin typeface="Courier New" panose="02070609020205020404" charset="0"/>
                <a:cs typeface="Courier New" panose="02070609020205020404" charset="0"/>
              </a:rPr>
              <a:t>), </a:t>
            </a:r>
            <a:r>
              <a:rPr lang="en-US" sz="1600">
                <a:solidFill>
                  <a:srgbClr val="098658"/>
                </a:solidFill>
                <a:latin typeface="Courier New" panose="02070609020205020404" charset="0"/>
                <a:cs typeface="Courier New" panose="02070609020205020404" charset="0"/>
              </a:rPr>
              <a:t>4000</a:t>
            </a:r>
            <a:r>
              <a:rPr lang="en-US" sz="1600">
                <a:solidFill>
                  <a:srgbClr val="3B3B3B"/>
                </a:solidFill>
                <a:latin typeface="Courier New" panose="02070609020205020404" charset="0"/>
                <a:cs typeface="Courier New" panose="02070609020205020404" charset="0"/>
              </a:rPr>
              <a:t>);</a:t>
            </a:r>
            <a:r>
              <a:rPr lang="en-US" sz="1600">
                <a:solidFill>
                  <a:srgbClr val="795E26"/>
                </a:solidFill>
                <a:latin typeface="Courier New" panose="02070609020205020404" charset="0"/>
                <a:cs typeface="Courier New" panose="02070609020205020404" charset="0"/>
              </a:rPr>
              <a:t>setTimeout</a:t>
            </a:r>
            <a:r>
              <a:rPr lang="en-US" sz="1600">
                <a:solidFill>
                  <a:srgbClr val="3B3B3B"/>
                </a:solidFill>
                <a:latin typeface="Courier New" panose="02070609020205020404" charset="0"/>
                <a:cs typeface="Courier New" panose="02070609020205020404" charset="0"/>
              </a:rPr>
              <a:t>(() </a:t>
            </a:r>
            <a:r>
              <a:rPr lang="en-US" sz="1600">
                <a:solidFill>
                  <a:srgbClr val="0000FF"/>
                </a:solidFill>
                <a:latin typeface="Courier New" panose="02070609020205020404" charset="0"/>
                <a:cs typeface="Courier New" panose="02070609020205020404" charset="0"/>
              </a:rPr>
              <a:t>=&gt;</a:t>
            </a:r>
            <a:r>
              <a:rPr lang="en-US" sz="1600">
                <a:solidFill>
                  <a:srgbClr val="3B3B3B"/>
                </a:solidFill>
                <a:latin typeface="Courier New" panose="02070609020205020404" charset="0"/>
                <a:cs typeface="Courier New" panose="02070609020205020404" charset="0"/>
              </a:rPr>
              <a:t> </a:t>
            </a:r>
            <a:r>
              <a:rPr lang="en-US" sz="1600">
                <a:solidFill>
                  <a:srgbClr val="001080"/>
                </a:solidFill>
                <a:latin typeface="Courier New" panose="02070609020205020404" charset="0"/>
                <a:cs typeface="Courier New" panose="02070609020205020404" charset="0"/>
              </a:rPr>
              <a:t>document</a:t>
            </a:r>
            <a:r>
              <a:rPr lang="en-US" sz="1600">
                <a:solidFill>
                  <a:srgbClr val="3B3B3B"/>
                </a:solidFill>
                <a:latin typeface="Courier New" panose="02070609020205020404" charset="0"/>
                <a:cs typeface="Courier New" panose="02070609020205020404" charset="0"/>
              </a:rPr>
              <a:t>.</a:t>
            </a:r>
            <a:r>
              <a:rPr lang="en-US" sz="1600">
                <a:solidFill>
                  <a:srgbClr val="795E26"/>
                </a:solidFill>
                <a:latin typeface="Courier New" panose="02070609020205020404" charset="0"/>
                <a:cs typeface="Courier New" panose="02070609020205020404" charset="0"/>
              </a:rPr>
              <a:t>write</a:t>
            </a:r>
            <a:r>
              <a:rPr lang="en-US" sz="1600">
                <a:solidFill>
                  <a:srgbClr val="3B3B3B"/>
                </a:solidFill>
                <a:latin typeface="Courier New" panose="02070609020205020404" charset="0"/>
                <a:cs typeface="Courier New" panose="02070609020205020404" charset="0"/>
              </a:rPr>
              <a:t>(</a:t>
            </a:r>
            <a:r>
              <a:rPr lang="en-US" sz="1600">
                <a:solidFill>
                  <a:srgbClr val="A31515"/>
                </a:solidFill>
                <a:latin typeface="Courier New" panose="02070609020205020404" charset="0"/>
                <a:cs typeface="Courier New" panose="02070609020205020404" charset="0"/>
              </a:rPr>
              <a:t>'&lt;p&gt;В верхней части Золотых ворот, в стенах бывшей надворной церкви Ризоположения открыт музей, главными экспонатами которого считаются: диорама, изображающая штурм Владимира Батыем в 1238 году; а также коллекция оружия и военного снаряжения XVII-XIX вв.&lt;/p&gt;'</a:t>
            </a:r>
            <a:r>
              <a:rPr lang="en-US" sz="1600">
                <a:solidFill>
                  <a:srgbClr val="3B3B3B"/>
                </a:solidFill>
                <a:latin typeface="Courier New" panose="02070609020205020404" charset="0"/>
                <a:cs typeface="Courier New" panose="02070609020205020404" charset="0"/>
              </a:rPr>
              <a:t>), </a:t>
            </a:r>
            <a:r>
              <a:rPr lang="en-US" sz="1600">
                <a:solidFill>
                  <a:srgbClr val="098658"/>
                </a:solidFill>
                <a:latin typeface="Courier New" panose="02070609020205020404" charset="0"/>
                <a:cs typeface="Courier New" panose="02070609020205020404" charset="0"/>
              </a:rPr>
              <a:t>5000</a:t>
            </a:r>
            <a:r>
              <a:rPr lang="en-US" sz="1600">
                <a:solidFill>
                  <a:srgbClr val="3B3B3B"/>
                </a:solidFill>
                <a:latin typeface="Courier New" panose="02070609020205020404" charset="0"/>
                <a:cs typeface="Courier New" panose="02070609020205020404" charset="0"/>
              </a:rPr>
              <a:t>);</a:t>
            </a:r>
            <a:r>
              <a:rPr lang="en-US" sz="1600">
                <a:solidFill>
                  <a:srgbClr val="795E26"/>
                </a:solidFill>
                <a:latin typeface="Courier New" panose="02070609020205020404" charset="0"/>
                <a:cs typeface="Courier New" panose="02070609020205020404" charset="0"/>
              </a:rPr>
              <a:t>setTimeout</a:t>
            </a:r>
            <a:r>
              <a:rPr lang="en-US" sz="1600">
                <a:solidFill>
                  <a:srgbClr val="3B3B3B"/>
                </a:solidFill>
                <a:latin typeface="Courier New" panose="02070609020205020404" charset="0"/>
                <a:cs typeface="Courier New" panose="02070609020205020404" charset="0"/>
              </a:rPr>
              <a:t>(() </a:t>
            </a:r>
            <a:r>
              <a:rPr lang="en-US" sz="1600">
                <a:solidFill>
                  <a:srgbClr val="0000FF"/>
                </a:solidFill>
                <a:latin typeface="Courier New" panose="02070609020205020404" charset="0"/>
                <a:cs typeface="Courier New" panose="02070609020205020404" charset="0"/>
              </a:rPr>
              <a:t>=&gt;</a:t>
            </a:r>
            <a:r>
              <a:rPr lang="en-US" sz="1600">
                <a:solidFill>
                  <a:srgbClr val="3B3B3B"/>
                </a:solidFill>
                <a:latin typeface="Courier New" panose="02070609020205020404" charset="0"/>
                <a:cs typeface="Courier New" panose="02070609020205020404" charset="0"/>
              </a:rPr>
              <a:t> </a:t>
            </a:r>
            <a:r>
              <a:rPr lang="en-US" sz="1600">
                <a:solidFill>
                  <a:srgbClr val="001080"/>
                </a:solidFill>
                <a:latin typeface="Courier New" panose="02070609020205020404" charset="0"/>
                <a:cs typeface="Courier New" panose="02070609020205020404" charset="0"/>
              </a:rPr>
              <a:t>document</a:t>
            </a:r>
            <a:r>
              <a:rPr lang="en-US" sz="1600">
                <a:solidFill>
                  <a:srgbClr val="3B3B3B"/>
                </a:solidFill>
                <a:latin typeface="Courier New" panose="02070609020205020404" charset="0"/>
                <a:cs typeface="Courier New" panose="02070609020205020404" charset="0"/>
              </a:rPr>
              <a:t>.</a:t>
            </a:r>
            <a:r>
              <a:rPr lang="en-US" sz="1600">
                <a:solidFill>
                  <a:srgbClr val="795E26"/>
                </a:solidFill>
                <a:latin typeface="Courier New" panose="02070609020205020404" charset="0"/>
                <a:cs typeface="Courier New" panose="02070609020205020404" charset="0"/>
              </a:rPr>
              <a:t>write</a:t>
            </a:r>
            <a:r>
              <a:rPr lang="en-US" sz="1600">
                <a:solidFill>
                  <a:srgbClr val="3B3B3B"/>
                </a:solidFill>
                <a:latin typeface="Courier New" panose="02070609020205020404" charset="0"/>
                <a:cs typeface="Courier New" panose="02070609020205020404" charset="0"/>
              </a:rPr>
              <a:t>(</a:t>
            </a:r>
            <a:r>
              <a:rPr lang="en-US" sz="1600">
                <a:solidFill>
                  <a:srgbClr val="A31515"/>
                </a:solidFill>
                <a:latin typeface="Courier New" panose="02070609020205020404" charset="0"/>
                <a:cs typeface="Courier New" panose="02070609020205020404" charset="0"/>
              </a:rPr>
              <a:t>'&lt;p&gt;В 1992 году Золотые ворота стали одним из первых российских памятников, внесенных в список Всемирного наследия ЮНЕСКО.&lt;/p&gt;'</a:t>
            </a:r>
            <a:r>
              <a:rPr lang="en-US" sz="1600">
                <a:solidFill>
                  <a:srgbClr val="3B3B3B"/>
                </a:solidFill>
                <a:latin typeface="Courier New" panose="02070609020205020404" charset="0"/>
                <a:cs typeface="Courier New" panose="02070609020205020404" charset="0"/>
              </a:rPr>
              <a:t>), </a:t>
            </a:r>
            <a:r>
              <a:rPr lang="en-US" sz="1600">
                <a:solidFill>
                  <a:srgbClr val="098658"/>
                </a:solidFill>
                <a:latin typeface="Courier New" panose="02070609020205020404" charset="0"/>
                <a:cs typeface="Courier New" panose="02070609020205020404" charset="0"/>
              </a:rPr>
              <a:t>6000</a:t>
            </a:r>
            <a:r>
              <a:rPr lang="en-US" sz="1600">
                <a:solidFill>
                  <a:srgbClr val="3B3B3B"/>
                </a:solidFill>
                <a:latin typeface="Courier New" panose="02070609020205020404" charset="0"/>
                <a:cs typeface="Courier New" panose="02070609020205020404" charset="0"/>
              </a:rPr>
              <a:t>);</a:t>
            </a:r>
            <a:r>
              <a:rPr lang="en-US" sz="1600">
                <a:solidFill>
                  <a:srgbClr val="795E26"/>
                </a:solidFill>
                <a:latin typeface="Courier New" panose="02070609020205020404" charset="0"/>
                <a:cs typeface="Courier New" panose="02070609020205020404" charset="0"/>
              </a:rPr>
              <a:t>setTimeout</a:t>
            </a:r>
            <a:r>
              <a:rPr lang="en-US" sz="1600">
                <a:solidFill>
                  <a:srgbClr val="3B3B3B"/>
                </a:solidFill>
                <a:latin typeface="Courier New" panose="02070609020205020404" charset="0"/>
                <a:cs typeface="Courier New" panose="02070609020205020404" charset="0"/>
              </a:rPr>
              <a:t>(() </a:t>
            </a:r>
            <a:r>
              <a:rPr lang="en-US" sz="1600">
                <a:solidFill>
                  <a:srgbClr val="0000FF"/>
                </a:solidFill>
                <a:latin typeface="Courier New" panose="02070609020205020404" charset="0"/>
                <a:cs typeface="Courier New" panose="02070609020205020404" charset="0"/>
              </a:rPr>
              <a:t>=&gt;</a:t>
            </a:r>
            <a:r>
              <a:rPr lang="en-US" sz="1600">
                <a:solidFill>
                  <a:srgbClr val="3B3B3B"/>
                </a:solidFill>
                <a:latin typeface="Courier New" panose="02070609020205020404" charset="0"/>
                <a:cs typeface="Courier New" panose="02070609020205020404" charset="0"/>
              </a:rPr>
              <a:t> </a:t>
            </a:r>
            <a:r>
              <a:rPr lang="en-US" sz="1600">
                <a:solidFill>
                  <a:srgbClr val="001080"/>
                </a:solidFill>
                <a:latin typeface="Courier New" panose="02070609020205020404" charset="0"/>
                <a:cs typeface="Courier New" panose="02070609020205020404" charset="0"/>
              </a:rPr>
              <a:t>document</a:t>
            </a:r>
            <a:r>
              <a:rPr lang="en-US" sz="1600">
                <a:solidFill>
                  <a:srgbClr val="3B3B3B"/>
                </a:solidFill>
                <a:latin typeface="Courier New" panose="02070609020205020404" charset="0"/>
                <a:cs typeface="Courier New" panose="02070609020205020404" charset="0"/>
              </a:rPr>
              <a:t>.</a:t>
            </a:r>
            <a:r>
              <a:rPr lang="en-US" sz="1600">
                <a:solidFill>
                  <a:srgbClr val="795E26"/>
                </a:solidFill>
                <a:latin typeface="Courier New" panose="02070609020205020404" charset="0"/>
                <a:cs typeface="Courier New" panose="02070609020205020404" charset="0"/>
              </a:rPr>
              <a:t>write</a:t>
            </a:r>
            <a:r>
              <a:rPr lang="en-US" sz="1600">
                <a:solidFill>
                  <a:srgbClr val="3B3B3B"/>
                </a:solidFill>
                <a:latin typeface="Courier New" panose="02070609020205020404" charset="0"/>
                <a:cs typeface="Courier New" panose="02070609020205020404" charset="0"/>
              </a:rPr>
              <a:t>(</a:t>
            </a:r>
            <a:r>
              <a:rPr lang="en-US" sz="1600">
                <a:solidFill>
                  <a:srgbClr val="A31515"/>
                </a:solidFill>
                <a:latin typeface="Courier New" panose="02070609020205020404" charset="0"/>
                <a:cs typeface="Courier New" panose="02070609020205020404" charset="0"/>
              </a:rPr>
              <a:t>'&lt;p&gt;Адрес: Золотые ворота (Владимир), улица Большая Московская улица, Владимир, Россия.&lt;/p&gt;'</a:t>
            </a:r>
            <a:r>
              <a:rPr lang="en-US" sz="1600">
                <a:solidFill>
                  <a:srgbClr val="3B3B3B"/>
                </a:solidFill>
                <a:latin typeface="Courier New" panose="02070609020205020404" charset="0"/>
                <a:cs typeface="Courier New" panose="02070609020205020404" charset="0"/>
              </a:rPr>
              <a:t>), </a:t>
            </a:r>
            <a:r>
              <a:rPr lang="en-US" sz="1600">
                <a:solidFill>
                  <a:srgbClr val="098658"/>
                </a:solidFill>
                <a:latin typeface="Courier New" panose="02070609020205020404" charset="0"/>
                <a:cs typeface="Courier New" panose="02070609020205020404" charset="0"/>
              </a:rPr>
              <a:t>7000</a:t>
            </a:r>
            <a:r>
              <a:rPr lang="en-US" sz="1600">
                <a:solidFill>
                  <a:srgbClr val="3B3B3B"/>
                </a:solidFill>
                <a:latin typeface="Courier New" panose="02070609020205020404" charset="0"/>
                <a:cs typeface="Courier New" panose="02070609020205020404" charset="0"/>
              </a:rPr>
              <a:t>);</a:t>
            </a:r>
            <a:endParaRPr lang="en-US" sz="1600">
              <a:solidFill>
                <a:srgbClr val="3B3B3B"/>
              </a:solidFill>
              <a:latin typeface="Courier New" panose="02070609020205020404" charset="0"/>
              <a:cs typeface="Courier New" panose="02070609020205020404" charset="0"/>
            </a:endParaRPr>
          </a:p>
        </p:txBody>
      </p:sp>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Запись экрана 2023-11-07 в 15.34.35">
            <a:hlinkClick r:id="" action="ppaction://media"/>
          </p:cNvPr>
          <p:cNvPicPr/>
          <p:nvPr>
            <a:videoFile r:link="rId1"/>
            <p:extLst>
              <p:ext uri="{DAA4B4D4-6D71-4841-9C94-3DE7FCFB9230}">
                <p14:media xmlns:p14="http://schemas.microsoft.com/office/powerpoint/2010/main" r:embed="rId2"/>
              </p:ext>
            </p:extLst>
            <p:custDataLst>
              <p:tags r:id="rId3"/>
            </p:custDataLst>
          </p:nvPr>
        </p:nvPicPr>
        <p:blipFill>
          <a:blip r:embed="rId4"/>
          <a:stretch>
            <a:fillRect/>
          </a:stretch>
        </p:blipFill>
        <p:spPr>
          <a:xfrm>
            <a:off x="1908175" y="1222375"/>
            <a:ext cx="8966835" cy="4818380"/>
          </a:xfrm>
          <a:prstGeom prst="rect">
            <a:avLst/>
          </a:prstGeom>
        </p:spPr>
      </p:pic>
      <p:sp>
        <p:nvSpPr>
          <p:cNvPr id="4" name="Text Box 3"/>
          <p:cNvSpPr txBox="1"/>
          <p:nvPr/>
        </p:nvSpPr>
        <p:spPr>
          <a:xfrm>
            <a:off x="508000" y="287337"/>
            <a:ext cx="5080000" cy="829945"/>
          </a:xfrm>
          <a:prstGeom prst="rect">
            <a:avLst/>
          </a:prstGeom>
          <a:noFill/>
          <a:ln w="9525">
            <a:noFill/>
          </a:ln>
        </p:spPr>
        <p:txBody>
          <a:bodyPr>
            <a:spAutoFit/>
          </a:bodyPr>
          <a:p>
            <a:r>
              <a:rPr lang="ru-RU"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Результат работы программы</a:t>
            </a:r>
            <a:endParaRPr lang="ru-RU"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r>
              <a:rPr lang="ru-RU"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方案产出</a:t>
            </a:r>
            <a:endParaRPr lang="ru-RU"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Slide Number Placeholder 2"/>
          <p:cNvSpPr/>
          <p:nvPr>
            <p:ph type="sldNum" sz="quarter" idx="12"/>
          </p:nvPr>
        </p:nvSpPr>
        <p:spPr/>
        <p:txBody>
          <a:bodyPr/>
          <a:p>
            <a:fld id="{9B618960-8005-486C-9A75-10CB2AAC16F9}" type="slidenum">
              <a:rPr lang="en-US" smtClean="0"/>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115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fullScrn="0">
              <p:cMediaNode>
                <p:cTn id="7" fill="hold" display="1">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additive="base">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Text Box 99"/>
          <p:cNvSpPr txBox="1"/>
          <p:nvPr/>
        </p:nvSpPr>
        <p:spPr>
          <a:xfrm>
            <a:off x="419735" y="890270"/>
            <a:ext cx="11352530" cy="5577840"/>
          </a:xfrm>
          <a:prstGeom prst="rect">
            <a:avLst/>
          </a:prstGeom>
          <a:noFill/>
          <a:ln w="9525">
            <a:noFill/>
          </a:ln>
        </p:spPr>
        <p:txBody>
          <a:bodyPr wrap="square">
            <a:spAutoFit/>
          </a:bodyPr>
          <a:p>
            <a:pPr marL="0" indent="0" algn="just">
              <a:lnSpc>
                <a:spcPct val="150000"/>
              </a:lnSpc>
            </a:pPr>
            <a:r>
              <a:rPr lang="ru-RU" altLang="en-US" sz="2400" b="0">
                <a:solidFill>
                  <a:srgbClr val="000000"/>
                </a:solidFill>
                <a:latin typeface="Times New Roman" panose="02020603050405020304"/>
              </a:rPr>
              <a:t>	</a:t>
            </a:r>
            <a:r>
              <a:rPr lang="en-US" sz="2400" b="0">
                <a:solidFill>
                  <a:srgbClr val="000000"/>
                </a:solidFill>
                <a:latin typeface="Times New Roman" panose="02020603050405020304"/>
              </a:rPr>
              <a:t>Вы познакомились с языком программирования JavaScript, изучили способы подключения файла JavaScript на HTML страницу. Так же вспомнили основы HTML и CSS. Научились вызывать диалоговые окна, создавать кнопки на странице и обрабатывать события нажатия на них, научились добавлять на веб-страницу текст и логировать действия в консоли разработчика. </a:t>
            </a:r>
            <a:endParaRPr lang="en-US" sz="2400" b="0">
              <a:solidFill>
                <a:srgbClr val="000000"/>
              </a:solidFill>
              <a:latin typeface="Times New Roman" panose="02020603050405020304"/>
            </a:endParaRPr>
          </a:p>
          <a:p>
            <a:pPr marL="0" indent="0" algn="just">
              <a:lnSpc>
                <a:spcPct val="150000"/>
              </a:lnSpc>
            </a:pPr>
            <a:endParaRPr lang="en-US" sz="2400" b="0">
              <a:solidFill>
                <a:srgbClr val="000000"/>
              </a:solidFill>
              <a:latin typeface="Times New Roman" panose="02020603050405020304"/>
              <a:cs typeface="Times New Roman" panose="02020603050405020304"/>
            </a:endParaRPr>
          </a:p>
          <a:p>
            <a:pPr marL="0" indent="0" algn="just">
              <a:lnSpc>
                <a:spcPct val="150000"/>
              </a:lnSpc>
            </a:pPr>
            <a:r>
              <a:rPr lang="en-US" sz="2400"/>
              <a:t>您已经熟悉了 JavaScript 编程语言，并学习了如何在 HTML 页面中包含 JavaScript 文件。您还复习了 HTML 和 CSS 的基础知识。您学习了如何打开对话框、在页面上创建按钮以及处理点击事件。您还学习了如何向网页添加文本以及如何在开发者控制台中记录操作。</a:t>
            </a:r>
            <a:endParaRPr lang="en-US" sz="2400"/>
          </a:p>
        </p:txBody>
      </p:sp>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tags/tag1.xml><?xml version="1.0" encoding="utf-8"?>
<p:tagLst xmlns:p="http://schemas.openxmlformats.org/presentationml/2006/main">
  <p:tag name="KSO_WM_MEDIACOVER_FLAG" val="1"/>
  <p:tag name="KSO_WM_UNIT_MEDIACOVER_BTN_STATE"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20913</Words>
  <Application>WPS Presentation</Application>
  <PresentationFormat>Widescreen</PresentationFormat>
  <Paragraphs>744</Paragraphs>
  <Slides>72</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72</vt:i4>
      </vt:variant>
    </vt:vector>
  </HeadingPairs>
  <TitlesOfParts>
    <vt:vector size="89" baseType="lpstr">
      <vt:lpstr>Arial</vt:lpstr>
      <vt:lpstr>SimSun</vt:lpstr>
      <vt:lpstr>Wingdings</vt:lpstr>
      <vt:lpstr>Calibri</vt:lpstr>
      <vt:lpstr>Helvetica Neue</vt:lpstr>
      <vt:lpstr>Times New Roman</vt:lpstr>
      <vt:lpstr>Arial Regular</vt:lpstr>
      <vt:lpstr>Consolas</vt:lpstr>
      <vt:lpstr>Thonburi</vt:lpstr>
      <vt:lpstr>SimSun</vt:lpstr>
      <vt:lpstr>宋体-简</vt:lpstr>
      <vt:lpstr>Microsoft YaHei</vt:lpstr>
      <vt:lpstr>汉仪旗黑</vt:lpstr>
      <vt:lpstr>Arial Unicode MS</vt:lpstr>
      <vt:lpstr>Calibri Light</vt:lpstr>
      <vt:lpstr>Courier New</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valeriakhlyzoa</dc:creator>
  <cp:lastModifiedBy>valeriakhlyzoa</cp:lastModifiedBy>
  <cp:revision>18</cp:revision>
  <dcterms:created xsi:type="dcterms:W3CDTF">2025-12-01T08:39:44Z</dcterms:created>
  <dcterms:modified xsi:type="dcterms:W3CDTF">2025-12-01T08:39:44Z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1033-12.1.23152.23152</vt:lpwstr>
  </property>
  <property fmtid="{D5CDD505-2E9C-101B-9397-08002B2CF9AE}" pid="3" name="ICV">
    <vt:lpwstr>287FF3831A29B38350542D69B5310141_43</vt:lpwstr>
  </property>
</Properties>
</file>