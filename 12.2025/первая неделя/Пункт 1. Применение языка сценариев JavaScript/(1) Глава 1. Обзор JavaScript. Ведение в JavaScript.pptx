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100"/>
  </p:handoutMasterIdLst>
  <p:sldIdLst>
    <p:sldId id="256" r:id="rId3"/>
    <p:sldId id="258" r:id="rId4"/>
    <p:sldId id="369" r:id="rId6"/>
    <p:sldId id="371" r:id="rId7"/>
    <p:sldId id="368" r:id="rId8"/>
    <p:sldId id="259" r:id="rId9"/>
    <p:sldId id="260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3" r:id="rId19"/>
    <p:sldId id="274" r:id="rId20"/>
    <p:sldId id="358" r:id="rId21"/>
    <p:sldId id="359" r:id="rId22"/>
    <p:sldId id="363" r:id="rId23"/>
    <p:sldId id="367" r:id="rId24"/>
    <p:sldId id="360" r:id="rId25"/>
    <p:sldId id="361" r:id="rId26"/>
    <p:sldId id="362" r:id="rId27"/>
    <p:sldId id="365" r:id="rId28"/>
    <p:sldId id="366" r:id="rId29"/>
    <p:sldId id="36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6" r:id="rId41"/>
    <p:sldId id="287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  <p:sldId id="300" r:id="rId54"/>
    <p:sldId id="301" r:id="rId55"/>
    <p:sldId id="302" r:id="rId56"/>
    <p:sldId id="303" r:id="rId57"/>
    <p:sldId id="304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8" r:id="rId78"/>
    <p:sldId id="329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31" r:id="rId94"/>
    <p:sldId id="332" r:id="rId95"/>
    <p:sldId id="333" r:id="rId96"/>
    <p:sldId id="334" r:id="rId97"/>
    <p:sldId id="335" r:id="rId98"/>
    <p:sldId id="336" r:id="rId9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小太阳" initials="小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4" Type="http://schemas.openxmlformats.org/officeDocument/2006/relationships/commentAuthors" Target="commentAuthors.xml"/><Relationship Id="rId103" Type="http://schemas.openxmlformats.org/officeDocument/2006/relationships/tableStyles" Target="tableStyles.xml"/><Relationship Id="rId102" Type="http://schemas.openxmlformats.org/officeDocument/2006/relationships/viewProps" Target="viewProps.xml"/><Relationship Id="rId101" Type="http://schemas.openxmlformats.org/officeDocument/2006/relationships/presProps" Target="presProps.xml"/><Relationship Id="rId100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6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6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6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algn="r">
              <a:buNone/>
            </a:pPr>
            <a:fld id="{1F11ED4C-F9E1-448F-B3B4-51D2D2A85314}" type="slidenum">
              <a:rPr lang="ru-RU" sz="1400" b="0" strike="noStrike" spc="-1" smtClean="0">
                <a:latin typeface="Times New Roman" panose="02020603050405020304"/>
              </a:rPr>
            </a:fld>
            <a:endParaRPr lang="ru-RU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pPr algn="r">
              <a:buNone/>
            </a:pPr>
            <a:fld id="{1F11ED4C-F9E1-448F-B3B4-51D2D2A85314}" type="slidenum">
              <a:rPr lang="ru-RU" sz="1400" b="0" strike="noStrike" spc="-1" smtClean="0">
                <a:latin typeface="Times New Roman" panose="02020603050405020304"/>
              </a:rPr>
            </a:fld>
            <a:endParaRPr lang="ru-RU" sz="14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ln w="0">
            <a:noFill/>
          </a:ln>
        </p:spPr>
      </p:sp>
      <p:sp>
        <p:nvSpPr>
          <p:cNvPr id="625" name="PlaceHolder 2"/>
          <p:cNvSpPr>
            <a:spLocks noGrp="1"/>
          </p:cNvSpPr>
          <p:nvPr>
            <p:ph type="body"/>
          </p:nvPr>
        </p:nvSpPr>
        <p:spPr>
          <a:xfrm>
            <a:off x="914400" y="3257550"/>
            <a:ext cx="7314240" cy="30855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Autofit/>
          </a:bodyPr>
          <a:lstStyle/>
          <a:p>
            <a:pPr marL="215900" indent="-2159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0" b="0" strike="noStrike" spc="-1">
                <a:latin typeface="Arial" panose="020B0704020202020204"/>
              </a:rPr>
              <a:t>Картинку можно заменить при переводе</a:t>
            </a:r>
            <a:endParaRPr lang="ru-RU" sz="1100" b="0" strike="noStrike" spc="-1">
              <a:latin typeface="Arial" panose="020B07040202020202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2368022" y="609600"/>
            <a:ext cx="5343525" cy="3006329"/>
          </a:xfrm>
        </p:spPr>
      </p:sp>
      <p:sp>
        <p:nvSpPr>
          <p:cNvPr id="3" name="Замещающий текст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6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9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0.png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21.png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"/>
          <p:cNvSpPr txBox="1"/>
          <p:nvPr/>
        </p:nvSpPr>
        <p:spPr>
          <a:xfrm>
            <a:off x="260985" y="1649730"/>
            <a:ext cx="11781790" cy="3413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веб-интерфейсного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скрипта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前端脚本开发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Обзор JavaScript</a:t>
            </a:r>
            <a:r>
              <a:rPr lang="ru-RU" altLang="en-US" sz="36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 Введение в JavaScript</a:t>
            </a:r>
            <a:endParaRPr lang="ru-RU" altLang="en-US" sz="3600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chemeClr val="tx1"/>
                </a:solidFill>
                <a:latin typeface="Times New Roman Regular" panose="02020603050405020304" charset="0"/>
                <a:ea typeface="Times New Roman" panose="02020603050405020304"/>
                <a:cs typeface="Times New Roman Regular" panose="02020603050405020304" charset="0"/>
                <a:sym typeface="Times New Roman" panose="02020603050405020304"/>
              </a:rPr>
              <a:t>JavaScript概述。JavaScript入门</a:t>
            </a:r>
            <a:endParaRPr lang="en-US" sz="3600" dirty="0">
              <a:solidFill>
                <a:schemeClr val="tx1"/>
              </a:solidFill>
              <a:latin typeface="Times New Roman Regular" panose="02020603050405020304" charset="0"/>
              <a:ea typeface="Times New Roman" panose="02020603050405020304"/>
              <a:cs typeface="Times New Roman Regular" panose="02020603050405020304" charset="0"/>
              <a:sym typeface="Times New Roman" panose="02020603050405020304"/>
            </a:endParaRPr>
          </a:p>
        </p:txBody>
      </p:sp>
      <p:sp>
        <p:nvSpPr>
          <p:cNvPr id="13" name="Google Shape;88;p1"/>
          <p:cNvSpPr txBox="1"/>
          <p:nvPr/>
        </p:nvSpPr>
        <p:spPr>
          <a:xfrm>
            <a:off x="7418070" y="5497830"/>
            <a:ext cx="462470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/>
              <a:cs typeface="Times New Roman Regular" panose="02020603050405020304" charset="0"/>
            </a:endParaRPr>
          </a:p>
          <a:p>
            <a:pPr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文本框 1"/>
          <p:cNvSpPr txBox="1"/>
          <p:nvPr/>
        </p:nvSpPr>
        <p:spPr>
          <a:xfrm>
            <a:off x="7091680" y="3515360"/>
            <a:ext cx="309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0441305" y="3302000"/>
            <a:ext cx="551815" cy="28752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6" name="Text Box 5"/>
          <p:cNvSpPr txBox="1"/>
          <p:nvPr/>
        </p:nvSpPr>
        <p:spPr>
          <a:xfrm>
            <a:off x="407670" y="2382520"/>
            <a:ext cx="5687695" cy="3107690"/>
          </a:xfrm>
          <a:prstGeom prst="rect">
            <a:avLst/>
          </a:prstGeom>
        </p:spPr>
        <p:txBody>
          <a:bodyPr wrap="square">
            <a:spAutoFit/>
          </a:bodyPr>
          <a:p>
            <a:pPr indent="457200"/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Курс «Разработка веб-интерфейсного скрипта» направлен на обучение созданию динамичных, интерактивных интерфейсов с помощью JavaScript и связанных технологий фронтенда</a:t>
            </a:r>
            <a:r>
              <a:rPr lang="ru-RU" sz="2800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ru-RU" sz="2800">
                <a:latin typeface="Times New Roman" panose="02020603050405020304" charset="0"/>
                <a:cs typeface="Times New Roman" panose="02020603050405020304" charset="0"/>
              </a:rPr>
              <a:t>HTML + CSS</a:t>
            </a:r>
            <a:r>
              <a:rPr lang="ru-RU" sz="2800">
                <a:latin typeface="Times New Roman" panose="02020603050405020304" charset="0"/>
                <a:cs typeface="Times New Roman" panose="02020603050405020304" charset="0"/>
              </a:rPr>
              <a:t>)</a:t>
            </a:r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/>
              <a:cs typeface="Times New Roman Regular" panose="02020603050405020304" charset="0"/>
            </a:endParaRPr>
          </a:p>
          <a:p>
            <a:pPr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文本框 1"/>
          <p:cNvSpPr txBox="1"/>
          <p:nvPr/>
        </p:nvSpPr>
        <p:spPr>
          <a:xfrm>
            <a:off x="7091680" y="3515360"/>
            <a:ext cx="309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0441305" y="3302000"/>
            <a:ext cx="551815" cy="28752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4" name="Text Box 3"/>
          <p:cNvSpPr txBox="1"/>
          <p:nvPr/>
        </p:nvSpPr>
        <p:spPr>
          <a:xfrm>
            <a:off x="380365" y="2084705"/>
            <a:ext cx="6588125" cy="48926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По окончании обучения студенты: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смогут уверенно ориентироваться в JavaScript и jQuery;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научатся работать с DOM и управлять элементами веб-страницы;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овладеют основами объектного программирования в JavaScript;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смогут применять встроенные объекты, массивы и регулярные выражения;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получат опыт тестирования и отладки скриптов;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/>
              <a:cs typeface="Times New Roman Regular" panose="02020603050405020304" charset="0"/>
            </a:endParaRPr>
          </a:p>
          <a:p>
            <a:pPr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文本框 1"/>
          <p:cNvSpPr txBox="1"/>
          <p:nvPr/>
        </p:nvSpPr>
        <p:spPr>
          <a:xfrm>
            <a:off x="7091680" y="3515360"/>
            <a:ext cx="309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0441305" y="3302000"/>
            <a:ext cx="551815" cy="28752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4" name="Text Box 3"/>
          <p:cNvSpPr txBox="1"/>
          <p:nvPr/>
        </p:nvSpPr>
        <p:spPr>
          <a:xfrm>
            <a:off x="380365" y="2023110"/>
            <a:ext cx="6501130" cy="37846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По окончании обучения студенты: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смогут взаимодействовать с элементами интерфейса и обрабатывать события;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научатся использовать локальное хранилище браузера;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смогут создавать динамичные компоненты интерфейса;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panose="020B0704020202020204" pitchFamily="34" charset="0"/>
              <a:buChar char="•"/>
            </a:pP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в конце курса </a:t>
            </a: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смогут самостоятельно разработать простое веб-приложение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292735" y="2122805"/>
            <a:ext cx="629729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indent="0" algn="l">
              <a:lnSpc>
                <a:spcPct val="115000"/>
              </a:lnSpc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В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еб-страницы взаимодействуют с пользователем через набор интерактивных визуальных элементов – интерфейс. Для того чтобы связать визуальный элемент с интерактивной логикой используются скрипты.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69842CB-9418-4297-AFF0-EA9947F4E911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292100" y="575945"/>
            <a:ext cx="10962005" cy="13112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/>
                <a:cs typeface="Times New Roman Regular" panose="02020603050405020304" charset="0"/>
              </a:rPr>
              <a:t>Разработка веб-интерфейсного скрипта</a:t>
            </a:r>
            <a:endParaRPr lang="en-US" sz="4265" b="0" strike="noStrike" spc="-1" dirty="0">
              <a:solidFill>
                <a:srgbClr val="000000"/>
              </a:solidFill>
              <a:latin typeface="Times New Roman Regular" panose="02020603050405020304" charset="0"/>
              <a:ea typeface="Arial" panose="020B0704020202020204"/>
              <a:cs typeface="Times New Roman Regular" panose="02020603050405020304" charset="0"/>
            </a:endParaRPr>
          </a:p>
          <a:p>
            <a:pPr>
              <a:tabLst>
                <a:tab pos="0" algn="l"/>
              </a:tabLst>
            </a:pPr>
            <a:r>
              <a:rPr lang="zh-CN" altLang="zh-CN" sz="4265" dirty="0">
                <a:effectLst/>
                <a:latin typeface="Times New Roman Regular" panose="02020603050405020304" charset="0"/>
                <a:ea typeface="Microsoft YaHei" charset="-122"/>
                <a:cs typeface="Times New Roman Regular" panose="02020603050405020304" charset="0"/>
              </a:rPr>
              <a:t>Web 前端脚本开发</a:t>
            </a:r>
            <a:endParaRPr lang="ru-RU" sz="4265" b="0" strike="noStrike" spc="-1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339" name="Google Shape;74;p 1"/>
          <p:cNvSpPr/>
          <p:nvPr/>
        </p:nvSpPr>
        <p:spPr>
          <a:xfrm>
            <a:off x="6096000" y="2559360"/>
            <a:ext cx="5803200" cy="429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文本框 1"/>
          <p:cNvSpPr txBox="1"/>
          <p:nvPr/>
        </p:nvSpPr>
        <p:spPr>
          <a:xfrm>
            <a:off x="7091680" y="3515360"/>
            <a:ext cx="3098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0441305" y="3302000"/>
            <a:ext cx="551815" cy="287528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7058025" y="2407285"/>
            <a:ext cx="45485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effectLst/>
                <a:ea typeface="Microsoft YaHei" charset="-122"/>
              </a:rPr>
              <a:t>网页通过一组交互式视觉元素（界面）与用户互动。为了将视觉元素与交互逻辑相连接，通常会使用脚本。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420365" y="43505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 Regular" panose="02020603050405020304" charset="0"/>
                <a:ea typeface="Arial" panose="020B0704020202020204"/>
                <a:cs typeface="Times New Roman Regular" panose="02020603050405020304" charset="0"/>
              </a:rPr>
              <a:t>Скрипты </a:t>
            </a:r>
            <a:r>
              <a:rPr lang="zh-CN" alt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脚本</a:t>
            </a:r>
            <a:endParaRPr lang="ru-RU" sz="4800" b="0" strike="noStrike" spc="-1" dirty="0">
              <a:latin typeface="Arial" panose="020B0704020202020204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211680" y="1961980"/>
            <a:ext cx="57499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algn="l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Построчно выполняемые встраиваемые программы на специальных скриптовых языках. JavaScript скрипты могут встраиваться в HTML и выполняться сразу при загрузке веб-страницы.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 charset="0"/>
              <a:ea typeface="Arial" panose="020B0704020202020204"/>
              <a:cs typeface="Times New Roman" panose="02020603050405020304" charset="0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/>
          </p:nvPr>
        </p:nvSpPr>
        <p:spPr>
          <a:xfrm>
            <a:off x="6259200" y="2120730"/>
            <a:ext cx="53323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dirty="0">
                <a:effectLst/>
                <a:ea typeface="Microsoft YaHei" charset="-122"/>
              </a:rPr>
              <a:t>特定脚本语言的逐行执行内嵌程序。</a:t>
            </a:r>
            <a:r>
              <a:rPr lang="en-US" altLang="zh-CN" sz="2665" dirty="0">
                <a:effectLst/>
                <a:ea typeface="Microsoft YaHei" charset="-122"/>
              </a:rPr>
              <a:t>JavaScript</a:t>
            </a:r>
            <a:r>
              <a:rPr lang="zh-CN" altLang="en-US" sz="2665" dirty="0">
                <a:effectLst/>
                <a:ea typeface="Microsoft YaHei" charset="-122"/>
              </a:rPr>
              <a:t>脚本可以嵌入到</a:t>
            </a:r>
            <a:r>
              <a:rPr lang="en-US" altLang="zh-CN" sz="2665" dirty="0">
                <a:effectLst/>
                <a:ea typeface="Microsoft YaHei" charset="-122"/>
              </a:rPr>
              <a:t>HTML</a:t>
            </a:r>
            <a:r>
              <a:rPr lang="zh-CN" altLang="en-US" sz="2665" dirty="0">
                <a:effectLst/>
                <a:ea typeface="Microsoft YaHei" charset="-122"/>
              </a:rPr>
              <a:t>中，并在网页加载时立即执行。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343" name="PlaceHolder 4"/>
          <p:cNvSpPr>
            <a:spLocks noGrp="1"/>
          </p:cNvSpPr>
          <p:nvPr>
            <p:ph type="sldNum" idx="1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16F5727-C455-402D-B157-645CEE81B012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403220" y="48585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Java Script (JS)</a:t>
            </a:r>
            <a:endParaRPr lang="ru-RU" sz="4800" b="0" strike="noStrike" spc="-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403225" y="1855470"/>
            <a:ext cx="55187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lnSpcReduction="20000"/>
          </a:bodyPr>
          <a:lstStyle/>
          <a:p>
            <a:pPr indent="457200" algn="l">
              <a:lnSpc>
                <a:spcPct val="115000"/>
              </a:lnSpc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Э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то скриптовый язык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 </a:t>
            </a: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программирования, решающий множество задач, например: разработка сайтов, мобильных приложений, игр, серверная обработка данных и другое.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/>
          </p:nvPr>
        </p:nvSpPr>
        <p:spPr>
          <a:xfrm>
            <a:off x="6259200" y="1961980"/>
            <a:ext cx="53323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dirty="0">
                <a:effectLst/>
                <a:ea typeface="Microsoft YaHei" charset="-122"/>
              </a:rPr>
              <a:t>这是一种脚本编程语言，可以解决多种任务，例如网站开发、移动应用程序、游戏、数据服务器处理等。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sldNum" idx="1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736C16D-FAA1-48BD-A819-5290BED2CFF0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/>
          </p:cNvSpPr>
          <p:nvPr>
            <p:ph/>
          </p:nvPr>
        </p:nvSpPr>
        <p:spPr>
          <a:xfrm>
            <a:off x="238080" y="196198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algn="l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Скрипты распространяются и выполняются, как простой текст. Им не нужна специальная подготовка или компиляция для запуска. Это отличает JavaScript от другого языка – Java.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 charset="0"/>
              <a:ea typeface="Arial" panose="020B0704020202020204"/>
              <a:cs typeface="Times New Roman" panose="02020603050405020304" charset="0"/>
            </a:endParaRPr>
          </a:p>
        </p:txBody>
      </p:sp>
      <p:sp>
        <p:nvSpPr>
          <p:cNvPr id="356" name="PlaceHolder 2"/>
          <p:cNvSpPr>
            <a:spLocks noGrp="1"/>
          </p:cNvSpPr>
          <p:nvPr>
            <p:ph/>
          </p:nvPr>
        </p:nvSpPr>
        <p:spPr>
          <a:xfrm>
            <a:off x="6259200" y="223249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dirty="0">
                <a:effectLst/>
                <a:ea typeface="Microsoft YaHei" charset="-122"/>
              </a:rPr>
              <a:t>脚本以普通文本的形式分发和执行，无需进行特殊准备或编译即可运行。这与另一种语言</a:t>
            </a:r>
            <a:r>
              <a:rPr lang="en-US" altLang="zh-CN" sz="2665" dirty="0">
                <a:effectLst/>
                <a:ea typeface="Microsoft YaHei" charset="-122"/>
              </a:rPr>
              <a:t>Java</a:t>
            </a:r>
            <a:r>
              <a:rPr lang="zh-CN" altLang="en-US" sz="2665" dirty="0">
                <a:effectLst/>
                <a:ea typeface="Microsoft YaHei" charset="-122"/>
              </a:rPr>
              <a:t>不同。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357" name="Google Shape;115;p19"/>
          <p:cNvSpPr/>
          <p:nvPr/>
        </p:nvSpPr>
        <p:spPr>
          <a:xfrm>
            <a:off x="279840" y="694560"/>
            <a:ext cx="11631840" cy="982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Java Script </a:t>
            </a:r>
            <a:endParaRPr lang="ru-RU" sz="4800" b="0" strike="noStrike" spc="-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1F525A1-A4D6-4506-ADC3-1C1E59E2FB76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/>
          </p:nvPr>
        </p:nvSpPr>
        <p:spPr>
          <a:xfrm>
            <a:off x="238080" y="196198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 algn="l"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JavaScript - полностью независимый языком со своей собственной спецификацией - ECMAScript.</a:t>
            </a:r>
            <a:endParaRPr lang="ru-RU" sz="3200" b="0" strike="noStrike" spc="-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/>
          </p:nvPr>
        </p:nvSpPr>
        <p:spPr>
          <a:xfrm>
            <a:off x="6259200" y="210803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ffectLst/>
                <a:ea typeface="Microsoft YaHei" charset="-122"/>
              </a:rPr>
              <a:t>JavaScript</a:t>
            </a:r>
            <a:r>
              <a:rPr lang="zh-CN" altLang="en-US" sz="2665" dirty="0">
                <a:effectLst/>
                <a:ea typeface="Microsoft YaHei" charset="-122"/>
              </a:rPr>
              <a:t>是一种完全独立的编程语言，拥有自己的规范 </a:t>
            </a:r>
            <a:r>
              <a:rPr lang="en-US" altLang="zh-CN" sz="2665" dirty="0">
                <a:effectLst/>
                <a:ea typeface="Microsoft YaHei" charset="-122"/>
              </a:rPr>
              <a:t>- ECMAScript</a:t>
            </a:r>
            <a:r>
              <a:rPr lang="zh-CN" altLang="en-US" sz="2665" dirty="0">
                <a:effectLst/>
                <a:ea typeface="Microsoft YaHei" charset="-122"/>
              </a:rPr>
              <a:t>。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361" name="Google Shape;123;p20"/>
          <p:cNvSpPr/>
          <p:nvPr/>
        </p:nvSpPr>
        <p:spPr>
          <a:xfrm>
            <a:off x="279840" y="694560"/>
            <a:ext cx="11631840" cy="982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Java Script </a:t>
            </a:r>
            <a:endParaRPr lang="ru-RU" sz="4800" b="0" strike="noStrike" spc="-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5499B8D-BE99-4E2D-B129-FF40BE380C8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/>
          </p:nvPr>
        </p:nvSpPr>
        <p:spPr>
          <a:xfrm>
            <a:off x="553720" y="1962150"/>
            <a:ext cx="1095121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JavaScript был создан, чтобы «сделать веб-страницы живыми» и был ориентирован на создание сайтов.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 charset="0"/>
              <a:ea typeface="Arial" panose="020B0704020202020204"/>
              <a:cs typeface="Times New Roman" panose="02020603050405020304" charset="0"/>
            </a:endParaRPr>
          </a:p>
          <a:p>
            <a:pPr>
              <a:lnSpc>
                <a:spcPct val="115000"/>
              </a:lnSpc>
              <a:spcAft>
                <a:spcPts val="900"/>
              </a:spcAft>
              <a:tabLst>
                <a:tab pos="0" algn="l"/>
              </a:tabLst>
            </a:pPr>
            <a:r>
              <a:rPr lang="en-US" altLang="zh-CN" sz="2665" dirty="0">
                <a:effectLst/>
                <a:ea typeface="Microsoft YaHei" charset="-122"/>
              </a:rPr>
              <a:t>JavaScript</a:t>
            </a:r>
            <a:r>
              <a:rPr lang="zh-CN" altLang="en-US" sz="2665" dirty="0">
                <a:effectLst/>
                <a:ea typeface="Microsoft YaHei" charset="-122"/>
              </a:rPr>
              <a:t>的创建目的是为了“使网页变得生动”，并且它主要用于创建网站。</a:t>
            </a:r>
            <a:r>
              <a:rPr lang="zh-CN" altLang="zh-CN" sz="2665" dirty="0">
                <a:effectLst/>
                <a:ea typeface="Microsoft YaHei" charset="-122"/>
              </a:rPr>
              <a:t>。</a:t>
            </a:r>
            <a:endParaRPr lang="zh-CN" altLang="zh-CN" sz="2665" dirty="0">
              <a:effectLst/>
              <a:ea typeface="Microsoft YaHei" charset="-122"/>
            </a:endParaRPr>
          </a:p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365" name="Google Shape;131;p21"/>
          <p:cNvSpPr/>
          <p:nvPr/>
        </p:nvSpPr>
        <p:spPr>
          <a:xfrm>
            <a:off x="294005" y="435610"/>
            <a:ext cx="6640195" cy="982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Создание JavaScript</a:t>
            </a:r>
            <a:endParaRPr lang="ru-RU" sz="48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8697C4C-EDC7-4AB8-B76E-DE7A90608068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06710" y="657215"/>
            <a:ext cx="3982720" cy="103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3735" dirty="0">
                <a:effectLst/>
                <a:ea typeface="Microsoft YaHei" charset="-122"/>
              </a:rPr>
              <a:t>创建 JavaScript</a:t>
            </a:r>
            <a:endParaRPr lang="zh-CN" altLang="zh-CN" sz="3735" dirty="0">
              <a:effectLst/>
              <a:ea typeface="Microsoft YaHei" charset="-122"/>
            </a:endParaRP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/>
          </p:nvPr>
        </p:nvSpPr>
        <p:spPr>
          <a:xfrm>
            <a:off x="238080" y="221217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Апрель 1995 — создание JavaScript (изначальное название: Mocha, LiveScript)</a:t>
            </a:r>
            <a:endParaRPr lang="ru-RU" sz="3200" b="0" strike="noStrike" spc="-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Август 1996 — создание JScript (диалект JavaScript от Microsoft) </a:t>
            </a:r>
            <a:endParaRPr lang="en-US" sz="3200" b="0" strike="noStrike" spc="-1" dirty="0">
              <a:solidFill>
                <a:schemeClr val="tx1"/>
              </a:solidFill>
              <a:latin typeface="Times New Roman" panose="02020603050405020304" charset="0"/>
              <a:ea typeface="Arial" panose="020B0704020202020204"/>
              <a:cs typeface="Times New Roman" panose="02020603050405020304" charset="0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/>
          </p:nvPr>
        </p:nvSpPr>
        <p:spPr>
          <a:xfrm>
            <a:off x="6259200" y="233472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a typeface="Microsoft YaHei" charset="-122"/>
              </a:rPr>
              <a:t>1995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4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- </a:t>
            </a:r>
            <a:r>
              <a:rPr lang="zh-CN" altLang="en-US" sz="2665" dirty="0">
                <a:ea typeface="Microsoft YaHei" charset="-122"/>
              </a:rPr>
              <a:t>创建</a:t>
            </a:r>
            <a:r>
              <a:rPr lang="en-US" altLang="zh-CN" sz="2665" dirty="0">
                <a:ea typeface="Microsoft YaHei" charset="-122"/>
              </a:rPr>
              <a:t>JavaScript</a:t>
            </a:r>
            <a:r>
              <a:rPr lang="zh-CN" altLang="en-US" sz="2665" dirty="0">
                <a:ea typeface="Microsoft YaHei" charset="-122"/>
              </a:rPr>
              <a:t>（最初名称：</a:t>
            </a:r>
            <a:r>
              <a:rPr lang="en-US" altLang="zh-CN" sz="2665" dirty="0">
                <a:ea typeface="Microsoft YaHei" charset="-122"/>
              </a:rPr>
              <a:t>Mocha</a:t>
            </a:r>
            <a:r>
              <a:rPr lang="zh-CN" altLang="en-US" sz="2665" dirty="0">
                <a:ea typeface="Microsoft YaHei" charset="-122"/>
              </a:rPr>
              <a:t>，</a:t>
            </a:r>
            <a:r>
              <a:rPr lang="en-US" altLang="zh-CN" sz="2665" dirty="0" err="1">
                <a:ea typeface="Microsoft YaHei" charset="-122"/>
              </a:rPr>
              <a:t>LiveScript</a:t>
            </a:r>
            <a:r>
              <a:rPr lang="zh-CN" altLang="en-US" sz="2665" dirty="0">
                <a:ea typeface="Microsoft YaHei" charset="-122"/>
              </a:rPr>
              <a:t>）</a:t>
            </a:r>
            <a:endParaRPr lang="en-US" altLang="zh-CN" sz="2665" dirty="0">
              <a:ea typeface="Microsoft YaHei" charset="-122"/>
            </a:endParaRPr>
          </a:p>
          <a:p>
            <a:r>
              <a:rPr lang="zh-CN" altLang="en-US" sz="2665" dirty="0">
                <a:ea typeface="Microsoft YaHei" charset="-122"/>
              </a:rPr>
              <a:t> </a:t>
            </a:r>
            <a:endParaRPr lang="en-US" altLang="zh-CN" sz="2665" dirty="0"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1996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8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- </a:t>
            </a:r>
            <a:r>
              <a:rPr lang="zh-CN" altLang="en-US" sz="2665" dirty="0">
                <a:ea typeface="Microsoft YaHei" charset="-122"/>
              </a:rPr>
              <a:t>创建</a:t>
            </a:r>
            <a:r>
              <a:rPr lang="en-US" altLang="zh-CN" sz="2665" dirty="0">
                <a:ea typeface="Microsoft YaHei" charset="-122"/>
              </a:rPr>
              <a:t>JScript</a:t>
            </a:r>
            <a:r>
              <a:rPr lang="zh-CN" altLang="en-US" sz="2665" dirty="0">
                <a:ea typeface="Microsoft YaHei" charset="-122"/>
              </a:rPr>
              <a:t>（微软的</a:t>
            </a:r>
            <a:r>
              <a:rPr lang="en-US" altLang="zh-CN" sz="2665" dirty="0">
                <a:ea typeface="Microsoft YaHei" charset="-122"/>
              </a:rPr>
              <a:t>JavaScript</a:t>
            </a:r>
            <a:r>
              <a:rPr lang="zh-CN" altLang="en-US" sz="2665" dirty="0">
                <a:ea typeface="Microsoft YaHei" charset="-122"/>
              </a:rPr>
              <a:t>方言）</a:t>
            </a:r>
            <a:endParaRPr lang="ru-RU" sz="2665" dirty="0">
              <a:ea typeface="Microsoft YaHei" charset="-122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2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D859676-C0A0-4450-84FD-D982BA5D43CB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70" name="PlaceHolder 4"/>
          <p:cNvSpPr>
            <a:spLocks noGrp="1"/>
          </p:cNvSpPr>
          <p:nvPr>
            <p:ph type="title"/>
          </p:nvPr>
        </p:nvSpPr>
        <p:spPr>
          <a:xfrm>
            <a:off x="238125" y="628015"/>
            <a:ext cx="6197600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История JavaScript </a:t>
            </a:r>
            <a:endParaRPr lang="ru-RU" sz="48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1" name="PlaceHolder 5"/>
          <p:cNvSpPr>
            <a:spLocks noGrp="1"/>
          </p:cNvSpPr>
          <p:nvPr>
            <p:ph type="title"/>
          </p:nvPr>
        </p:nvSpPr>
        <p:spPr>
          <a:xfrm>
            <a:off x="6259200" y="62809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zh-CN" sz="4265" dirty="0">
                <a:effectLst/>
                <a:ea typeface="Microsoft YaHei" charset="-122"/>
              </a:rPr>
              <a:t>JavaScript 的历史 </a:t>
            </a:r>
            <a:r>
              <a:rPr lang="en-US" altLang="zh-CN" sz="4265" dirty="0">
                <a:ea typeface="Microsoft YaHei" charset="-122"/>
              </a:rPr>
              <a:t>(1)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/>
          </p:nvPr>
        </p:nvSpPr>
        <p:spPr>
          <a:xfrm>
            <a:off x="238080" y="240457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Июнь 1997 — создание стандарта EcmaScript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Декабрь 2009 — 5-й стандарт EcmaScript (ES5)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Июнь 2015 — 6-й стандарт EcmaScript (ES6, ES 2015)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a typeface="Microsoft YaHei" charset="-122"/>
              </a:rPr>
              <a:t>1997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6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— </a:t>
            </a:r>
            <a:r>
              <a:rPr lang="zh-CN" altLang="en-US" sz="2665" dirty="0">
                <a:ea typeface="Microsoft YaHei" charset="-122"/>
              </a:rPr>
              <a:t>创建了 </a:t>
            </a:r>
            <a:r>
              <a:rPr lang="en-US" altLang="zh-CN" sz="2665" dirty="0" err="1">
                <a:ea typeface="Microsoft YaHei" charset="-122"/>
              </a:rPr>
              <a:t>EcmaScript</a:t>
            </a:r>
            <a:r>
              <a:rPr lang="en-US" altLang="zh-CN" sz="2665" dirty="0">
                <a:ea typeface="Microsoft YaHei" charset="-122"/>
              </a:rPr>
              <a:t> </a:t>
            </a:r>
            <a:r>
              <a:rPr lang="zh-CN" altLang="en-US" sz="2665" dirty="0">
                <a:ea typeface="Microsoft YaHei" charset="-122"/>
              </a:rPr>
              <a:t>标准。</a:t>
            </a:r>
            <a:endParaRPr lang="en-US" altLang="zh-CN" sz="2665" dirty="0">
              <a:ea typeface="Microsoft YaHei" charset="-122"/>
            </a:endParaRPr>
          </a:p>
          <a:p>
            <a:endParaRPr lang="zh-CN" altLang="en-US" sz="2665" dirty="0"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2009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12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— </a:t>
            </a:r>
            <a:r>
              <a:rPr lang="zh-CN" altLang="en-US" sz="2665" dirty="0">
                <a:ea typeface="Microsoft YaHei" charset="-122"/>
              </a:rPr>
              <a:t>发布了 </a:t>
            </a:r>
            <a:r>
              <a:rPr lang="en-US" altLang="zh-CN" sz="2665" dirty="0" err="1">
                <a:ea typeface="Microsoft YaHei" charset="-122"/>
              </a:rPr>
              <a:t>EcmaScript</a:t>
            </a:r>
            <a:r>
              <a:rPr lang="en-US" altLang="zh-CN" sz="2665" dirty="0">
                <a:ea typeface="Microsoft YaHei" charset="-122"/>
              </a:rPr>
              <a:t> </a:t>
            </a:r>
            <a:r>
              <a:rPr lang="zh-CN" altLang="en-US" sz="2665" dirty="0">
                <a:ea typeface="Microsoft YaHei" charset="-122"/>
              </a:rPr>
              <a:t>的第</a:t>
            </a:r>
            <a:r>
              <a:rPr lang="en-US" altLang="zh-CN" sz="2665" dirty="0">
                <a:ea typeface="Microsoft YaHei" charset="-122"/>
              </a:rPr>
              <a:t>5</a:t>
            </a:r>
            <a:r>
              <a:rPr lang="zh-CN" altLang="en-US" sz="2665" dirty="0">
                <a:ea typeface="Microsoft YaHei" charset="-122"/>
              </a:rPr>
              <a:t>个标准，即 </a:t>
            </a:r>
            <a:r>
              <a:rPr lang="en-US" altLang="zh-CN" sz="2665" dirty="0" err="1">
                <a:ea typeface="Microsoft YaHei" charset="-122"/>
              </a:rPr>
              <a:t>ES5</a:t>
            </a:r>
            <a:r>
              <a:rPr lang="zh-CN" altLang="en-US" sz="2665" dirty="0">
                <a:ea typeface="Microsoft YaHei" charset="-122"/>
              </a:rPr>
              <a:t>。</a:t>
            </a:r>
            <a:endParaRPr lang="en-US" altLang="zh-CN" sz="2665" dirty="0">
              <a:ea typeface="Microsoft YaHei" charset="-122"/>
            </a:endParaRPr>
          </a:p>
          <a:p>
            <a:endParaRPr lang="zh-CN" altLang="en-US" sz="2665" dirty="0"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2015</a:t>
            </a:r>
            <a:r>
              <a:rPr lang="zh-CN" altLang="en-US" sz="2665" dirty="0">
                <a:ea typeface="Microsoft YaHei" charset="-122"/>
              </a:rPr>
              <a:t>年</a:t>
            </a:r>
            <a:r>
              <a:rPr lang="en-US" altLang="zh-CN" sz="2665" dirty="0">
                <a:ea typeface="Microsoft YaHei" charset="-122"/>
              </a:rPr>
              <a:t>6</a:t>
            </a:r>
            <a:r>
              <a:rPr lang="zh-CN" altLang="en-US" sz="2665" dirty="0">
                <a:ea typeface="Microsoft YaHei" charset="-122"/>
              </a:rPr>
              <a:t>月 </a:t>
            </a:r>
            <a:r>
              <a:rPr lang="en-US" altLang="zh-CN" sz="2665" dirty="0">
                <a:ea typeface="Microsoft YaHei" charset="-122"/>
              </a:rPr>
              <a:t>— </a:t>
            </a:r>
            <a:r>
              <a:rPr lang="zh-CN" altLang="en-US" sz="2665" dirty="0">
                <a:ea typeface="Microsoft YaHei" charset="-122"/>
              </a:rPr>
              <a:t>发布了 </a:t>
            </a:r>
            <a:r>
              <a:rPr lang="en-US" altLang="zh-CN" sz="2665" dirty="0" err="1">
                <a:ea typeface="Microsoft YaHei" charset="-122"/>
              </a:rPr>
              <a:t>EcmaScript</a:t>
            </a:r>
            <a:r>
              <a:rPr lang="en-US" altLang="zh-CN" sz="2665" dirty="0">
                <a:ea typeface="Microsoft YaHei" charset="-122"/>
              </a:rPr>
              <a:t> </a:t>
            </a:r>
            <a:r>
              <a:rPr lang="zh-CN" altLang="en-US" sz="2665" dirty="0">
                <a:ea typeface="Microsoft YaHei" charset="-122"/>
              </a:rPr>
              <a:t>的第</a:t>
            </a:r>
            <a:r>
              <a:rPr lang="en-US" altLang="zh-CN" sz="2665" dirty="0">
                <a:ea typeface="Microsoft YaHei" charset="-122"/>
              </a:rPr>
              <a:t>6</a:t>
            </a:r>
            <a:r>
              <a:rPr lang="zh-CN" altLang="en-US" sz="2665" dirty="0">
                <a:ea typeface="Microsoft YaHei" charset="-122"/>
              </a:rPr>
              <a:t>个标准，即 </a:t>
            </a:r>
            <a:r>
              <a:rPr lang="en-US" altLang="zh-CN" sz="2665" dirty="0" err="1">
                <a:ea typeface="Microsoft YaHei" charset="-122"/>
              </a:rPr>
              <a:t>ES6</a:t>
            </a:r>
            <a:r>
              <a:rPr lang="zh-CN" altLang="en-US" sz="2665" dirty="0">
                <a:ea typeface="Microsoft YaHei" charset="-122"/>
              </a:rPr>
              <a:t>（也称为 </a:t>
            </a:r>
            <a:r>
              <a:rPr lang="en-US" altLang="zh-CN" sz="2665" dirty="0">
                <a:ea typeface="Microsoft YaHei" charset="-122"/>
              </a:rPr>
              <a:t>ES 2015</a:t>
            </a:r>
            <a:r>
              <a:rPr lang="zh-CN" altLang="en-US" sz="2665" dirty="0">
                <a:ea typeface="Microsoft YaHei" charset="-122"/>
              </a:rPr>
              <a:t>）。</a:t>
            </a:r>
            <a:endParaRPr lang="zh-CN" altLang="en-US" sz="2665" dirty="0">
              <a:ea typeface="Microsoft YaHei" charset="-122"/>
            </a:endParaRPr>
          </a:p>
          <a:p>
            <a:endParaRPr lang="zh-CN" altLang="zh-CN" sz="2665" dirty="0">
              <a:effectLst/>
              <a:ea typeface="Microsoft YaHei" charset="-122"/>
            </a:endParaRPr>
          </a:p>
          <a:p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2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75D1AD3-C559-48AF-86E1-4764FA36569B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title"/>
          </p:nvPr>
        </p:nvSpPr>
        <p:spPr>
          <a:xfrm>
            <a:off x="238125" y="454660"/>
            <a:ext cx="6483985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История JavaScript </a:t>
            </a:r>
            <a:endParaRPr lang="ru-RU" sz="48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6" name="PlaceHolder 5"/>
          <p:cNvSpPr>
            <a:spLocks noGrp="1"/>
          </p:cNvSpPr>
          <p:nvPr>
            <p:ph type="title"/>
          </p:nvPr>
        </p:nvSpPr>
        <p:spPr>
          <a:xfrm>
            <a:off x="6588760" y="124460"/>
            <a:ext cx="5332095" cy="235013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JavaScript 的历史 </a:t>
            </a:r>
            <a:br>
              <a:rPr lang="zh-CN" altLang="zh-CN" dirty="0">
                <a:effectLst/>
                <a:ea typeface="Microsoft YaHei" charset="-122"/>
              </a:rPr>
            </a:br>
            <a:endParaRPr lang="ru-RU" sz="58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/>
          </p:nvPr>
        </p:nvSpPr>
        <p:spPr>
          <a:xfrm>
            <a:off x="238080" y="212073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Сегодня JavaScript может выполняться не только в браузере, но и в любой среде, которая имеет специальную программу – «движок» JavaScript. В браузере тоже есть “движок”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dirty="0">
                <a:ea typeface="Microsoft YaHei" charset="-122"/>
              </a:rPr>
              <a:t>今天，</a:t>
            </a:r>
            <a:r>
              <a:rPr lang="en-US" altLang="zh-CN" sz="2665" dirty="0">
                <a:ea typeface="Microsoft YaHei" charset="-122"/>
              </a:rPr>
              <a:t>JavaScript </a:t>
            </a:r>
            <a:r>
              <a:rPr lang="zh-CN" altLang="en-US" sz="2665" dirty="0">
                <a:ea typeface="Microsoft YaHei" charset="-122"/>
              </a:rPr>
              <a:t>不仅可以在浏览器中执行，还可以在具有专用程序的任何环境中执行，这个程序被称为 </a:t>
            </a:r>
            <a:r>
              <a:rPr lang="en-US" altLang="zh-CN" sz="2665" dirty="0">
                <a:ea typeface="Microsoft YaHei" charset="-122"/>
              </a:rPr>
              <a:t>JavaScript "</a:t>
            </a:r>
            <a:r>
              <a:rPr lang="zh-CN" altLang="en-US" sz="2665" dirty="0">
                <a:ea typeface="Microsoft YaHei" charset="-122"/>
              </a:rPr>
              <a:t>引擎</a:t>
            </a:r>
            <a:r>
              <a:rPr lang="en-US" altLang="zh-CN" sz="2665" dirty="0">
                <a:ea typeface="Microsoft YaHei" charset="-122"/>
              </a:rPr>
              <a:t>"</a:t>
            </a:r>
            <a:r>
              <a:rPr lang="zh-CN" altLang="en-US" sz="2665" dirty="0">
                <a:ea typeface="Microsoft YaHei" charset="-122"/>
              </a:rPr>
              <a:t>。</a:t>
            </a:r>
            <a:endParaRPr lang="en-US" altLang="zh-CN" sz="2665" dirty="0">
              <a:ea typeface="Microsoft YaHei" charset="-122"/>
            </a:endParaRPr>
          </a:p>
          <a:p>
            <a:r>
              <a:rPr lang="zh-CN" altLang="en-US" sz="2665" dirty="0">
                <a:ea typeface="Microsoft YaHei" charset="-122"/>
              </a:rPr>
              <a:t>在浏览器中也有 </a:t>
            </a:r>
            <a:r>
              <a:rPr lang="en-US" altLang="zh-CN" sz="2665" dirty="0">
                <a:ea typeface="Microsoft YaHei" charset="-122"/>
              </a:rPr>
              <a:t>JavaScript "</a:t>
            </a:r>
            <a:r>
              <a:rPr lang="zh-CN" altLang="en-US" sz="2665" dirty="0">
                <a:ea typeface="Microsoft YaHei" charset="-122"/>
              </a:rPr>
              <a:t>引擎</a:t>
            </a:r>
            <a:r>
              <a:rPr lang="en-US" altLang="zh-CN" sz="2665" dirty="0">
                <a:ea typeface="Microsoft YaHei" charset="-122"/>
              </a:rPr>
              <a:t>"</a:t>
            </a:r>
            <a:r>
              <a:rPr lang="zh-CN" altLang="en-US" sz="2665" dirty="0">
                <a:ea typeface="Microsoft YaHei" charset="-122"/>
              </a:rPr>
              <a:t>。</a:t>
            </a:r>
            <a:endParaRPr lang="ru-RU" sz="2665" dirty="0">
              <a:ea typeface="Microsoft YaHei" charset="-122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2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3047E97-5E5D-4B8B-91F3-BD1E0A1BD34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80" name="PlaceHolder 4"/>
          <p:cNvSpPr>
            <a:spLocks noGrp="1"/>
          </p:cNvSpPr>
          <p:nvPr>
            <p:ph type="title"/>
          </p:nvPr>
        </p:nvSpPr>
        <p:spPr>
          <a:xfrm>
            <a:off x="350880" y="72016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“Движок” JS</a:t>
            </a:r>
            <a:endParaRPr lang="ru-RU" sz="48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1" name="PlaceHolder 5"/>
          <p:cNvSpPr>
            <a:spLocks noGrp="1"/>
          </p:cNvSpPr>
          <p:nvPr>
            <p:ph type="title"/>
          </p:nvPr>
        </p:nvSpPr>
        <p:spPr>
          <a:xfrm>
            <a:off x="6398265" y="72036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JS 引擎 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/>
          </p:nvPr>
        </p:nvSpPr>
        <p:spPr>
          <a:xfrm>
            <a:off x="238080" y="225281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Движок (встроенный, если это браузер) “читает” текст скрипта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Затем он преобразует («компилирует») скрипт в машинный язык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Запуск машинного кода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/>
          </p:nvPr>
        </p:nvSpPr>
        <p:spPr>
          <a:xfrm>
            <a:off x="6259200" y="239568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dirty="0">
                <a:effectLst/>
                <a:ea typeface="Microsoft YaHei" charset="-122"/>
              </a:rPr>
              <a:t>1."</a:t>
            </a:r>
            <a:r>
              <a:rPr lang="zh-CN" altLang="en-US" sz="2665" dirty="0">
                <a:effectLst/>
                <a:ea typeface="Microsoft YaHei" charset="-122"/>
              </a:rPr>
              <a:t>引擎（如果是内置的话，就是浏览器）会读取脚本文本</a:t>
            </a:r>
            <a:endParaRPr lang="en-US" altLang="zh-CN" sz="2665" dirty="0">
              <a:effectLst/>
              <a:ea typeface="Microsoft YaHei" charset="-122"/>
            </a:endParaRPr>
          </a:p>
          <a:p>
            <a:endParaRPr lang="en-US" altLang="zh-CN" sz="2665" dirty="0">
              <a:effectLst/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2.</a:t>
            </a:r>
            <a:r>
              <a:rPr lang="zh-CN" altLang="en-US" sz="2665" dirty="0">
                <a:effectLst/>
                <a:ea typeface="Microsoft YaHei" charset="-122"/>
              </a:rPr>
              <a:t>然后将其转换（</a:t>
            </a:r>
            <a:r>
              <a:rPr lang="en-US" altLang="zh-CN" sz="2665" dirty="0">
                <a:effectLst/>
                <a:ea typeface="Microsoft YaHei" charset="-122"/>
              </a:rPr>
              <a:t>'</a:t>
            </a:r>
            <a:r>
              <a:rPr lang="zh-CN" altLang="en-US" sz="2665" dirty="0">
                <a:effectLst/>
                <a:ea typeface="Microsoft YaHei" charset="-122"/>
              </a:rPr>
              <a:t>编译</a:t>
            </a:r>
            <a:r>
              <a:rPr lang="en-US" altLang="zh-CN" sz="2665" dirty="0">
                <a:effectLst/>
                <a:ea typeface="Microsoft YaHei" charset="-122"/>
              </a:rPr>
              <a:t>'</a:t>
            </a:r>
            <a:r>
              <a:rPr lang="zh-CN" altLang="en-US" sz="2665" dirty="0">
                <a:effectLst/>
                <a:ea typeface="Microsoft YaHei" charset="-122"/>
              </a:rPr>
              <a:t>）成机器语言</a:t>
            </a:r>
            <a:endParaRPr lang="en-US" altLang="zh-CN" sz="2665" dirty="0">
              <a:effectLst/>
              <a:ea typeface="Microsoft YaHei" charset="-122"/>
            </a:endParaRPr>
          </a:p>
          <a:p>
            <a:endParaRPr lang="en-US" altLang="zh-CN" sz="2665" dirty="0">
              <a:effectLst/>
              <a:ea typeface="Microsoft YaHei" charset="-122"/>
            </a:endParaRPr>
          </a:p>
          <a:p>
            <a:r>
              <a:rPr lang="en-US" altLang="zh-CN" sz="2665" dirty="0">
                <a:ea typeface="Microsoft YaHei" charset="-122"/>
              </a:rPr>
              <a:t>3.</a:t>
            </a:r>
            <a:r>
              <a:rPr lang="zh-CN" altLang="en-US" sz="2665" dirty="0">
                <a:effectLst/>
                <a:ea typeface="Microsoft YaHei" charset="-122"/>
              </a:rPr>
              <a:t>最后执行机器码。</a:t>
            </a:r>
            <a:r>
              <a:rPr lang="en-US" altLang="zh-CN" sz="2665" dirty="0">
                <a:effectLst/>
                <a:ea typeface="Microsoft YaHei" charset="-122"/>
              </a:rPr>
              <a:t>"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8540E06-6DAC-40E9-90E6-F323F6DFCD3A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85" name="PlaceHolder 4"/>
          <p:cNvSpPr>
            <a:spLocks noGrp="1"/>
          </p:cNvSpPr>
          <p:nvPr>
            <p:ph type="title"/>
          </p:nvPr>
        </p:nvSpPr>
        <p:spPr>
          <a:xfrm>
            <a:off x="350880" y="77096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“Движок” JS </a:t>
            </a:r>
            <a:endParaRPr lang="ru-RU" sz="48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6" name="PlaceHolder 5"/>
          <p:cNvSpPr>
            <a:spLocks noGrp="1"/>
          </p:cNvSpPr>
          <p:nvPr>
            <p:ph type="title"/>
          </p:nvPr>
        </p:nvSpPr>
        <p:spPr>
          <a:xfrm>
            <a:off x="6259200" y="77090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JS 引擎 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/>
          </p:nvPr>
        </p:nvSpPr>
        <p:spPr>
          <a:xfrm>
            <a:off x="270510" y="1297305"/>
            <a:ext cx="11628755" cy="250380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Движок применяет оптимизации на каждом этапе. Он контролирует скомпилированный скрипт во время его работы, анализирует проходящие через него данные, и применяет оптимизации к машинному коду, полагаясь на полученные знания. В результате скрипты работают очень быстро.</a:t>
            </a:r>
            <a:endParaRPr lang="en-US" sz="2935" b="0" strike="noStrike" spc="-1" dirty="0">
              <a:solidFill>
                <a:schemeClr val="tx1"/>
              </a:solidFill>
              <a:latin typeface="Times New Roman" panose="02020603050405020304" charset="0"/>
              <a:ea typeface="Arial" panose="020B0704020202020204"/>
              <a:cs typeface="Times New Roman" panose="02020603050405020304" charset="0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title"/>
          </p:nvPr>
        </p:nvSpPr>
        <p:spPr>
          <a:xfrm>
            <a:off x="203430" y="270520"/>
            <a:ext cx="5892960" cy="8025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“Движок” JS </a:t>
            </a:r>
            <a:endParaRPr lang="ru-RU" sz="48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title"/>
          </p:nvPr>
        </p:nvSpPr>
        <p:spPr>
          <a:xfrm>
            <a:off x="6096000" y="269885"/>
            <a:ext cx="5892960" cy="8025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 algn="ctr"/>
            <a:r>
              <a:rPr lang="zh-CN" altLang="zh-CN" sz="4265" dirty="0">
                <a:effectLst/>
                <a:ea typeface="Microsoft YaHei" charset="-122"/>
              </a:rPr>
              <a:t>JS 引擎 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/>
          </p:nvPr>
        </p:nvSpPr>
        <p:spPr>
          <a:xfrm>
            <a:off x="360680" y="4361815"/>
            <a:ext cx="11628755" cy="228981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引擎在每个阶段都应用了优化。它在脚本编译时监控脚本的运行，并分析经过它的数据，然后依靠获取的知识对机器码应用优化。因此，脚本运行非常快速。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391" name="PlaceHolder 5"/>
          <p:cNvSpPr>
            <a:spLocks noGrp="1"/>
          </p:cNvSpPr>
          <p:nvPr>
            <p:ph type="sldNum" idx="2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AB3C1DE-CEAB-443C-82D1-3AE872E56F3F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3"/>
          <p:cNvSpPr>
            <a:spLocks noGrp="1"/>
          </p:cNvSpPr>
          <p:nvPr>
            <p:ph/>
          </p:nvPr>
        </p:nvSpPr>
        <p:spPr>
          <a:xfrm>
            <a:off x="238080" y="206929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вид веб-страниц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скриптовый язык программирования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одна из библиотек для Java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“движок” для браузера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/>
          </p:nvPr>
        </p:nvSpPr>
        <p:spPr>
          <a:xfrm>
            <a:off x="6259200" y="215121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网页视图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脚本编程语言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Java </a:t>
            </a:r>
            <a:r>
              <a:rPr lang="zh-CN" altLang="en-US" sz="2665" b="0" strike="noStrike" spc="-1" dirty="0">
                <a:latin typeface="Arial" panose="020B0704020202020204"/>
              </a:rPr>
              <a:t>的库之一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浏览器的“引擎”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 type="sldNum" idx="2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238120" y="44203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/>
              <a:buAutoNum type="arabicPeriod"/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такое JS?</a:t>
            </a:r>
            <a:endParaRPr lang="ru-RU" sz="4800" b="0" strike="noStrike" spc="-1" dirty="0">
              <a:latin typeface="Arial" panose="020B0704020202020204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title"/>
          </p:nvPr>
        </p:nvSpPr>
        <p:spPr>
          <a:xfrm>
            <a:off x="6209760" y="31757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spc="-1" dirty="0">
                <a:latin typeface="Arial" panose="020B0704020202020204"/>
              </a:rPr>
              <a:t>什么是</a:t>
            </a:r>
            <a:r>
              <a:rPr lang="en-US" altLang="zh-CN" sz="4265" spc="-1" dirty="0">
                <a:latin typeface="Arial" panose="020B0704020202020204"/>
              </a:rPr>
              <a:t>JS</a:t>
            </a:r>
            <a:r>
              <a:rPr lang="zh-CN" altLang="en-US" sz="4265" spc="-1" dirty="0">
                <a:latin typeface="Arial" panose="020B0704020202020204"/>
              </a:rPr>
              <a:t>？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5601335" y="2862580"/>
            <a:ext cx="4565015" cy="119253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123825" y="2862580"/>
            <a:ext cx="4565015" cy="119253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94" name="PlaceHolder 3"/>
          <p:cNvSpPr>
            <a:spLocks noGrp="1"/>
          </p:cNvSpPr>
          <p:nvPr>
            <p:ph/>
          </p:nvPr>
        </p:nvSpPr>
        <p:spPr>
          <a:xfrm>
            <a:off x="238080" y="206929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вид веб-страниц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скриптовый язык программирования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одна из библиотек для Java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“движок” для браузера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395" name="PlaceHolder 4"/>
          <p:cNvSpPr>
            <a:spLocks noGrp="1"/>
          </p:cNvSpPr>
          <p:nvPr>
            <p:ph/>
          </p:nvPr>
        </p:nvSpPr>
        <p:spPr>
          <a:xfrm>
            <a:off x="6259200" y="215121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网页视图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脚本编程语言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Java </a:t>
            </a:r>
            <a:r>
              <a:rPr lang="zh-CN" altLang="en-US" sz="2665" b="0" strike="noStrike" spc="-1" dirty="0">
                <a:latin typeface="Arial" panose="020B0704020202020204"/>
              </a:rPr>
              <a:t>的库之一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浏览器的“引擎”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396" name="PlaceHolder 5"/>
          <p:cNvSpPr>
            <a:spLocks noGrp="1"/>
          </p:cNvSpPr>
          <p:nvPr>
            <p:ph type="sldNum" idx="2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238120" y="44203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/>
              <a:buAutoNum type="arabicPeriod"/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такое JS?</a:t>
            </a:r>
            <a:endParaRPr lang="ru-RU" sz="4800" b="0" strike="noStrike" spc="-1" dirty="0">
              <a:latin typeface="Arial" panose="020B0704020202020204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 type="title"/>
          </p:nvPr>
        </p:nvSpPr>
        <p:spPr>
          <a:xfrm>
            <a:off x="6209760" y="317575"/>
            <a:ext cx="5465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spc="-1" dirty="0">
                <a:latin typeface="Arial" panose="020B0704020202020204"/>
              </a:rPr>
              <a:t>什么是</a:t>
            </a:r>
            <a:r>
              <a:rPr lang="en-US" altLang="zh-CN" sz="4265" spc="-1" dirty="0">
                <a:latin typeface="Arial" panose="020B0704020202020204"/>
              </a:rPr>
              <a:t>JS</a:t>
            </a:r>
            <a:r>
              <a:rPr lang="zh-CN" altLang="en-US" sz="4265" spc="-1" dirty="0">
                <a:latin typeface="Arial" panose="020B0704020202020204"/>
              </a:rPr>
              <a:t>？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19100" y="2414270"/>
            <a:ext cx="5993765" cy="31076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800">
                <a:latin typeface="Times New Roman" panose="02020603050405020304" charset="0"/>
                <a:cs typeface="Times New Roman" panose="02020603050405020304" charset="0"/>
              </a:rPr>
              <a:t>у JavaScript есть фундамент, на котором он построен — это ECMAScript.</a:t>
            </a:r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8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ECMAScript = стандарт, </a:t>
            </a:r>
            <a:endParaRPr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JavaScript = реализация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19100" y="2413635"/>
            <a:ext cx="5266055" cy="304609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ECMAScript (ES) — это спецификация (стандарт), описывающая сам язык: синтаксис, ключевые слова, встроенные типы данных, работу функций, работу классов, модулей, промисов и многое другое.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algn="l"/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JavaScript — это реализация этого стандарта.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9100" y="2123440"/>
            <a:ext cx="5838190" cy="424751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Почему стандарт называется «ECMAScript»?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Из-за организации ECMA International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Когда JavaScript нужно было стандартизировать, корпорации решили передать его в международный орган стандартизации.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Выбор пал на: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ECMA International</a:t>
            </a:r>
            <a:endParaRPr 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19100" y="2232660"/>
            <a:ext cx="5354320" cy="420433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ECMA International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(European Computer Manufacturers Association)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Эта организация занимается созданием технических стандартов, как ISO или W3C.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Раз JavaScript стал их стандартом, название должно было соответствовать правилам ECMA: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ECMA + Script → ECMAScript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ct val="0"/>
              </a:spcAft>
            </a:pPr>
            <a:r>
              <a:rPr sz="2000">
                <a:latin typeface="Times New Roman" panose="02020603050405020304" charset="0"/>
                <a:cs typeface="Times New Roman" panose="02020603050405020304" charset="0"/>
              </a:rPr>
              <a:t> (т.е. “скриптовый язык под стандартом ECMA”)</a:t>
            </a:r>
            <a:endParaRPr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53060" y="1960880"/>
            <a:ext cx="6225540" cy="43992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Основные версии стандарта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ES3 (1999) — популярная «старая» версия.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ES5 (2009) — строгий режим ("use strict"), JSON, улучшения языка.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ES6 / ES2015 (2015) — крупнейшее обновление: классы, let/const, стрелочные функции, модули, промисы.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ES2016–2024 — ежегодные небольшие обновления.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ES2025 — готовящиеся нововведения (pipeline operator, decorators и др.)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" y="728345"/>
            <a:ext cx="555371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52069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3365" y="1450975"/>
            <a:ext cx="6598920" cy="424116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 charset="0"/>
                <a:cs typeface="Times New Roman" panose="02020603050405020304" charset="0"/>
              </a:rPr>
              <a:t>Ч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то описывает ECMAScript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? 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Стандарт определяет базовую логику языка: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синтаксис (как писать команды);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типы данных (Number, String, Object, Symbol, BigInt и др.);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операторы (+, ===, ??, ?., await);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функции и классы;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прототипы;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обработку ошибок;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встроенные объекты (Array, Map, Set, Math, Date);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модули (import/export);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buFont typeface="Arial" panose="020B0704020202020204"/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промисы и асинхронность.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45465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3365" y="1677035"/>
            <a:ext cx="5843270" cy="452120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Примеры н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ововведени</a:t>
            </a:r>
            <a:r>
              <a:rPr lang="ru-RU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й последних лет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в JavaScript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ES2023 (ES14)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spcAft>
                <a:spcPct val="60000"/>
              </a:spcAft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Array.prototype.findLast / findLastIndex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Поиск с конца массива.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AutoNum type="arabicPeriod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Array.prototype.toSorted / toReversed / toSpliced / with()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«Иммутабельные» версии методов — исходный массив не изменяют.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49846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3365" y="1408430"/>
            <a:ext cx="6301105" cy="501459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Примеры н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ововведени</a:t>
            </a:r>
            <a:r>
              <a:rPr lang="ru-RU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й последних лет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в JavaScript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ES2024 (ES15)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RegExp.escape() — надёжное экранирование строк для регулярных выражений.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Temporal API (эксперимент) — новая современная дата/время API.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(На финализации, ожидается в ближайшие стандарты.)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Улучшения Set и Map (приняты в некоторых движках)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685790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3365" y="1677035"/>
            <a:ext cx="5531485" cy="4397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ru-RU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Примеры н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ововведени</a:t>
            </a:r>
            <a:r>
              <a:rPr lang="ru-RU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й последних лет</a:t>
            </a:r>
            <a:r>
              <a:rPr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в JavaScript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ES2025</a:t>
            </a:r>
            <a:r>
              <a:rPr lang="ru-RU" altLang="en-US" sz="2400">
                <a:latin typeface="Times New Roman" panose="02020603050405020304" charset="0"/>
                <a:cs typeface="Times New Roman" panose="02020603050405020304" charset="0"/>
              </a:rPr>
              <a:t> в процессе </a:t>
            </a:r>
            <a:r>
              <a:rPr lang="en-US" altLang="ru-RU" sz="2400">
                <a:latin typeface="Times New Roman" panose="02020603050405020304" charset="0"/>
                <a:cs typeface="Times New Roman" panose="02020603050405020304" charset="0"/>
              </a:rPr>
              <a:t>...</a:t>
            </a: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endParaRPr lang="ru-RU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spcAft>
                <a:spcPct val="60000"/>
              </a:spcAft>
            </a:pPr>
            <a:r>
              <a:rPr lang="en-US" altLang="en-US" sz="2400">
                <a:latin typeface="Times New Roman" panose="02020603050405020304" charset="0"/>
                <a:cs typeface="Times New Roman" panose="02020603050405020304" charset="0"/>
              </a:rPr>
              <a:t>Стандарт разрабатывает организация Ecma International, технический комитет TC39 (в него входят Google, Mozilla, Microsoft, Apple и др.).</a:t>
            </a:r>
            <a:endParaRPr lang="en-US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253365" y="189230"/>
            <a:ext cx="5575935" cy="107632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3200">
                <a:latin typeface="Times New Roman" panose="02020603050405020304" charset="0"/>
                <a:cs typeface="Times New Roman" panose="02020603050405020304" charset="0"/>
              </a:rPr>
              <a:t>ECMAScript — стандарт языка JavaScript</a:t>
            </a:r>
            <a:endParaRPr sz="3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96" name="PlaceHolder 5"/>
          <p:cNvSpPr>
            <a:spLocks noGrp="1"/>
          </p:cNvSpPr>
          <p:nvPr/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vert="horz" lIns="120000" tIns="121920" rIns="120000" bIns="121920" rtlCol="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7E4CD2A-1EED-416D-8AEB-50B69981B52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53365" y="1905635"/>
            <a:ext cx="6378575" cy="304609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ECMAScript — это основа JavaScript.</a:t>
            </a:r>
            <a:r>
              <a:rPr lang="en-US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Он определяет, каким должен быть язык, а браузеры и платформы реализуют его.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Важно понимать: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7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ES обновляется каждый год.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704020202020204"/>
              <a:buChar char="•"/>
            </a:pPr>
            <a:r>
              <a:rPr sz="2400">
                <a:latin typeface="Times New Roman" panose="02020603050405020304" charset="0"/>
                <a:cs typeface="Times New Roman" panose="02020603050405020304" charset="0"/>
              </a:rPr>
              <a:t>Все современные возможности JavaScript идут из ECMAScript.</a:t>
            </a:r>
            <a:endParaRPr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15120" y="2297900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Roboto"/>
                <a:cs typeface="Times New Roman" panose="02020603050405020304" charset="0"/>
              </a:rPr>
              <a:t>Размещение JavaScript на веб-странице</a:t>
            </a:r>
            <a:br>
              <a:rPr lang="en-US" sz="56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Roboto"/>
                <a:cs typeface="Times New Roman" panose="02020603050405020304" charset="0"/>
              </a:rPr>
            </a:b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将 </a:t>
            </a: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 </a:t>
            </a: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放置在网页上</a:t>
            </a:r>
            <a:endParaRPr lang="ru-RU" sz="5600" b="0" strike="noStrike" spc="-1" dirty="0">
              <a:latin typeface="Arial" panose="020B0704020202020204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sldNum" idx="2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7D7C206-1309-4E10-8189-E596567E9D17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/>
          </p:nvPr>
        </p:nvSpPr>
        <p:spPr>
          <a:xfrm>
            <a:off x="238080" y="200770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Есть 3 способа подключения скрипта: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381000">
              <a:lnSpc>
                <a:spcPct val="115000"/>
              </a:lnSpc>
              <a:spcBef>
                <a:spcPts val="900"/>
              </a:spcBef>
              <a:buClr>
                <a:srgbClr val="000000"/>
              </a:buClr>
              <a:buFont typeface="Arial" panose="020B0704020202020204"/>
              <a:buAutoNum type="arabicParenR"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встроить текст скрипта внутрь веб-страницы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прописать ссылку на скрипт в веб-странице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внутри тега</a:t>
            </a:r>
            <a:endParaRPr lang="ru-RU" sz="32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/>
          </p:nvPr>
        </p:nvSpPr>
        <p:spPr>
          <a:xfrm>
            <a:off x="6259200" y="200770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3200" b="0" strike="noStrike" spc="-1" dirty="0">
                <a:latin typeface="Arial" panose="020B0704020202020204"/>
              </a:rPr>
              <a:t>连接脚本有</a:t>
            </a:r>
            <a:r>
              <a:rPr lang="en-US" altLang="zh-CN" sz="3200" b="0" strike="noStrike" spc="-1" dirty="0">
                <a:latin typeface="Arial" panose="020B0704020202020204"/>
              </a:rPr>
              <a:t>3</a:t>
            </a:r>
            <a:r>
              <a:rPr lang="zh-CN" altLang="en-US" sz="3200" b="0" strike="noStrike" spc="-1" dirty="0">
                <a:latin typeface="Arial" panose="020B0704020202020204"/>
              </a:rPr>
              <a:t>种方式：</a:t>
            </a:r>
            <a:endParaRPr lang="en-US" altLang="zh-CN" sz="4265" b="0" strike="noStrike" spc="-1" dirty="0">
              <a:latin typeface="Arial" panose="020B0704020202020204"/>
            </a:endParaRPr>
          </a:p>
          <a:p>
            <a:endParaRPr lang="en-US" altLang="zh-CN" sz="42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1.</a:t>
            </a:r>
            <a:r>
              <a:rPr lang="zh-CN" altLang="en-US" sz="2665" b="0" strike="noStrike" spc="-1" dirty="0">
                <a:latin typeface="Arial" panose="020B0704020202020204"/>
              </a:rPr>
              <a:t>在网页中嵌入脚本文本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2.</a:t>
            </a:r>
            <a:r>
              <a:rPr lang="zh-CN" altLang="en-US" sz="2665" b="0" strike="noStrike" spc="-1" dirty="0">
                <a:latin typeface="Arial" panose="020B0704020202020204"/>
              </a:rPr>
              <a:t>在网页中添加脚本的链接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3.</a:t>
            </a:r>
            <a:r>
              <a:rPr lang="zh-CN" altLang="en-US" sz="2665" b="0" strike="noStrike" spc="-1" dirty="0">
                <a:latin typeface="Arial" panose="020B0704020202020204"/>
              </a:rPr>
              <a:t>标签内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2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990EDCD-6A2D-4798-908A-0F5276DE115C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03" name="PlaceHolder 4"/>
          <p:cNvSpPr>
            <a:spLocks noGrp="1"/>
          </p:cNvSpPr>
          <p:nvPr>
            <p:ph type="title"/>
          </p:nvPr>
        </p:nvSpPr>
        <p:spPr>
          <a:xfrm>
            <a:off x="350880" y="597610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Подключить скрипт к веб-странице</a:t>
            </a:r>
            <a:endParaRPr lang="ru-RU" sz="4265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4" name="PlaceHolder 5"/>
          <p:cNvSpPr>
            <a:spLocks noGrp="1"/>
          </p:cNvSpPr>
          <p:nvPr>
            <p:ph type="title"/>
          </p:nvPr>
        </p:nvSpPr>
        <p:spPr>
          <a:xfrm>
            <a:off x="6259200" y="53665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将脚本连接到网页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/>
          </p:nvPr>
        </p:nvSpPr>
        <p:spPr>
          <a:xfrm>
            <a:off x="3529330" y="2282190"/>
            <a:ext cx="71697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 файле ./</a:t>
            </a:r>
            <a:r>
              <a:rPr lang="en-US" sz="3200" b="0" i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index.html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zh-CN" altLang="zh-CN" sz="2400" dirty="0">
                <a:effectLst/>
                <a:ea typeface="Microsoft YaHei" charset="-122"/>
              </a:rPr>
              <a:t>在 ./index.html 文件中：</a:t>
            </a:r>
            <a:endParaRPr lang="zh-CN" altLang="zh-CN" sz="2400" dirty="0">
              <a:effectLst/>
              <a:ea typeface="Microsoft YaHei" charset="-122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ru-RU" sz="2400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&lt;script&gt;</a:t>
            </a:r>
            <a:endParaRPr lang="ru-RU" sz="2665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		alert("Hello world!");</a:t>
            </a:r>
            <a:endParaRPr lang="ru-RU" sz="2665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&lt;/script&gt;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2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F2D49B9-5F88-4884-962C-5B70C3C41B09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08" name="PlaceHolder 4"/>
          <p:cNvSpPr>
            <a:spLocks noGrp="1"/>
          </p:cNvSpPr>
          <p:nvPr>
            <p:ph type="title"/>
          </p:nvPr>
        </p:nvSpPr>
        <p:spPr>
          <a:xfrm>
            <a:off x="177165" y="0"/>
            <a:ext cx="9801225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</a:t>
            </a:r>
            <a:r>
              <a:rPr lang="en-US" sz="4265" b="1" i="1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avaScript </a:t>
            </a:r>
            <a:r>
              <a:rPr lang="en-US" sz="4265" b="1" i="1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встроенный в страницу</a:t>
            </a:r>
            <a:endParaRPr lang="ru-RU" sz="4265" b="1" i="1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9" name="PlaceHolder 5"/>
          <p:cNvSpPr>
            <a:spLocks noGrp="1"/>
          </p:cNvSpPr>
          <p:nvPr>
            <p:ph type="title"/>
          </p:nvPr>
        </p:nvSpPr>
        <p:spPr>
          <a:xfrm>
            <a:off x="177165" y="760170"/>
            <a:ext cx="646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页面中嵌入 </a:t>
            </a:r>
            <a:r>
              <a:rPr lang="en-US" sz="4265" b="0" strike="noStrike" spc="-1" dirty="0">
                <a:latin typeface="Arial" panose="020B0704020202020204"/>
              </a:rPr>
              <a:t>JavaScript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/>
          </p:nvPr>
        </p:nvSpPr>
        <p:spPr>
          <a:xfrm>
            <a:off x="238125" y="2353945"/>
            <a:ext cx="605472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 файле ./</a:t>
            </a:r>
            <a:r>
              <a:rPr lang="en-US" sz="3200" b="0" i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index.html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zh-CN" altLang="zh-CN" sz="2400" dirty="0">
                <a:effectLst/>
                <a:ea typeface="Microsoft YaHei" charset="-122"/>
              </a:rPr>
              <a:t>在 ./index.html 文件中：</a:t>
            </a:r>
            <a:endParaRPr lang="zh-CN" altLang="zh-CN" sz="2400" dirty="0">
              <a:effectLst/>
              <a:ea typeface="Microsoft YaHei" charset="-122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ru-RU" altLang="zh-CN" sz="2400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&lt;script src="./script.js"&gt;&lt;/script&gt;</a:t>
            </a:r>
            <a:endParaRPr lang="ru-RU" sz="1335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2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7EBA553-39DC-412C-AFFC-5B29DF39EFAC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13" name="PlaceHolder 4"/>
          <p:cNvSpPr>
            <a:spLocks noGrp="1"/>
          </p:cNvSpPr>
          <p:nvPr>
            <p:ph type="title"/>
          </p:nvPr>
        </p:nvSpPr>
        <p:spPr>
          <a:xfrm>
            <a:off x="238125" y="67945"/>
            <a:ext cx="9177020" cy="102298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1" i="1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Внешний JavaScript файл</a:t>
            </a:r>
            <a:endParaRPr lang="ru-RU" sz="4265" b="1" i="1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4" name="PlaceHolder 5"/>
          <p:cNvSpPr>
            <a:spLocks noGrp="1"/>
          </p:cNvSpPr>
          <p:nvPr>
            <p:ph type="title"/>
          </p:nvPr>
        </p:nvSpPr>
        <p:spPr>
          <a:xfrm>
            <a:off x="238130" y="98496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外部 </a:t>
            </a:r>
            <a:r>
              <a:rPr lang="en-US" sz="4265" b="0" strike="noStrike" spc="-1" dirty="0">
                <a:latin typeface="Arial" panose="020B0704020202020204"/>
              </a:rPr>
              <a:t>JavaScript </a:t>
            </a:r>
            <a:r>
              <a:rPr lang="zh-CN" altLang="en-US" sz="4265" b="0" strike="noStrike" spc="-1" dirty="0">
                <a:latin typeface="Arial" panose="020B0704020202020204"/>
              </a:rPr>
              <a:t>文件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88530" y="2185035"/>
            <a:ext cx="4507230" cy="2487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3200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В файле ./</a:t>
            </a:r>
            <a:r>
              <a:rPr lang="en-US" sz="3200" i="1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script.js</a:t>
            </a:r>
            <a:r>
              <a:rPr lang="en-US" sz="3200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zh-CN" altLang="zh-CN" sz="2400" dirty="0">
                <a:effectLst/>
                <a:ea typeface="Microsoft YaHei" charset="-122"/>
                <a:sym typeface="+mn-ea"/>
              </a:rPr>
              <a:t>在 ./script.js 文件中</a:t>
            </a:r>
            <a:endParaRPr lang="ru-RU" sz="2400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endParaRPr lang="en-US" sz="2665" spc="-1" dirty="0">
              <a:solidFill>
                <a:srgbClr val="000000"/>
              </a:solidFill>
              <a:latin typeface="Consolas"/>
              <a:ea typeface="Consolas"/>
              <a:sym typeface="+mn-ea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665" spc="-1" dirty="0">
                <a:solidFill>
                  <a:srgbClr val="000000"/>
                </a:solidFill>
                <a:latin typeface="Consolas"/>
                <a:ea typeface="Consolas"/>
                <a:sym typeface="+mn-ea"/>
              </a:rPr>
              <a:t>alert("Hello world!");</a:t>
            </a:r>
            <a:endParaRPr lang="en-US" sz="2665" spc="-1" dirty="0">
              <a:solidFill>
                <a:srgbClr val="000000"/>
              </a:solidFill>
              <a:latin typeface="Consolas"/>
              <a:ea typeface="Consolas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/>
          </p:nvPr>
        </p:nvSpPr>
        <p:spPr>
          <a:xfrm>
            <a:off x="238080" y="248585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Парный тег &lt;script&gt; сообщает браузеру, что всё его содержимое нужно интерпретировать как исполняемый скрипт, а не как текст или HTML-код. 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&lt;script&gt; </a:t>
            </a:r>
            <a:r>
              <a:rPr lang="zh-CN" altLang="en-US" sz="2665" b="0" strike="noStrike" spc="-1" dirty="0">
                <a:latin typeface="Arial" panose="020B0704020202020204"/>
              </a:rPr>
              <a:t>标记告诉浏览器其所有内容都应解释为可执行脚本，而不是文本或 </a:t>
            </a:r>
            <a:r>
              <a:rPr lang="en-US" altLang="zh-CN" sz="2665" b="0" strike="noStrike" spc="-1" dirty="0">
                <a:latin typeface="Arial" panose="020B0704020202020204"/>
              </a:rPr>
              <a:t>HTML</a:t>
            </a:r>
            <a:r>
              <a:rPr lang="zh-CN" altLang="en-US" sz="2665" b="0" strike="noStrike" spc="-1" dirty="0">
                <a:latin typeface="Arial" panose="020B0704020202020204"/>
              </a:rPr>
              <a:t>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17" name="PlaceHolder 3"/>
          <p:cNvSpPr>
            <a:spLocks noGrp="1"/>
          </p:cNvSpPr>
          <p:nvPr>
            <p:ph type="sldNum" idx="3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74421D7-B372-449A-8B86-F0B34C4BDACB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18" name="PlaceHolder 4"/>
          <p:cNvSpPr>
            <a:spLocks noGrp="1"/>
          </p:cNvSpPr>
          <p:nvPr>
            <p:ph type="title"/>
          </p:nvPr>
        </p:nvSpPr>
        <p:spPr>
          <a:xfrm>
            <a:off x="330560" y="416000"/>
            <a:ext cx="6714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Тег &lt;script&gt;...&lt;/script&gt; 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419" name="PlaceHolder 5"/>
          <p:cNvSpPr>
            <a:spLocks noGrp="1"/>
          </p:cNvSpPr>
          <p:nvPr>
            <p:ph type="title"/>
          </p:nvPr>
        </p:nvSpPr>
        <p:spPr>
          <a:xfrm>
            <a:off x="477520" y="1188160"/>
            <a:ext cx="6714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&lt;script&gt;...&lt;/script&gt;</a:t>
            </a:r>
            <a:r>
              <a:rPr lang="zh-CN" altLang="en-US" sz="3735" spc="-1" dirty="0">
                <a:latin typeface="Arial" panose="020B0704020202020204"/>
              </a:rPr>
              <a:t>标签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/>
          </p:nvPr>
        </p:nvSpPr>
        <p:spPr>
          <a:xfrm>
            <a:off x="238080" y="1602580"/>
            <a:ext cx="59659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Тег script можно разместить внутри тегов &lt;head&gt; и &lt;body&gt;, в начале или в конце. Однако обычно скрипты подключают в конце секции body, прямо перед &lt;/body&gt;. Это ускоряет загрузку страницы, а время загрузки скрипта не влияет на отображение остальной страницы.</a:t>
            </a:r>
            <a:endParaRPr lang="ru-RU" sz="24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/>
          </p:nvPr>
        </p:nvSpPr>
        <p:spPr>
          <a:xfrm>
            <a:off x="6259200" y="160257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脚本标签可以放置在 </a:t>
            </a:r>
            <a:r>
              <a:rPr lang="en-US" altLang="zh-CN" sz="2665" b="0" strike="noStrike" spc="-1" dirty="0">
                <a:latin typeface="Arial" panose="020B0704020202020204"/>
              </a:rPr>
              <a:t>&lt;head&gt; </a:t>
            </a:r>
            <a:r>
              <a:rPr lang="zh-CN" altLang="en-US" sz="2665" b="0" strike="noStrike" spc="-1" dirty="0">
                <a:latin typeface="Arial" panose="020B0704020202020204"/>
              </a:rPr>
              <a:t>和 </a:t>
            </a:r>
            <a:r>
              <a:rPr lang="en-US" altLang="zh-CN" sz="2665" b="0" strike="noStrike" spc="-1" dirty="0">
                <a:latin typeface="Arial" panose="020B0704020202020204"/>
              </a:rPr>
              <a:t>&lt;body&gt; </a:t>
            </a:r>
            <a:r>
              <a:rPr lang="zh-CN" altLang="en-US" sz="2665" b="0" strike="noStrike" spc="-1" dirty="0">
                <a:latin typeface="Arial" panose="020B0704020202020204"/>
              </a:rPr>
              <a:t>标签内的开头或结尾。 但是，脚本通常包含在正文部分的末尾，就在 </a:t>
            </a:r>
            <a:r>
              <a:rPr lang="en-US" altLang="zh-CN" sz="2665" b="0" strike="noStrike" spc="-1" dirty="0">
                <a:latin typeface="Arial" panose="020B0704020202020204"/>
              </a:rPr>
              <a:t>&lt;/body&gt; </a:t>
            </a:r>
            <a:r>
              <a:rPr lang="zh-CN" altLang="en-US" sz="2665" b="0" strike="noStrike" spc="-1" dirty="0">
                <a:latin typeface="Arial" panose="020B0704020202020204"/>
              </a:rPr>
              <a:t>之前。 这使得页面加载速度更快，并且脚本的加载时间不会影响页面其余部分的显示。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3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22AD04C-39C2-4ECA-8F1D-8259AC906101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23" name="PlaceHolder 4"/>
          <p:cNvSpPr>
            <a:spLocks noGrp="1"/>
          </p:cNvSpPr>
          <p:nvPr>
            <p:ph type="title"/>
          </p:nvPr>
        </p:nvSpPr>
        <p:spPr>
          <a:xfrm>
            <a:off x="350245" y="404570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Где разместить тег script?</a:t>
            </a: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424" name="PlaceHolder 5"/>
          <p:cNvSpPr>
            <a:spLocks noGrp="1"/>
          </p:cNvSpPr>
          <p:nvPr>
            <p:ph type="title"/>
          </p:nvPr>
        </p:nvSpPr>
        <p:spPr>
          <a:xfrm>
            <a:off x="6096220" y="40457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我应该将脚本标签放在哪里？ 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/>
          </p:nvPr>
        </p:nvSpPr>
        <p:spPr>
          <a:xfrm>
            <a:off x="238080" y="1836895"/>
            <a:ext cx="59659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&lt;script&gt; заблокирует отрисовку страницы, пока не будут завершены загрузка и выполнение JS. Но подключенные файлы  могут долго загружаться и выполняться. Размещать скрипты в секции head нужно только в том случае, если без этого вся страница не будет работать и отображаться.</a:t>
            </a:r>
            <a:endParaRPr lang="ru-RU" sz="24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/>
          </p:nvPr>
        </p:nvSpPr>
        <p:spPr>
          <a:xfrm>
            <a:off x="6484625" y="183688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&lt;script&gt; </a:t>
            </a:r>
            <a:r>
              <a:rPr lang="zh-CN" altLang="en-US" sz="2665" b="0" strike="noStrike" spc="-1" dirty="0">
                <a:latin typeface="Arial" panose="020B0704020202020204"/>
              </a:rPr>
              <a:t>将阻止页面渲染，直到 </a:t>
            </a:r>
            <a:r>
              <a:rPr lang="en-US" altLang="zh-CN" sz="2665" b="0" strike="noStrike" spc="-1" dirty="0">
                <a:latin typeface="Arial" panose="020B0704020202020204"/>
              </a:rPr>
              <a:t>JS </a:t>
            </a:r>
            <a:r>
              <a:rPr lang="zh-CN" altLang="en-US" sz="2665" b="0" strike="noStrike" spc="-1" dirty="0">
                <a:latin typeface="Arial" panose="020B0704020202020204"/>
              </a:rPr>
              <a:t>完成加载和执行。 但连接的文件可能需要很长时间才能加载和执行。 仅当没有此脚本整个页面将无法工作和显示时，您才需要将脚本放置在头部。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3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570A92E-D9A5-4846-B323-7EACD70C8AC9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28" name="PlaceHolder 4"/>
          <p:cNvSpPr>
            <a:spLocks noGrp="1"/>
          </p:cNvSpPr>
          <p:nvPr>
            <p:ph type="title"/>
          </p:nvPr>
        </p:nvSpPr>
        <p:spPr>
          <a:xfrm>
            <a:off x="350880" y="47505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Где разместить тег script? </a:t>
            </a:r>
            <a:endParaRPr lang="ru-RU" sz="4265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9" name="PlaceHolder 5"/>
          <p:cNvSpPr>
            <a:spLocks noGrp="1"/>
          </p:cNvSpPr>
          <p:nvPr>
            <p:ph type="title"/>
          </p:nvPr>
        </p:nvSpPr>
        <p:spPr>
          <a:xfrm>
            <a:off x="6259200" y="382980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l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我应该将脚本标签放在哪里？ 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/>
          </p:nvPr>
        </p:nvSpPr>
        <p:spPr>
          <a:xfrm>
            <a:off x="238080" y="182482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Если логика скрипта простая, короткая, не имеет множества связей с другими элементами – то тег &lt;script&gt; может быть не нужен и действие можно разместить внутри тега HTML. 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31" name="PlaceHolder 2"/>
          <p:cNvSpPr>
            <a:spLocks noGrp="1"/>
          </p:cNvSpPr>
          <p:nvPr>
            <p:ph/>
          </p:nvPr>
        </p:nvSpPr>
        <p:spPr>
          <a:xfrm>
            <a:off x="6259200" y="182482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如果脚本逻辑简单、简短，并且与其他元素没有太多联系，那么可能不需要 </a:t>
            </a:r>
            <a:r>
              <a:rPr lang="en-US" altLang="zh-CN" sz="2665" b="0" strike="noStrike" spc="-1" dirty="0">
                <a:latin typeface="Arial" panose="020B0704020202020204"/>
              </a:rPr>
              <a:t>&lt;script&gt; </a:t>
            </a:r>
            <a:r>
              <a:rPr lang="zh-CN" altLang="en-US" sz="2665" b="0" strike="noStrike" spc="-1" dirty="0">
                <a:latin typeface="Arial" panose="020B0704020202020204"/>
              </a:rPr>
              <a:t>标签，可以将操作放在 </a:t>
            </a:r>
            <a:r>
              <a:rPr lang="en-US" altLang="zh-CN" sz="2665" b="0" strike="noStrike" spc="-1" dirty="0">
                <a:latin typeface="Arial" panose="020B0704020202020204"/>
              </a:rPr>
              <a:t>HTML </a:t>
            </a:r>
            <a:r>
              <a:rPr lang="zh-CN" altLang="en-US" sz="2665" b="0" strike="noStrike" spc="-1" dirty="0">
                <a:latin typeface="Arial" panose="020B0704020202020204"/>
              </a:rPr>
              <a:t>标签内。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 idx="3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615CD3B-9CF2-4513-A074-0861AB5F7A20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33" name="PlaceHolder 4"/>
          <p:cNvSpPr>
            <a:spLocks noGrp="1"/>
          </p:cNvSpPr>
          <p:nvPr>
            <p:ph type="title"/>
          </p:nvPr>
        </p:nvSpPr>
        <p:spPr>
          <a:xfrm>
            <a:off x="237850" y="26169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внутри тега 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434" name="PlaceHolder 5"/>
          <p:cNvSpPr>
            <a:spLocks noGrp="1"/>
          </p:cNvSpPr>
          <p:nvPr>
            <p:ph type="title"/>
          </p:nvPr>
        </p:nvSpPr>
        <p:spPr>
          <a:xfrm>
            <a:off x="6259200" y="26169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标签内的 </a:t>
            </a:r>
            <a:r>
              <a:rPr lang="en-US" sz="4265" b="0" strike="noStrike" spc="-1" dirty="0">
                <a:latin typeface="Arial" panose="020B0704020202020204"/>
              </a:rPr>
              <a:t>JavaScript 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/>
          </p:nvPr>
        </p:nvSpPr>
        <p:spPr>
          <a:xfrm>
            <a:off x="237490" y="1623695"/>
            <a:ext cx="572325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Для размещения JavaScript функции внутри HTML тега используются специальные атрибуты — например, onclick, onmouseover, onkeypress, onload.</a:t>
            </a:r>
            <a:endParaRPr lang="ru-RU" sz="36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6259200" y="1796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要将 </a:t>
            </a:r>
            <a:r>
              <a:rPr lang="en-US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函数放置在标签内，需要使用特殊属性 </a:t>
            </a:r>
            <a:r>
              <a:rPr lang="en-US" altLang="zh-CN" sz="2665" b="0" strike="noStrike" spc="-1" dirty="0">
                <a:latin typeface="Arial" panose="020B0704020202020204"/>
              </a:rPr>
              <a:t>- </a:t>
            </a:r>
            <a:r>
              <a:rPr lang="zh-CN" altLang="en-US" sz="2665" b="0" strike="noStrike" spc="-1" dirty="0">
                <a:latin typeface="Arial" panose="020B0704020202020204"/>
              </a:rPr>
              <a:t>例如 </a:t>
            </a:r>
            <a:r>
              <a:rPr lang="en-US" sz="2665" b="0" strike="noStrike" spc="-1" dirty="0" err="1">
                <a:latin typeface="Arial" panose="020B0704020202020204"/>
              </a:rPr>
              <a:t>onclick、onmouseover、onkeypress、onload</a:t>
            </a:r>
            <a:r>
              <a:rPr lang="en-US" sz="2665" b="0" strike="noStrike" spc="-1" dirty="0">
                <a:latin typeface="Arial" panose="020B0704020202020204"/>
              </a:rPr>
              <a:t>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3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F5555BF-A8F0-415C-9D8B-225A8096D460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38" name="PlaceHolder 4"/>
          <p:cNvSpPr>
            <a:spLocks noGrp="1"/>
          </p:cNvSpPr>
          <p:nvPr>
            <p:ph type="title"/>
          </p:nvPr>
        </p:nvSpPr>
        <p:spPr>
          <a:xfrm>
            <a:off x="350245" y="26169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JavaScript внутри тега </a:t>
            </a:r>
            <a:endParaRPr lang="ru-RU" sz="3600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9" name="PlaceHolder 5"/>
          <p:cNvSpPr>
            <a:spLocks noGrp="1"/>
          </p:cNvSpPr>
          <p:nvPr>
            <p:ph type="title"/>
          </p:nvPr>
        </p:nvSpPr>
        <p:spPr>
          <a:xfrm>
            <a:off x="6259200" y="26169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标签内的 </a:t>
            </a:r>
            <a:r>
              <a:rPr lang="en-US" sz="4265" b="0" strike="noStrike" spc="-1" dirty="0">
                <a:latin typeface="Arial" panose="020B0704020202020204"/>
              </a:rPr>
              <a:t>JavaScript 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/>
          </p:nvPr>
        </p:nvSpPr>
        <p:spPr>
          <a:xfrm>
            <a:off x="238125" y="2059940"/>
            <a:ext cx="1112710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 файле ./</a:t>
            </a:r>
            <a:r>
              <a:rPr lang="en-US" sz="3200" b="0" i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index.html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: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15000"/>
              </a:lnSpc>
              <a:buNone/>
              <a:tabLst>
                <a:tab pos="0" algn="l"/>
              </a:tabLst>
            </a:pPr>
            <a:endParaRPr lang="en-US" sz="3200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i="1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&lt;body&gt;…</a:t>
            </a:r>
            <a:endParaRPr lang="ru-RU" sz="2665" b="0" strike="noStrike" spc="-1" dirty="0">
              <a:latin typeface="Arial" panose="020B0704020202020204"/>
            </a:endParaRPr>
          </a:p>
          <a:p>
            <a:pPr indent="0"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strike="noStrike" spc="-1" dirty="0">
                <a:solidFill>
                  <a:srgbClr val="000000"/>
                </a:solidFill>
                <a:latin typeface="Consolas"/>
                <a:ea typeface="Consolas"/>
              </a:rPr>
              <a:t>&lt;button onclick="alert('Hello world!')"&gt; Press button &lt;/button&gt;</a:t>
            </a:r>
            <a:endParaRPr lang="ru-RU" sz="2665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buNone/>
              <a:tabLst>
                <a:tab pos="0" algn="l"/>
              </a:tabLst>
            </a:pPr>
            <a:r>
              <a:rPr lang="en-US" sz="2665" b="0" i="1" strike="noStrike" spc="-1" dirty="0">
                <a:solidFill>
                  <a:srgbClr val="000000"/>
                </a:solidFill>
                <a:latin typeface="Consolas"/>
                <a:ea typeface="Consolas"/>
              </a:rPr>
              <a:t>…&lt;/body&gt;</a:t>
            </a:r>
            <a:endParaRPr lang="ru-RU" sz="2665" b="0" strike="noStrike" spc="-1" dirty="0">
              <a:latin typeface="Arial" panose="020B0704020202020204"/>
            </a:endParaRPr>
          </a:p>
          <a:p>
            <a:pPr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  <a:tabLst>
                <a:tab pos="0" algn="l"/>
              </a:tabLst>
            </a:pP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3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1AE70B4-3C4F-4E19-B1F1-7011AECF611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443" name="PlaceHolder 4"/>
          <p:cNvSpPr>
            <a:spLocks noGrp="1"/>
          </p:cNvSpPr>
          <p:nvPr>
            <p:ph type="title"/>
          </p:nvPr>
        </p:nvSpPr>
        <p:spPr>
          <a:xfrm>
            <a:off x="237850" y="322655"/>
            <a:ext cx="56107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Times New Roman" panose="02020603050405020304" charset="0"/>
                <a:ea typeface="Arial" panose="020B0704020202020204"/>
                <a:cs typeface="Times New Roman" panose="02020603050405020304" charset="0"/>
              </a:rPr>
              <a:t>JavaScript внутри тега </a:t>
            </a:r>
            <a:endParaRPr lang="ru-RU" sz="4265" b="0" strike="noStrike" spc="-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4" name="PlaceHolder 5"/>
          <p:cNvSpPr>
            <a:spLocks noGrp="1"/>
          </p:cNvSpPr>
          <p:nvPr>
            <p:ph type="title"/>
          </p:nvPr>
        </p:nvSpPr>
        <p:spPr>
          <a:xfrm>
            <a:off x="6259200" y="32265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zh-CN" altLang="en-US" sz="4265" b="0" strike="noStrike" spc="-1" dirty="0">
                <a:latin typeface="Arial" panose="020B0704020202020204"/>
              </a:rPr>
              <a:t>标签内的 </a:t>
            </a:r>
            <a:r>
              <a:rPr lang="en-US" sz="4265" b="0" strike="noStrike" spc="-1" dirty="0">
                <a:latin typeface="Arial" panose="020B0704020202020204"/>
              </a:rPr>
              <a:t>JavaScript </a:t>
            </a:r>
            <a:endParaRPr lang="ru-RU" sz="4265" b="0" strike="noStrike" spc="-1" dirty="0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0" y="441960"/>
            <a:ext cx="5728335" cy="7804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Какая роль у тега &lt;script&gt;?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title"/>
          </p:nvPr>
        </p:nvSpPr>
        <p:spPr>
          <a:xfrm>
            <a:off x="6096000" y="317500"/>
            <a:ext cx="6096000" cy="8991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sz="3600" b="0" strike="noStrike" spc="-1" dirty="0">
                <a:latin typeface="Arial" panose="020B0704020202020204"/>
              </a:rPr>
              <a:t>&lt;script&gt;</a:t>
            </a:r>
            <a:r>
              <a:rPr lang="zh-CN" altLang="en-US" sz="3600" b="0" strike="noStrike" spc="-1" dirty="0">
                <a:latin typeface="Arial" panose="020B0704020202020204"/>
              </a:rPr>
              <a:t>标签的作用是什么？</a:t>
            </a:r>
            <a:endParaRPr lang="zh-CN" altLang="en-US" sz="3600" b="0" strike="noStrike" spc="-1" dirty="0">
              <a:latin typeface="Arial" panose="020B0704020202020204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177120" y="1848490"/>
            <a:ext cx="59188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постоянно блокировать веб-страницу</a:t>
            </a:r>
            <a:endParaRPr lang="ru-RU" sz="3200" b="0" strike="noStrike" spc="-1" dirty="0">
              <a:latin typeface="Arial" panose="020B0704020202020204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сообщить браузеру, где на странице код скрипта </a:t>
            </a:r>
            <a:endParaRPr lang="ru-RU" sz="3200" b="0" strike="noStrike" spc="-1" dirty="0">
              <a:latin typeface="Arial" panose="020B0704020202020204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показывать диалоговое окно</a:t>
            </a:r>
            <a:endParaRPr lang="ru-RU" sz="3200" b="0" strike="noStrike" spc="-1" dirty="0">
              <a:latin typeface="Arial" panose="020B0704020202020204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перевести JS в машинный код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/>
          </p:nvPr>
        </p:nvSpPr>
        <p:spPr>
          <a:xfrm>
            <a:off x="6757670" y="1848485"/>
            <a:ext cx="51123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1.</a:t>
            </a:r>
            <a:r>
              <a:rPr lang="zh-CN" altLang="en-US" sz="2665" b="0" strike="noStrike" spc="-1" dirty="0">
                <a:latin typeface="Arial" panose="020B0704020202020204"/>
              </a:rPr>
              <a:t>永久阻止网页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2.</a:t>
            </a:r>
            <a:r>
              <a:rPr lang="zh-CN" altLang="en-US" sz="2665" b="0" strike="noStrike" spc="-1" dirty="0">
                <a:latin typeface="Arial" panose="020B0704020202020204"/>
              </a:rPr>
              <a:t>告诉浏览器脚本代码在页面的哪个位置</a:t>
            </a:r>
            <a:endParaRPr lang="en-US" altLang="zh-CN" sz="2665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3.</a:t>
            </a:r>
            <a:r>
              <a:rPr lang="zh-CN" altLang="en-US" sz="2665" b="0" strike="noStrike" spc="-1" dirty="0">
                <a:latin typeface="Arial" panose="020B0704020202020204"/>
              </a:rPr>
              <a:t>显示对话框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4.</a:t>
            </a:r>
            <a:r>
              <a:rPr lang="zh-CN" altLang="en-US" sz="2665" b="0" strike="noStrike" spc="-1" dirty="0">
                <a:latin typeface="Arial" panose="020B0704020202020204"/>
              </a:rPr>
              <a:t>将 </a:t>
            </a:r>
            <a:r>
              <a:rPr lang="en-US" altLang="zh-CN" sz="2665" b="0" strike="noStrike" spc="-1" dirty="0">
                <a:latin typeface="Arial" panose="020B0704020202020204"/>
              </a:rPr>
              <a:t>JS </a:t>
            </a:r>
            <a:r>
              <a:rPr lang="zh-CN" altLang="en-US" sz="2665" b="0" strike="noStrike" spc="-1" dirty="0">
                <a:latin typeface="Arial" panose="020B0704020202020204"/>
              </a:rPr>
              <a:t>转换为机器码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49" name="PlaceHolder 5"/>
          <p:cNvSpPr>
            <a:spLocks noGrp="1"/>
          </p:cNvSpPr>
          <p:nvPr>
            <p:ph type="sldNum" idx="3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0045DA0-1536-4435-8D5B-C22AF4362B6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304915" y="2726690"/>
            <a:ext cx="5685790" cy="109410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8740" y="3176270"/>
            <a:ext cx="6017260" cy="119253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0" y="441960"/>
            <a:ext cx="5728335" cy="7804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000000"/>
              </a:buClr>
              <a:buFont typeface="Arial" panose="020B0704020202020204"/>
              <a:buAutoNum type="arabicPeriod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Какая роль у тега &lt;script&gt;?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446" name="PlaceHolder 2"/>
          <p:cNvSpPr>
            <a:spLocks noGrp="1"/>
          </p:cNvSpPr>
          <p:nvPr>
            <p:ph type="title"/>
          </p:nvPr>
        </p:nvSpPr>
        <p:spPr>
          <a:xfrm>
            <a:off x="6096000" y="317500"/>
            <a:ext cx="6096000" cy="89916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sz="3600" b="0" strike="noStrike" spc="-1" dirty="0">
                <a:latin typeface="Arial" panose="020B0704020202020204"/>
              </a:rPr>
              <a:t>&lt;script&gt;</a:t>
            </a:r>
            <a:r>
              <a:rPr lang="zh-CN" altLang="en-US" sz="3600" b="0" strike="noStrike" spc="-1" dirty="0">
                <a:latin typeface="Arial" panose="020B0704020202020204"/>
              </a:rPr>
              <a:t>标签的作用是什么？</a:t>
            </a:r>
            <a:endParaRPr lang="zh-CN" altLang="en-US" sz="3600" b="0" strike="noStrike" spc="-1" dirty="0">
              <a:latin typeface="Arial" panose="020B0704020202020204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/>
          </p:nvPr>
        </p:nvSpPr>
        <p:spPr>
          <a:xfrm>
            <a:off x="177120" y="1848490"/>
            <a:ext cx="59188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постоянно блокировать веб-страницу</a:t>
            </a:r>
            <a:endParaRPr lang="ru-RU" sz="3200" b="0" strike="noStrike" spc="-1" dirty="0">
              <a:latin typeface="Arial" panose="020B0704020202020204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сообщить браузеру, где на странице код скрипта </a:t>
            </a:r>
            <a:endParaRPr lang="ru-RU" sz="3200" b="0" strike="noStrike" spc="-1" dirty="0">
              <a:latin typeface="Arial" panose="020B0704020202020204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показывать диалоговое окно</a:t>
            </a:r>
            <a:endParaRPr lang="ru-RU" sz="3200" b="0" strike="noStrike" spc="-1" dirty="0">
              <a:latin typeface="Arial" panose="020B0704020202020204"/>
            </a:endParaRPr>
          </a:p>
          <a:p>
            <a:pPr marL="179705" indent="-24765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перевести JS в машинный код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48" name="PlaceHolder 4"/>
          <p:cNvSpPr>
            <a:spLocks noGrp="1"/>
          </p:cNvSpPr>
          <p:nvPr>
            <p:ph/>
          </p:nvPr>
        </p:nvSpPr>
        <p:spPr>
          <a:xfrm>
            <a:off x="6757670" y="1848485"/>
            <a:ext cx="511238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1.</a:t>
            </a:r>
            <a:r>
              <a:rPr lang="zh-CN" altLang="en-US" sz="2665" b="0" strike="noStrike" spc="-1" dirty="0">
                <a:latin typeface="Arial" panose="020B0704020202020204"/>
              </a:rPr>
              <a:t>永久阻止网页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2.</a:t>
            </a:r>
            <a:r>
              <a:rPr lang="zh-CN" altLang="en-US" sz="2665" b="0" strike="noStrike" spc="-1" dirty="0">
                <a:latin typeface="Arial" panose="020B0704020202020204"/>
              </a:rPr>
              <a:t>告诉浏览器脚本代码在页面的哪个位置</a:t>
            </a:r>
            <a:endParaRPr lang="en-US" altLang="zh-CN" sz="2665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3.</a:t>
            </a:r>
            <a:r>
              <a:rPr lang="zh-CN" altLang="en-US" sz="2665" b="0" strike="noStrike" spc="-1" dirty="0">
                <a:latin typeface="Arial" panose="020B0704020202020204"/>
              </a:rPr>
              <a:t>显示对话框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4.</a:t>
            </a:r>
            <a:r>
              <a:rPr lang="zh-CN" altLang="en-US" sz="2665" b="0" strike="noStrike" spc="-1" dirty="0">
                <a:latin typeface="Arial" panose="020B0704020202020204"/>
              </a:rPr>
              <a:t>将 </a:t>
            </a:r>
            <a:r>
              <a:rPr lang="en-US" altLang="zh-CN" sz="2665" b="0" strike="noStrike" spc="-1" dirty="0">
                <a:latin typeface="Arial" panose="020B0704020202020204"/>
              </a:rPr>
              <a:t>JS </a:t>
            </a:r>
            <a:r>
              <a:rPr lang="zh-CN" altLang="en-US" sz="2665" b="0" strike="noStrike" spc="-1" dirty="0">
                <a:latin typeface="Arial" panose="020B0704020202020204"/>
              </a:rPr>
              <a:t>转换为机器码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49" name="PlaceHolder 5"/>
          <p:cNvSpPr>
            <a:spLocks noGrp="1"/>
          </p:cNvSpPr>
          <p:nvPr>
            <p:ph type="sldNum" idx="3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0045DA0-1536-4435-8D5B-C22AF4362B6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615120" y="1506480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 в браузере</a:t>
            </a: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zh-CN" altLang="en-US" sz="48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浏览器中的 </a:t>
            </a:r>
            <a:r>
              <a:rPr lang="en-US" sz="48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</a:t>
            </a:r>
            <a:endParaRPr lang="ru-RU" sz="4800" b="0" strike="noStrike" spc="-1" dirty="0">
              <a:latin typeface="Arial" panose="020B0704020202020204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sldNum" idx="3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2CE111C-8ADD-4BA7-83F5-33D49AB4BFC1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/>
          </p:nvPr>
        </p:nvSpPr>
        <p:spPr>
          <a:xfrm>
            <a:off x="238080" y="1278720"/>
            <a:ext cx="5723520" cy="53280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Современный JavaScript – это «безопасный» язык программирования. Он не предоставляет доступ к памяти или процессору, потому что изначально был создан для браузеров, не требующих этого.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54" name="PlaceHolder 2"/>
          <p:cNvSpPr>
            <a:spLocks noGrp="1"/>
          </p:cNvSpPr>
          <p:nvPr>
            <p:ph type="title"/>
          </p:nvPr>
        </p:nvSpPr>
        <p:spPr>
          <a:xfrm>
            <a:off x="415290" y="276225"/>
            <a:ext cx="10079990" cy="802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Возможности JS        </a:t>
            </a: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JS </a:t>
            </a:r>
            <a:r>
              <a:rPr lang="zh-CN" alt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特点 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3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9E7A87E-9EA6-4BFF-9541-E35CB3BB38BB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27470" y="1342390"/>
            <a:ext cx="49377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现代 </a:t>
            </a:r>
            <a:r>
              <a:rPr lang="en-US" altLang="zh-CN" sz="2400" dirty="0"/>
              <a:t>JavaScript </a:t>
            </a:r>
            <a:r>
              <a:rPr lang="zh-CN" altLang="en-US" sz="2400" dirty="0"/>
              <a:t>是一种“安全”的编程语言。 它不提供内存或 </a:t>
            </a:r>
            <a:r>
              <a:rPr lang="en-US" altLang="zh-CN" sz="2400" dirty="0"/>
              <a:t>CPU </a:t>
            </a:r>
            <a:r>
              <a:rPr lang="zh-CN" altLang="en-US" sz="2400" dirty="0"/>
              <a:t>访问，因为它最初是为不需要它的浏览器创建的。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/>
          </p:nvPr>
        </p:nvSpPr>
        <p:spPr>
          <a:xfrm>
            <a:off x="238080" y="1278720"/>
            <a:ext cx="5723520" cy="53280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Возможности JavaScript зависят от окружения, в котором он работает. Например, Node.JS поддерживает функции чтения/записи файлов, выполнения сетевых запросов и т.д. (что невозможно в браузере).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title"/>
          </p:nvPr>
        </p:nvSpPr>
        <p:spPr>
          <a:xfrm>
            <a:off x="390525" y="153670"/>
            <a:ext cx="10537190" cy="802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Возможности JS   </a:t>
            </a:r>
            <a:r>
              <a:rPr lang="en-US" altLang="zh-CN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JS </a:t>
            </a:r>
            <a:r>
              <a:rPr lang="zh-CN" alt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特点 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3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258F605-4DE5-4BA4-B175-664B93A6D06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75720" y="1391920"/>
            <a:ext cx="564896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JavaScript </a:t>
            </a:r>
            <a:r>
              <a:rPr lang="zh-CN" altLang="en-US" sz="2400" dirty="0"/>
              <a:t>的功能取决于它运行的环境。 例如，</a:t>
            </a:r>
            <a:r>
              <a:rPr lang="en-US" altLang="zh-CN" sz="2400" dirty="0" err="1"/>
              <a:t>Node.JS</a:t>
            </a:r>
            <a:r>
              <a:rPr lang="zh-CN" altLang="en-US" sz="2400" dirty="0"/>
              <a:t>支持读</a:t>
            </a:r>
            <a:r>
              <a:rPr lang="en-US" altLang="zh-CN" sz="2400" dirty="0"/>
              <a:t>/</a:t>
            </a:r>
            <a:r>
              <a:rPr lang="zh-CN" altLang="en-US" sz="2400" dirty="0"/>
              <a:t>写文件、发出网络请求等功能。 （这在浏览器中是不可能的）。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/>
          </p:nvPr>
        </p:nvSpPr>
        <p:spPr>
          <a:xfrm>
            <a:off x="407035" y="2104390"/>
            <a:ext cx="11233785" cy="423862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 браузере для JavaScript доступно всё, что связано с манипулированием веб-страницами, взаимодействием с пользователем и веб-сервером.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zh-CN" altLang="en-US" sz="2665" b="0" strike="noStrike" spc="-1" dirty="0">
                <a:latin typeface="Arial" panose="020B0704020202020204"/>
              </a:rPr>
              <a:t>与操作网页、与用户交互以及 </a:t>
            </a:r>
            <a:r>
              <a:rPr lang="en-US" altLang="zh-CN" sz="2665" b="0" strike="noStrike" spc="-1" dirty="0">
                <a:latin typeface="Arial" panose="020B0704020202020204"/>
              </a:rPr>
              <a:t>Web </a:t>
            </a:r>
            <a:r>
              <a:rPr lang="zh-CN" altLang="en-US" sz="2665" b="0" strike="noStrike" spc="-1" dirty="0">
                <a:latin typeface="Arial" panose="020B0704020202020204"/>
              </a:rPr>
              <a:t>服务器相关的所有内容都可以在浏览器中使用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实现。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60" name="PlaceHolder 2"/>
          <p:cNvSpPr>
            <a:spLocks noGrp="1"/>
          </p:cNvSpPr>
          <p:nvPr>
            <p:ph type="title"/>
          </p:nvPr>
        </p:nvSpPr>
        <p:spPr>
          <a:xfrm>
            <a:off x="478790" y="570865"/>
            <a:ext cx="7851775" cy="802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Возможности JS          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JS</a:t>
            </a:r>
            <a:r>
              <a:rPr lang="zh-CN" alt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特点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4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A89BB43-8B1B-43F4-AE3E-9A660E3C67F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/>
          </p:nvPr>
        </p:nvSpPr>
        <p:spPr>
          <a:xfrm>
            <a:off x="496565" y="214105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✔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Добавлять новый HTML-код на страницу, изменять существующее содержимое, модифицировать стили.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2665" b="0" strike="noStrike" spc="-1" dirty="0">
                <a:latin typeface="Arial" panose="020B0704020202020204"/>
              </a:rPr>
              <a:t>	</a:t>
            </a:r>
            <a:r>
              <a:rPr lang="zh-CN" altLang="en-US" sz="2665" b="0" strike="noStrike" spc="-1" dirty="0">
                <a:latin typeface="Arial" panose="020B0704020202020204"/>
              </a:rPr>
              <a:t>向页面添加新的 </a:t>
            </a:r>
            <a:r>
              <a:rPr lang="en-US" altLang="zh-CN" sz="2665" b="0" strike="noStrike" spc="-1" dirty="0">
                <a:latin typeface="Arial" panose="020B0704020202020204"/>
              </a:rPr>
              <a:t>HTML </a:t>
            </a:r>
            <a:r>
              <a:rPr lang="zh-CN" altLang="en-US" sz="2665" b="0" strike="noStrike" spc="-1" dirty="0">
                <a:latin typeface="Arial" panose="020B0704020202020204"/>
              </a:rPr>
              <a:t>代码、更改现有内容、修改样式</a:t>
            </a:r>
            <a:r>
              <a:rPr lang="zh-CN" altLang="en-US" sz="3200" b="0" strike="noStrike" spc="-1" dirty="0">
                <a:latin typeface="Arial" panose="020B0704020202020204"/>
              </a:rPr>
              <a:t>。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✔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Реагировать на действия пользователя, щелчки мыши, перемещения указателя, нажатия клавиш.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3200" b="0" strike="noStrike" spc="-1" dirty="0">
                <a:latin typeface="Arial" panose="020B0704020202020204"/>
              </a:rPr>
              <a:t>	</a:t>
            </a:r>
            <a:r>
              <a:rPr lang="zh-CN" altLang="en-US" sz="2665" b="0" strike="noStrike" spc="-1" dirty="0">
                <a:latin typeface="Arial" panose="020B0704020202020204"/>
              </a:rPr>
              <a:t>对用户操作、鼠标点击、指针移动、击键做出反应。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title"/>
          </p:nvPr>
        </p:nvSpPr>
        <p:spPr>
          <a:xfrm>
            <a:off x="629280" y="638885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может JS в браузере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JS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在浏览器中能做什么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 type="sldNum" idx="4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B92ACB6-CE49-417B-AA59-1FA9E6E5533C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/>
          </p:nvPr>
        </p:nvSpPr>
        <p:spPr>
          <a:xfrm>
            <a:off x="403220" y="208009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✓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Отправлять запросы на доступный удалённый сервер, скачивать и загружать с него файлы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sz="3200" spc="-1" dirty="0">
                <a:solidFill>
                  <a:srgbClr val="000000"/>
                </a:solidFill>
                <a:latin typeface="Arial" panose="020B0704020202020204"/>
              </a:rPr>
              <a:t>	</a:t>
            </a:r>
            <a:r>
              <a:rPr lang="zh-CN" altLang="en-US" sz="2665" spc="-1" dirty="0">
                <a:solidFill>
                  <a:srgbClr val="000000"/>
                </a:solidFill>
                <a:latin typeface="Arial" panose="020B0704020202020204"/>
              </a:rPr>
              <a:t>向可用的远程服务器发送请求，从中下载和上传文件</a:t>
            </a:r>
            <a:endParaRPr lang="ru-RU" sz="2665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✓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Получать и устанавливать куки, задавать вопросы посетителю, показывать сообщения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3200" b="0" strike="noStrike" spc="-1" dirty="0">
                <a:latin typeface="Arial" panose="020B0704020202020204"/>
              </a:rPr>
              <a:t>	</a:t>
            </a:r>
            <a:r>
              <a:rPr lang="zh-CN" altLang="en-US" sz="2665" b="0" strike="noStrike" spc="-1" dirty="0">
                <a:latin typeface="Arial" panose="020B0704020202020204"/>
              </a:rPr>
              <a:t>接收和设置 </a:t>
            </a:r>
            <a:r>
              <a:rPr lang="en-US" altLang="zh-CN" sz="2665" b="0" strike="noStrike" spc="-1" dirty="0">
                <a:latin typeface="Arial" panose="020B0704020202020204"/>
              </a:rPr>
              <a:t>cookie</a:t>
            </a:r>
            <a:r>
              <a:rPr lang="zh-CN" altLang="en-US" sz="2665" b="0" strike="noStrike" spc="-1" dirty="0">
                <a:latin typeface="Arial" panose="020B0704020202020204"/>
              </a:rPr>
              <a:t>、向访问者提问、显示消息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title"/>
          </p:nvPr>
        </p:nvSpPr>
        <p:spPr>
          <a:xfrm>
            <a:off x="403220" y="50617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может JS в браузере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JS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在浏览器中能做什么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sldNum" idx="4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7A61895D-F814-4E88-A4CA-71C8C504C491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✓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Запоминать (кэшировать) данные на стороне клиента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 marL="76200" indent="0">
              <a:lnSpc>
                <a:spcPct val="115000"/>
              </a:lnSpc>
              <a:buClr>
                <a:srgbClr val="000000"/>
              </a:buClr>
              <a:buNone/>
            </a:pPr>
            <a:r>
              <a:rPr lang="en-US" altLang="zh-CN" sz="3200" b="0" strike="noStrike" spc="-1" dirty="0">
                <a:latin typeface="Arial" panose="020B0704020202020204"/>
              </a:rPr>
              <a:t>	</a:t>
            </a:r>
            <a:r>
              <a:rPr lang="zh-CN" altLang="en-US" sz="3200" b="0" strike="noStrike" spc="-1" dirty="0">
                <a:latin typeface="Arial" panose="020B0704020202020204"/>
              </a:rPr>
              <a:t>在客户端存储（缓存）数据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может JS в браузере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en-US" altLang="zh-CN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JS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在浏览器中能做什么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 type="sldNum" idx="4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4859166-0361-4ED1-917C-8D987DA6535F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/>
          </p:nvPr>
        </p:nvSpPr>
        <p:spPr>
          <a:xfrm>
            <a:off x="259045" y="2202010"/>
            <a:ext cx="5701440" cy="36124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Возможности JavaScript в браузере ограничены ради безопасности пользователя. JS предотвращает доступ недобросовестной веб-страницы к личной информации или нанесения ущерба данным пользователя.</a:t>
            </a:r>
            <a:endParaRPr lang="ru-RU" sz="2935" b="0" strike="noStrike" spc="-1" dirty="0">
              <a:latin typeface="Arial" panose="020B0704020202020204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 type="title"/>
          </p:nvPr>
        </p:nvSpPr>
        <p:spPr>
          <a:xfrm>
            <a:off x="259525" y="842720"/>
            <a:ext cx="570144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</a:t>
            </a:r>
            <a:r>
              <a:rPr lang="en-US" sz="4800" b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НЕ</a:t>
            </a: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может JS в браузере</a:t>
            </a:r>
            <a:endParaRPr lang="ru-RU" sz="4800" b="0" strike="noStrike" spc="-1" dirty="0">
              <a:latin typeface="Arial" panose="020B0704020202020204"/>
            </a:endParaRPr>
          </a:p>
        </p:txBody>
      </p:sp>
      <p:sp>
        <p:nvSpPr>
          <p:cNvPr id="476" name="PlaceHolder 3"/>
          <p:cNvSpPr>
            <a:spLocks noGrp="1"/>
          </p:cNvSpPr>
          <p:nvPr>
            <p:ph/>
          </p:nvPr>
        </p:nvSpPr>
        <p:spPr>
          <a:xfrm>
            <a:off x="6259200" y="2202010"/>
            <a:ext cx="5332320" cy="36124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为了用户安全，浏览器中的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功能受到限制。 </a:t>
            </a:r>
            <a:r>
              <a:rPr lang="en-US" altLang="zh-CN" sz="2665" b="0" strike="noStrike" spc="-1" dirty="0">
                <a:latin typeface="Arial" panose="020B0704020202020204"/>
              </a:rPr>
              <a:t>JS </a:t>
            </a:r>
            <a:r>
              <a:rPr lang="zh-CN" altLang="en-US" sz="2665" b="0" strike="noStrike" spc="-1" dirty="0">
                <a:latin typeface="Arial" panose="020B0704020202020204"/>
              </a:rPr>
              <a:t>可以防止不法网页访问个人信息或破坏用户数据。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77" name="PlaceHolder 4"/>
          <p:cNvSpPr>
            <a:spLocks noGrp="1"/>
          </p:cNvSpPr>
          <p:nvPr>
            <p:ph type="title"/>
          </p:nvPr>
        </p:nvSpPr>
        <p:spPr>
          <a:xfrm>
            <a:off x="6259200" y="649045"/>
            <a:ext cx="533232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altLang="zh-CN" sz="4265" b="0" strike="noStrike" spc="-1" dirty="0">
                <a:latin typeface="Arial" panose="020B0704020202020204"/>
              </a:rPr>
              <a:t>JS </a:t>
            </a:r>
            <a:r>
              <a:rPr lang="zh-CN" altLang="en-US" sz="4265" b="0" strike="noStrike" spc="-1" dirty="0">
                <a:latin typeface="Arial" panose="020B0704020202020204"/>
              </a:rPr>
              <a:t>在浏览器中不能做什么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478" name="PlaceHolder 5"/>
          <p:cNvSpPr>
            <a:spLocks noGrp="1"/>
          </p:cNvSpPr>
          <p:nvPr>
            <p:ph type="sldNum" idx="4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D27937FF-F844-4B48-87B2-9ECAC92BF48D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/>
          </p:nvPr>
        </p:nvSpPr>
        <p:spPr>
          <a:xfrm>
            <a:off x="629280" y="2466805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❌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на сайте не может читать/записывать произвольные файлы на жёстком диске, копировать их или запускать программы. Он не имеет прямого доступа к системным функциям ОС.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Не использует функции ОС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不使用操作系统功能 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网站上的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无法读取</a:t>
            </a:r>
            <a:r>
              <a:rPr lang="en-US" altLang="zh-CN" sz="2665" b="0" strike="noStrike" spc="-1" dirty="0">
                <a:latin typeface="Arial" panose="020B0704020202020204"/>
              </a:rPr>
              <a:t>/</a:t>
            </a:r>
            <a:r>
              <a:rPr lang="zh-CN" altLang="en-US" sz="2665" b="0" strike="noStrike" spc="-1" dirty="0">
                <a:latin typeface="Arial" panose="020B0704020202020204"/>
              </a:rPr>
              <a:t>写入硬盘上的任意文件、复制它们或运行程序。 它不能直接访问操作系统系统功能。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82" name="PlaceHolder 4"/>
          <p:cNvSpPr>
            <a:spLocks noGrp="1"/>
          </p:cNvSpPr>
          <p:nvPr>
            <p:ph type="sldNum" idx="4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9854922-D054-4987-9A74-A69E1DCCED06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Работать с файлами можно через специальные действия, такие как «перетаскивание» файла в окно браузера или его выбор с помощью тега &lt;input&gt;.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Не использует функции ОС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不使用操作系统功能 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您可以通过特殊操作来处理文件，例如将文件拖到浏览器窗口中或使用 </a:t>
            </a:r>
            <a:r>
              <a:rPr lang="en-US" altLang="zh-CN" sz="2665" b="0" strike="noStrike" spc="-1" dirty="0">
                <a:latin typeface="Arial" panose="020B0704020202020204"/>
              </a:rPr>
              <a:t>&lt;input&gt; </a:t>
            </a:r>
            <a:r>
              <a:rPr lang="zh-CN" altLang="en-US" sz="2665" b="0" strike="noStrike" spc="-1" dirty="0">
                <a:latin typeface="Arial" panose="020B0704020202020204"/>
              </a:rPr>
              <a:t>标记选择它。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86" name="PlaceHolder 4"/>
          <p:cNvSpPr>
            <a:spLocks noGrp="1"/>
          </p:cNvSpPr>
          <p:nvPr>
            <p:ph type="sldNum" idx="4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A0530A8-D9D9-421E-8A4F-05E8F369125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/>
          </p:nvPr>
        </p:nvSpPr>
        <p:spPr>
          <a:xfrm>
            <a:off x="322560" y="2364960"/>
            <a:ext cx="51201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Существуют способы взаимодействия с камерой/микрофоном и другими устройствами, но они требуют явного разрешения пользователя. 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title"/>
          </p:nvPr>
        </p:nvSpPr>
        <p:spPr>
          <a:xfrm>
            <a:off x="629280" y="98496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Не использует функции ОС </a:t>
            </a:r>
            <a:b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不使用操作系统功能 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/>
          </p:nvPr>
        </p:nvSpPr>
        <p:spPr>
          <a:xfrm>
            <a:off x="5443680" y="4191840"/>
            <a:ext cx="6438240" cy="24960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有多种方法可以与相机</a:t>
            </a:r>
            <a:r>
              <a:rPr lang="en-US" altLang="zh-CN" sz="2665" b="0" strike="noStrike" spc="-1" dirty="0">
                <a:latin typeface="Arial" panose="020B0704020202020204"/>
              </a:rPr>
              <a:t>/</a:t>
            </a:r>
            <a:r>
              <a:rPr lang="zh-CN" altLang="en-US" sz="2665" b="0" strike="noStrike" spc="-1" dirty="0">
                <a:latin typeface="Arial" panose="020B0704020202020204"/>
              </a:rPr>
              <a:t>麦克风和其他设备进行交互，但它们需要用户的明确许可。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pic>
        <p:nvPicPr>
          <p:cNvPr id="490" name="Google Shape;368;p49"/>
          <p:cNvPicPr/>
          <p:nvPr/>
        </p:nvPicPr>
        <p:blipFill>
          <a:blip r:embed="rId1"/>
          <a:stretch>
            <a:fillRect/>
          </a:stretch>
        </p:blipFill>
        <p:spPr>
          <a:xfrm>
            <a:off x="5443680" y="1903680"/>
            <a:ext cx="6438240" cy="2199840"/>
          </a:xfrm>
          <a:prstGeom prst="rect">
            <a:avLst/>
          </a:prstGeom>
          <a:ln w="0">
            <a:noFill/>
          </a:ln>
        </p:spPr>
      </p:pic>
      <p:sp>
        <p:nvSpPr>
          <p:cNvPr id="491" name="PlaceHolder 4"/>
          <p:cNvSpPr>
            <a:spLocks noGrp="1"/>
          </p:cNvSpPr>
          <p:nvPr>
            <p:ph type="sldNum" idx="4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05B3C99-412A-4430-ACF2-37C5C104D093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❌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с одной страницы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браузера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не имеет доступа к другой, если они пришли с разных сайтов (с другого домена, протокола или порта) – «Политика одинакового источника» (Same Origin Policy). 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493" name="PlaceHolder 2"/>
          <p:cNvSpPr>
            <a:spLocks noGrp="1"/>
          </p:cNvSpPr>
          <p:nvPr>
            <p:ph type="title"/>
          </p:nvPr>
        </p:nvSpPr>
        <p:spPr>
          <a:xfrm>
            <a:off x="629280" y="119472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Не использует данные других вкладок </a:t>
            </a:r>
            <a:b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不使用其他选项卡中的数据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如果一个页面的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来自不同的站点（来自不同的域、协议或端口），则它们无法访问另一个页面 </a:t>
            </a:r>
            <a:r>
              <a:rPr lang="en-US" altLang="zh-CN" sz="2665" b="0" strike="noStrike" spc="-1" dirty="0">
                <a:latin typeface="Arial" panose="020B0704020202020204"/>
              </a:rPr>
              <a:t>- “</a:t>
            </a:r>
            <a:r>
              <a:rPr lang="zh-CN" altLang="en-US" sz="2665" b="0" strike="noStrike" spc="-1" dirty="0">
                <a:latin typeface="Arial" panose="020B0704020202020204"/>
              </a:rPr>
              <a:t>同源策略”。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95" name="PlaceHolder 4"/>
          <p:cNvSpPr>
            <a:spLocks noGrp="1"/>
          </p:cNvSpPr>
          <p:nvPr>
            <p:ph type="sldNum" idx="4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657B28D-9367-4440-AD67-26F16A2AA4B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Это необходимо для безопасности пользователя. Страница, которую открыл пользователь,</a:t>
            </a:r>
            <a:r>
              <a:rPr lang="en-US" sz="3200" b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не должна 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иметь доступ к другой вкладке браузера и воровать информацию оттуда.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zh-CN" altLang="en-US" sz="2665" b="0" strike="noStrike" spc="-1" dirty="0">
                <a:latin typeface="Arial" panose="020B0704020202020204"/>
              </a:rPr>
              <a:t>这对于用户安全是必要的。 用户打开的页面不应访问另一个浏览器选项卡并从那里窃取信息。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title"/>
          </p:nvPr>
        </p:nvSpPr>
        <p:spPr>
          <a:xfrm>
            <a:off x="629280" y="119472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Не использует данные других вкладок </a:t>
            </a:r>
            <a:b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不使用其他选项卡中的数据 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499" name="PlaceHolder 4"/>
          <p:cNvSpPr>
            <a:spLocks noGrp="1"/>
          </p:cNvSpPr>
          <p:nvPr>
            <p:ph type="sldNum" idx="4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7C16D88E-E08E-4CC6-941A-0501F5948F79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/>
          </p:nvPr>
        </p:nvSpPr>
        <p:spPr>
          <a:xfrm>
            <a:off x="629280" y="2558880"/>
            <a:ext cx="10961760" cy="238464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Char char="❌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может взаимодействовать с сервером, с которого пришла текущая страница. Но не с сервером </a:t>
            </a:r>
            <a:r>
              <a:rPr lang="en-US" sz="3200" b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другого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сайта (если сам сервер не разрешил это через HTTP заголовки).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title"/>
          </p:nvPr>
        </p:nvSpPr>
        <p:spPr>
          <a:xfrm>
            <a:off x="629280" y="1194720"/>
            <a:ext cx="10961760" cy="102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Не берёт данные с “чужого” сервера  </a:t>
            </a:r>
            <a:b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</a:b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不从“外部”服务器获取数据 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/>
          </p:nvPr>
        </p:nvSpPr>
        <p:spPr>
          <a:xfrm>
            <a:off x="629280" y="4944480"/>
            <a:ext cx="10961760" cy="17428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可以与当前页面所在的服务器进行通信。 但不适用于另一个站点的服务器（除非服务器本身通过 </a:t>
            </a:r>
            <a:r>
              <a:rPr lang="en-US" altLang="zh-CN" sz="2665" b="0" strike="noStrike" spc="-1" dirty="0">
                <a:latin typeface="Arial" panose="020B0704020202020204"/>
              </a:rPr>
              <a:t>HTTP </a:t>
            </a:r>
            <a:r>
              <a:rPr lang="zh-CN" altLang="en-US" sz="2665" b="0" strike="noStrike" spc="-1" dirty="0">
                <a:latin typeface="Arial" panose="020B0704020202020204"/>
              </a:rPr>
              <a:t>标头允许这样做）。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03" name="PlaceHolder 4"/>
          <p:cNvSpPr>
            <a:spLocks noGrp="1"/>
          </p:cNvSpPr>
          <p:nvPr>
            <p:ph type="sldNum" idx="5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A7500D5-8B0A-4F28-96BD-7BA4BDF04085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39700" y="441960"/>
            <a:ext cx="5465445" cy="97155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JS может сделать в браузере?</a:t>
            </a:r>
            <a:endParaRPr lang="en-US" sz="28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title"/>
          </p:nvPr>
        </p:nvSpPr>
        <p:spPr>
          <a:xfrm>
            <a:off x="6404610" y="441960"/>
            <a:ext cx="5465445" cy="82994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altLang="zh-CN" sz="3600" b="0" strike="noStrike" spc="-1" dirty="0">
                <a:latin typeface="Arial" panose="020B0704020202020204"/>
              </a:rPr>
              <a:t>JS</a:t>
            </a:r>
            <a:r>
              <a:rPr lang="zh-CN" altLang="en-US" sz="3600" b="0" strike="noStrike" spc="-1" dirty="0">
                <a:latin typeface="Arial" panose="020B0704020202020204"/>
              </a:rPr>
              <a:t>在浏览器中能做什么</a:t>
            </a:r>
            <a:r>
              <a:rPr lang="zh-CN" altLang="en-US" sz="4265" b="0" strike="noStrike" spc="-1" dirty="0">
                <a:latin typeface="Arial" panose="020B0704020202020204"/>
              </a:rPr>
              <a:t>？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/>
          </p:nvPr>
        </p:nvSpPr>
        <p:spPr>
          <a:xfrm>
            <a:off x="237445" y="176513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автоматически найти фото на компьютере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тайно сделать ваше фото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изменить HTML текущей страницы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изменить HTML в соседней вкладке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/>
          </p:nvPr>
        </p:nvSpPr>
        <p:spPr>
          <a:xfrm>
            <a:off x="6259200" y="186546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自动查找计算机上的照片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偷偷拍你的照片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更改当前页面的 </a:t>
            </a:r>
            <a:r>
              <a:rPr lang="en-US" altLang="zh-CN" sz="2665" b="0" strike="noStrike" spc="-1" dirty="0">
                <a:latin typeface="Arial" panose="020B0704020202020204"/>
              </a:rPr>
              <a:t>HTML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在下一个选项卡中更改 </a:t>
            </a:r>
            <a:r>
              <a:rPr lang="en-US" altLang="zh-CN" sz="2665" b="0" strike="noStrike" spc="-1" dirty="0">
                <a:latin typeface="Arial" panose="020B0704020202020204"/>
              </a:rPr>
              <a:t>HTML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08" name="PlaceHolder 5"/>
          <p:cNvSpPr>
            <a:spLocks noGrp="1"/>
          </p:cNvSpPr>
          <p:nvPr>
            <p:ph type="sldNum" idx="5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6ABBC0E-BBA8-4340-B7B9-DCD71B02C1A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9700" y="3820795"/>
            <a:ext cx="5685790" cy="109410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6094095" y="3820795"/>
            <a:ext cx="5685790" cy="679450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39700" y="441960"/>
            <a:ext cx="5465445" cy="97155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Что JS может сделать в браузере?</a:t>
            </a:r>
            <a:endParaRPr lang="en-US" sz="28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05" name="PlaceHolder 2"/>
          <p:cNvSpPr>
            <a:spLocks noGrp="1"/>
          </p:cNvSpPr>
          <p:nvPr>
            <p:ph type="title"/>
          </p:nvPr>
        </p:nvSpPr>
        <p:spPr>
          <a:xfrm>
            <a:off x="6404610" y="441960"/>
            <a:ext cx="5465445" cy="82994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 algn="ctr">
              <a:buNone/>
            </a:pPr>
            <a:r>
              <a:rPr lang="en-US" altLang="zh-CN" sz="3600" b="0" strike="noStrike" spc="-1" dirty="0">
                <a:latin typeface="Arial" panose="020B0704020202020204"/>
              </a:rPr>
              <a:t>JS</a:t>
            </a:r>
            <a:r>
              <a:rPr lang="zh-CN" altLang="en-US" sz="3600" b="0" strike="noStrike" spc="-1" dirty="0">
                <a:latin typeface="Arial" panose="020B0704020202020204"/>
              </a:rPr>
              <a:t>在浏览器中能做什么</a:t>
            </a:r>
            <a:r>
              <a:rPr lang="zh-CN" altLang="en-US" sz="4265" b="0" strike="noStrike" spc="-1" dirty="0">
                <a:latin typeface="Arial" panose="020B0704020202020204"/>
              </a:rPr>
              <a:t>？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/>
          </p:nvPr>
        </p:nvSpPr>
        <p:spPr>
          <a:xfrm>
            <a:off x="237445" y="176513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автоматически найти фото на компьютере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тайно сделать ваше фото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изменить HTML текущей страницы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изменить HTML в соседней вкладке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507" name="PlaceHolder 4"/>
          <p:cNvSpPr>
            <a:spLocks noGrp="1"/>
          </p:cNvSpPr>
          <p:nvPr>
            <p:ph/>
          </p:nvPr>
        </p:nvSpPr>
        <p:spPr>
          <a:xfrm>
            <a:off x="6259200" y="186546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自动查找计算机上的照片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偷偷拍你的照片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更改当前页面的 </a:t>
            </a:r>
            <a:r>
              <a:rPr lang="en-US" altLang="zh-CN" sz="2665" b="0" strike="noStrike" spc="-1" dirty="0">
                <a:latin typeface="Arial" panose="020B0704020202020204"/>
              </a:rPr>
              <a:t>HTML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en-US" altLang="zh-CN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在下一个选项卡中更改 </a:t>
            </a:r>
            <a:r>
              <a:rPr lang="en-US" altLang="zh-CN" sz="2665" b="0" strike="noStrike" spc="-1" dirty="0">
                <a:latin typeface="Arial" panose="020B0704020202020204"/>
              </a:rPr>
              <a:t>HTML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08" name="PlaceHolder 5"/>
          <p:cNvSpPr>
            <a:spLocks noGrp="1"/>
          </p:cNvSpPr>
          <p:nvPr>
            <p:ph type="sldNum" idx="5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6ABBC0E-BBA8-4340-B7B9-DCD71B02C1A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615120" y="1340320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Технологии JavaScript</a:t>
            </a: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JavaScript </a:t>
            </a: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技术</a:t>
            </a:r>
            <a:endParaRPr lang="ru-RU" sz="5600" b="0" strike="noStrike" spc="-1" dirty="0">
              <a:latin typeface="Arial" panose="020B0704020202020204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sldNum" idx="5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AE40A69-86AC-4B63-8165-4DA3BD621F7C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/>
          </p:nvPr>
        </p:nvSpPr>
        <p:spPr>
          <a:xfrm>
            <a:off x="238080" y="196189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81000">
              <a:lnSpc>
                <a:spcPct val="115000"/>
              </a:lnSpc>
              <a:buClr>
                <a:srgbClr val="313130"/>
              </a:buClr>
              <a:buFont typeface="Arial" panose="020B0704020202020204"/>
              <a:buChar char="●"/>
            </a:pPr>
            <a:r>
              <a:rPr lang="en-US" sz="3200" b="0" strike="noStrike" spc="-1" dirty="0">
                <a:solidFill>
                  <a:srgbClr val="313130"/>
                </a:solidFill>
                <a:latin typeface="Arial" panose="020B0704020202020204"/>
                <a:ea typeface="Arial" panose="020B0704020202020204"/>
              </a:rPr>
              <a:t>Полная интеграция с HTML/CSS.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313130"/>
              </a:buClr>
              <a:buFont typeface="Arial" panose="020B0704020202020204"/>
              <a:buChar char="●"/>
            </a:pPr>
            <a:r>
              <a:rPr lang="en-US" sz="3200" b="0" strike="noStrike" spc="-1" dirty="0">
                <a:solidFill>
                  <a:srgbClr val="313130"/>
                </a:solidFill>
                <a:latin typeface="Arial" panose="020B0704020202020204"/>
                <a:ea typeface="Arial" panose="020B0704020202020204"/>
              </a:rPr>
              <a:t>Простые вещи делаются просто.</a:t>
            </a:r>
            <a:endParaRPr lang="ru-RU" sz="3200" b="0" strike="noStrike" spc="-1" dirty="0">
              <a:latin typeface="Arial" panose="020B0704020202020204"/>
            </a:endParaRPr>
          </a:p>
          <a:p>
            <a:pPr marL="457200" indent="-381000">
              <a:lnSpc>
                <a:spcPct val="115000"/>
              </a:lnSpc>
              <a:buClr>
                <a:srgbClr val="313130"/>
              </a:buClr>
              <a:buFont typeface="Arial" panose="020B0704020202020204"/>
              <a:buChar char="●"/>
            </a:pPr>
            <a:r>
              <a:rPr lang="en-US" sz="3200" b="0" strike="noStrike" spc="-1" dirty="0">
                <a:solidFill>
                  <a:srgbClr val="313130"/>
                </a:solidFill>
                <a:latin typeface="Arial" panose="020B0704020202020204"/>
                <a:ea typeface="Arial" panose="020B0704020202020204"/>
              </a:rPr>
              <a:t>Поддерживается всеми основными браузерами и включён по умолчанию.</a:t>
            </a:r>
            <a:endParaRPr lang="ru-RU" sz="3200" b="0" strike="noStrike" spc="-1" dirty="0">
              <a:latin typeface="Arial" panose="020B0704020202020204"/>
            </a:endParaRPr>
          </a:p>
        </p:txBody>
      </p:sp>
      <p:sp>
        <p:nvSpPr>
          <p:cNvPr id="513" name="PlaceHolder 2"/>
          <p:cNvSpPr>
            <a:spLocks noGrp="1"/>
          </p:cNvSpPr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与 </a:t>
            </a:r>
            <a:r>
              <a:rPr lang="en-US" altLang="zh-CN" sz="2665" b="0" strike="noStrike" spc="-1" dirty="0">
                <a:latin typeface="Arial" panose="020B0704020202020204"/>
              </a:rPr>
              <a:t>HTML/CSS </a:t>
            </a:r>
            <a:r>
              <a:rPr lang="zh-CN" altLang="en-US" sz="2665" b="0" strike="noStrike" spc="-1" dirty="0">
                <a:latin typeface="Arial" panose="020B0704020202020204"/>
              </a:rPr>
              <a:t>完全集成。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zh-CN" altLang="en-US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简单的事情就简单地完成。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zh-CN" altLang="en-US" sz="2665" b="0" strike="noStrike" spc="-1" dirty="0">
              <a:latin typeface="Arial" panose="020B0704020202020204"/>
            </a:endParaRPr>
          </a:p>
          <a:p>
            <a:r>
              <a:rPr lang="zh-CN" altLang="en-US" sz="2665" b="0" strike="noStrike" spc="-1" dirty="0">
                <a:latin typeface="Arial" panose="020B0704020202020204"/>
              </a:rPr>
              <a:t>所有主流浏览器均支持并默认启用。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14" name="Google Shape;416;p55"/>
          <p:cNvSpPr/>
          <p:nvPr/>
        </p:nvSpPr>
        <p:spPr>
          <a:xfrm>
            <a:off x="294240" y="292965"/>
            <a:ext cx="11217040" cy="1557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Сильные стороны JavaScript</a:t>
            </a:r>
            <a:endParaRPr lang="en-US" sz="48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</a:t>
            </a:r>
            <a:r>
              <a:rPr lang="zh-CN" altLang="en-US" sz="37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的优势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5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781FF10-E630-4702-B2F5-CE873261DD13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Num" idx="5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737373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E499F374-2789-4C1B-BC13-C3228B302734}" type="slidenum">
              <a:rPr lang="en-US" sz="1335" b="0" strike="noStrike" spc="-1">
                <a:solidFill>
                  <a:srgbClr val="737373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  <p:sp>
        <p:nvSpPr>
          <p:cNvPr id="517" name="PlaceHolder 2"/>
          <p:cNvSpPr>
            <a:spLocks noGrp="1"/>
          </p:cNvSpPr>
          <p:nvPr>
            <p:ph type="title"/>
          </p:nvPr>
        </p:nvSpPr>
        <p:spPr>
          <a:xfrm>
            <a:off x="634080" y="1678080"/>
            <a:ext cx="10961760" cy="261696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b">
            <a:normAutofit fontScale="9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  <a:t>JavaScript – самый распространенный инструмент для создания интерфейсов в браузере</a:t>
            </a:r>
            <a:b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</a:br>
            <a:b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</a:br>
            <a:r>
              <a:rPr 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  <a:t>JavaScript </a:t>
            </a:r>
            <a:r>
              <a:rPr lang="zh-CN" altLang="en-US" sz="4265" b="0" strike="noStrike" spc="-1" dirty="0">
                <a:solidFill>
                  <a:schemeClr val="tx1"/>
                </a:solidFill>
                <a:latin typeface="Roboto"/>
                <a:ea typeface="Roboto"/>
              </a:rPr>
              <a:t>是在浏览器中创建界面的最常用工具。</a:t>
            </a:r>
            <a:endParaRPr lang="zh-CN" altLang="en-US" sz="4265" b="0" strike="noStrike" spc="-1" dirty="0">
              <a:solidFill>
                <a:schemeClr val="tx1"/>
              </a:solidFill>
              <a:latin typeface="Roboto"/>
              <a:ea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/>
          </p:nvPr>
        </p:nvSpPr>
        <p:spPr>
          <a:xfrm>
            <a:off x="238080" y="209905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JavaScript позволяет делать приложения не только в браузерах, но и на сервере, на мобильных устройствах и т.п. Однако синтаксис классического JavaScript подходит не под все нужды.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19" name="PlaceHolder 2"/>
          <p:cNvSpPr>
            <a:spLocks noGrp="1"/>
          </p:cNvSpPr>
          <p:nvPr>
            <p:ph/>
          </p:nvPr>
        </p:nvSpPr>
        <p:spPr>
          <a:xfrm>
            <a:off x="6320795" y="216073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不仅允许您在浏览器中创建应用程序，还可以在服务器、移动设备等上创建应用程序。 然而，经典的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语法并不能满足所有需求。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20" name="Google Shape;430;p57"/>
          <p:cNvSpPr/>
          <p:nvPr/>
        </p:nvSpPr>
        <p:spPr>
          <a:xfrm>
            <a:off x="294240" y="313285"/>
            <a:ext cx="8189360" cy="1557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Языки на базе JavaScript</a:t>
            </a:r>
            <a:endParaRPr lang="en-US" sz="48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latin typeface="Arial" panose="020B0704020202020204"/>
              </a:rPr>
              <a:t>基于 </a:t>
            </a:r>
            <a:r>
              <a:rPr lang="en-US" sz="3735" b="0" strike="noStrike" spc="-1" dirty="0">
                <a:latin typeface="Arial" panose="020B0704020202020204"/>
              </a:rPr>
              <a:t>JavaScript </a:t>
            </a:r>
            <a:r>
              <a:rPr lang="zh-CN" altLang="en-US" sz="3735" b="0" strike="noStrike" spc="-1" dirty="0">
                <a:latin typeface="Arial" panose="020B0704020202020204"/>
              </a:rPr>
              <a:t>的语言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5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BD1B31D-623E-43CA-B029-AB705E29D3C6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22" name="Google Shape;432;p57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/>
          </p:nvPr>
        </p:nvSpPr>
        <p:spPr>
          <a:xfrm>
            <a:off x="238080" y="211937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Транспиляция – процесс автоматического перевода (конвертации) одного языка программирования в другой для запуска в целевой среде использования.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24" name="PlaceHolder 2"/>
          <p:cNvSpPr>
            <a:spLocks noGrp="1"/>
          </p:cNvSpPr>
          <p:nvPr>
            <p:ph/>
          </p:nvPr>
        </p:nvSpPr>
        <p:spPr>
          <a:xfrm>
            <a:off x="6198240" y="211946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转译是自动将一种编程语言翻译（转换）为另一种编程语言以在目标使用环境中运行的过程。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25" name="Google Shape;439;p58"/>
          <p:cNvSpPr/>
          <p:nvPr/>
        </p:nvSpPr>
        <p:spPr>
          <a:xfrm>
            <a:off x="294240" y="177600"/>
            <a:ext cx="1058712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Языки на базе JavaScript. Транспиляция 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latin typeface="Arial" panose="020B0704020202020204"/>
              </a:rPr>
              <a:t>基于 </a:t>
            </a:r>
            <a:r>
              <a:rPr lang="en-US" sz="3735" b="0" strike="noStrike" spc="-1" dirty="0">
                <a:latin typeface="Arial" panose="020B0704020202020204"/>
              </a:rPr>
              <a:t>JavaScript </a:t>
            </a:r>
            <a:r>
              <a:rPr lang="zh-CN" altLang="en-US" sz="3735" b="0" strike="noStrike" spc="-1" dirty="0">
                <a:latin typeface="Arial" panose="020B0704020202020204"/>
              </a:rPr>
              <a:t>的语言。 翻译 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5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836C452-FE81-430F-84DF-1E51BD6B7C54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27" name="Google Shape;441;p58"/>
          <p:cNvSpPr/>
          <p:nvPr/>
        </p:nvSpPr>
        <p:spPr>
          <a:xfrm>
            <a:off x="6402075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/>
          </p:nvPr>
        </p:nvSpPr>
        <p:spPr>
          <a:xfrm>
            <a:off x="23808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JavaScript поддерживается большинством браузеров. Если писать на языках транспилируемых в JavaScript –  код на этих языках тоже будет поддерживаться большинством браузеров, так как станет кодом JavaScript.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29" name="PlaceHolder 2"/>
          <p:cNvSpPr>
            <a:spLocks noGrp="1"/>
          </p:cNvSpPr>
          <p:nvPr>
            <p:ph/>
          </p:nvPr>
        </p:nvSpPr>
        <p:spPr>
          <a:xfrm>
            <a:off x="6412235" y="202865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大多数浏览器都支持 </a:t>
            </a:r>
            <a:r>
              <a:rPr lang="en-US" altLang="zh-CN" sz="2665" b="0" strike="noStrike" spc="-1" dirty="0">
                <a:latin typeface="Arial" panose="020B0704020202020204"/>
              </a:rPr>
              <a:t>JavaScript</a:t>
            </a:r>
            <a:r>
              <a:rPr lang="zh-CN" altLang="en-US" sz="2665" b="0" strike="noStrike" spc="-1" dirty="0">
                <a:latin typeface="Arial" panose="020B0704020202020204"/>
              </a:rPr>
              <a:t>。 如果你用可以转译为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的语言编写，这些语言的代码也将受到大多数浏览器的支持，因为它将成为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代码。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30" name="Google Shape;448;p59"/>
          <p:cNvSpPr/>
          <p:nvPr/>
        </p:nvSpPr>
        <p:spPr>
          <a:xfrm>
            <a:off x="294240" y="177600"/>
            <a:ext cx="1116624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Языки на базе JavaScript. Транспиляция </a:t>
            </a:r>
            <a:endParaRPr lang="en-US" sz="386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基于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JavaScript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的语言。 翻译 </a:t>
            </a:r>
            <a:endParaRPr lang="zh-CN" altLang="en-US" sz="3735" b="0" strike="noStrike" spc="-1" dirty="0">
              <a:solidFill>
                <a:schemeClr val="tx1"/>
              </a:solidFill>
              <a:latin typeface="Arial" panose="020B0704020202020204"/>
            </a:endParaRPr>
          </a:p>
        </p:txBody>
      </p:sp>
      <p:sp>
        <p:nvSpPr>
          <p:cNvPr id="531" name="PlaceHolder 3"/>
          <p:cNvSpPr>
            <a:spLocks noGrp="1"/>
          </p:cNvSpPr>
          <p:nvPr>
            <p:ph type="sldNum" idx="5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22F2A55-FD46-4886-954B-336C92570399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32" name="Google Shape;450;p59"/>
          <p:cNvSpPr/>
          <p:nvPr/>
        </p:nvSpPr>
        <p:spPr>
          <a:xfrm>
            <a:off x="6259200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/>
          </p:nvPr>
        </p:nvSpPr>
        <p:spPr>
          <a:xfrm>
            <a:off x="23808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Современные инструменты делают транспиляцию очень быстрой и незаметной для пользователя, фактически позволяя разработчикам писать код на другом языке, автоматически преобразуя его в JavaScript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34" name="PlaceHolder 2"/>
          <p:cNvSpPr>
            <a:spLocks noGrp="1"/>
          </p:cNvSpPr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现代工具使转译非常快速并且对用户来说是不可见的，本质上允许开发人员通过自动将另一种语言转换为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来编写代码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35" name="Google Shape;457;p60"/>
          <p:cNvSpPr/>
          <p:nvPr/>
        </p:nvSpPr>
        <p:spPr>
          <a:xfrm>
            <a:off x="294240" y="177600"/>
            <a:ext cx="1199936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Языки на базе JavaScript. Транспиляция 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zh-CN" altLang="en-US" sz="3735" b="0" strike="noStrike" spc="-1" dirty="0">
                <a:latin typeface="Arial" panose="020B0704020202020204"/>
              </a:rPr>
              <a:t>基于 </a:t>
            </a:r>
            <a:r>
              <a:rPr lang="en-US" sz="3735" b="0" strike="noStrike" spc="-1" dirty="0">
                <a:latin typeface="Arial" panose="020B0704020202020204"/>
              </a:rPr>
              <a:t>JavaScript </a:t>
            </a:r>
            <a:r>
              <a:rPr lang="zh-CN" altLang="en-US" sz="3735" b="0" strike="noStrike" spc="-1" dirty="0">
                <a:latin typeface="Arial" panose="020B0704020202020204"/>
              </a:rPr>
              <a:t>的语言。 翻译 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sldNum" idx="5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D8961CD-9E56-45CB-BAC4-4338875DEBB0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PlaceHolder 1"/>
          <p:cNvSpPr>
            <a:spLocks noGrp="1"/>
          </p:cNvSpPr>
          <p:nvPr>
            <p:ph/>
          </p:nvPr>
        </p:nvSpPr>
        <p:spPr>
          <a:xfrm>
            <a:off x="238080" y="2313045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CoffeeScript добавляет «синтаксический сахар» для JavaScript. Он вводит более короткий синтаксис, который позволяет писать чистый и лаконичный код.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39" name="PlaceHolder 2"/>
          <p:cNvSpPr>
            <a:spLocks noGrp="1"/>
          </p:cNvSpPr>
          <p:nvPr>
            <p:ph/>
          </p:nvPr>
        </p:nvSpPr>
        <p:spPr>
          <a:xfrm>
            <a:off x="6257930" y="2375365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 err="1">
                <a:latin typeface="Arial" panose="020B0704020202020204"/>
              </a:rPr>
              <a:t>CoffeeScript</a:t>
            </a:r>
            <a:r>
              <a:rPr lang="en-US" altLang="zh-CN" sz="2665" b="0" strike="noStrike" spc="-1" dirty="0">
                <a:latin typeface="Arial" panose="020B0704020202020204"/>
              </a:rPr>
              <a:t> </a:t>
            </a:r>
            <a:r>
              <a:rPr lang="zh-CN" altLang="en-US" sz="2665" b="0" strike="noStrike" spc="-1" dirty="0">
                <a:latin typeface="Arial" panose="020B0704020202020204"/>
              </a:rPr>
              <a:t>为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添加了语法糖。 它引入了更短的语法，使您可以编写干净简洁的代码。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40" name="PlaceHolder 3"/>
          <p:cNvSpPr>
            <a:spLocks noGrp="1"/>
          </p:cNvSpPr>
          <p:nvPr>
            <p:ph type="sldNum" idx="5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06DEB5EE-4E0B-43EF-9EA2-8FF858C82ADE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41" name="Google Shape;467;p61"/>
          <p:cNvPicPr/>
          <p:nvPr/>
        </p:nvPicPr>
        <p:blipFill>
          <a:blip r:embed="rId1"/>
          <a:stretch>
            <a:fillRect/>
          </a:stretch>
        </p:blipFill>
        <p:spPr>
          <a:xfrm>
            <a:off x="-45" y="260"/>
            <a:ext cx="8688480" cy="1800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Num" idx="6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917D5FBF-0E64-4F71-8A49-0BE6DC67B7F2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43" name="Google Shape;473;p62"/>
          <p:cNvPicPr/>
          <p:nvPr/>
        </p:nvPicPr>
        <p:blipFill>
          <a:blip r:embed="rId1"/>
          <a:stretch>
            <a:fillRect/>
          </a:stretch>
        </p:blipFill>
        <p:spPr>
          <a:xfrm>
            <a:off x="-45" y="260"/>
            <a:ext cx="8688480" cy="1800480"/>
          </a:xfrm>
          <a:prstGeom prst="rect">
            <a:avLst/>
          </a:prstGeom>
          <a:ln w="0">
            <a:noFill/>
          </a:ln>
        </p:spPr>
      </p:pic>
      <p:pic>
        <p:nvPicPr>
          <p:cNvPr id="544" name="Google Shape;474;p62"/>
          <p:cNvPicPr/>
          <p:nvPr/>
        </p:nvPicPr>
        <p:blipFill>
          <a:blip r:embed="rId2"/>
          <a:stretch>
            <a:fillRect/>
          </a:stretch>
        </p:blipFill>
        <p:spPr>
          <a:xfrm>
            <a:off x="639360" y="2814850"/>
            <a:ext cx="10548480" cy="3445440"/>
          </a:xfrm>
          <a:prstGeom prst="rect">
            <a:avLst/>
          </a:prstGeom>
          <a:ln w="0">
            <a:noFill/>
          </a:ln>
        </p:spPr>
      </p:pic>
      <p:sp>
        <p:nvSpPr>
          <p:cNvPr id="545" name="Google Shape;475;p62"/>
          <p:cNvSpPr/>
          <p:nvPr/>
        </p:nvSpPr>
        <p:spPr>
          <a:xfrm>
            <a:off x="506645" y="2091375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>
                <a:solidFill>
                  <a:srgbClr val="313130"/>
                </a:solidFill>
                <a:latin typeface="Arial" panose="020B0704020202020204"/>
                <a:ea typeface="Arial" panose="020B0704020202020204"/>
              </a:rPr>
              <a:t>CoffeeScript</a:t>
            </a:r>
            <a:endParaRPr lang="ru-RU" sz="2935" b="0" strike="noStrike" spc="-1">
              <a:latin typeface="Arial" panose="020B0704020202020204"/>
            </a:endParaRPr>
          </a:p>
        </p:txBody>
      </p:sp>
      <p:sp>
        <p:nvSpPr>
          <p:cNvPr id="546" name="Google Shape;476;p62"/>
          <p:cNvSpPr/>
          <p:nvPr/>
        </p:nvSpPr>
        <p:spPr>
          <a:xfrm>
            <a:off x="7527840" y="2091375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>
                <a:solidFill>
                  <a:srgbClr val="313130"/>
                </a:solidFill>
                <a:latin typeface="Arial" panose="020B0704020202020204"/>
                <a:ea typeface="Arial" panose="020B0704020202020204"/>
              </a:rPr>
              <a:t>JavaScript</a:t>
            </a:r>
            <a:endParaRPr lang="ru-RU" sz="2935" b="0" strike="noStrike" spc="-1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PlaceHolder 1"/>
          <p:cNvSpPr>
            <a:spLocks noGrp="1"/>
          </p:cNvSpPr>
          <p:nvPr>
            <p:ph/>
          </p:nvPr>
        </p:nvSpPr>
        <p:spPr>
          <a:xfrm>
            <a:off x="238080" y="248640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TypeScript концентрируется на добавлении «строгой типизации» для упрощения разработки и поддержки больших и сложных систем.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48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TypeScript </a:t>
            </a:r>
            <a:r>
              <a:rPr lang="zh-CN" altLang="en-US" sz="2665" b="0" strike="noStrike" spc="-1" dirty="0">
                <a:latin typeface="Arial" panose="020B0704020202020204"/>
              </a:rPr>
              <a:t>专注于添加“强类型”，以简化大型复杂系统的开发和维护。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49" name="PlaceHolder 3"/>
          <p:cNvSpPr>
            <a:spLocks noGrp="1"/>
          </p:cNvSpPr>
          <p:nvPr>
            <p:ph type="sldNum" idx="6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0574EC1-854F-4682-9EFE-924B894E0F24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50" name="Google Shape;484;p63"/>
          <p:cNvPicPr/>
          <p:nvPr/>
        </p:nvPicPr>
        <p:blipFill>
          <a:blip r:embed="rId1"/>
          <a:stretch>
            <a:fillRect/>
          </a:stretch>
        </p:blipFill>
        <p:spPr>
          <a:xfrm>
            <a:off x="-45" y="60"/>
            <a:ext cx="7675200" cy="1921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Num" idx="6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3760D09-1606-496C-8AE1-D1066DCA3D22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52" name="Google Shape;490;p64"/>
          <p:cNvSpPr/>
          <p:nvPr/>
        </p:nvSpPr>
        <p:spPr>
          <a:xfrm>
            <a:off x="1547675" y="2325690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TypeScript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53" name="Google Shape;491;p64"/>
          <p:cNvSpPr/>
          <p:nvPr/>
        </p:nvSpPr>
        <p:spPr>
          <a:xfrm>
            <a:off x="6801120" y="2325690"/>
            <a:ext cx="3998880" cy="7632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JavaScript</a:t>
            </a:r>
            <a:endParaRPr lang="en-US" sz="2935" b="0" strike="noStrike" spc="-1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pic>
        <p:nvPicPr>
          <p:cNvPr id="554" name="Google Shape;492;p64"/>
          <p:cNvPicPr/>
          <p:nvPr/>
        </p:nvPicPr>
        <p:blipFill>
          <a:blip r:embed="rId1"/>
          <a:stretch>
            <a:fillRect/>
          </a:stretch>
        </p:blipFill>
        <p:spPr>
          <a:xfrm>
            <a:off x="1547040" y="3089395"/>
            <a:ext cx="9097440" cy="3111360"/>
          </a:xfrm>
          <a:prstGeom prst="rect">
            <a:avLst/>
          </a:prstGeom>
          <a:ln w="0">
            <a:noFill/>
          </a:ln>
        </p:spPr>
      </p:pic>
      <p:pic>
        <p:nvPicPr>
          <p:cNvPr id="555" name="Google Shape;493;p64"/>
          <p:cNvPicPr/>
          <p:nvPr/>
        </p:nvPicPr>
        <p:blipFill>
          <a:blip r:embed="rId2"/>
          <a:stretch>
            <a:fillRect/>
          </a:stretch>
        </p:blipFill>
        <p:spPr>
          <a:xfrm>
            <a:off x="-45" y="60"/>
            <a:ext cx="7675200" cy="19219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PlaceHolder 1"/>
          <p:cNvSpPr>
            <a:spLocks noGrp="1"/>
          </p:cNvSpPr>
          <p:nvPr>
            <p:ph/>
          </p:nvPr>
        </p:nvSpPr>
        <p:spPr>
          <a:xfrm>
            <a:off x="23935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Фреймворки JS — это библиотеки программирования JavaScript, в которых есть предварительно написанный код для использования в стандартных функциях и задачах программирования.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57" name="PlaceHolder 2"/>
          <p:cNvSpPr>
            <a:spLocks noGrp="1"/>
          </p:cNvSpPr>
          <p:nvPr>
            <p:ph/>
          </p:nvPr>
        </p:nvSpPr>
        <p:spPr>
          <a:xfrm>
            <a:off x="6726555" y="1962150"/>
            <a:ext cx="523557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JS </a:t>
            </a:r>
            <a:r>
              <a:rPr lang="zh-CN" altLang="en-US" sz="2665" b="0" strike="noStrike" spc="-1" dirty="0">
                <a:latin typeface="Arial" panose="020B0704020202020204"/>
              </a:rPr>
              <a:t>框架是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编程库，提供用于标准编程功能和任务的预先编写的代码。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58" name="Google Shape;500;p65"/>
          <p:cNvSpPr/>
          <p:nvPr/>
        </p:nvSpPr>
        <p:spPr>
          <a:xfrm>
            <a:off x="342720" y="323050"/>
            <a:ext cx="638320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Фреймворки JavaScript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/>
              </a:rPr>
              <a:t>JavaScript </a:t>
            </a:r>
            <a:r>
              <a:rPr lang="zh-CN" altLang="en-US" sz="3735" b="0" strike="noStrike" spc="-1" dirty="0">
                <a:latin typeface="Arial" panose="020B0704020202020204"/>
              </a:rPr>
              <a:t>框架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6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67DE838-6B82-48D3-833F-9448C4EF0027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60" name="Google Shape;502;p65"/>
          <p:cNvSpPr/>
          <p:nvPr/>
        </p:nvSpPr>
        <p:spPr>
          <a:xfrm>
            <a:off x="6259200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PlaceHolder 1"/>
          <p:cNvSpPr>
            <a:spLocks noGrp="1"/>
          </p:cNvSpPr>
          <p:nvPr>
            <p:ph/>
          </p:nvPr>
        </p:nvSpPr>
        <p:spPr>
          <a:xfrm>
            <a:off x="238080" y="209905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Фреймворки не обязательны, но они повышают производительность разработки. Придётся писать меньше кода вручную, потому что уже есть заранее написанные и готовые к использованию функции и шаблоны.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62" name="PlaceHolder 2"/>
          <p:cNvSpPr>
            <a:spLocks noGrp="1"/>
          </p:cNvSpPr>
          <p:nvPr>
            <p:ph/>
          </p:nvPr>
        </p:nvSpPr>
        <p:spPr>
          <a:xfrm>
            <a:off x="6697980" y="2099310"/>
            <a:ext cx="528447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框架不是必需的，但它们可以提高开发效率。 您将需要手动编写更少的代码，因为已经有预先编写且随时可用的函数和模板。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63" name="Google Shape;509;p66"/>
          <p:cNvSpPr/>
          <p:nvPr/>
        </p:nvSpPr>
        <p:spPr>
          <a:xfrm>
            <a:off x="342720" y="373850"/>
            <a:ext cx="6555920" cy="1413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8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Фреймворки JavaScript (2)</a:t>
            </a:r>
            <a:endParaRPr lang="en-US" sz="3865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/>
              </a:rPr>
              <a:t>JavaScript </a:t>
            </a:r>
            <a:r>
              <a:rPr lang="zh-CN" altLang="en-US" sz="3735" b="0" strike="noStrike" spc="-1" dirty="0">
                <a:latin typeface="Arial" panose="020B0704020202020204"/>
              </a:rPr>
              <a:t>框架 </a:t>
            </a:r>
            <a:r>
              <a:rPr lang="en-US" altLang="zh-CN" sz="3735" b="0" strike="noStrike" spc="-1" dirty="0">
                <a:latin typeface="Arial" panose="020B0704020202020204"/>
              </a:rPr>
              <a:t>(2)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564" name="PlaceHolder 3"/>
          <p:cNvSpPr>
            <a:spLocks noGrp="1"/>
          </p:cNvSpPr>
          <p:nvPr>
            <p:ph type="sldNum" idx="6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AAECEB76-7FA6-4BFC-B111-07DEE7C0622C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565" name="Google Shape;511;p66"/>
          <p:cNvSpPr/>
          <p:nvPr/>
        </p:nvSpPr>
        <p:spPr>
          <a:xfrm>
            <a:off x="6259200" y="435840"/>
            <a:ext cx="5610720" cy="84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/>
          </p:nvPr>
        </p:nvSpPr>
        <p:spPr>
          <a:xfrm>
            <a:off x="238080" y="2160645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React основан на компоненте многократного использования – каждый визуальный элемент представлен в виде класса или функции и может быть переиспользован. На базе React можно писать мобильные приложения – React Native.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67" name="PlaceHolder 2"/>
          <p:cNvSpPr>
            <a:spLocks noGrp="1"/>
          </p:cNvSpPr>
          <p:nvPr>
            <p:ph/>
          </p:nvPr>
        </p:nvSpPr>
        <p:spPr>
          <a:xfrm>
            <a:off x="6717665" y="2160905"/>
            <a:ext cx="5039995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sz="2665" b="0" strike="noStrike" spc="-1" dirty="0">
                <a:latin typeface="Arial" panose="020B0704020202020204"/>
              </a:rPr>
              <a:t>React </a:t>
            </a:r>
            <a:r>
              <a:rPr lang="zh-CN" altLang="en-US" sz="2665" b="0" strike="noStrike" spc="-1" dirty="0">
                <a:latin typeface="Arial" panose="020B0704020202020204"/>
              </a:rPr>
              <a:t>基于可重用组件 </a:t>
            </a:r>
            <a:r>
              <a:rPr lang="en-US" altLang="zh-CN" sz="2665" b="0" strike="noStrike" spc="-1" dirty="0">
                <a:latin typeface="Arial" panose="020B0704020202020204"/>
              </a:rPr>
              <a:t>- </a:t>
            </a:r>
            <a:r>
              <a:rPr lang="zh-CN" altLang="en-US" sz="2665" b="0" strike="noStrike" spc="-1" dirty="0">
                <a:latin typeface="Arial" panose="020B0704020202020204"/>
              </a:rPr>
              <a:t>每个视觉元素都表示为一个类或函数并且可以重用。 您可以基于</a:t>
            </a:r>
            <a:r>
              <a:rPr lang="en-US" sz="2665" b="0" strike="noStrike" spc="-1" dirty="0">
                <a:latin typeface="Arial" panose="020B0704020202020204"/>
              </a:rPr>
              <a:t>React – React Native </a:t>
            </a:r>
            <a:r>
              <a:rPr lang="zh-CN" altLang="en-US" sz="2665" b="0" strike="noStrike" spc="-1" dirty="0">
                <a:latin typeface="Arial" panose="020B0704020202020204"/>
              </a:rPr>
              <a:t>编写移动应用程序</a:t>
            </a:r>
            <a:r>
              <a:rPr lang="zh-CN" altLang="en-US" sz="4265" b="0" strike="noStrike" spc="-1" dirty="0">
                <a:latin typeface="Arial" panose="020B0704020202020204"/>
              </a:rPr>
              <a:t>。</a:t>
            </a:r>
            <a:endParaRPr lang="ru-RU" sz="4265" b="0" strike="noStrike" spc="-1" dirty="0">
              <a:latin typeface="Arial" panose="020B0704020202020204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6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A25CB92-E6FD-475D-A844-A373B5D8FE3A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69" name="Google Shape;519;p6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956300" cy="163131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24;p68"/>
          <p:cNvPicPr/>
          <p:nvPr/>
        </p:nvPicPr>
        <p:blipFill>
          <a:blip r:embed="rId1"/>
          <a:stretch>
            <a:fillRect/>
          </a:stretch>
        </p:blipFill>
        <p:spPr>
          <a:xfrm>
            <a:off x="85" y="25"/>
            <a:ext cx="5301120" cy="1486080"/>
          </a:xfrm>
          <a:prstGeom prst="rect">
            <a:avLst/>
          </a:prstGeom>
          <a:ln w="0">
            <a:noFill/>
          </a:ln>
        </p:spPr>
      </p:pic>
      <p:pic>
        <p:nvPicPr>
          <p:cNvPr id="571" name="Google Shape;525;p68"/>
          <p:cNvPicPr/>
          <p:nvPr/>
        </p:nvPicPr>
        <p:blipFill>
          <a:blip r:embed="rId2"/>
          <a:stretch>
            <a:fillRect/>
          </a:stretch>
        </p:blipFill>
        <p:spPr>
          <a:xfrm>
            <a:off x="2967360" y="1729440"/>
            <a:ext cx="6256800" cy="4962720"/>
          </a:xfrm>
          <a:prstGeom prst="rect">
            <a:avLst/>
          </a:prstGeom>
          <a:ln w="0">
            <a:noFill/>
          </a:ln>
        </p:spPr>
      </p:pic>
      <p:sp>
        <p:nvSpPr>
          <p:cNvPr id="572" name="PlaceHolder 1"/>
          <p:cNvSpPr>
            <a:spLocks noGrp="1"/>
          </p:cNvSpPr>
          <p:nvPr>
            <p:ph type="sldNum" idx="6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F8FE73B-9724-47DF-AAEC-BE083887B5DA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PlaceHolder 1"/>
          <p:cNvSpPr>
            <a:spLocks noGrp="1"/>
          </p:cNvSpPr>
          <p:nvPr>
            <p:ph/>
          </p:nvPr>
        </p:nvSpPr>
        <p:spPr>
          <a:xfrm>
            <a:off x="238080" y="1961890"/>
            <a:ext cx="60196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Node.js — это серверная платформа с открытым исходным кодом, на базе браузерного “движка” JavaScript. Пакетная экосистема Node.js, </a:t>
            </a:r>
            <a:r>
              <a:rPr lang="en-US" sz="2935" b="1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npm</a:t>
            </a: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 – крупнейшая в мире библиотечная экосистема с открытым исходным кодом.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74" name="PlaceHolder 2"/>
          <p:cNvSpPr>
            <a:spLocks noGrp="1"/>
          </p:cNvSpPr>
          <p:nvPr>
            <p:ph/>
          </p:nvPr>
        </p:nvSpPr>
        <p:spPr>
          <a:xfrm>
            <a:off x="6442075" y="2070100"/>
            <a:ext cx="542798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Node.js </a:t>
            </a:r>
            <a:r>
              <a:rPr lang="zh-CN" altLang="en-US" sz="2665" b="0" strike="noStrike" spc="-1" dirty="0">
                <a:latin typeface="Arial" panose="020B0704020202020204"/>
              </a:rPr>
              <a:t>是一个基于 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浏览器引擎的开源服务器平台。 </a:t>
            </a:r>
            <a:r>
              <a:rPr lang="en-US" altLang="zh-CN" sz="2665" b="0" strike="noStrike" spc="-1" dirty="0">
                <a:latin typeface="Arial" panose="020B0704020202020204"/>
              </a:rPr>
              <a:t>Node.js </a:t>
            </a:r>
            <a:r>
              <a:rPr lang="zh-CN" altLang="en-US" sz="2665" b="0" strike="noStrike" spc="-1" dirty="0">
                <a:latin typeface="Arial" panose="020B0704020202020204"/>
              </a:rPr>
              <a:t>包生态系统 </a:t>
            </a:r>
            <a:r>
              <a:rPr lang="en-US" altLang="zh-CN" sz="2665" b="0" strike="noStrike" spc="-1" dirty="0" err="1">
                <a:latin typeface="Arial" panose="020B0704020202020204"/>
              </a:rPr>
              <a:t>npm</a:t>
            </a:r>
            <a:r>
              <a:rPr lang="en-US" altLang="zh-CN" sz="2665" b="0" strike="noStrike" spc="-1" dirty="0">
                <a:latin typeface="Arial" panose="020B0704020202020204"/>
              </a:rPr>
              <a:t> </a:t>
            </a:r>
            <a:r>
              <a:rPr lang="zh-CN" altLang="en-US" sz="2665" b="0" strike="noStrike" spc="-1" dirty="0">
                <a:latin typeface="Arial" panose="020B0704020202020204"/>
              </a:rPr>
              <a:t>是世界上最大的开源库生态系统。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75" name="PlaceHolder 3"/>
          <p:cNvSpPr>
            <a:spLocks noGrp="1"/>
          </p:cNvSpPr>
          <p:nvPr>
            <p:ph type="sldNum" idx="67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36E538D-C198-4D36-BF86-91698BAF568E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76" name="Google Shape;534;p6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-71120"/>
            <a:ext cx="5768340" cy="170307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PlaceHolder 1"/>
          <p:cNvSpPr>
            <a:spLocks noGrp="1"/>
          </p:cNvSpPr>
          <p:nvPr>
            <p:ph type="sldNum" idx="68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781267A3-6AF9-4609-8981-1304E05AAAC9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78" name="Google Shape;540;p70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270"/>
            <a:ext cx="5577840" cy="1646555"/>
          </a:xfrm>
          <a:prstGeom prst="rect">
            <a:avLst/>
          </a:prstGeom>
          <a:ln w="0">
            <a:noFill/>
          </a:ln>
        </p:spPr>
      </p:pic>
      <p:pic>
        <p:nvPicPr>
          <p:cNvPr id="579" name="Google Shape;541;p70"/>
          <p:cNvPicPr/>
          <p:nvPr/>
        </p:nvPicPr>
        <p:blipFill>
          <a:blip r:embed="rId2"/>
          <a:stretch>
            <a:fillRect/>
          </a:stretch>
        </p:blipFill>
        <p:spPr>
          <a:xfrm>
            <a:off x="1882080" y="1778005"/>
            <a:ext cx="8426880" cy="49147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PlaceHolder 1"/>
          <p:cNvSpPr>
            <a:spLocks noGrp="1"/>
          </p:cNvSpPr>
          <p:nvPr>
            <p:ph/>
          </p:nvPr>
        </p:nvSpPr>
        <p:spPr>
          <a:xfrm>
            <a:off x="238125" y="1962150"/>
            <a:ext cx="6405880" cy="429831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indent="0"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2935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Кроссплатформенная библиотека, предназначенная для упрощения HTML-скриптинга на стороне клиента. Вы можете использовать API jQuery для обработки, анимации и манипулирования событием в HTML-документе. jQuery используется с Angular и React. </a:t>
            </a:r>
            <a:endParaRPr lang="en-US" sz="2935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81" name="PlaceHolder 2"/>
          <p:cNvSpPr>
            <a:spLocks noGrp="1"/>
          </p:cNvSpPr>
          <p:nvPr>
            <p:ph/>
          </p:nvPr>
        </p:nvSpPr>
        <p:spPr>
          <a:xfrm>
            <a:off x="7011835" y="2048340"/>
            <a:ext cx="502128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lnSpcReduction="10000"/>
          </a:bodyPr>
          <a:lstStyle/>
          <a:p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一个跨平台库，旨在简化客户端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HTML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脚本编写。 您可以使用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jQuery API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来处理、动画和操作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HTML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文档中的事件。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jQuery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与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Angular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和 </a:t>
            </a:r>
            <a:r>
              <a:rPr 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React </a:t>
            </a:r>
            <a:r>
              <a:rPr lang="zh-CN" altLang="en-US" sz="3735" b="0" strike="noStrike" spc="-1" dirty="0">
                <a:solidFill>
                  <a:schemeClr val="tx1"/>
                </a:solidFill>
                <a:latin typeface="Arial" panose="020B0704020202020204"/>
              </a:rPr>
              <a:t>一起使用。</a:t>
            </a:r>
            <a:endParaRPr lang="zh-CN" altLang="en-US" sz="3735" b="0" strike="noStrike" spc="-1" dirty="0">
              <a:solidFill>
                <a:schemeClr val="tx1"/>
              </a:solidFill>
              <a:latin typeface="Arial" panose="020B0704020202020204"/>
            </a:endParaRPr>
          </a:p>
        </p:txBody>
      </p:sp>
      <p:sp>
        <p:nvSpPr>
          <p:cNvPr id="582" name="PlaceHolder 3"/>
          <p:cNvSpPr>
            <a:spLocks noGrp="1"/>
          </p:cNvSpPr>
          <p:nvPr>
            <p:ph type="sldNum" idx="69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6608DB2C-DC4D-4A7A-B53A-5F64AA81330F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83" name="Google Shape;549;p7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3860" cy="1692275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Num" idx="70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BC4F882F-3C65-47C9-BF7E-7EE41A5F7179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585" name="Google Shape;555;p7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626100" cy="1851025"/>
          </a:xfrm>
          <a:prstGeom prst="rect">
            <a:avLst/>
          </a:prstGeom>
          <a:ln w="0">
            <a:noFill/>
          </a:ln>
        </p:spPr>
      </p:pic>
      <p:pic>
        <p:nvPicPr>
          <p:cNvPr id="586" name="Google Shape;556;p72"/>
          <p:cNvPicPr/>
          <p:nvPr/>
        </p:nvPicPr>
        <p:blipFill>
          <a:blip r:embed="rId2"/>
          <a:stretch>
            <a:fillRect/>
          </a:stretch>
        </p:blipFill>
        <p:spPr>
          <a:xfrm>
            <a:off x="651350" y="2059365"/>
            <a:ext cx="10584480" cy="607200"/>
          </a:xfrm>
          <a:prstGeom prst="rect">
            <a:avLst/>
          </a:prstGeom>
          <a:ln w="0">
            <a:noFill/>
          </a:ln>
        </p:spPr>
      </p:pic>
      <p:pic>
        <p:nvPicPr>
          <p:cNvPr id="587" name="Google Shape;557;p72"/>
          <p:cNvPicPr/>
          <p:nvPr/>
        </p:nvPicPr>
        <p:blipFill>
          <a:blip r:embed="rId3"/>
          <a:stretch>
            <a:fillRect/>
          </a:stretch>
        </p:blipFill>
        <p:spPr>
          <a:xfrm>
            <a:off x="651350" y="2620965"/>
            <a:ext cx="10584480" cy="1386240"/>
          </a:xfrm>
          <a:prstGeom prst="rect">
            <a:avLst/>
          </a:prstGeom>
          <a:ln w="0">
            <a:noFill/>
          </a:ln>
        </p:spPr>
      </p:pic>
      <p:pic>
        <p:nvPicPr>
          <p:cNvPr id="588" name="Google Shape;558;p72"/>
          <p:cNvPicPr/>
          <p:nvPr/>
        </p:nvPicPr>
        <p:blipFill>
          <a:blip r:embed="rId4"/>
          <a:stretch>
            <a:fillRect/>
          </a:stretch>
        </p:blipFill>
        <p:spPr>
          <a:xfrm>
            <a:off x="651350" y="4008165"/>
            <a:ext cx="10584480" cy="24230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605155" y="317500"/>
            <a:ext cx="10982325" cy="89852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3. Что такое </a:t>
            </a:r>
            <a:r>
              <a:rPr lang="en-US" sz="3600" b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транспиляция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?</a:t>
            </a:r>
            <a:r>
              <a:rPr lang="ru-RU" alt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         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3. </a:t>
            </a:r>
            <a:r>
              <a:rPr lang="zh-CN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什么是转译？</a:t>
            </a:r>
            <a:endParaRPr lang="zh-CN" alt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/>
          </p:nvPr>
        </p:nvSpPr>
        <p:spPr>
          <a:xfrm>
            <a:off x="237445" y="196198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перевод одного языка программирования в другой</a:t>
            </a:r>
            <a:endParaRPr lang="ru-RU" sz="2935" b="0" strike="noStrike" spc="-1" dirty="0">
              <a:latin typeface="Arial" panose="020B07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конкуренция между языками программирования</a:t>
            </a:r>
            <a:endParaRPr lang="ru-RU" sz="2935" b="0" strike="noStrike" spc="-1" dirty="0">
              <a:latin typeface="Arial" panose="020B07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библиотека для языка программирования</a:t>
            </a:r>
            <a:endParaRPr lang="ru-RU" sz="2935" b="0" strike="noStrike" spc="-1" dirty="0">
              <a:latin typeface="Arial" panose="020B0704020202020204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1</a:t>
            </a:r>
            <a:r>
              <a:rPr lang="en-US" altLang="zh-CN" sz="2665" spc="-1" dirty="0">
                <a:latin typeface="Arial" panose="020B0704020202020204"/>
              </a:rPr>
              <a:t>.</a:t>
            </a:r>
            <a:r>
              <a:rPr lang="zh-CN" altLang="en-US" sz="2665" b="0" strike="noStrike" spc="-1" dirty="0">
                <a:latin typeface="Arial" panose="020B0704020202020204"/>
              </a:rPr>
              <a:t>从一种编程语言翻译成另一种编程语言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zh-CN" altLang="en-US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2.</a:t>
            </a:r>
            <a:r>
              <a:rPr lang="zh-CN" altLang="en-US" sz="2665" b="0" strike="noStrike" spc="-1" dirty="0">
                <a:latin typeface="Arial" panose="020B0704020202020204"/>
              </a:rPr>
              <a:t>编程语言之间的竞争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zh-CN" altLang="en-US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3.</a:t>
            </a:r>
            <a:r>
              <a:rPr lang="zh-CN" altLang="en-US" sz="2665" b="0" strike="noStrike" spc="-1" dirty="0">
                <a:latin typeface="Arial" panose="020B0704020202020204"/>
              </a:rPr>
              <a:t>编程语言库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93" name="PlaceHolder 5"/>
          <p:cNvSpPr>
            <a:spLocks noGrp="1"/>
          </p:cNvSpPr>
          <p:nvPr>
            <p:ph type="sldNum" idx="7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CF3A237-9DA2-4323-AEC2-A2B18FF1FAF0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39700" y="2033905"/>
            <a:ext cx="5685790" cy="109410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6184265" y="2033905"/>
            <a:ext cx="5787390" cy="809625"/>
          </a:xfrm>
          <a:prstGeom prst="roundRect">
            <a:avLst/>
          </a:prstGeom>
        </p:spPr>
        <p:style>
          <a:lnRef idx="0">
            <a:srgbClr val="FFFFFF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Google Shape;84;p1"/>
          <p:cNvSpPr/>
          <p:nvPr/>
        </p:nvSpPr>
        <p:spPr>
          <a:xfrm>
            <a:off x="0" y="441698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89" name="PlaceHolder 1"/>
          <p:cNvSpPr>
            <a:spLocks noGrp="1"/>
          </p:cNvSpPr>
          <p:nvPr>
            <p:ph type="title"/>
          </p:nvPr>
        </p:nvSpPr>
        <p:spPr>
          <a:xfrm>
            <a:off x="605155" y="317500"/>
            <a:ext cx="10982325" cy="898525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b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3. Что такое </a:t>
            </a:r>
            <a:r>
              <a:rPr lang="en-US" sz="3600" b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транспиляция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?</a:t>
            </a:r>
            <a:r>
              <a:rPr lang="ru-RU" alt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         </a:t>
            </a:r>
            <a:r>
              <a:rPr lang="en-US" sz="36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3. </a:t>
            </a:r>
            <a:r>
              <a:rPr lang="zh-CN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什么是转译？</a:t>
            </a:r>
            <a:endParaRPr lang="zh-CN" alt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/>
          </p:nvPr>
        </p:nvSpPr>
        <p:spPr>
          <a:xfrm>
            <a:off x="237445" y="1961980"/>
            <a:ext cx="585696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перевод одного языка программирования в другой</a:t>
            </a:r>
            <a:endParaRPr lang="ru-RU" sz="2935" b="0" strike="noStrike" spc="-1" dirty="0">
              <a:latin typeface="Arial" panose="020B07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конкуренция между языками программирования</a:t>
            </a:r>
            <a:endParaRPr lang="ru-RU" sz="2935" b="0" strike="noStrike" spc="-1" dirty="0">
              <a:latin typeface="Arial" panose="020B0704020202020204"/>
            </a:endParaRPr>
          </a:p>
          <a:p>
            <a:pPr marL="457200" indent="-368300">
              <a:lnSpc>
                <a:spcPct val="115000"/>
              </a:lnSpc>
              <a:buClr>
                <a:srgbClr val="000000"/>
              </a:buClr>
              <a:buFont typeface="Arial" panose="020B0704020202020204"/>
              <a:buAutoNum type="arabicParenR"/>
            </a:pPr>
            <a:r>
              <a:rPr lang="en-US" sz="293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библиотека для языка программирования</a:t>
            </a:r>
            <a:endParaRPr lang="ru-RU" sz="2935" b="0" strike="noStrike" spc="-1" dirty="0">
              <a:latin typeface="Arial" panose="020B0704020202020204"/>
            </a:endParaRPr>
          </a:p>
        </p:txBody>
      </p:sp>
      <p:sp>
        <p:nvSpPr>
          <p:cNvPr id="592" name="PlaceHolder 4"/>
          <p:cNvSpPr>
            <a:spLocks noGrp="1"/>
          </p:cNvSpPr>
          <p:nvPr>
            <p:ph/>
          </p:nvPr>
        </p:nvSpPr>
        <p:spPr>
          <a:xfrm>
            <a:off x="6259200" y="19619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1</a:t>
            </a:r>
            <a:r>
              <a:rPr lang="en-US" altLang="zh-CN" sz="2665" spc="-1" dirty="0">
                <a:latin typeface="Arial" panose="020B0704020202020204"/>
              </a:rPr>
              <a:t>.</a:t>
            </a:r>
            <a:r>
              <a:rPr lang="zh-CN" altLang="en-US" sz="2665" b="0" strike="noStrike" spc="-1" dirty="0">
                <a:latin typeface="Arial" panose="020B0704020202020204"/>
              </a:rPr>
              <a:t>从一种编程语言翻译成另一种编程语言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zh-CN" altLang="en-US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2.</a:t>
            </a:r>
            <a:r>
              <a:rPr lang="zh-CN" altLang="en-US" sz="2665" b="0" strike="noStrike" spc="-1" dirty="0">
                <a:latin typeface="Arial" panose="020B0704020202020204"/>
              </a:rPr>
              <a:t>编程语言之间的竞争</a:t>
            </a:r>
            <a:endParaRPr lang="en-US" altLang="zh-CN" sz="2665" b="0" strike="noStrike" spc="-1" dirty="0">
              <a:latin typeface="Arial" panose="020B0704020202020204"/>
            </a:endParaRPr>
          </a:p>
          <a:p>
            <a:endParaRPr lang="zh-CN" altLang="en-US" sz="2665" b="0" strike="noStrike" spc="-1" dirty="0">
              <a:latin typeface="Arial" panose="020B0704020202020204"/>
            </a:endParaRPr>
          </a:p>
          <a:p>
            <a:r>
              <a:rPr lang="en-US" altLang="zh-CN" sz="2665" b="0" strike="noStrike" spc="-1" dirty="0">
                <a:latin typeface="Arial" panose="020B0704020202020204"/>
              </a:rPr>
              <a:t>3.</a:t>
            </a:r>
            <a:r>
              <a:rPr lang="zh-CN" altLang="en-US" sz="2665" b="0" strike="noStrike" spc="-1" dirty="0">
                <a:latin typeface="Arial" panose="020B0704020202020204"/>
              </a:rPr>
              <a:t>编程语言库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93" name="PlaceHolder 5"/>
          <p:cNvSpPr>
            <a:spLocks noGrp="1"/>
          </p:cNvSpPr>
          <p:nvPr>
            <p:ph type="sldNum" idx="71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8CF3A237-9DA2-4323-AEC2-A2B18FF1FAF0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4205" y="2922270"/>
            <a:ext cx="10972165" cy="918845"/>
          </a:xfrm>
        </p:spPr>
        <p:txBody>
          <a:bodyPr/>
          <a:lstStyle/>
          <a:p>
            <a:pPr algn="l"/>
            <a:r>
              <a:rPr lang="en-US" altLang="ru-RU" sz="4800"/>
              <a:t>在哪里写JavaScript？</a:t>
            </a:r>
            <a:endParaRPr lang="en-US" altLang="ru-RU" sz="4800"/>
          </a:p>
        </p:txBody>
      </p:sp>
      <p:sp>
        <p:nvSpPr>
          <p:cNvPr id="4" name="Заголовок 1"/>
          <p:cNvSpPr>
            <a:spLocks noGrp="1"/>
          </p:cNvSpPr>
          <p:nvPr/>
        </p:nvSpPr>
        <p:spPr>
          <a:xfrm>
            <a:off x="623993" y="1659247"/>
            <a:ext cx="10972320" cy="1667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/>
          </a:lstStyle>
          <a:p>
            <a:r>
              <a:rPr lang="ru-RU" altLang="en-US" sz="4800"/>
              <a:t>Где писать на </a:t>
            </a:r>
            <a:r>
              <a:rPr lang="en-US" altLang="ru-RU" sz="4800"/>
              <a:t>JavaScript?</a:t>
            </a:r>
            <a:endParaRPr lang="en-US" altLang="ru-RU" sz="48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240242" y="1748155"/>
            <a:ext cx="11562927" cy="42976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 indent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Крупные сайты и приложения состоят из множества файлов (с кодом, изображениями и т.д.). Множество файлов, относящихся к одному программному продукту называют </a:t>
            </a:r>
            <a:r>
              <a:rPr lang="ru-RU" altLang="en-US" sz="3200" b="1" i="1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проект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.</a:t>
            </a:r>
            <a:endParaRPr lang="ru-RU" alt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 err="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大型网站和应用程序由许多文件（代码、图像等）组成。许多与同一软件产品相关的文件称为项目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。</a:t>
            </a:r>
            <a:endParaRPr lang="ru-RU" alt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403860" y="592455"/>
            <a:ext cx="10961370" cy="94107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265" b="0" strike="noStrike" spc="-1">
                <a:latin typeface="Arial" panose="020B0704020202020204"/>
              </a:rPr>
              <a:t>Проект项目</a:t>
            </a:r>
            <a:endParaRPr lang="ru-RU" sz="4265" b="0" strike="noStrike" spc="-1">
              <a:latin typeface="Arial" panose="020B0704020202020204"/>
            </a:endParaRPr>
          </a:p>
        </p:txBody>
      </p:sp>
      <p:sp>
        <p:nvSpPr>
          <p:cNvPr id="3" name="PlaceHolder 1"/>
          <p:cNvSpPr>
            <a:spLocks noGrp="1"/>
          </p:cNvSpPr>
          <p:nvPr/>
        </p:nvSpPr>
        <p:spPr>
          <a:xfrm>
            <a:off x="6096220" y="2486067"/>
            <a:ext cx="5802720" cy="429792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>
            <a:lvl1pPr/>
            <a:lvl2pPr/>
            <a:lvl3pPr/>
            <a:lvl4pPr/>
            <a:lvl5pPr/>
            <a:lvl6pPr/>
            <a:lvl7pPr/>
            <a:lvl8pPr/>
            <a:lvl9pPr/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endParaRPr lang="ru-RU" altLang="en-US" sz="3200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628227" y="2372360"/>
            <a:ext cx="11125200" cy="42976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fontScale="93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Integrated Development Environment - это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мощные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редакторы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кода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с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множеством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функций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,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которые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охватывают и контролируют весь код и во всех файлах проекта</a:t>
            </a:r>
            <a:r>
              <a:rPr 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.</a:t>
            </a:r>
            <a:endParaRPr 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Integrated Development </a:t>
            </a:r>
            <a:r>
              <a:rPr lang="ru-RU" altLang="en-US" sz="3200" b="0" strike="noStrike" spc="-1" dirty="0" err="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Environment是功能强大的代码编辑器，具有多种功能，可以覆盖和控制整个代码和所有项目文件</a:t>
            </a:r>
            <a:r>
              <a:rPr lang="ru-RU" altLang="en-US" sz="32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。</a:t>
            </a:r>
            <a:endParaRPr lang="ru-RU" altLang="en-US" sz="3200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735" b="0" strike="noStrike" spc="-1">
                <a:latin typeface="Arial" panose="020B0704020202020204"/>
              </a:rPr>
              <a:t>Интегрированная среда разработки (</a:t>
            </a:r>
            <a:r>
              <a:rPr lang="en-US" altLang="ru-RU" sz="3735" b="0" strike="noStrike" spc="-1">
                <a:latin typeface="Arial" panose="020B0704020202020204"/>
              </a:rPr>
              <a:t>IDE)</a:t>
            </a:r>
            <a:r>
              <a:rPr lang="ru-RU" altLang="en-US" sz="3735" b="0" strike="noStrike" spc="-1">
                <a:latin typeface="Arial" panose="020B0704020202020204"/>
              </a:rPr>
              <a:t> </a:t>
            </a:r>
            <a:endParaRPr lang="ru-RU" altLang="en-US" sz="3735" b="0" strike="noStrike" spc="-1">
              <a:latin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3735" b="0" strike="noStrike" spc="-1">
                <a:latin typeface="Arial" panose="020B0704020202020204"/>
              </a:rPr>
              <a:t>集成开发环境（IDE)</a:t>
            </a:r>
            <a:endParaRPr lang="ru-RU" altLang="en-US" sz="3735" b="0" strike="noStrike" spc="-1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629497" y="2066502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sz="266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П</a:t>
            </a:r>
            <a:r>
              <a:rPr sz="266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озволяет переключаться между файлами, предлагает автодополнение по коду всего проекта (а не только открытого файла), интегрирована с </a:t>
            </a:r>
            <a:r>
              <a:rPr lang="ru-RU" altLang="en-US" sz="266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инструментами помощи разработчику: системой</a:t>
            </a:r>
            <a:r>
              <a:rPr sz="266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контроля версий (например, git), средой для тестирования и другими</a:t>
            </a:r>
            <a:r>
              <a:rPr lang="ru-RU" altLang="en-US" sz="266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.</a:t>
            </a:r>
            <a:endParaRPr lang="ru-RU" altLang="en-US" sz="2665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66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允许在文件之间切换，提供整个项目代码的自动补充（不仅仅是打开的文件），集成了开发人员帮助工具：版本控制系统（如Git）、测试环境等。</a:t>
            </a:r>
            <a:endParaRPr lang="ru-RU" altLang="en-US" sz="2665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3735" b="0" strike="noStrike" spc="-1">
                <a:latin typeface="Arial" panose="020B0704020202020204"/>
              </a:rPr>
              <a:t>Интегрированная среда разработки (</a:t>
            </a:r>
            <a:r>
              <a:rPr lang="en-US" altLang="ru-RU" sz="3735" b="0" strike="noStrike" spc="-1">
                <a:latin typeface="Arial" panose="020B0704020202020204"/>
              </a:rPr>
              <a:t>IDE)</a:t>
            </a:r>
            <a:r>
              <a:rPr lang="ru-RU" altLang="en-US" sz="3735" b="0" strike="noStrike" spc="-1">
                <a:latin typeface="Arial" panose="020B0704020202020204"/>
              </a:rPr>
              <a:t> </a:t>
            </a:r>
            <a:endParaRPr lang="ru-RU" altLang="en-US" sz="3735" b="0" strike="noStrike" spc="-1">
              <a:latin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3735" spc="-1">
                <a:latin typeface="Arial" panose="020B0704020202020204"/>
                <a:sym typeface="+mn-ea"/>
              </a:rPr>
              <a:t>集成开发环境（IDE）</a:t>
            </a:r>
            <a:endParaRPr lang="ru-RU" altLang="en-US" sz="3735" b="0" strike="noStrike" spc="-1">
              <a:latin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ru-RU" altLang="en-US" sz="3735" b="0" strike="noStrike" spc="-1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533612" y="1859492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en-US" altLang="en-US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Visual Studio Code </a:t>
            </a:r>
            <a:endParaRPr lang="en-US" altLang="en-US" sz="3200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Свободная, лёгковесная </a:t>
            </a:r>
            <a:r>
              <a:rPr lang="en-US" altLang="ru-RU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IDE</a:t>
            </a: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. Работает со множеством языков программирования (с </a:t>
            </a:r>
            <a:r>
              <a:rPr lang="en-US" altLang="ru-RU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</a:t>
            </a: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 большинством других). Функционал легко расширить плагинами.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自由，轻盈的IDE与许多编程语言（JavaScript和大多数其他语言）一起工作。功能很容易扩展插件。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86880" cy="135826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628227" y="2053167"/>
            <a:ext cx="11125200" cy="394885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 fontScale="93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Плагин к </a:t>
            </a:r>
            <a:r>
              <a:rPr lang="en-US" altLang="ru-RU" sz="2935" b="0" strike="noStrike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VS Code </a:t>
            </a:r>
            <a:r>
              <a:rPr lang="ru-RU" altLang="en-US" sz="2935" b="0" strike="noStrike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может разработать любой программист, так что выбор настроек огромен. Но </a:t>
            </a:r>
            <a:r>
              <a:rPr lang="en-US" altLang="ru-RU" sz="2935" b="0" strike="noStrike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IDE </a:t>
            </a:r>
            <a:r>
              <a:rPr lang="ru-RU" altLang="en-US" sz="2935" b="0" strike="noStrike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нужно много насраивать перед началом работы. Код запускается нажатием кнопки, без ввода дополнительных команд.</a:t>
            </a:r>
            <a:endParaRPr lang="ru-RU" altLang="en-US" sz="2935" b="0" strike="noStrike">
              <a:solidFill>
                <a:srgbClr val="000000"/>
              </a:solidFill>
              <a:latin typeface="Arial" panose="020B0704020202020204"/>
              <a:ea typeface="Arial" panose="020B0704020202020204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  <a:sym typeface="+mn-ea"/>
              </a:rPr>
              <a:t>VS代码插件可以由任何程序员开发，因此设置的选择是巨大的。但是IDE在开始工作之前需要做很多事情。按下按钮即可启动代码，而无需输入其他命令。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  <a:sym typeface="+mn-ea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273800" cy="1256030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9820" y="116205"/>
            <a:ext cx="3304540" cy="215836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>
            <a:spLocks noGrp="1"/>
          </p:cNvSpPr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53" y="6281420"/>
            <a:ext cx="3192780" cy="638387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787" y="45720"/>
            <a:ext cx="9847580" cy="6214533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628227" y="1763607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Специальная </a:t>
            </a:r>
            <a:r>
              <a:rPr lang="en-US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IDE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для разработки на 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</a:t>
            </a:r>
            <a:r>
              <a:rPr lang="en-US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и основанных на 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технологиях.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Среда заранее подготовлена для 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разработчиков, дополнительные настройки обычно не нужны. Платная. Есть бесплатный пробный период.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用于开发基于JavaScript和基于JavaScript的技术的特殊IDE。环境是为JavaScript开发人员预先准备的，通常不需要额外的设置。付费。有免费试用期。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63080" cy="14224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>
            <a:spLocks noGrp="1"/>
          </p:cNvSpPr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0" y="-27940"/>
            <a:ext cx="10768753" cy="6282267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73" y="6162040"/>
            <a:ext cx="3357880" cy="69596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628227" y="2372360"/>
            <a:ext cx="11125200" cy="429768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en-US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IDE -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мощная система, но не обязательно программировать именно в ней. Есть более легковесные инструменты</a:t>
            </a:r>
            <a:r>
              <a:rPr lang="en-US" altLang="ru-RU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. </a:t>
            </a: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 основном их используют для того, чтобы быстро открыть и отредактировать нужный файл.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2935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IDE是一个强大的系统，但不一定要在其中编程。有更轻的工具。它们主要用于快速打开和编辑所需的文件。</a:t>
            </a:r>
            <a:endParaRPr lang="ru-RU" altLang="en-US" sz="2935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strike="noStrike" spc="-1">
                <a:latin typeface="Arial" panose="020B0704020202020204"/>
              </a:rPr>
              <a:t>Лёгкие редакторы кода</a:t>
            </a:r>
            <a:endParaRPr lang="ru-RU" sz="4800" b="0" strike="noStrike" spc="-1">
              <a:latin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sz="4800" b="0" strike="noStrike" spc="-1">
                <a:latin typeface="Arial" panose="020B0704020202020204"/>
              </a:rPr>
              <a:t>轻量级代码编辑器</a:t>
            </a:r>
            <a:endParaRPr lang="ru-RU" sz="4800" b="0" strike="noStrike" spc="-1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/>
          </p:nvPr>
        </p:nvSpPr>
        <p:spPr>
          <a:xfrm>
            <a:off x="628227" y="1793452"/>
            <a:ext cx="11125200" cy="4400973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Современный редактор текста с красивым интерфейсом. Имеет подсветку синтаксиса, работу с вкладками, организует работу над файлами, поддерживает автодополнение кода.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None/>
              <a:tabLst>
                <a:tab pos="0" algn="l"/>
              </a:tabLst>
            </a:pPr>
            <a:r>
              <a:rPr lang="ru-RU" altLang="en-US" sz="3200" b="0" strike="noStrike" spc="-1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现代文本编辑器与美丽的界面。它有语法高亮显示，使用选项卡，组织文件工作，支持代码自动完成。</a:t>
            </a:r>
            <a:endParaRPr lang="ru-RU" altLang="en-US" sz="3200" b="0" strike="noStrike" spc="-1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ldNum" idx="12"/>
          </p:nvPr>
        </p:nvSpPr>
        <p:spPr>
          <a:xfrm>
            <a:off x="11364960" y="6260640"/>
            <a:ext cx="730080" cy="5232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433945" cy="117665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2"/>
          <p:cNvSpPr>
            <a:spLocks noGrp="1"/>
          </p:cNvSpPr>
          <p:nvPr>
            <p:ph type="sldNum" idx="3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pic>
        <p:nvPicPr>
          <p:cNvPr id="2" name="Изображение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33" y="169333"/>
            <a:ext cx="12052300" cy="5992707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73" y="6206067"/>
            <a:ext cx="3989493" cy="631613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ее содержимое 3"/>
          <p:cNvSpPr>
            <a:spLocks noGrp="1"/>
          </p:cNvSpPr>
          <p:nvPr>
            <p:ph/>
          </p:nvPr>
        </p:nvSpPr>
        <p:spPr>
          <a:xfrm>
            <a:off x="609600" y="2372995"/>
            <a:ext cx="9462135" cy="3977640"/>
          </a:xfrm>
        </p:spPr>
        <p:txBody>
          <a:bodyPr>
            <a:normAutofit fontScale="90000" lnSpcReduction="10000"/>
          </a:bodyPr>
          <a:lstStyle/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подходит для средних и крупных проектов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适用于中型和大型项目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загружает много данных при запуске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加载大量的启动数据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на основе данных всего дает расширенную помощь в программировании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以数据为基础的综合方案拟订支助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/>
              <a:t>запускает проект нажатием одной кнопки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ru-RU" altLang="en-US" sz="2935">
                <a:sym typeface="+mn-ea"/>
              </a:rPr>
              <a:t>按一个按钮启动项目</a:t>
            </a:r>
            <a:endParaRPr lang="ru-RU" altLang="en-US" sz="2935"/>
          </a:p>
          <a:p>
            <a:pPr marL="285750" indent="-285750">
              <a:buFont typeface="Arial" panose="020B0704020202020204" pitchFamily="34" charset="0"/>
              <a:buChar char="•"/>
            </a:pPr>
            <a:endParaRPr lang="ru-RU" altLang="en-US" sz="2935"/>
          </a:p>
          <a:p>
            <a:pPr marL="0" indent="0">
              <a:buFont typeface="Arial" panose="020B0704020202020204" pitchFamily="34" charset="0"/>
              <a:buNone/>
            </a:pPr>
            <a:endParaRPr lang="ru-RU" altLang="en-US" sz="2935"/>
          </a:p>
          <a:p>
            <a:pPr marL="0" indent="0">
              <a:buFont typeface="Arial" panose="020B0704020202020204" pitchFamily="34" charset="0"/>
              <a:buNone/>
            </a:pPr>
            <a:endParaRPr lang="ru-RU" altLang="en-US" sz="2935"/>
          </a:p>
          <a:p>
            <a:pPr marL="0" indent="0">
              <a:buFont typeface="Arial" panose="020B0704020202020204" pitchFamily="34" charset="0"/>
              <a:buNone/>
            </a:pPr>
            <a:endParaRPr lang="ru-RU" altLang="en-US" sz="2935"/>
          </a:p>
        </p:txBody>
      </p:sp>
      <p:sp>
        <p:nvSpPr>
          <p:cNvPr id="337" name="PlaceHolder 2"/>
          <p:cNvSpPr>
            <a:spLocks noGrp="1"/>
          </p:cNvSpPr>
          <p:nvPr>
            <p:ph type="sldNum" idx="2"/>
          </p:nvPr>
        </p:nvSpPr>
        <p:spPr>
          <a:xfrm>
            <a:off x="10746740" y="5696585"/>
            <a:ext cx="1289685" cy="100330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629280" y="176640"/>
            <a:ext cx="10961280" cy="1982400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800" b="0" strike="noStrike" spc="-1">
                <a:latin typeface="Arial" panose="020B0704020202020204"/>
              </a:rPr>
              <a:t>Выбор редактора кода. </a:t>
            </a:r>
            <a:r>
              <a:rPr lang="en-US" altLang="ru-RU" sz="4800" b="0" strike="noStrike" spc="-1">
                <a:latin typeface="Arial" panose="020B0704020202020204"/>
              </a:rPr>
              <a:t>IDE</a:t>
            </a:r>
            <a:endParaRPr lang="en-US" altLang="ru-RU" sz="4800" b="0" strike="noStrike" spc="-1">
              <a:latin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altLang="ru-RU" sz="4800" b="0" strike="noStrike" spc="-1">
                <a:latin typeface="Arial" panose="020B0704020202020204"/>
              </a:rPr>
              <a:t>选择代码编辑器。IDE</a:t>
            </a:r>
            <a:endParaRPr lang="en-US" altLang="ru-RU" sz="4800" b="0" strike="noStrike" spc="-1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мещающее содержимое 3"/>
          <p:cNvSpPr>
            <a:spLocks noGrp="1"/>
          </p:cNvSpPr>
          <p:nvPr>
            <p:ph/>
          </p:nvPr>
        </p:nvSpPr>
        <p:spPr>
          <a:xfrm>
            <a:off x="609600" y="2373207"/>
            <a:ext cx="10805160" cy="3977640"/>
          </a:xfrm>
        </p:spPr>
        <p:txBody>
          <a:bodyPr>
            <a:normAutofit fontScale="65500"/>
          </a:bodyPr>
          <a:lstStyle/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быстро загружается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快速加载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позволяет быстро отредактировать один файл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快速编辑一个文件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легкий редактор проще освоить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简单的编辑器更容易掌握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20"/>
              <a:t>для запуска проекта необходимо выполнить больше действий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r>
              <a:rPr lang="ru-RU" altLang="en-US" sz="3415">
                <a:sym typeface="+mn-ea"/>
              </a:rPr>
              <a:t>需要执行更多操作才能启动项目</a:t>
            </a:r>
            <a:endParaRPr lang="ru-RU" altLang="en-US" sz="3415"/>
          </a:p>
          <a:p>
            <a:pPr marL="0" indent="0">
              <a:buFont typeface="Arial" panose="020B0704020202020204" pitchFamily="34" charset="0"/>
              <a:buNone/>
            </a:pPr>
            <a:r>
              <a:rPr lang="ru-RU" altLang="en-US" sz="3420"/>
              <a:t> </a:t>
            </a:r>
            <a:endParaRPr lang="ru-RU" altLang="en-US" sz="3420"/>
          </a:p>
          <a:p>
            <a:pPr marL="342900" indent="-342900">
              <a:buFont typeface="Arial" panose="020B0704020202020204" pitchFamily="34" charset="0"/>
              <a:buChar char="•"/>
            </a:pPr>
            <a:endParaRPr lang="ru-RU" altLang="en-US" sz="3420"/>
          </a:p>
        </p:txBody>
      </p:sp>
      <p:sp>
        <p:nvSpPr>
          <p:cNvPr id="337" name="PlaceHolder 2"/>
          <p:cNvSpPr>
            <a:spLocks noGrp="1"/>
          </p:cNvSpPr>
          <p:nvPr>
            <p:ph type="sldNum" idx="2"/>
          </p:nvPr>
        </p:nvSpPr>
        <p:spPr>
          <a:xfrm>
            <a:off x="10848340" y="5686425"/>
            <a:ext cx="1193800" cy="92837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C23443EF-8565-48C3-B5B4-3C63CFD90546}" type="slidenum">
              <a:rPr lang="en-US" sz="3200" b="0" strike="noStrike" spc="-1">
                <a:solidFill>
                  <a:srgbClr val="424242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338" name="Google Shape;73;p 1"/>
          <p:cNvSpPr/>
          <p:nvPr/>
        </p:nvSpPr>
        <p:spPr>
          <a:xfrm>
            <a:off x="149860" y="164465"/>
            <a:ext cx="11892280" cy="1981835"/>
          </a:xfrm>
          <a:prstGeom prst="rect">
            <a:avLst/>
          </a:prstGeom>
          <a:noFill/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120000" tIns="121920" rIns="120000" bIns="121920" anchor="t" anchorCtr="0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265" b="0" strike="noStrike" spc="-1">
                <a:latin typeface="Arial" panose="020B0704020202020204"/>
              </a:rPr>
              <a:t>Выбор редактора кода. «Легкие» редакторы</a:t>
            </a:r>
            <a:endParaRPr lang="ru-RU" altLang="en-US" sz="4265" b="0" strike="noStrike" spc="-1">
              <a:latin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ru-RU" altLang="en-US" sz="4265" b="0" strike="noStrike" spc="-1">
                <a:latin typeface="Arial" panose="020B0704020202020204"/>
              </a:rPr>
              <a:t>选择代码编辑器。轻编辑器</a:t>
            </a:r>
            <a:endParaRPr lang="ru-RU" altLang="en-US" sz="4265" b="0" strike="noStrike" spc="-1">
              <a:latin typeface="Arial" panose="020B0704020202020204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PlaceHolder 1"/>
          <p:cNvSpPr>
            <a:spLocks noGrp="1"/>
          </p:cNvSpPr>
          <p:nvPr>
            <p:ph type="title"/>
          </p:nvPr>
        </p:nvSpPr>
        <p:spPr>
          <a:xfrm>
            <a:off x="614400" y="1892135"/>
            <a:ext cx="10961760" cy="13492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 fontScale="90000"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Заключение</a:t>
            </a:r>
            <a:br>
              <a:rPr 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</a:br>
            <a:r>
              <a:rPr lang="zh-CN" altLang="en-US" sz="5600" b="0" strike="noStrike" spc="-1" dirty="0">
                <a:solidFill>
                  <a:srgbClr val="000000"/>
                </a:solidFill>
                <a:latin typeface="Roboto"/>
                <a:ea typeface="Roboto"/>
              </a:rPr>
              <a:t>结论</a:t>
            </a:r>
            <a:endParaRPr lang="ru-RU" sz="5600" b="0" strike="noStrike" spc="-1" dirty="0">
              <a:latin typeface="Arial" panose="020B0704020202020204"/>
            </a:endParaRPr>
          </a:p>
        </p:txBody>
      </p:sp>
      <p:sp>
        <p:nvSpPr>
          <p:cNvPr id="595" name="PlaceHolder 2"/>
          <p:cNvSpPr>
            <a:spLocks noGrp="1"/>
          </p:cNvSpPr>
          <p:nvPr>
            <p:ph type="sldNum" idx="72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1000" b="0" strike="noStrike" spc="-1">
                <a:solidFill>
                  <a:srgbClr val="FFFFFF"/>
                </a:solidFill>
                <a:latin typeface="Roboto"/>
                <a:ea typeface="Robot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4CF0BEAF-D3F3-452C-9161-BA7013431E56}" type="slidenum">
              <a:rPr lang="en-US" sz="1335" b="0" strike="noStrike" spc="-1">
                <a:solidFill>
                  <a:srgbClr val="FFFFFF"/>
                </a:solidFill>
                <a:latin typeface="Roboto"/>
                <a:ea typeface="Roboto"/>
              </a:rPr>
            </a:fld>
            <a:endParaRPr lang="ru-RU" sz="1335" b="0" strike="noStrike" spc="-1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/>
          </p:nvPr>
        </p:nvSpPr>
        <p:spPr>
          <a:xfrm>
            <a:off x="238080" y="248640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JavaScript изначально создавался только для браузера, но сейчас используется на многих других платформах.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最初是为浏览器创建的，但现在已在许多其他平台上使用。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599" name="Google Shape;581;p75"/>
          <p:cNvSpPr/>
          <p:nvPr/>
        </p:nvSpPr>
        <p:spPr>
          <a:xfrm>
            <a:off x="294240" y="435840"/>
            <a:ext cx="5610720" cy="1720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Язык JavaScript JavaScript</a:t>
            </a:r>
            <a:r>
              <a:rPr lang="zh-CN" alt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语言</a:t>
            </a:r>
            <a:endParaRPr lang="ru-RU" sz="4800" b="0" strike="noStrike" spc="-1" dirty="0">
              <a:latin typeface="Arial" panose="020B0704020202020204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73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397ECF41-979A-4590-9878-7AC13240E73A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01" name="Google Shape;583;p75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/>
          </p:nvPr>
        </p:nvSpPr>
        <p:spPr>
          <a:xfrm>
            <a:off x="238080" y="235368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Сегодня JavaScript занимает уникальную позицию в качестве самого распространённого языка для браузера, обладающего полной интеграцией с HTML/CSS.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603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如今，</a:t>
            </a:r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作为使用最广泛的浏览器语言占据了独特的地位，并与 </a:t>
            </a:r>
            <a:r>
              <a:rPr lang="en-US" altLang="zh-CN" sz="2665" b="0" strike="noStrike" spc="-1" dirty="0">
                <a:latin typeface="Arial" panose="020B0704020202020204"/>
              </a:rPr>
              <a:t>HTML/CSS </a:t>
            </a:r>
            <a:r>
              <a:rPr lang="zh-CN" altLang="en-US" sz="2665" b="0" strike="noStrike" spc="-1" dirty="0">
                <a:latin typeface="Arial" panose="020B0704020202020204"/>
              </a:rPr>
              <a:t>完全集成。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604" name="Google Shape;590;p76"/>
          <p:cNvSpPr/>
          <p:nvPr/>
        </p:nvSpPr>
        <p:spPr>
          <a:xfrm>
            <a:off x="294240" y="435840"/>
            <a:ext cx="5610720" cy="17208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800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+ HTML/CSS</a:t>
            </a:r>
            <a:endParaRPr lang="ru-RU" sz="4800" b="0" strike="noStrike" spc="-1" dirty="0">
              <a:latin typeface="Arial" panose="020B0704020202020204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sldNum" idx="74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18866019-AD3F-430C-BA63-646D58DF664E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06" name="Google Shape;592;p76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/>
          </p:nvPr>
        </p:nvSpPr>
        <p:spPr>
          <a:xfrm>
            <a:off x="238080" y="2415280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Некоторые языки могут быть «транспилированы» в JavaScript – это может ускорить разработку. Также у JS есть большой набор фреймворков под разные специальные задачи.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zh-CN" altLang="en-US" sz="2665" b="0" strike="noStrike" spc="-1" dirty="0">
                <a:latin typeface="Arial" panose="020B0704020202020204"/>
              </a:rPr>
              <a:t>某些语言可以“转译”为 </a:t>
            </a:r>
            <a:r>
              <a:rPr lang="en-US" altLang="zh-CN" sz="2665" b="0" strike="noStrike" spc="-1" dirty="0">
                <a:latin typeface="Arial" panose="020B0704020202020204"/>
              </a:rPr>
              <a:t>JavaScript - </a:t>
            </a:r>
            <a:r>
              <a:rPr lang="zh-CN" altLang="en-US" sz="2665" b="0" strike="noStrike" spc="-1" dirty="0">
                <a:latin typeface="Arial" panose="020B0704020202020204"/>
              </a:rPr>
              <a:t>这可以加快开发速度。 </a:t>
            </a:r>
            <a:r>
              <a:rPr lang="en-US" altLang="zh-CN" sz="2665" b="0" strike="noStrike" spc="-1" dirty="0">
                <a:latin typeface="Arial" panose="020B0704020202020204"/>
              </a:rPr>
              <a:t>JS </a:t>
            </a:r>
            <a:r>
              <a:rPr lang="zh-CN" altLang="en-US" sz="2665" b="0" strike="noStrike" spc="-1" dirty="0">
                <a:latin typeface="Arial" panose="020B0704020202020204"/>
              </a:rPr>
              <a:t>还有一大套用于各种特殊任务的框架。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609" name="Google Shape;599;p77"/>
          <p:cNvSpPr/>
          <p:nvPr/>
        </p:nvSpPr>
        <p:spPr>
          <a:xfrm>
            <a:off x="294240" y="435840"/>
            <a:ext cx="10648080" cy="1475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JavaScript даёт свободу технологий</a:t>
            </a:r>
            <a:endParaRPr lang="en-US" sz="4265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/>
              </a:rPr>
              <a:t>JavaScript </a:t>
            </a:r>
            <a:r>
              <a:rPr lang="zh-CN" altLang="en-US" sz="3735" b="0" strike="noStrike" spc="-1" dirty="0">
                <a:latin typeface="Arial" panose="020B0704020202020204"/>
              </a:rPr>
              <a:t>赋予技术自由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75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212D1758-60E9-4D8D-84D4-903C8F516530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11" name="Google Shape;601;p77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PlaceHolder 1"/>
          <p:cNvSpPr>
            <a:spLocks noGrp="1"/>
          </p:cNvSpPr>
          <p:nvPr>
            <p:ph/>
          </p:nvPr>
        </p:nvSpPr>
        <p:spPr>
          <a:xfrm>
            <a:off x="238080" y="2485765"/>
            <a:ext cx="57235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chemeClr val="tx1"/>
                </a:solidFill>
                <a:latin typeface="Arial" panose="020B0704020202020204"/>
                <a:ea typeface="Arial" panose="020B0704020202020204"/>
              </a:rPr>
              <a:t>JavaScript позволяет применять интерактивную логику к веб-страницам на HTML/CSS и улучшить пользовательский опыт взаимодействия с интерфейсом сайта</a:t>
            </a:r>
            <a:endParaRPr lang="en-US" sz="3200" b="0" strike="noStrike" spc="-1" dirty="0">
              <a:solidFill>
                <a:schemeClr val="tx1"/>
              </a:solidFill>
              <a:latin typeface="Arial" panose="020B0704020202020204"/>
              <a:ea typeface="Arial" panose="020B0704020202020204"/>
            </a:endParaRPr>
          </a:p>
        </p:txBody>
      </p:sp>
      <p:sp>
        <p:nvSpPr>
          <p:cNvPr id="613" name="PlaceHolder 2"/>
          <p:cNvSpPr>
            <a:spLocks noGrp="1"/>
          </p:cNvSpPr>
          <p:nvPr>
            <p:ph/>
          </p:nvPr>
        </p:nvSpPr>
        <p:spPr>
          <a:xfrm>
            <a:off x="6259200" y="2558880"/>
            <a:ext cx="5610720" cy="4298400"/>
          </a:xfrm>
          <a:prstGeom prst="rect">
            <a:avLst/>
          </a:prstGeom>
          <a:noFill/>
          <a:ln w="0">
            <a:noFill/>
          </a:ln>
        </p:spPr>
        <p:txBody>
          <a:bodyPr lIns="0" tIns="121920" rIns="0" bIns="121920" anchor="t">
            <a:normAutofit/>
          </a:bodyPr>
          <a:lstStyle/>
          <a:p>
            <a:r>
              <a:rPr lang="en-US" altLang="zh-CN" sz="2665" b="0" strike="noStrike" spc="-1" dirty="0">
                <a:latin typeface="Arial" panose="020B0704020202020204"/>
              </a:rPr>
              <a:t>JavaScript </a:t>
            </a:r>
            <a:r>
              <a:rPr lang="zh-CN" altLang="en-US" sz="2665" b="0" strike="noStrike" spc="-1" dirty="0">
                <a:latin typeface="Arial" panose="020B0704020202020204"/>
              </a:rPr>
              <a:t>允许您将交互逻辑应用到 </a:t>
            </a:r>
            <a:r>
              <a:rPr lang="en-US" altLang="zh-CN" sz="2665" b="0" strike="noStrike" spc="-1" dirty="0">
                <a:latin typeface="Arial" panose="020B0704020202020204"/>
              </a:rPr>
              <a:t>HTML/CSS </a:t>
            </a:r>
            <a:r>
              <a:rPr lang="zh-CN" altLang="en-US" sz="2665" b="0" strike="noStrike" spc="-1" dirty="0">
                <a:latin typeface="Arial" panose="020B0704020202020204"/>
              </a:rPr>
              <a:t>网页并改善与网站界面交互的用户体验</a:t>
            </a:r>
            <a:endParaRPr lang="ru-RU" sz="2665" b="0" strike="noStrike" spc="-1" dirty="0">
              <a:latin typeface="Arial" panose="020B0704020202020204"/>
            </a:endParaRPr>
          </a:p>
        </p:txBody>
      </p:sp>
      <p:sp>
        <p:nvSpPr>
          <p:cNvPr id="614" name="Google Shape;608;p78"/>
          <p:cNvSpPr/>
          <p:nvPr/>
        </p:nvSpPr>
        <p:spPr>
          <a:xfrm>
            <a:off x="294240" y="435840"/>
            <a:ext cx="10353440" cy="1475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20000" tIns="121920" rIns="120000" bIns="12192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65" b="0" strike="noStrike" spc="-1" dirty="0">
                <a:solidFill>
                  <a:srgbClr val="000000"/>
                </a:solidFill>
                <a:latin typeface="Arial" panose="020B0704020202020204"/>
                <a:ea typeface="Arial" panose="020B0704020202020204"/>
              </a:rPr>
              <a:t>Веб-интерфейсный скрипт на JS</a:t>
            </a:r>
            <a:endParaRPr lang="en-US" sz="4265" b="0" strike="noStrike" spc="-1" dirty="0">
              <a:solidFill>
                <a:srgbClr val="000000"/>
              </a:solidFill>
              <a:latin typeface="Arial" panose="020B0704020202020204"/>
              <a:ea typeface="Arial" panose="020B0704020202020204"/>
            </a:endParaRPr>
          </a:p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735" b="0" strike="noStrike" spc="-1" dirty="0">
                <a:latin typeface="Arial" panose="020B0704020202020204"/>
              </a:rPr>
              <a:t>JS </a:t>
            </a:r>
            <a:r>
              <a:rPr lang="zh-CN" altLang="en-US" sz="3735" b="0" strike="noStrike" spc="-1" dirty="0">
                <a:latin typeface="Arial" panose="020B0704020202020204"/>
              </a:rPr>
              <a:t>中的 </a:t>
            </a:r>
            <a:r>
              <a:rPr lang="en-US" sz="3735" b="0" strike="noStrike" spc="-1" dirty="0">
                <a:latin typeface="Arial" panose="020B0704020202020204"/>
              </a:rPr>
              <a:t>Web </a:t>
            </a:r>
            <a:r>
              <a:rPr lang="zh-CN" altLang="en-US" sz="3735" b="0" strike="noStrike" spc="-1" dirty="0">
                <a:latin typeface="Arial" panose="020B0704020202020204"/>
              </a:rPr>
              <a:t>界面脚本</a:t>
            </a:r>
            <a:endParaRPr lang="ru-RU" sz="3735" b="0" strike="noStrike" spc="-1" dirty="0">
              <a:latin typeface="Arial" panose="020B0704020202020204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76"/>
          </p:nvPr>
        </p:nvSpPr>
        <p:spPr>
          <a:xfrm>
            <a:off x="11364960" y="6260640"/>
            <a:ext cx="730560" cy="523680"/>
          </a:xfrm>
          <a:prstGeom prst="rect">
            <a:avLst/>
          </a:prstGeom>
          <a:noFill/>
          <a:ln w="0">
            <a:noFill/>
          </a:ln>
        </p:spPr>
        <p:txBody>
          <a:bodyPr lIns="120000" tIns="121920" rIns="120000" bIns="12192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US" sz="24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58A4A01A-D0C9-4EDA-9F8B-CD3236C367EA}" type="slidenum">
              <a:rPr lang="en-US" sz="3200" b="0" strike="noStrike" spc="-1">
                <a:solidFill>
                  <a:srgbClr val="737373"/>
                </a:solidFill>
                <a:latin typeface="Arial" panose="020B0704020202020204"/>
                <a:ea typeface="Arial" panose="020B0704020202020204"/>
              </a:rPr>
            </a:fld>
            <a:endParaRPr lang="ru-RU" sz="3200" b="0" strike="noStrike" spc="-1">
              <a:latin typeface="Times New Roman" panose="02020603050405020304"/>
            </a:endParaRPr>
          </a:p>
        </p:txBody>
      </p:sp>
      <p:sp>
        <p:nvSpPr>
          <p:cNvPr id="616" name="Google Shape;610;p78"/>
          <p:cNvSpPr/>
          <p:nvPr/>
        </p:nvSpPr>
        <p:spPr>
          <a:xfrm>
            <a:off x="6259200" y="435840"/>
            <a:ext cx="5610720" cy="984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20952</Words>
  <Application>WPS Presentation</Application>
  <PresentationFormat>Widescreen</PresentationFormat>
  <Paragraphs>900</Paragraphs>
  <Slides>96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96</vt:i4>
      </vt:variant>
    </vt:vector>
  </HeadingPairs>
  <TitlesOfParts>
    <vt:vector size="125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Times New Roman Regular</vt:lpstr>
      <vt:lpstr>Times New Roman</vt:lpstr>
      <vt:lpstr>Microsoft YaHei</vt:lpstr>
      <vt:lpstr>汉仪旗黑</vt:lpstr>
      <vt:lpstr>SimSun</vt:lpstr>
      <vt:lpstr>宋体-简</vt:lpstr>
      <vt:lpstr>Microsoft YaHei</vt:lpstr>
      <vt:lpstr>Arial Unicode MS</vt:lpstr>
      <vt:lpstr>Calibri Light</vt:lpstr>
      <vt:lpstr>Roboto</vt:lpstr>
      <vt:lpstr>Thonburi</vt:lpstr>
      <vt:lpstr>Consolas</vt:lpstr>
      <vt:lpstr>Calibri</vt:lpstr>
      <vt:lpstr>Academy Engraved LET</vt:lpstr>
      <vt:lpstr>Consolas</vt:lpstr>
      <vt:lpstr>Microsoft YaHei</vt:lpstr>
      <vt:lpstr>Roboto</vt:lpstr>
      <vt:lpstr>苹方-简</vt:lpstr>
      <vt:lpstr>Al Bayan Plain</vt:lpstr>
      <vt:lpstr>Al Tarikh</vt:lpstr>
      <vt:lpstr>Al Nile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Скрипты 脚本</vt:lpstr>
      <vt:lpstr>Java Script (JS)</vt:lpstr>
      <vt:lpstr>PowerPoint 演示文稿</vt:lpstr>
      <vt:lpstr>PowerPoint 演示文稿</vt:lpstr>
      <vt:lpstr>PowerPoint 演示文稿</vt:lpstr>
      <vt:lpstr>JavaScript 的历史 (1)</vt:lpstr>
      <vt:lpstr>JavaScript 的历史  </vt:lpstr>
      <vt:lpstr>JS 引擎 </vt:lpstr>
      <vt:lpstr>JS 引擎 </vt:lpstr>
      <vt:lpstr>JS 引擎 </vt:lpstr>
      <vt:lpstr>什么是JS？</vt:lpstr>
      <vt:lpstr>什么是JS？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Размещение JavaScript на веб-странице  将 JavaScript 放置在网页上</vt:lpstr>
      <vt:lpstr>将脚本连接到网页</vt:lpstr>
      <vt:lpstr>页面中嵌入 JavaScript</vt:lpstr>
      <vt:lpstr>外部 JavaScript 文件</vt:lpstr>
      <vt:lpstr>&lt;script&gt;...&lt;/script&gt;标签</vt:lpstr>
      <vt:lpstr>我应该将脚本标签放在哪里？ </vt:lpstr>
      <vt:lpstr>我应该将脚本标签放在哪里？ </vt:lpstr>
      <vt:lpstr>标签内的 JavaScript </vt:lpstr>
      <vt:lpstr>标签内的 JavaScript </vt:lpstr>
      <vt:lpstr>标签内的 JavaScript </vt:lpstr>
      <vt:lpstr>&lt;script&gt;标签的作用是什么？</vt:lpstr>
      <vt:lpstr>&lt;script&gt;标签的作用是什么？</vt:lpstr>
      <vt:lpstr>JavaScript в браузере 浏览器中的 JavaScript</vt:lpstr>
      <vt:lpstr>Возможности JS        JS 特点 </vt:lpstr>
      <vt:lpstr>Возможности JS   JS 特点 </vt:lpstr>
      <vt:lpstr>Возможности JS            JS特点</vt:lpstr>
      <vt:lpstr>Что может JS в браузере  JS在浏览器中能做什么</vt:lpstr>
      <vt:lpstr>Что может JS в браузере  JS在浏览器中能做什么</vt:lpstr>
      <vt:lpstr>Что может JS в браузере  JS在浏览器中能做什么</vt:lpstr>
      <vt:lpstr>JS 在浏览器中不能做什么</vt:lpstr>
      <vt:lpstr>Не использует функции ОС  不使用操作系统功能 </vt:lpstr>
      <vt:lpstr>Не использует функции ОС  不使用操作系统功能 </vt:lpstr>
      <vt:lpstr>Не использует функции ОС  不使用操作系统功能 </vt:lpstr>
      <vt:lpstr>Не использует данные других вкладок  不使用其他选项卡中的数据</vt:lpstr>
      <vt:lpstr>Не использует данные других вкладок  不使用其他选项卡中的数据 </vt:lpstr>
      <vt:lpstr>Не берёт данные с “чужого” сервера   不从“外部”服务器获取数据 </vt:lpstr>
      <vt:lpstr>JS在浏览器中能做什么？</vt:lpstr>
      <vt:lpstr>JS在浏览器中能做什么？</vt:lpstr>
      <vt:lpstr>Технологии JavaScript JavaScript 技术</vt:lpstr>
      <vt:lpstr>PowerPoint 演示文稿</vt:lpstr>
      <vt:lpstr>JavaScript – самый распространенный инструмент для создания интерфейсов в браузере  JavaScript 是在浏览器中创建界面的最常用工具。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 Что такое транспиляция?          3. 什么是转译？</vt:lpstr>
      <vt:lpstr>3. Что такое транспиляция?          3. 什么是转译？</vt:lpstr>
      <vt:lpstr>在哪里写JavaScript？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Заключение 结论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Valerie</cp:lastModifiedBy>
  <cp:revision>56</cp:revision>
  <dcterms:created xsi:type="dcterms:W3CDTF">2025-11-25T06:23:21Z</dcterms:created>
  <dcterms:modified xsi:type="dcterms:W3CDTF">2025-11-25T06:23:21Z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F32E32B30EAA8971D1BE29673F5B3C17_41</vt:lpwstr>
  </property>
  <property fmtid="{D5CDD505-2E9C-101B-9397-08002B2CF9AE}" pid="3" name="KSOProductBuildVer">
    <vt:lpwstr>1033-12.1.23152.23152</vt:lpwstr>
  </property>
</Properties>
</file>