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ov" ContentType="video/quicktime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3"/>
    <p:sldId id="399" r:id="rId4"/>
    <p:sldId id="369" r:id="rId5"/>
    <p:sldId id="40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308" r:id="rId20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3" Type="http://schemas.microsoft.com/office/2007/relationships/media" Target="../media/media1.mov"/><Relationship Id="rId2" Type="http://schemas.openxmlformats.org/officeDocument/2006/relationships/video" Target="NULL" TargetMode="External"/><Relationship Id="rId1" Type="http://schemas.openxmlformats.org/officeDocument/2006/relationships/hyperlink" Target="https://dog.ceo/dog-api/breeds-list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84;p1"/>
          <p:cNvSpPr/>
          <p:nvPr/>
        </p:nvSpPr>
        <p:spPr>
          <a:xfrm>
            <a:off x="0" y="316603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Google Shape;85;p1"/>
          <p:cNvSpPr/>
          <p:nvPr/>
        </p:nvSpPr>
        <p:spPr>
          <a:xfrm>
            <a:off x="260985" y="438700"/>
            <a:ext cx="10276727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ВЛАДИМИРСКИЙ ГОСУДАРСТВЕННЫЙ УНИВЕРСИТЕТ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ИМЕНИ 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АЛЕКСАНДРА ГРИГОРЬЕВИЧА И НИКОЛАЯ ГРИГОРЬЕВИЧА СТОЛЕТОВЫХ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" name="Google Shape;86;p1" descr="Владимирский государственный университет имени Александра Григорьевича и  Николая Григорьевича Столетовых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443603" y="77207"/>
            <a:ext cx="1381125" cy="137731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87;p1"/>
          <p:cNvSpPr txBox="1"/>
          <p:nvPr/>
        </p:nvSpPr>
        <p:spPr>
          <a:xfrm>
            <a:off x="635" y="1649730"/>
            <a:ext cx="12191365" cy="3691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«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Разработка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веб-интерфейсного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скрипта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»</a:t>
            </a: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“Web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前端脚本开发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”</a:t>
            </a: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Практическое занятие по теме “</a:t>
            </a:r>
            <a:r>
              <a:rPr sz="28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Обмен</a:t>
            </a:r>
            <a:r>
              <a:rPr sz="28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sz="28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данными</a:t>
            </a:r>
            <a:r>
              <a:rPr sz="28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в JavaScript </a:t>
            </a:r>
            <a:r>
              <a:rPr sz="28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через</a:t>
            </a:r>
            <a:r>
              <a:rPr sz="28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JSON</a:t>
            </a:r>
            <a:r>
              <a:rPr lang="ru-RU" sz="28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”</a:t>
            </a:r>
            <a:endParaRPr lang="en-US" sz="28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JavaScript</a:t>
            </a:r>
            <a:r>
              <a:rPr lang="zh-CN" altLang="en-US" sz="28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中通过</a:t>
            </a:r>
            <a:r>
              <a:rPr lang="en-US" altLang="zh-CN" sz="28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JSON</a:t>
            </a:r>
            <a:r>
              <a:rPr lang="zh-CN" altLang="en-US" sz="28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进行数据交换</a:t>
            </a:r>
            <a:endParaRPr sz="28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" name="Google Shape;88;p1"/>
          <p:cNvSpPr txBox="1"/>
          <p:nvPr/>
        </p:nvSpPr>
        <p:spPr>
          <a:xfrm>
            <a:off x="8701088" y="5498106"/>
            <a:ext cx="334159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Преподаватель кафедры ИСПИ Хлызова Валерия Григорьевна.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373380" y="329565"/>
            <a:ext cx="11529695" cy="11988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Вспомним как выполняется синхронный запрос</a:t>
            </a:r>
            <a:r>
              <a:rPr lang="en-US" altLang="ru-RU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GET</a:t>
            </a:r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и в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ыведем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HTTP-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ответ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в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консоль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.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l"/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让我们记住如何执行同步GET请求并将HTTP响应输出到控制台。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100" name="Text Box 99"/>
          <p:cNvSpPr txBox="1"/>
          <p:nvPr/>
        </p:nvSpPr>
        <p:spPr>
          <a:xfrm>
            <a:off x="986790" y="2306955"/>
            <a:ext cx="10008235" cy="25533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const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http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new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267F99"/>
                </a:solidFill>
                <a:latin typeface="Menlo" panose="020B0609030804020204" charset="0"/>
                <a:cs typeface="宋体" panose="02010600030101010101" pitchFamily="2" charset="-122"/>
              </a:rPr>
              <a:t>XMLHttpRequest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();</a:t>
            </a:r>
            <a:endParaRPr lang="en-US" sz="2000" b="0">
              <a:solidFill>
                <a:srgbClr val="3B3B3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endParaRPr lang="en-US" sz="2000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const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url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'https://jsonplaceholder.typicode.com/users'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;</a:t>
            </a:r>
            <a:endParaRPr lang="en-US" sz="2000" b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sz="2000" b="0">
              <a:solidFill>
                <a:srgbClr val="0070C1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http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open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"GET"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url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 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false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solidFill>
                <a:srgbClr val="0070C1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http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send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();</a:t>
            </a:r>
            <a:endParaRPr lang="en-US" sz="2000" b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sz="2000" b="0">
              <a:solidFill>
                <a:srgbClr val="00108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console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log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http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responseText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505585" y="1669415"/>
            <a:ext cx="9180830" cy="43694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const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url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'https://jsonplaceholder.typicode.com/users'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;</a:t>
            </a:r>
            <a:endParaRPr lang="en-US" sz="2000" b="0">
              <a:solidFill>
                <a:srgbClr val="3B3B3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endParaRPr lang="en-US" sz="2000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const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user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{</a:t>
            </a:r>
            <a:endParaRPr lang="en-US" sz="2000" b="0">
              <a:solidFill>
                <a:srgbClr val="00108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ru-RU" alt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	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name: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"Your name"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</a:t>
            </a:r>
            <a:endParaRPr lang="en-US" sz="2000" b="0">
              <a:solidFill>
                <a:srgbClr val="00108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ru-RU" alt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	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username: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"username2023"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</a:t>
            </a:r>
            <a:endParaRPr lang="en-US" sz="2000" b="0">
              <a:solidFill>
                <a:srgbClr val="00108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ru-RU" alt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	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email: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"username2023@mail.com"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</a:t>
            </a:r>
            <a:endParaRPr lang="en-US" sz="2000" b="0">
              <a:solidFill>
                <a:srgbClr val="3B3B3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};</a:t>
            </a:r>
            <a:endParaRPr lang="en-US" sz="2000" b="0">
              <a:latin typeface="Calibri" panose="020F050202020403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latin typeface="Calibri" panose="020F0502020204030204" charset="0"/>
                <a:cs typeface="宋体" panose="02010600030101010101" pitchFamily="2" charset="-122"/>
              </a:rPr>
              <a:t> </a:t>
            </a:r>
            <a:endParaRPr lang="en-US" sz="2000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const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http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new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267F99"/>
                </a:solidFill>
                <a:latin typeface="Menlo" panose="020B0609030804020204" charset="0"/>
                <a:cs typeface="宋体" panose="02010600030101010101" pitchFamily="2" charset="-122"/>
              </a:rPr>
              <a:t>XMLHttpRequest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();</a:t>
            </a:r>
            <a:endParaRPr lang="en-US" sz="2000" b="0">
              <a:latin typeface="Calibri" panose="020F050202020403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latin typeface="Calibri" panose="020F0502020204030204" charset="0"/>
                <a:cs typeface="宋体" panose="02010600030101010101" pitchFamily="2" charset="-122"/>
              </a:rPr>
              <a:t> </a:t>
            </a:r>
            <a:endParaRPr lang="en-US" sz="2000" b="0">
              <a:solidFill>
                <a:srgbClr val="0070C1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http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open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"POST"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url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 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false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solidFill>
                <a:srgbClr val="0070C1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http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setRequestHeader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"Content-Type"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 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"application/json"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solidFill>
                <a:srgbClr val="0070C1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http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send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JSON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stringify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user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));</a:t>
            </a:r>
            <a:endParaRPr lang="en-US" b="0">
              <a:latin typeface="Calibri" panose="020F050202020403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b="0">
                <a:latin typeface="Calibri" panose="020F0502020204030204" charset="0"/>
                <a:cs typeface="宋体" panose="02010600030101010101" pitchFamily="2" charset="-122"/>
              </a:rPr>
              <a:t> 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167765" y="313690"/>
            <a:ext cx="931037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Вспомним как выполняется синхронный </a:t>
            </a:r>
            <a:r>
              <a:rPr lang="en-US" altLang="ru-RU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POST </a:t>
            </a:r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запрос</a:t>
            </a:r>
            <a:r>
              <a:rPr lang="en-US" altLang="ru-RU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.</a:t>
            </a:r>
            <a:endParaRPr lang="en-US" altLang="ru-RU" sz="2400" dirty="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l"/>
            <a:r>
              <a:rPr lang="en-US" altLang="ru-RU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记住如何执行同步POST请求。</a:t>
            </a:r>
            <a:endParaRPr lang="en-US" altLang="ru-RU" sz="2400" dirty="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86790" y="1013460"/>
            <a:ext cx="10367010" cy="22467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ru-RU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	Реализуем небольшое веб-приложение с загрузкой на страницу картинки.</a:t>
            </a:r>
            <a:endParaRPr lang="en-US" altLang="en-US" sz="28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endParaRPr lang="en-US" altLang="en-US" sz="28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zh-CN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我们将实现一个简单的</a:t>
            </a:r>
            <a:r>
              <a:rPr lang="en-US" altLang="zh-CN" sz="2800" dirty="0">
                <a:latin typeface="Times New Roman Regular" panose="02020603050405020304" charset="0"/>
                <a:cs typeface="Times New Roman Regular" panose="02020603050405020304" charset="0"/>
              </a:rPr>
              <a:t>Web</a:t>
            </a:r>
            <a:r>
              <a:rPr lang="zh-CN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应用程序，该应用程序可在页面上加载图片。</a:t>
            </a:r>
            <a:endParaRPr lang="ru-RU" altLang="en-US" sz="28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648335" y="412115"/>
            <a:ext cx="108184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altLang="en-US" sz="2400" dirty="0"/>
              <a:t>Адрес сервера</a:t>
            </a:r>
            <a:r>
              <a:rPr lang="zh-CN" altLang="en-US" sz="2400" dirty="0"/>
              <a:t>（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服务器地址</a:t>
            </a:r>
            <a:r>
              <a:rPr lang="en-US" altLang="zh-CN" sz="2400" b="0" i="0" dirty="0">
                <a:solidFill>
                  <a:srgbClr val="374151"/>
                </a:solidFill>
                <a:effectLst/>
                <a:latin typeface="Söhne"/>
              </a:rPr>
              <a:t>" </a:t>
            </a:r>
            <a:r>
              <a:rPr lang="zh-CN" altLang="en-US" sz="2400" dirty="0"/>
              <a:t>）</a:t>
            </a:r>
            <a:r>
              <a:rPr lang="ru-RU" altLang="en-US" sz="2400" dirty="0"/>
              <a:t>: </a:t>
            </a:r>
            <a:r>
              <a:rPr lang="en-US" sz="2400" dirty="0">
                <a:hlinkClick r:id="rId1" action="ppaction://hlinkfile"/>
              </a:rPr>
              <a:t>https://</a:t>
            </a:r>
            <a:r>
              <a:rPr lang="en-US" sz="2400" dirty="0" err="1">
                <a:hlinkClick r:id="rId1" action="ppaction://hlinkfile"/>
              </a:rPr>
              <a:t>dog.ceo</a:t>
            </a:r>
            <a:r>
              <a:rPr lang="en-US" sz="2400" dirty="0">
                <a:hlinkClick r:id="rId1" action="ppaction://hlinkfile"/>
              </a:rPr>
              <a:t>/dog-</a:t>
            </a:r>
            <a:r>
              <a:rPr lang="en-US" sz="2400" dirty="0" err="1">
                <a:hlinkClick r:id="rId1" action="ppaction://hlinkfile"/>
              </a:rPr>
              <a:t>api</a:t>
            </a:r>
            <a:r>
              <a:rPr lang="en-US" sz="2400" dirty="0">
                <a:hlinkClick r:id="rId1" action="ppaction://hlinkfile"/>
              </a:rPr>
              <a:t>/breeds-list</a:t>
            </a:r>
            <a:endParaRPr lang="en-US" sz="2400" dirty="0"/>
          </a:p>
        </p:txBody>
      </p:sp>
      <p:pic>
        <p:nvPicPr>
          <p:cNvPr id="7" name="Запись экрана 2023-11-10 в 13.22.12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>
                  <p14:trim end="28701.000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54810" y="1090295"/>
            <a:ext cx="8324850" cy="52660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734060" y="1094740"/>
            <a:ext cx="103073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Первая задача: получить список всех пород и ввести его на страницу.</a:t>
            </a:r>
            <a:r>
              <a:rPr lang="en-US" altLang="ru-RU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endParaRPr lang="en-US" altLang="ru-RU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>
              <a:lnSpc>
                <a:spcPct val="100000"/>
              </a:lnSpc>
            </a:pP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第一个任务：获取所有品种的列表并将其输入到页面上。</a:t>
            </a:r>
            <a:endParaRPr lang="en-US" altLang="ru-RU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>
              <a:lnSpc>
                <a:spcPct val="100000"/>
              </a:lnSpc>
            </a:pPr>
            <a:endParaRPr lang="en-US" altLang="ru-RU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>
              <a:lnSpc>
                <a:spcPct val="100000"/>
              </a:lnSpc>
            </a:pPr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Создадим </a:t>
            </a:r>
            <a:r>
              <a:rPr lang="en-US" altLang="ru-RU" sz="2400" dirty="0">
                <a:latin typeface="Times New Roman Regular" panose="02020603050405020304" charset="0"/>
                <a:cs typeface="Times New Roman Regular" panose="02020603050405020304" charset="0"/>
              </a:rPr>
              <a:t>HTML </a:t>
            </a:r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файл и </a:t>
            </a:r>
            <a:r>
              <a:rPr lang="en-US" altLang="ru-RU" sz="2400" dirty="0">
                <a:latin typeface="Times New Roman Regular" panose="02020603050405020304" charset="0"/>
                <a:cs typeface="Times New Roman Regular" panose="02020603050405020304" charset="0"/>
              </a:rPr>
              <a:t>JavaScript </a:t>
            </a:r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файл</a:t>
            </a:r>
            <a:r>
              <a:rPr lang="en-US" altLang="ru-RU" sz="2400" dirty="0">
                <a:latin typeface="Times New Roman Regular" panose="02020603050405020304" charset="0"/>
                <a:cs typeface="Times New Roman Regular" panose="02020603050405020304" charset="0"/>
              </a:rPr>
              <a:t>. </a:t>
            </a:r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Затем подключим </a:t>
            </a:r>
            <a:r>
              <a:rPr lang="en-US" altLang="ru-RU" sz="2400" dirty="0">
                <a:latin typeface="Times New Roman Regular" panose="02020603050405020304" charset="0"/>
                <a:cs typeface="Times New Roman Regular" panose="02020603050405020304" charset="0"/>
              </a:rPr>
              <a:t>JavaScript </a:t>
            </a:r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файл</a:t>
            </a:r>
            <a:r>
              <a:rPr lang="en-US" altLang="ru-RU" sz="2400" dirty="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 altLang="ru-RU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>
              <a:lnSpc>
                <a:spcPct val="100000"/>
              </a:lnSpc>
            </a:pP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我们将创建一个</a:t>
            </a:r>
            <a:r>
              <a:rPr lang="en-US" altLang="zh-CN" sz="2400" b="0" i="0" dirty="0">
                <a:solidFill>
                  <a:srgbClr val="374151"/>
                </a:solidFill>
                <a:effectLst/>
                <a:latin typeface="Söhne"/>
              </a:rPr>
              <a:t>HTML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文件和一个</a:t>
            </a:r>
            <a:r>
              <a:rPr lang="en-US" altLang="zh-CN" sz="2400" b="0" i="0" dirty="0">
                <a:solidFill>
                  <a:srgbClr val="374151"/>
                </a:solidFill>
                <a:effectLst/>
                <a:latin typeface="Söhne"/>
              </a:rPr>
              <a:t>JavaScript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文件。然后，将</a:t>
            </a:r>
            <a:r>
              <a:rPr lang="en-US" altLang="zh-CN" sz="2400" b="0" i="0" dirty="0">
                <a:solidFill>
                  <a:srgbClr val="374151"/>
                </a:solidFill>
                <a:effectLst/>
                <a:latin typeface="Söhne"/>
              </a:rPr>
              <a:t>JavaScript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文件连接到</a:t>
            </a:r>
            <a:r>
              <a:rPr lang="en-US" altLang="zh-CN" sz="2400" b="0" i="0" dirty="0">
                <a:solidFill>
                  <a:srgbClr val="374151"/>
                </a:solidFill>
                <a:effectLst/>
                <a:latin typeface="Söhne"/>
              </a:rPr>
              <a:t>HTML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文件中。</a:t>
            </a:r>
            <a:endParaRPr lang="en-US" altLang="ru-RU" sz="24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767715" y="3070225"/>
            <a:ext cx="1014412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function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sendRequest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currentUrl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 {</a:t>
            </a:r>
            <a:endParaRPr lang="en-US" sz="2000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	var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xmlHttpx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new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267F99"/>
                </a:solidFill>
                <a:latin typeface="Menlo" panose="020B0609030804020204" charset="0"/>
                <a:cs typeface="宋体" panose="02010600030101010101" pitchFamily="2" charset="-122"/>
              </a:rPr>
              <a:t>XMLHttpRequest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();</a:t>
            </a:r>
            <a:endParaRPr lang="en-US" sz="2000" b="0">
              <a:solidFill>
                <a:srgbClr val="00108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	xmlHttp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open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"GET"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 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currentUrl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 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false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solidFill>
                <a:srgbClr val="00108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	xmlHttp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send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null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solidFill>
                <a:srgbClr val="AF00D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AF00DB"/>
                </a:solidFill>
                <a:latin typeface="Menlo" panose="020B0609030804020204" charset="0"/>
                <a:cs typeface="宋体" panose="02010600030101010101" pitchFamily="2" charset="-122"/>
              </a:rPr>
              <a:t>	return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JSON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parse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xmlHttp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responseText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solidFill>
                <a:srgbClr val="3B3B3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}</a:t>
            </a:r>
            <a:endParaRPr lang="en-US" sz="2000"/>
          </a:p>
        </p:txBody>
      </p:sp>
      <p:sp>
        <p:nvSpPr>
          <p:cNvPr id="3" name="Text Box 2"/>
          <p:cNvSpPr txBox="1"/>
          <p:nvPr/>
        </p:nvSpPr>
        <p:spPr>
          <a:xfrm>
            <a:off x="483870" y="499745"/>
            <a:ext cx="111518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	Создадим метод для отправки запроса на получение данных с сервера. Нам понадобиться только метод </a:t>
            </a:r>
            <a:r>
              <a:rPr lang="en-US" sz="24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GET</a:t>
            </a:r>
            <a:r>
              <a:rPr lang="ru-RU" altLang="en-US" sz="24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</a:t>
            </a:r>
            <a:r>
              <a:rPr lang="ru-RU" altLang="en-US" sz="2400" dirty="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для получения списка пород собак и загрузки картинки.</a:t>
            </a:r>
            <a:endParaRPr lang="en-US" altLang="en-US" sz="2400" dirty="0">
              <a:solidFill>
                <a:schemeClr val="tx1"/>
              </a:solidFill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just"/>
            <a:endParaRPr lang="en-US" altLang="en-US" sz="2400" dirty="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just"/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我们将创建一个用于向服务器发送数据请求的方法。我们只需要使用</a:t>
            </a:r>
            <a:r>
              <a:rPr lang="en-US" altLang="zh-CN" sz="2400" b="0" i="0" dirty="0">
                <a:solidFill>
                  <a:srgbClr val="374151"/>
                </a:solidFill>
                <a:effectLst/>
                <a:latin typeface="Söhne"/>
              </a:rPr>
              <a:t>GET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方法来获取狗的品种列表和加载图片。</a:t>
            </a:r>
            <a:endParaRPr lang="ru-RU" altLang="en-US" sz="2400" dirty="0">
              <a:solidFill>
                <a:schemeClr val="tx1"/>
              </a:solidFill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67715" y="5648464"/>
            <a:ext cx="78025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ru-RU" sz="2000" dirty="0">
                <a:latin typeface="Times New Roman Regular" panose="02020603050405020304" charset="0"/>
                <a:cs typeface="Times New Roman Regular" panose="02020603050405020304" charset="0"/>
              </a:rPr>
              <a:t>*</a:t>
            </a:r>
            <a:r>
              <a:rPr lang="ru-RU" altLang="en-US" sz="2000" dirty="0">
                <a:latin typeface="Times New Roman Regular" panose="02020603050405020304" charset="0"/>
                <a:cs typeface="Times New Roman Regular" panose="02020603050405020304" charset="0"/>
              </a:rPr>
              <a:t>Мы используем метод </a:t>
            </a:r>
            <a:r>
              <a:rPr lang="en-US" sz="2000" dirty="0" err="1">
                <a:solidFill>
                  <a:srgbClr val="00108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JSON</a:t>
            </a:r>
            <a:r>
              <a:rPr lang="en-US" sz="2000" dirty="0" err="1">
                <a:solidFill>
                  <a:srgbClr val="3B3B3B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.</a:t>
            </a:r>
            <a:r>
              <a:rPr lang="en-US" sz="2000" dirty="0" err="1">
                <a:solidFill>
                  <a:srgbClr val="795E26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parse</a:t>
            </a:r>
            <a:r>
              <a:rPr lang="ru-RU" altLang="en-US" sz="2000" dirty="0">
                <a:solidFill>
                  <a:srgbClr val="795E26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ru-RU" altLang="en-US" sz="2000" dirty="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чтобы получить объект из строки</a:t>
            </a:r>
            <a:r>
              <a:rPr lang="en-US" altLang="ru-RU" sz="2000" dirty="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.</a:t>
            </a:r>
            <a:endParaRPr lang="en-US" altLang="ru-RU" sz="2000" dirty="0">
              <a:solidFill>
                <a:schemeClr val="tx1"/>
              </a:solidFill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l"/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我们使用</a:t>
            </a:r>
            <a:r>
              <a:rPr lang="en-US" altLang="zh-CN" sz="2000" b="0" i="0" dirty="0" err="1">
                <a:solidFill>
                  <a:srgbClr val="374151"/>
                </a:solidFill>
                <a:effectLst/>
                <a:latin typeface="Söhne"/>
              </a:rPr>
              <a:t>JSON.parse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方法将字符串转换为对象。</a:t>
            </a:r>
            <a:r>
              <a:rPr lang="ru-RU" altLang="en-US" sz="2000" dirty="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endParaRPr lang="ru-RU" altLang="en-US" sz="2000" dirty="0">
              <a:solidFill>
                <a:schemeClr val="tx1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240665" y="339725"/>
            <a:ext cx="9596120" cy="62471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const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url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"https://dog.ceo/api"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;</a:t>
            </a:r>
            <a:endParaRPr lang="en-US" sz="2000" b="0">
              <a:solidFill>
                <a:srgbClr val="3B3B3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endParaRPr lang="en-US" sz="2000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function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sendRequest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currentUrl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 {</a:t>
            </a:r>
            <a:endParaRPr lang="en-US" sz="2000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	var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xmlHttp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new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267F99"/>
                </a:solidFill>
                <a:latin typeface="Menlo" panose="020B0609030804020204" charset="0"/>
                <a:cs typeface="宋体" panose="02010600030101010101" pitchFamily="2" charset="-122"/>
              </a:rPr>
              <a:t>XMLHttpRequest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();</a:t>
            </a:r>
            <a:endParaRPr lang="en-US" sz="2000" b="0">
              <a:solidFill>
                <a:srgbClr val="00108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	xmlHttp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open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"GET"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 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currentUrl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 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false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solidFill>
                <a:srgbClr val="00108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	xmlHttp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send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null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solidFill>
                <a:srgbClr val="AF00D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AF00DB"/>
                </a:solidFill>
                <a:latin typeface="Menlo" panose="020B0609030804020204" charset="0"/>
                <a:cs typeface="宋体" panose="02010600030101010101" pitchFamily="2" charset="-122"/>
              </a:rPr>
              <a:t>	return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JSON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parse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xmlHttp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responseText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solidFill>
                <a:srgbClr val="3B3B3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}</a:t>
            </a:r>
            <a:endParaRPr lang="en-US" sz="2000" b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sz="2000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function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getAll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() {</a:t>
            </a:r>
            <a:endParaRPr lang="en-US" sz="2000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	const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getAllUrl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`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${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url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}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/breeds/list/all`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;</a:t>
            </a:r>
            <a:endParaRPr lang="en-US" sz="2000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	const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{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message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}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sendRequest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getAllUrl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sz="2000" b="0">
              <a:solidFill>
                <a:srgbClr val="AF00D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AF00DB"/>
                </a:solidFill>
                <a:latin typeface="Menlo" panose="020B0609030804020204" charset="0"/>
                <a:cs typeface="宋体" panose="02010600030101010101" pitchFamily="2" charset="-122"/>
              </a:rPr>
              <a:t>	if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(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!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message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 </a:t>
            </a:r>
            <a:endParaRPr lang="en-US" sz="2000" b="0">
              <a:solidFill>
                <a:srgbClr val="AF00D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AF00DB"/>
                </a:solidFill>
                <a:latin typeface="Menlo" panose="020B0609030804020204" charset="0"/>
                <a:cs typeface="宋体" panose="02010600030101010101" pitchFamily="2" charset="-122"/>
              </a:rPr>
              <a:t>		return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alert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'No breeds'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sz="2000" b="0">
              <a:solidFill>
                <a:srgbClr val="00108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	console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log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message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solidFill>
                <a:srgbClr val="3B3B3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}</a:t>
            </a:r>
            <a:endParaRPr lang="en-US" sz="2000" b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sz="2000" b="0">
              <a:solidFill>
                <a:srgbClr val="795E26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getAll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();</a:t>
            </a:r>
            <a:endParaRPr lang="en-US" sz="2000"/>
          </a:p>
        </p:txBody>
      </p:sp>
      <p:sp>
        <p:nvSpPr>
          <p:cNvPr id="3" name="Text Box 2"/>
          <p:cNvSpPr txBox="1"/>
          <p:nvPr/>
        </p:nvSpPr>
        <p:spPr>
          <a:xfrm>
            <a:off x="7793355" y="1097915"/>
            <a:ext cx="4153535" cy="1938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	Создадим метод для вызова запроса</a:t>
            </a:r>
            <a:r>
              <a:rPr lang="en-US" altLang="ru-RU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на </a:t>
            </a:r>
            <a:r>
              <a:rPr lang="ru-RU" alt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получние</a:t>
            </a:r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всех пород.</a:t>
            </a:r>
            <a:endParaRPr lang="en-US" altLang="en-US" sz="2400" dirty="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just"/>
            <a:r>
              <a:rPr lang="zh-CN" altLang="en-US" sz="2400" dirty="0"/>
              <a:t>创建一个用于获取所有品种请求的方法。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790" y="189230"/>
            <a:ext cx="9754235" cy="616648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7200265" y="1606550"/>
            <a:ext cx="415353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	</a:t>
            </a:r>
            <a:r>
              <a:rPr lang="ru-RU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Результат получения пород в консоли </a:t>
            </a:r>
            <a:r>
              <a:rPr lang="ru-RU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браузеера</a:t>
            </a:r>
            <a:r>
              <a:rPr lang="ru-RU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.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just"/>
            <a:endParaRPr lang="en-US" sz="2400" dirty="0">
              <a:latin typeface="Times New Roman Regular" panose="02020603050405020304" charset="0"/>
              <a:sym typeface="+mn-ea"/>
            </a:endParaRPr>
          </a:p>
          <a:p>
            <a:pPr algn="just"/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在浏览器控制台中获取品种的结果。</a:t>
            </a:r>
            <a:endParaRPr lang="ru-RU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554355" y="2727325"/>
            <a:ext cx="7527290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24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&lt;!DOCTYPE</a:t>
            </a:r>
            <a:r>
              <a:rPr lang="en-US" sz="24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400" b="0">
                <a:solidFill>
                  <a:srgbClr val="E50000"/>
                </a:solidFill>
                <a:latin typeface="Menlo" panose="020B0609030804020204" charset="0"/>
                <a:cs typeface="宋体" panose="02010600030101010101" pitchFamily="2" charset="-122"/>
              </a:rPr>
              <a:t>HTML</a:t>
            </a:r>
            <a:r>
              <a:rPr lang="en-US" sz="24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&gt;</a:t>
            </a:r>
            <a:endParaRPr lang="en-US" sz="2400" b="0">
              <a:solidFill>
                <a:srgbClr val="80000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indent="0"/>
            <a:r>
              <a:rPr lang="en-US" sz="24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&lt;html&gt;</a:t>
            </a:r>
            <a:endParaRPr lang="en-US" sz="2400" b="0">
              <a:solidFill>
                <a:srgbClr val="80000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indent="0"/>
            <a:r>
              <a:rPr lang="en-US" sz="24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&lt;body&gt;</a:t>
            </a:r>
            <a:endParaRPr lang="en-US" sz="2400" b="0">
              <a:solidFill>
                <a:srgbClr val="80000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indent="0"/>
            <a:r>
              <a:rPr lang="en-US" sz="24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	&lt;select</a:t>
            </a:r>
            <a:r>
              <a:rPr lang="en-US" sz="24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400" b="0">
                <a:solidFill>
                  <a:srgbClr val="E50000"/>
                </a:solidFill>
                <a:latin typeface="Menlo" panose="020B0609030804020204" charset="0"/>
                <a:cs typeface="宋体" panose="02010600030101010101" pitchFamily="2" charset="-122"/>
              </a:rPr>
              <a:t>id</a:t>
            </a:r>
            <a:r>
              <a:rPr lang="en-US" sz="24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4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"breeds"</a:t>
            </a:r>
            <a:r>
              <a:rPr lang="en-US" sz="24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&gt;&lt;/select&gt;</a:t>
            </a:r>
            <a:endParaRPr lang="en-US" sz="2400" b="0">
              <a:solidFill>
                <a:srgbClr val="80000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indent="0"/>
            <a:r>
              <a:rPr lang="en-US" sz="24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	&lt;script</a:t>
            </a:r>
            <a:r>
              <a:rPr lang="en-US" sz="24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400" b="0">
                <a:solidFill>
                  <a:srgbClr val="E50000"/>
                </a:solidFill>
                <a:latin typeface="Menlo" panose="020B0609030804020204" charset="0"/>
                <a:cs typeface="宋体" panose="02010600030101010101" pitchFamily="2" charset="-122"/>
              </a:rPr>
              <a:t>src</a:t>
            </a:r>
            <a:r>
              <a:rPr lang="en-US" sz="24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4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"script.js"</a:t>
            </a:r>
            <a:r>
              <a:rPr lang="en-US" sz="24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&gt;&lt;/script&gt;</a:t>
            </a:r>
            <a:endParaRPr lang="en-US" sz="2400" b="0">
              <a:solidFill>
                <a:srgbClr val="80000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indent="0"/>
            <a:r>
              <a:rPr lang="en-US" sz="24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&lt;/body&gt;</a:t>
            </a:r>
            <a:endParaRPr lang="en-US" sz="2400" b="0">
              <a:solidFill>
                <a:srgbClr val="80000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indent="0"/>
            <a:r>
              <a:rPr lang="en-US" sz="24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&lt;/html&gt;</a:t>
            </a:r>
            <a:endParaRPr lang="en-US" sz="2400"/>
          </a:p>
        </p:txBody>
      </p:sp>
      <p:sp>
        <p:nvSpPr>
          <p:cNvPr id="4" name="Text Box 3"/>
          <p:cNvSpPr txBox="1"/>
          <p:nvPr/>
        </p:nvSpPr>
        <p:spPr>
          <a:xfrm>
            <a:off x="554355" y="367030"/>
            <a:ext cx="1080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	Добавим на страницу поле выбора в которое запишем все полученные с сервера значения.</a:t>
            </a:r>
            <a:endParaRPr lang="en-US" alt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zh-CN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将页面添加一个选择框，将从服务器获取的所有数值记录在其中。</a:t>
            </a:r>
            <a:endParaRPr lang="ru-RU" alt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901065" y="3442970"/>
            <a:ext cx="10200005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function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getAll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() {</a:t>
            </a:r>
            <a:endParaRPr lang="en-US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indent="0"/>
            <a:r>
              <a:rPr lang="en-US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	const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getAllUrl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`</a:t>
            </a:r>
            <a:r>
              <a:rPr lang="en-US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${</a:t>
            </a:r>
            <a:r>
              <a:rPr lang="en-US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url</a:t>
            </a:r>
            <a:r>
              <a:rPr lang="en-US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}</a:t>
            </a:r>
            <a:r>
              <a:rPr lang="en-US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/breeds/list/all`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;</a:t>
            </a:r>
            <a:endParaRPr lang="en-US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indent="0"/>
            <a:r>
              <a:rPr lang="en-US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	const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{ </a:t>
            </a:r>
            <a:r>
              <a:rPr lang="en-US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message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} </a:t>
            </a:r>
            <a:r>
              <a:rPr lang="en-US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sendRequest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getAllUrl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b="0">
              <a:solidFill>
                <a:srgbClr val="3B3B3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indent="0"/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endParaRPr lang="en-US" b="0">
              <a:solidFill>
                <a:srgbClr val="AF00D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indent="0"/>
            <a:r>
              <a:rPr lang="en-US" b="0">
                <a:solidFill>
                  <a:srgbClr val="AF00DB"/>
                </a:solidFill>
                <a:latin typeface="Menlo" panose="020B0609030804020204" charset="0"/>
                <a:cs typeface="宋体" panose="02010600030101010101" pitchFamily="2" charset="-122"/>
              </a:rPr>
              <a:t>	if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(</a:t>
            </a:r>
            <a:r>
              <a:rPr lang="en-US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!</a:t>
            </a:r>
            <a:r>
              <a:rPr lang="en-US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message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 </a:t>
            </a:r>
            <a:endParaRPr lang="en-US" b="0">
              <a:solidFill>
                <a:srgbClr val="AF00D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indent="0"/>
            <a:r>
              <a:rPr lang="en-US" b="0">
                <a:solidFill>
                  <a:srgbClr val="AF00DB"/>
                </a:solidFill>
                <a:latin typeface="Menlo" panose="020B0609030804020204" charset="0"/>
                <a:cs typeface="宋体" panose="02010600030101010101" pitchFamily="2" charset="-122"/>
              </a:rPr>
              <a:t>		return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alert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'No breeds'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b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indent="0"/>
            <a:r>
              <a:rPr lang="en-US" b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indent="0"/>
            <a:r>
              <a:rPr lang="en-US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	const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keys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b="0">
                <a:solidFill>
                  <a:srgbClr val="267F99"/>
                </a:solidFill>
                <a:latin typeface="Menlo" panose="020B0609030804020204" charset="0"/>
                <a:cs typeface="宋体" panose="02010600030101010101" pitchFamily="2" charset="-122"/>
              </a:rPr>
              <a:t>Object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keys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message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indent="0"/>
            <a:r>
              <a:rPr lang="en-US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	let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select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document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querySelector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'#breeds'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b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indent="0"/>
            <a:r>
              <a:rPr lang="en-US" b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b="0">
              <a:solidFill>
                <a:srgbClr val="0070C1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indent="0"/>
            <a:r>
              <a:rPr lang="en-US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	keys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forEach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key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=&gt;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addOptionToList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key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 </a:t>
            </a:r>
            <a:r>
              <a:rPr lang="en-US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key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 </a:t>
            </a:r>
            <a:r>
              <a:rPr lang="en-US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select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));</a:t>
            </a:r>
            <a:endParaRPr lang="en-US" b="0">
              <a:solidFill>
                <a:srgbClr val="3B3B3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indent="0"/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}</a:t>
            </a:r>
            <a:endParaRPr lang="en-US"/>
          </a:p>
        </p:txBody>
      </p:sp>
      <p:sp>
        <p:nvSpPr>
          <p:cNvPr id="3" name="Rectangles 2"/>
          <p:cNvSpPr/>
          <p:nvPr/>
        </p:nvSpPr>
        <p:spPr>
          <a:xfrm>
            <a:off x="1838960" y="5407660"/>
            <a:ext cx="7769860" cy="131445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901065" y="2051685"/>
            <a:ext cx="1020000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function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addOptionToList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name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 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value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 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select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 {</a:t>
            </a:r>
            <a:endParaRPr lang="en-US" sz="2000" b="0">
              <a:solidFill>
                <a:srgbClr val="00108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	option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new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267F99"/>
                </a:solidFill>
                <a:latin typeface="Menlo" panose="020B0609030804020204" charset="0"/>
                <a:cs typeface="宋体" panose="02010600030101010101" pitchFamily="2" charset="-122"/>
              </a:rPr>
              <a:t>Option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name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 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value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 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false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 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false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solidFill>
                <a:srgbClr val="00108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	select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append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option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solidFill>
                <a:srgbClr val="3B3B3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}</a:t>
            </a:r>
            <a:endParaRPr lang="en-US" sz="2000"/>
          </a:p>
        </p:txBody>
      </p:sp>
      <p:sp>
        <p:nvSpPr>
          <p:cNvPr id="5" name="Rectangles 4"/>
          <p:cNvSpPr/>
          <p:nvPr/>
        </p:nvSpPr>
        <p:spPr>
          <a:xfrm>
            <a:off x="901065" y="2051685"/>
            <a:ext cx="8394700" cy="132270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1433195" y="530225"/>
            <a:ext cx="86155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Запишем в добавленное поле ввода полученный с сервера текст.</a:t>
            </a:r>
            <a:endParaRPr lang="en-US" alt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zh-CN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将从服务器接收到的文本写入新增的输入字段。</a:t>
            </a:r>
            <a:endParaRPr lang="ru-RU" alt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986915"/>
            <a:ext cx="9356725" cy="423926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390015" y="398145"/>
            <a:ext cx="94181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У некоторых пород есть подтипы, а значит нам нужно это обработать!</a:t>
            </a:r>
            <a:endParaRPr lang="en-US" alt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某些品种有亚型，因此我们需要处理这个！</a:t>
            </a:r>
            <a:endParaRPr lang="ru-RU" alt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194945" y="1226820"/>
            <a:ext cx="11997055" cy="56311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function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getAll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() {</a:t>
            </a:r>
            <a:endParaRPr lang="en-US" sz="2000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	const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getAllUrl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`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${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url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}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/breeds/list/all`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;</a:t>
            </a:r>
            <a:endParaRPr lang="en-US" sz="2000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	const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{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message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}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sendRequest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getAllUrl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solidFill>
                <a:srgbClr val="AF00D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AF00DB"/>
                </a:solidFill>
                <a:latin typeface="Menlo" panose="020B0609030804020204" charset="0"/>
                <a:cs typeface="宋体" panose="02010600030101010101" pitchFamily="2" charset="-122"/>
              </a:rPr>
              <a:t>	if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(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!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message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 </a:t>
            </a:r>
            <a:endParaRPr lang="en-US" sz="2000" b="0">
              <a:solidFill>
                <a:srgbClr val="AF00D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AF00DB"/>
                </a:solidFill>
                <a:latin typeface="Menlo" panose="020B0609030804020204" charset="0"/>
                <a:cs typeface="宋体" panose="02010600030101010101" pitchFamily="2" charset="-122"/>
              </a:rPr>
              <a:t>		return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alert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'No breeds'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endParaRPr lang="en-US" sz="2000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const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keys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267F99"/>
                </a:solidFill>
                <a:latin typeface="Menlo" panose="020B0609030804020204" charset="0"/>
                <a:cs typeface="宋体" panose="02010600030101010101" pitchFamily="2" charset="-122"/>
              </a:rPr>
              <a:t>Object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keys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message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let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select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document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querySelector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'#breeds'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solidFill>
                <a:srgbClr val="3B3B3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endParaRPr lang="en-US" sz="2000" b="0">
              <a:solidFill>
                <a:srgbClr val="0070C1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keys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forEach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key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=&gt;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{</a:t>
            </a:r>
            <a:endParaRPr lang="en-US" sz="2000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	const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values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message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[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key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];</a:t>
            </a:r>
            <a:endParaRPr lang="en-US" sz="2000" b="0">
              <a:solidFill>
                <a:srgbClr val="3B3B3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endParaRPr lang="en-US" sz="2000" b="0">
              <a:solidFill>
                <a:srgbClr val="AF00D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AF00DB"/>
                </a:solidFill>
                <a:latin typeface="Menlo" panose="020B0609030804020204" charset="0"/>
                <a:cs typeface="宋体" panose="02010600030101010101" pitchFamily="2" charset="-122"/>
              </a:rPr>
              <a:t>	if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(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values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length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===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98658"/>
                </a:solidFill>
                <a:latin typeface="Menlo" panose="020B0609030804020204" charset="0"/>
                <a:cs typeface="宋体" panose="02010600030101010101" pitchFamily="2" charset="-122"/>
              </a:rPr>
              <a:t>0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 </a:t>
            </a:r>
            <a:r>
              <a:rPr lang="en-US" sz="2000" b="0">
                <a:solidFill>
                  <a:srgbClr val="AF00DB"/>
                </a:solidFill>
                <a:latin typeface="Menlo" panose="020B0609030804020204" charset="0"/>
                <a:cs typeface="宋体" panose="02010600030101010101" pitchFamily="2" charset="-122"/>
              </a:rPr>
              <a:t>return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addOptionToList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key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 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key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 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select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sz="2000" b="0">
              <a:solidFill>
                <a:srgbClr val="0070C1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	values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forEach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value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=&gt;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endParaRPr lang="en-US" sz="2000" b="0">
              <a:solidFill>
                <a:srgbClr val="795E26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		addOptionToList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`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${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value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}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${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key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}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`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 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`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${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key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}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/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${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value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}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`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, 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select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))</a:t>
            </a:r>
            <a:endParaRPr lang="en-US" sz="2000" b="0">
              <a:solidFill>
                <a:srgbClr val="3B3B3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	});</a:t>
            </a:r>
            <a:endParaRPr lang="en-US" sz="2000" b="0">
              <a:solidFill>
                <a:srgbClr val="3B3B3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}</a:t>
            </a:r>
            <a:endParaRPr lang="en-US" sz="2000"/>
          </a:p>
        </p:txBody>
      </p:sp>
      <p:sp>
        <p:nvSpPr>
          <p:cNvPr id="4" name="Rectangles 3"/>
          <p:cNvSpPr/>
          <p:nvPr/>
        </p:nvSpPr>
        <p:spPr>
          <a:xfrm>
            <a:off x="194945" y="3929380"/>
            <a:ext cx="11581765" cy="255587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44500" y="327025"/>
            <a:ext cx="80276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altLang="en-US" sz="2400">
                <a:latin typeface="Times New Roman Regular" panose="02020603050405020304" charset="0"/>
                <a:cs typeface="Times New Roman Regular" panose="02020603050405020304" charset="0"/>
              </a:rPr>
              <a:t>Добавим обработку вложенных объектов.添加子对象处理。</a:t>
            </a:r>
            <a:endParaRPr lang="ru-RU" altLang="en-US" sz="24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5545"/>
            <a:ext cx="12192000" cy="517080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91490" y="289560"/>
            <a:ext cx="60819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Теперь все породы отображаются корректно.</a:t>
            </a:r>
            <a:endParaRPr lang="en-US" alt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zh-CN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现在所有品种都正常显示。</a:t>
            </a:r>
            <a:endParaRPr lang="ru-RU" alt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01955" y="341630"/>
            <a:ext cx="114776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ru-RU" sz="2400" dirty="0">
                <a:latin typeface="Times New Roman Regular" panose="02020603050405020304" charset="0"/>
                <a:cs typeface="Times New Roman Regular" panose="02020603050405020304" charset="0"/>
              </a:rPr>
              <a:t>	</a:t>
            </a:r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Перейдем к загрузке фотографии на страницу. Для этого добавим на страницу элемент </a:t>
            </a:r>
            <a:r>
              <a:rPr lang="en-US" altLang="ru-RU" sz="2400" dirty="0">
                <a:latin typeface="Times New Roman Regular" panose="02020603050405020304" charset="0"/>
                <a:cs typeface="Times New Roman Regular" panose="02020603050405020304" charset="0"/>
              </a:rPr>
              <a:t>&lt;</a:t>
            </a:r>
            <a:r>
              <a:rPr lang="en-US" altLang="ru-RU" sz="2400" dirty="0" err="1">
                <a:latin typeface="Times New Roman Regular" panose="02020603050405020304" charset="0"/>
                <a:cs typeface="Times New Roman Regular" panose="02020603050405020304" charset="0"/>
              </a:rPr>
              <a:t>img</a:t>
            </a:r>
            <a:r>
              <a:rPr lang="en-US" altLang="ru-RU" sz="2400" dirty="0">
                <a:latin typeface="Times New Roman Regular" panose="02020603050405020304" charset="0"/>
                <a:cs typeface="Times New Roman Regular" panose="02020603050405020304" charset="0"/>
              </a:rPr>
              <a:t>&gt; </a:t>
            </a:r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- для отображения картинки и кнопку </a:t>
            </a:r>
            <a:r>
              <a:rPr lang="en-US" altLang="ru-RU" sz="2400" dirty="0">
                <a:latin typeface="Times New Roman Regular" panose="02020603050405020304" charset="0"/>
                <a:cs typeface="Times New Roman Regular" panose="02020603050405020304" charset="0"/>
              </a:rPr>
              <a:t>&lt;button&gt;</a:t>
            </a:r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- для загрузки картинки.</a:t>
            </a:r>
            <a:r>
              <a:rPr lang="zh-CN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让我们开始向页面上传照片。为此，我们将在页面上添加一个 </a:t>
            </a:r>
            <a:r>
              <a:rPr lang="en-US" altLang="zh-CN" sz="2400" dirty="0">
                <a:latin typeface="Times New Roman Regular" panose="02020603050405020304" charset="0"/>
                <a:cs typeface="Times New Roman Regular" panose="02020603050405020304" charset="0"/>
              </a:rPr>
              <a:t>&lt;</a:t>
            </a:r>
            <a:r>
              <a:rPr lang="en-US" altLang="zh-CN" sz="2400" dirty="0" err="1">
                <a:latin typeface="Times New Roman Regular" panose="02020603050405020304" charset="0"/>
                <a:cs typeface="Times New Roman Regular" panose="02020603050405020304" charset="0"/>
              </a:rPr>
              <a:t>img</a:t>
            </a:r>
            <a:r>
              <a:rPr lang="en-US" altLang="zh-CN" sz="2400" dirty="0">
                <a:latin typeface="Times New Roman Regular" panose="02020603050405020304" charset="0"/>
                <a:cs typeface="Times New Roman Regular" panose="02020603050405020304" charset="0"/>
              </a:rPr>
              <a:t>&gt; </a:t>
            </a:r>
            <a:r>
              <a:rPr lang="zh-CN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元素用于显示图像，并添加一个 </a:t>
            </a:r>
            <a:r>
              <a:rPr lang="en-US" altLang="zh-CN" sz="2400" dirty="0">
                <a:latin typeface="Times New Roman Regular" panose="02020603050405020304" charset="0"/>
                <a:cs typeface="Times New Roman Regular" panose="02020603050405020304" charset="0"/>
              </a:rPr>
              <a:t>&lt;button&gt; </a:t>
            </a:r>
            <a:r>
              <a:rPr lang="zh-CN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按钮用于上传图像。</a:t>
            </a:r>
            <a:endParaRPr lang="ru-RU" alt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01955" y="2879725"/>
            <a:ext cx="11661775" cy="3476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en-US" sz="20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&lt;!DOCTYPE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E50000"/>
                </a:solidFill>
                <a:latin typeface="Menlo" panose="020B0609030804020204" charset="0"/>
                <a:cs typeface="宋体" panose="02010600030101010101" pitchFamily="2" charset="-122"/>
              </a:rPr>
              <a:t>HTML</a:t>
            </a:r>
            <a:r>
              <a:rPr lang="en-US" sz="20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&gt;</a:t>
            </a:r>
            <a:endParaRPr lang="en-US" sz="2000" b="0">
              <a:solidFill>
                <a:srgbClr val="80000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&lt;html&gt;</a:t>
            </a:r>
            <a:endParaRPr lang="en-US" sz="2000" b="0">
              <a:solidFill>
                <a:srgbClr val="80000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&lt;body&gt;</a:t>
            </a:r>
            <a:endParaRPr lang="en-US" sz="2000" b="0">
              <a:solidFill>
                <a:srgbClr val="80000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ru-RU" altLang="en-US" sz="20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	</a:t>
            </a:r>
            <a:r>
              <a:rPr lang="en-US" sz="20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&lt;select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E50000"/>
                </a:solidFill>
                <a:latin typeface="Menlo" panose="020B0609030804020204" charset="0"/>
                <a:cs typeface="宋体" panose="02010600030101010101" pitchFamily="2" charset="-122"/>
              </a:rPr>
              <a:t>id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"breeds"</a:t>
            </a:r>
            <a:r>
              <a:rPr lang="en-US" sz="20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&gt;&lt;/select&gt;</a:t>
            </a:r>
            <a:endParaRPr lang="en-US" sz="2000" b="0">
              <a:solidFill>
                <a:srgbClr val="80000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ru-RU" altLang="en-US" sz="20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	</a:t>
            </a:r>
            <a:r>
              <a:rPr lang="en-US" sz="20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&lt;button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E50000"/>
                </a:solidFill>
                <a:latin typeface="Menlo" panose="020B0609030804020204" charset="0"/>
                <a:cs typeface="宋体" panose="02010600030101010101" pitchFamily="2" charset="-122"/>
              </a:rPr>
              <a:t>type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"button"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E50000"/>
                </a:solidFill>
                <a:latin typeface="Menlo" panose="020B0609030804020204" charset="0"/>
                <a:cs typeface="宋体" panose="02010600030101010101" pitchFamily="2" charset="-122"/>
              </a:rPr>
              <a:t>onclick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"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getFunnyDog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()"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&gt;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Get dog!!!</a:t>
            </a:r>
            <a:r>
              <a:rPr lang="en-US" sz="20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&lt;/button&gt;</a:t>
            </a:r>
            <a:endParaRPr lang="en-US" sz="2000" b="0">
              <a:solidFill>
                <a:srgbClr val="3B3B3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endParaRPr lang="en-US" sz="2000" b="0">
              <a:solidFill>
                <a:srgbClr val="80000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ru-RU" altLang="en-US" sz="20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	</a:t>
            </a:r>
            <a:r>
              <a:rPr lang="en-US" sz="20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&lt;img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E50000"/>
                </a:solidFill>
                <a:latin typeface="Menlo" panose="020B0609030804020204" charset="0"/>
                <a:cs typeface="宋体" panose="02010600030101010101" pitchFamily="2" charset="-122"/>
              </a:rPr>
              <a:t>id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"dog_picture"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E50000"/>
                </a:solidFill>
                <a:latin typeface="Menlo" panose="020B0609030804020204" charset="0"/>
                <a:cs typeface="宋体" panose="02010600030101010101" pitchFamily="2" charset="-122"/>
              </a:rPr>
              <a:t>src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""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E50000"/>
                </a:solidFill>
                <a:latin typeface="Menlo" panose="020B0609030804020204" charset="0"/>
                <a:cs typeface="宋体" panose="02010600030101010101" pitchFamily="2" charset="-122"/>
              </a:rPr>
              <a:t>alt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"No picture"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/&gt;</a:t>
            </a:r>
            <a:endParaRPr lang="en-US" sz="2000" b="0">
              <a:solidFill>
                <a:srgbClr val="80000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endParaRPr lang="en-US" altLang="en-US" sz="2000" b="0">
              <a:solidFill>
                <a:srgbClr val="80000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ru-RU" altLang="en-US" sz="20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	</a:t>
            </a:r>
            <a:r>
              <a:rPr lang="en-US" sz="20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&lt;script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E50000"/>
                </a:solidFill>
                <a:latin typeface="Menlo" panose="020B0609030804020204" charset="0"/>
                <a:cs typeface="宋体" panose="02010600030101010101" pitchFamily="2" charset="-122"/>
              </a:rPr>
              <a:t>src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"script.js"</a:t>
            </a:r>
            <a:r>
              <a:rPr lang="en-US" sz="20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&gt;&lt;/script&gt;</a:t>
            </a:r>
            <a:endParaRPr lang="en-US" sz="2000" b="0">
              <a:solidFill>
                <a:srgbClr val="80000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&lt;/body&gt;</a:t>
            </a:r>
            <a:endParaRPr lang="en-US" sz="2000" b="0">
              <a:solidFill>
                <a:srgbClr val="80000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800000"/>
                </a:solidFill>
                <a:latin typeface="Menlo" panose="020B0609030804020204" charset="0"/>
                <a:cs typeface="宋体" panose="02010600030101010101" pitchFamily="2" charset="-122"/>
              </a:rPr>
              <a:t>&lt;/html&gt;</a:t>
            </a:r>
            <a:endParaRPr lang="en-US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282065" y="3002915"/>
            <a:ext cx="9627870" cy="33534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function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getFunnyDog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() {</a:t>
            </a:r>
            <a:endParaRPr lang="en-US" sz="2000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let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select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document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querySelector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'#breeds'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const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breed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select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value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;</a:t>
            </a:r>
            <a:endParaRPr lang="en-US" sz="2000" b="0">
              <a:solidFill>
                <a:srgbClr val="AF00D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AF00DB"/>
                </a:solidFill>
                <a:latin typeface="Menlo" panose="020B0609030804020204" charset="0"/>
                <a:cs typeface="宋体" panose="02010600030101010101" pitchFamily="2" charset="-122"/>
              </a:rPr>
              <a:t>if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(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!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breed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</a:t>
            </a:r>
            <a:endParaRPr lang="en-US" sz="2000" b="0">
              <a:solidFill>
                <a:srgbClr val="AF00D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ru-RU" altLang="en-US" sz="2000" b="0">
                <a:solidFill>
                  <a:srgbClr val="AF00DB"/>
                </a:solidFill>
                <a:latin typeface="Menlo" panose="020B0609030804020204" charset="0"/>
                <a:cs typeface="宋体" panose="02010600030101010101" pitchFamily="2" charset="-122"/>
              </a:rPr>
              <a:t>	</a:t>
            </a:r>
            <a:r>
              <a:rPr lang="en-US" sz="2000" b="0">
                <a:solidFill>
                  <a:srgbClr val="AF00DB"/>
                </a:solidFill>
                <a:latin typeface="Menlo" panose="020B0609030804020204" charset="0"/>
                <a:cs typeface="宋体" panose="02010600030101010101" pitchFamily="2" charset="-122"/>
              </a:rPr>
              <a:t>return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alert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'No breed'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solidFill>
                <a:srgbClr val="3B3B3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endParaRPr lang="en-US" sz="2000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const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funnyDogUrl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`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${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url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}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/breed/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${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breed</a:t>
            </a:r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}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/images/random`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;</a:t>
            </a:r>
            <a:endParaRPr lang="en-US" sz="2000" b="0">
              <a:solidFill>
                <a:srgbClr val="0000FF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00FF"/>
                </a:solidFill>
                <a:latin typeface="Menlo" panose="020B0609030804020204" charset="0"/>
                <a:cs typeface="宋体" panose="02010600030101010101" pitchFamily="2" charset="-122"/>
              </a:rPr>
              <a:t>const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{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message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}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sendRequest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funnyDogUrl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);</a:t>
            </a:r>
            <a:endParaRPr lang="en-US" sz="2000" b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sz="2000" b="0">
              <a:solidFill>
                <a:srgbClr val="001080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document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</a:rPr>
              <a:t>getElementById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</a:rPr>
              <a:t>"dog_picture"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).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</a:rPr>
              <a:t>src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Menlo" panose="020B0609030804020204" charset="0"/>
                <a:cs typeface="宋体" panose="02010600030101010101" pitchFamily="2" charset="-122"/>
              </a:rPr>
              <a:t>=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Menlo" panose="020B0609030804020204" charset="0"/>
                <a:cs typeface="宋体" panose="02010600030101010101" pitchFamily="2" charset="-122"/>
              </a:rPr>
              <a:t>message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;</a:t>
            </a:r>
            <a:endParaRPr lang="en-US" sz="1200" b="0">
              <a:solidFill>
                <a:srgbClr val="3B3B3B"/>
              </a:solidFill>
              <a:latin typeface="Menlo" panose="020B0609030804020204" charset="0"/>
              <a:cs typeface="宋体" panose="02010600030101010101" pitchFamily="2" charset="-122"/>
            </a:endParaRPr>
          </a:p>
          <a:p>
            <a:pPr marL="0" indent="0" algn="l"/>
            <a:r>
              <a:rPr lang="en-US" sz="1200" b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</a:rPr>
              <a:t>}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01955" y="341630"/>
            <a:ext cx="114776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Times New Roman Regular" panose="02020603050405020304" charset="0"/>
                <a:cs typeface="Times New Roman Regular" panose="02020603050405020304" charset="0"/>
              </a:rPr>
              <a:t>Создадим метод загрузки </a:t>
            </a:r>
            <a:r>
              <a:rPr lang="ru-RU" sz="2000" dirty="0" err="1">
                <a:latin typeface="Times New Roman Regular" panose="02020603050405020304" charset="0"/>
                <a:cs typeface="Times New Roman Regular" panose="02020603050405020304" charset="0"/>
              </a:rPr>
              <a:t>раномного</a:t>
            </a:r>
            <a:r>
              <a:rPr lang="ru-RU" sz="2000" dirty="0">
                <a:latin typeface="Times New Roman Regular" panose="02020603050405020304" charset="0"/>
                <a:cs typeface="Times New Roman Regular" panose="02020603050405020304" charset="0"/>
              </a:rPr>
              <a:t> изображения </a:t>
            </a:r>
            <a:r>
              <a:rPr lang="en-US" sz="2000" dirty="0" err="1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getFunnyDog</a:t>
            </a:r>
            <a:r>
              <a:rPr lang="ru-RU" altLang="en-US" sz="2000" dirty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()</a:t>
            </a:r>
            <a:endParaRPr lang="ru-RU" altLang="en-US" sz="2000" dirty="0">
              <a:solidFill>
                <a:srgbClr val="795E26"/>
              </a:solidFill>
              <a:latin typeface="Menlo" panose="020B0609030804020204" charset="0"/>
              <a:cs typeface="宋体" panose="02010600030101010101" pitchFamily="2" charset="-122"/>
              <a:sym typeface="+mn-ea"/>
            </a:endParaRPr>
          </a:p>
          <a:p>
            <a:pPr algn="just"/>
            <a:r>
              <a:rPr lang="zh-CN" altLang="en-US" sz="2000" dirty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创建一个名为</a:t>
            </a:r>
            <a:r>
              <a:rPr lang="en-US" altLang="zh-CN" sz="2000" dirty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`</a:t>
            </a:r>
            <a:r>
              <a:rPr lang="en-US" altLang="zh-CN" sz="2000" dirty="0" err="1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getFunnyDog</a:t>
            </a:r>
            <a:r>
              <a:rPr lang="en-US" altLang="zh-CN" sz="2000" dirty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()`</a:t>
            </a:r>
            <a:r>
              <a:rPr lang="zh-CN" altLang="en-US" sz="2000" dirty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的方法来加载随机图片。</a:t>
            </a:r>
            <a:endParaRPr lang="zh-CN" altLang="en-US" sz="2000" dirty="0">
              <a:solidFill>
                <a:srgbClr val="795E26"/>
              </a:solidFill>
              <a:latin typeface="Menlo" panose="020B0609030804020204" charset="0"/>
              <a:cs typeface="宋体" panose="02010600030101010101" pitchFamily="2" charset="-122"/>
              <a:sym typeface="+mn-ea"/>
            </a:endParaRPr>
          </a:p>
          <a:p>
            <a:pPr algn="just"/>
            <a:endParaRPr lang="ru-RU" altLang="en-US" sz="2000" dirty="0">
              <a:solidFill>
                <a:srgbClr val="795E26"/>
              </a:solidFill>
              <a:latin typeface="Menlo" panose="020B0609030804020204" charset="0"/>
              <a:cs typeface="宋体" panose="02010600030101010101" pitchFamily="2" charset="-122"/>
              <a:sym typeface="+mn-ea"/>
            </a:endParaRPr>
          </a:p>
          <a:p>
            <a:pPr algn="just"/>
            <a:r>
              <a:rPr lang="ru-RU" altLang="en-US" sz="2000" dirty="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После получения результата запишем </a:t>
            </a:r>
            <a:r>
              <a:rPr lang="en-US" altLang="ru-RU" sz="2000" dirty="0" err="1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url</a:t>
            </a:r>
            <a:r>
              <a:rPr lang="en-US" altLang="ru-RU" sz="2000" dirty="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ru-RU" altLang="en-US" sz="2000" dirty="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картинки в </a:t>
            </a:r>
            <a:r>
              <a:rPr lang="en-US" altLang="ru-RU" sz="2000" dirty="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&lt;</a:t>
            </a:r>
            <a:r>
              <a:rPr lang="en-US" altLang="ru-RU" sz="2000" dirty="0" err="1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img</a:t>
            </a:r>
            <a:r>
              <a:rPr lang="en-US" altLang="ru-RU" sz="2000" dirty="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&gt;:</a:t>
            </a:r>
            <a:endParaRPr lang="en-US" altLang="ru-RU" sz="2000" dirty="0">
              <a:solidFill>
                <a:schemeClr val="tx1"/>
              </a:solidFill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just"/>
            <a:r>
              <a:rPr lang="zh-CN" altLang="en-US" sz="2000" dirty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在获取结果后，将图片的</a:t>
            </a:r>
            <a:r>
              <a:rPr lang="en-US" altLang="zh-CN" sz="2000" dirty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URL</a:t>
            </a:r>
            <a:r>
              <a:rPr lang="zh-CN" altLang="en-US" sz="2000" dirty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写入</a:t>
            </a:r>
            <a:r>
              <a:rPr lang="en-US" altLang="zh-CN" sz="2000" dirty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`&lt;</a:t>
            </a:r>
            <a:r>
              <a:rPr lang="en-US" altLang="zh-CN" sz="2000" dirty="0" err="1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img</a:t>
            </a:r>
            <a:r>
              <a:rPr lang="en-US" altLang="zh-CN" sz="2000" dirty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&gt;`</a:t>
            </a:r>
            <a:r>
              <a:rPr lang="zh-CN" altLang="en-US" sz="2000" dirty="0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标签中。</a:t>
            </a:r>
            <a:endParaRPr lang="en-US" altLang="ru-RU" sz="2000" dirty="0">
              <a:solidFill>
                <a:schemeClr val="tx1"/>
              </a:solidFill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just"/>
            <a:r>
              <a:rPr lang="en-US" sz="2000" dirty="0" err="1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document</a:t>
            </a:r>
            <a:r>
              <a:rPr lang="en-US" sz="2000" dirty="0" err="1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.</a:t>
            </a:r>
            <a:r>
              <a:rPr lang="en-US" sz="2000" dirty="0" err="1">
                <a:solidFill>
                  <a:srgbClr val="795E26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getElementById</a:t>
            </a:r>
            <a:r>
              <a:rPr lang="en-US" sz="2000" dirty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"</a:t>
            </a:r>
            <a:r>
              <a:rPr lang="en-US" sz="2000" dirty="0" err="1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dog_picture</a:t>
            </a:r>
            <a:r>
              <a:rPr lang="en-US" sz="2000" dirty="0">
                <a:solidFill>
                  <a:srgbClr val="A31515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"</a:t>
            </a:r>
            <a:r>
              <a:rPr lang="en-US" sz="2000" dirty="0">
                <a:solidFill>
                  <a:srgbClr val="3B3B3B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).</a:t>
            </a:r>
            <a:r>
              <a:rPr lang="en-US" sz="2000" dirty="0" err="1">
                <a:solidFill>
                  <a:srgbClr val="001080"/>
                </a:solidFill>
                <a:latin typeface="Menlo" panose="020B0609030804020204" charset="0"/>
                <a:cs typeface="宋体" panose="02010600030101010101" pitchFamily="2" charset="-122"/>
                <a:sym typeface="+mn-ea"/>
              </a:rPr>
              <a:t>src</a:t>
            </a:r>
            <a:endParaRPr lang="en-US" sz="2000" dirty="0">
              <a:solidFill>
                <a:srgbClr val="001080"/>
              </a:solidFill>
              <a:latin typeface="Menlo" panose="020B0609030804020204" charset="0"/>
              <a:cs typeface="宋体" panose="02010600030101010101" pitchFamily="2" charset="-122"/>
              <a:sym typeface="+mn-ea"/>
            </a:endParaRPr>
          </a:p>
          <a:p>
            <a:pPr algn="just"/>
            <a:endParaRPr lang="en-US" altLang="ru-RU" sz="2000" dirty="0">
              <a:solidFill>
                <a:schemeClr val="tx1"/>
              </a:solidFill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65" y="12700"/>
            <a:ext cx="5092700" cy="68453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5417185" y="1148080"/>
            <a:ext cx="636079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Полученный результат!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得到的结果！</a:t>
            </a:r>
            <a:endParaRPr lang="ru-RU" alt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endParaRPr lang="ru-RU" alt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indent="0" algn="just">
              <a:buNone/>
            </a:pPr>
            <a:r>
              <a:rPr lang="en-US" altLang="ru-RU" sz="2400" dirty="0">
                <a:latin typeface="Times New Roman Regular" panose="02020603050405020304" charset="0"/>
                <a:cs typeface="Times New Roman Regular" panose="02020603050405020304" charset="0"/>
              </a:rPr>
              <a:t>1. </a:t>
            </a:r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Самостоятельно добавьте стили</a:t>
            </a:r>
            <a:r>
              <a:rPr lang="en-US" altLang="ru-RU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на страницу;</a:t>
            </a:r>
            <a:endParaRPr lang="en-US" alt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1" algn="just"/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请自行为页面添加样式；</a:t>
            </a:r>
            <a:endParaRPr lang="ru-RU" alt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endParaRPr lang="ru-RU" alt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indent="0" algn="just">
              <a:buNone/>
            </a:pPr>
            <a:r>
              <a:rPr lang="en-US" altLang="ru-RU" sz="2400" dirty="0">
                <a:latin typeface="Times New Roman Regular" panose="02020603050405020304" charset="0"/>
                <a:cs typeface="Times New Roman Regular" panose="02020603050405020304" charset="0"/>
              </a:rPr>
              <a:t>2. </a:t>
            </a:r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Добавьте запрос на получение картинки при первом открытии страницы;</a:t>
            </a:r>
            <a:endParaRPr lang="en-US" alt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1" algn="just"/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在页面首次打开时添加获取图片的请求；</a:t>
            </a:r>
            <a:endParaRPr lang="ru-RU" alt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457200" indent="-457200" algn="just">
              <a:buAutoNum type="arabicPeriod"/>
            </a:pPr>
            <a:endParaRPr lang="en-US" altLang="ru-RU" sz="24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mUxODg5ZWNkYzgwMjRiYjUyNDAzNzllNWYwZDhjMDA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4808</Words>
  <Application>WPS 演示</Application>
  <PresentationFormat>宽屏</PresentationFormat>
  <Paragraphs>235</Paragraphs>
  <Slides>18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宋体</vt:lpstr>
      <vt:lpstr>Wingdings</vt:lpstr>
      <vt:lpstr>Calibri</vt:lpstr>
      <vt:lpstr>Arial</vt:lpstr>
      <vt:lpstr>Times New Roman</vt:lpstr>
      <vt:lpstr>Times New Roman Regular</vt:lpstr>
      <vt:lpstr>Times New Roman</vt:lpstr>
      <vt:lpstr>Menlo</vt:lpstr>
      <vt:lpstr>Segoe Print</vt:lpstr>
      <vt:lpstr>Calibri</vt:lpstr>
      <vt:lpstr>Söhne</vt:lpstr>
      <vt:lpstr>Times New Roman Bold</vt:lpstr>
      <vt:lpstr>微软雅黑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valeriakhlyzoa</dc:creator>
  <cp:lastModifiedBy>小太阳</cp:lastModifiedBy>
  <cp:revision>147</cp:revision>
  <dcterms:created xsi:type="dcterms:W3CDTF">2023-11-21T05:40:00Z</dcterms:created>
  <dcterms:modified xsi:type="dcterms:W3CDTF">2023-11-21T07:13:54Z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AF9DABB82AFE43B59BD4D8C717F7A327_12</vt:lpwstr>
  </property>
</Properties>
</file>