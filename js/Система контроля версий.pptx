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s/slide3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s/slide34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954" y="21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presProps" Target="presProps.xml" /><Relationship Id="rId39" Type="http://schemas.openxmlformats.org/officeDocument/2006/relationships/tableStyles" Target="tableStyles.xml" /><Relationship Id="rId40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AEF03B-C175-4E69-B706-A031A5D36B3E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626481-0B1A-4CD1-AAFF-1E22D3AFF434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23BA901-56CE-4253-AB6D-50799AD09DF9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99B9AEF-DFE4-4EB1-9EBB-C382973A1664}" type="datetime1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C0DACF-A7E1-4CD3-BD0F-B50C7D553E10}" type="datetime1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A4A5375-6B51-493E-98AC-0B21A610CF6F}" type="datetime1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52AC15A-9FA4-45CF-89EC-69681ECBE5AF}" type="datetime1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4E185D4-E0E2-4E1D-B9EC-D6D8037C72F6}" type="datetime1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0A33C0B-ED05-4973-921E-0978A13F8F8C}" type="datetime1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420D8-7DF6-47E1-8E3A-DCF4FBA9E41F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AFF5DF5-F871-4035-82A1-53386E39F022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2615A6-AAB7-48DD-AD70-695BC5AD46C0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git-scm.com/" TargetMode="Externa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 bwMode="auto">
          <a:xfrm>
            <a:off x="0" y="316603"/>
            <a:ext cx="12192000" cy="898525"/>
          </a:xfrm>
          <a:prstGeom prst="rect">
            <a:avLst/>
          </a:prstGeom>
          <a:solidFill>
            <a:schemeClr val="accent1">
              <a:alpha val="46000"/>
            </a:schemeClr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260985" y="438700"/>
            <a:ext cx="10276727" cy="942975"/>
          </a:xfrm>
          <a:prstGeom prst="rect">
            <a:avLst/>
          </a:prstGeom>
          <a:noFill/>
          <a:ln w="9525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1400" b="1">
                <a:solidFill>
                  <a:srgbClr val="000000"/>
                </a:solidFill>
                <a:latin typeface="Arial"/>
                <a:ea typeface="DejaVu Sans"/>
                <a:cs typeface="Times New Roman"/>
              </a:rPr>
              <a:t>ВЛАДИМИРСКИЙ ГОСУДАРСТВЕННЫЙ УНИВЕРСИТЕТ</a:t>
            </a:r>
            <a:r>
              <a:rPr lang="ru-RU" sz="1400">
                <a:ea typeface="Calibri"/>
                <a:cs typeface="Times New Roman"/>
              </a:rPr>
              <a:t> </a:t>
            </a:r>
            <a:r>
              <a:rPr lang="ru-RU" sz="1400" b="1">
                <a:solidFill>
                  <a:srgbClr val="000000"/>
                </a:solidFill>
                <a:latin typeface="Arial"/>
                <a:ea typeface="DejaVu Sans"/>
                <a:cs typeface="Times New Roman"/>
              </a:rPr>
              <a:t>ИМЕНИ </a:t>
            </a:r>
            <a:endParaRPr lang="ru-RU" sz="1400"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1400" b="1">
                <a:solidFill>
                  <a:srgbClr val="000000"/>
                </a:solidFill>
                <a:latin typeface="Arial"/>
                <a:ea typeface="DejaVu Sans"/>
                <a:cs typeface="Times New Roman"/>
              </a:rPr>
              <a:t>АЛЕКСАНДРА ГРИГОРЬЕВИЧА И НИКОЛАЯ ГРИГОРЬЕВИЧА СТОЛЕТОВЫХ</a:t>
            </a:r>
            <a:endParaRPr lang="ru-RU" sz="1400">
              <a:ea typeface="Calibri"/>
              <a:cs typeface="Times New Roman"/>
            </a:endParaRPr>
          </a:p>
        </p:txBody>
      </p:sp>
      <p:pic>
        <p:nvPicPr>
          <p:cNvPr id="8" name="Picture 2" descr="Владимирский государственный университет имени Александра Григорьевича и  Николая Григорьевича Столетовых"/>
          <p:cNvPicPr/>
          <p:nvPr/>
        </p:nvPicPr>
        <p:blipFill>
          <a:blip r:embed="rId2"/>
          <a:stretch/>
        </p:blipFill>
        <p:spPr bwMode="auto">
          <a:xfrm>
            <a:off x="10443603" y="77207"/>
            <a:ext cx="1381125" cy="1377315"/>
          </a:xfrm>
          <a:prstGeom prst="rect">
            <a:avLst/>
          </a:prstGeom>
          <a:ln w="9525">
            <a:noFill/>
          </a:ln>
        </p:spPr>
      </p:pic>
      <p:sp>
        <p:nvSpPr>
          <p:cNvPr id="12" name="TextBox 11"/>
          <p:cNvSpPr txBox="1"/>
          <p:nvPr/>
        </p:nvSpPr>
        <p:spPr bwMode="auto">
          <a:xfrm>
            <a:off x="1493604" y="1621069"/>
            <a:ext cx="9204792" cy="3615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/>
            </a:pPr>
            <a:r>
              <a:rPr lang="ru-RU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«Разработка веб-интерфейсного скрипта»</a:t>
            </a:r>
            <a:endParaRPr/>
          </a:p>
          <a:p>
            <a:pPr algn="ctr">
              <a:lnSpc>
                <a:spcPct val="150000"/>
              </a:lnSpc>
              <a:spcAft>
                <a:spcPts val="0"/>
              </a:spcAft>
              <a:defRPr/>
            </a:pPr>
            <a:endParaRPr lang="ru-RU" sz="28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sz="3600">
                <a:latin typeface="Times New Roman"/>
                <a:cs typeface="Times New Roman"/>
              </a:rPr>
              <a:t>C</a:t>
            </a:r>
            <a:r>
              <a:rPr lang="ru-RU" sz="3600">
                <a:latin typeface="Times New Roman"/>
                <a:cs typeface="Times New Roman"/>
              </a:rPr>
              <a:t>истема</a:t>
            </a:r>
            <a:r>
              <a:rPr lang="ru-RU" sz="3600">
                <a:latin typeface="Times New Roman"/>
                <a:cs typeface="Times New Roman"/>
              </a:rPr>
              <a:t> контроля версий. Основы работы с </a:t>
            </a:r>
            <a:r>
              <a:rPr lang="en-US" sz="3600">
                <a:latin typeface="Times New Roman"/>
                <a:cs typeface="Times New Roman"/>
              </a:rPr>
              <a:t>git </a:t>
            </a:r>
            <a:r>
              <a:rPr lang="ru-RU" sz="3600">
                <a:latin typeface="Times New Roman"/>
                <a:cs typeface="Times New Roman"/>
              </a:rPr>
              <a:t>и </a:t>
            </a:r>
            <a:r>
              <a:rPr lang="en-US" sz="3600">
                <a:latin typeface="Times New Roman"/>
                <a:cs typeface="Times New Roman"/>
              </a:rPr>
              <a:t>GitHub</a:t>
            </a:r>
            <a:r>
              <a:rPr lang="ru-RU" sz="3600">
                <a:latin typeface="Times New Roman"/>
                <a:cs typeface="Times New Roman"/>
              </a:rPr>
              <a:t>.</a:t>
            </a:r>
            <a:endParaRPr/>
          </a:p>
          <a:p>
            <a:pPr algn="ctr">
              <a:lnSpc>
                <a:spcPct val="150000"/>
              </a:lnSpc>
              <a:spcAft>
                <a:spcPts val="0"/>
              </a:spcAft>
              <a:defRPr/>
            </a:pPr>
            <a:endParaRPr lang="ru-RU" sz="28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8701088" y="5498106"/>
            <a:ext cx="3341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latin typeface="Times New Roman"/>
                <a:cs typeface="Times New Roman"/>
              </a:rPr>
              <a:t>Преподаватель кафедры ИСПИ Хлызова Валерия Григорьевна.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1015252" y="576634"/>
            <a:ext cx="10162213" cy="2042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defRPr/>
            </a:pPr>
            <a:r>
              <a:rPr lang="ru-RU" sz="3200">
                <a:latin typeface="Times New Roman"/>
                <a:cs typeface="Times New Roman"/>
              </a:rPr>
              <a:t>	Любое веб-приложение состоит из множества файлов, которые структурированы в проекте. Самая простая веб-страница состоит из нескольких элементов </a:t>
            </a:r>
            <a:r>
              <a:rPr lang="en-US" sz="3200">
                <a:latin typeface="Times New Roman"/>
                <a:cs typeface="Times New Roman"/>
              </a:rPr>
              <a:t>HTML + </a:t>
            </a:r>
            <a:r>
              <a:rPr lang="ru-RU" sz="3200">
                <a:latin typeface="Times New Roman"/>
                <a:cs typeface="Times New Roman"/>
              </a:rPr>
              <a:t>CSS</a:t>
            </a:r>
            <a:r>
              <a:rPr lang="en-US" sz="3200">
                <a:latin typeface="Times New Roman"/>
                <a:cs typeface="Times New Roman"/>
              </a:rPr>
              <a:t> +</a:t>
            </a:r>
            <a:r>
              <a:rPr lang="ru-RU" sz="3200">
                <a:latin typeface="Times New Roman"/>
                <a:cs typeface="Times New Roman"/>
              </a:rPr>
              <a:t> </a:t>
            </a:r>
            <a:r>
              <a:rPr lang="ru-RU" sz="3200">
                <a:latin typeface="Times New Roman"/>
                <a:cs typeface="Times New Roman"/>
              </a:rPr>
              <a:t>JavaScript</a:t>
            </a:r>
            <a:r>
              <a:rPr lang="ru-RU" sz="3200">
                <a:latin typeface="Times New Roman"/>
                <a:cs typeface="Times New Roman"/>
              </a:rPr>
              <a:t>.</a:t>
            </a:r>
            <a:endParaRPr lang="ru-RU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555810" y="276350"/>
            <a:ext cx="11251065" cy="179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defRPr/>
            </a:pPr>
            <a:r>
              <a:rPr lang="ru-RU" sz="2800">
                <a:latin typeface="Times New Roman"/>
                <a:cs typeface="Times New Roman"/>
              </a:rPr>
              <a:t>	HTML — это язык разметки, который используется для создания структуры веб-страниц. Он состоит из тегов, которые обозначают различные элементы страницы, такие как заголовки, абзацы, списки, ссылки и множество других элементов.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2917451" y="4120507"/>
            <a:ext cx="7188574" cy="1544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ru-RU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&lt;!</a:t>
            </a:r>
            <a:r>
              <a:rPr lang="en-US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DOCTYPE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</a:t>
            </a:r>
            <a:r>
              <a:rPr lang="en-US" sz="1800">
                <a:solidFill>
                  <a:srgbClr val="E50000"/>
                </a:solidFill>
                <a:latin typeface="Consolas"/>
                <a:ea typeface="Times New Roman"/>
                <a:cs typeface="Times New Roman"/>
              </a:rPr>
              <a:t>HTML</a:t>
            </a:r>
            <a:r>
              <a:rPr lang="ru-RU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&gt;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&lt;html&gt;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    </a:t>
            </a:r>
            <a:r>
              <a:rPr lang="en-US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&lt;body&gt;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        </a:t>
            </a:r>
            <a:r>
              <a:rPr lang="en-US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&lt;form&gt;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            </a:t>
            </a:r>
            <a:r>
              <a:rPr lang="en-US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&lt;</a:t>
            </a:r>
            <a:r>
              <a:rPr lang="en-US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textarea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</a:t>
            </a:r>
            <a:r>
              <a:rPr lang="en-US" sz="1800">
                <a:solidFill>
                  <a:srgbClr val="E50000"/>
                </a:solidFill>
                <a:latin typeface="Consolas"/>
                <a:ea typeface="Times New Roman"/>
                <a:cs typeface="Times New Roman"/>
              </a:rPr>
              <a:t>cols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=</a:t>
            </a:r>
            <a:r>
              <a:rPr lang="en-US" sz="1800">
                <a:solidFill>
                  <a:srgbClr val="0000FF"/>
                </a:solidFill>
                <a:latin typeface="Consolas"/>
                <a:ea typeface="Times New Roman"/>
                <a:cs typeface="Times New Roman"/>
              </a:rPr>
              <a:t>"20"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</a:t>
            </a:r>
            <a:r>
              <a:rPr lang="en-US" sz="1800">
                <a:solidFill>
                  <a:srgbClr val="E50000"/>
                </a:solidFill>
                <a:latin typeface="Consolas"/>
                <a:ea typeface="Times New Roman"/>
                <a:cs typeface="Times New Roman"/>
              </a:rPr>
              <a:t>rows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=</a:t>
            </a:r>
            <a:r>
              <a:rPr lang="en-US" sz="1800">
                <a:solidFill>
                  <a:srgbClr val="0000FF"/>
                </a:solidFill>
                <a:latin typeface="Consolas"/>
                <a:ea typeface="Times New Roman"/>
                <a:cs typeface="Times New Roman"/>
              </a:rPr>
              <a:t>"10"</a:t>
            </a:r>
            <a:r>
              <a:rPr lang="en-US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&gt;&lt;/</a:t>
            </a:r>
            <a:r>
              <a:rPr lang="en-US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textarea</a:t>
            </a:r>
            <a:r>
              <a:rPr lang="en-US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&gt;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        </a:t>
            </a:r>
            <a:r>
              <a:rPr lang="ru-RU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&lt;/</a:t>
            </a:r>
            <a:r>
              <a:rPr lang="en-US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form</a:t>
            </a:r>
            <a:r>
              <a:rPr lang="ru-RU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&gt;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    </a:t>
            </a:r>
            <a:r>
              <a:rPr lang="ru-RU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&lt;/</a:t>
            </a:r>
            <a:r>
              <a:rPr lang="ru-RU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body</a:t>
            </a:r>
            <a:r>
              <a:rPr lang="ru-RU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&gt;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ru-RU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&lt;/</a:t>
            </a:r>
            <a:r>
              <a:rPr lang="ru-RU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html</a:t>
            </a:r>
            <a:r>
              <a:rPr lang="ru-RU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&gt;</a:t>
            </a:r>
            <a:endParaRPr lang="ru-RU" sz="2000">
              <a:latin typeface="Calibri"/>
              <a:ea typeface="Calibri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506504" y="487259"/>
            <a:ext cx="11448289" cy="179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defRPr/>
            </a:pPr>
            <a:r>
              <a:rPr lang="ru-RU" sz="2800">
                <a:latin typeface="Times New Roman"/>
                <a:cs typeface="Times New Roman"/>
              </a:rPr>
              <a:t>	CSS — это язык стилей, используемый для описания внешнего вида веб-страницы. Он позволяет задавать различные стили для HTML-элементов, такие как цвет, размер шрифта, отступы и многое другое. CSS-стили можно применять к HTML-элементам с помощью селекторов.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3544419" y="4915805"/>
            <a:ext cx="6096000" cy="1364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800000"/>
                </a:solidFill>
                <a:latin typeface="Consolas"/>
                <a:ea typeface="Times New Roman"/>
                <a:cs typeface="Times New Roman"/>
              </a:rPr>
              <a:t>.light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{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    </a:t>
            </a:r>
            <a:r>
              <a:rPr lang="en-US" sz="1800">
                <a:solidFill>
                  <a:srgbClr val="E50000"/>
                </a:solidFill>
                <a:latin typeface="Consolas"/>
                <a:ea typeface="Times New Roman"/>
                <a:cs typeface="Times New Roman"/>
              </a:rPr>
              <a:t>width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: </a:t>
            </a:r>
            <a:r>
              <a:rPr lang="en-US" sz="1800">
                <a:solidFill>
                  <a:srgbClr val="098658"/>
                </a:solidFill>
                <a:latin typeface="Consolas"/>
                <a:ea typeface="Times New Roman"/>
                <a:cs typeface="Times New Roman"/>
              </a:rPr>
              <a:t>100px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;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    </a:t>
            </a:r>
            <a:r>
              <a:rPr lang="en-US" sz="1800">
                <a:solidFill>
                  <a:srgbClr val="E50000"/>
                </a:solidFill>
                <a:latin typeface="Consolas"/>
                <a:ea typeface="Times New Roman"/>
                <a:cs typeface="Times New Roman"/>
              </a:rPr>
              <a:t>height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: </a:t>
            </a:r>
            <a:r>
              <a:rPr lang="en-US" sz="1800">
                <a:solidFill>
                  <a:srgbClr val="098658"/>
                </a:solidFill>
                <a:latin typeface="Consolas"/>
                <a:ea typeface="Times New Roman"/>
                <a:cs typeface="Times New Roman"/>
              </a:rPr>
              <a:t>100px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;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    </a:t>
            </a:r>
            <a:r>
              <a:rPr lang="en-US" sz="1800">
                <a:solidFill>
                  <a:srgbClr val="E50000"/>
                </a:solidFill>
                <a:latin typeface="Consolas"/>
                <a:ea typeface="Times New Roman"/>
                <a:cs typeface="Times New Roman"/>
              </a:rPr>
              <a:t>background-color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: </a:t>
            </a:r>
            <a:r>
              <a:rPr lang="en-US" sz="1800">
                <a:solidFill>
                  <a:srgbClr val="0451A5"/>
                </a:solidFill>
                <a:latin typeface="Consolas"/>
                <a:ea typeface="Times New Roman"/>
                <a:cs typeface="Times New Roman"/>
              </a:rPr>
              <a:t>black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;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    </a:t>
            </a:r>
            <a:r>
              <a:rPr lang="en-US" sz="1800">
                <a:solidFill>
                  <a:srgbClr val="E50000"/>
                </a:solidFill>
                <a:latin typeface="Consolas"/>
                <a:ea typeface="Times New Roman"/>
                <a:cs typeface="Times New Roman"/>
              </a:rPr>
              <a:t>margin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: </a:t>
            </a:r>
            <a:r>
              <a:rPr lang="en-US" sz="1800">
                <a:solidFill>
                  <a:srgbClr val="098658"/>
                </a:solidFill>
                <a:latin typeface="Consolas"/>
                <a:ea typeface="Times New Roman"/>
                <a:cs typeface="Times New Roman"/>
              </a:rPr>
              <a:t>10px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;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    </a:t>
            </a:r>
            <a:r>
              <a:rPr lang="ru-RU" sz="1800">
                <a:solidFill>
                  <a:srgbClr val="E50000"/>
                </a:solidFill>
                <a:latin typeface="Consolas"/>
                <a:ea typeface="Times New Roman"/>
                <a:cs typeface="Times New Roman"/>
              </a:rPr>
              <a:t>border-radius</a:t>
            </a:r>
            <a:r>
              <a:rPr lang="ru-RU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: </a:t>
            </a:r>
            <a:r>
              <a:rPr lang="ru-RU" sz="1800">
                <a:solidFill>
                  <a:srgbClr val="098658"/>
                </a:solidFill>
                <a:latin typeface="Consolas"/>
                <a:ea typeface="Times New Roman"/>
                <a:cs typeface="Times New Roman"/>
              </a:rPr>
              <a:t>50%</a:t>
            </a:r>
            <a:r>
              <a:rPr lang="ru-RU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;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ru-RU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}</a:t>
            </a:r>
            <a:endParaRPr lang="ru-RU" sz="2000">
              <a:latin typeface="Calibri"/>
              <a:ea typeface="Calibri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398929" y="732827"/>
            <a:ext cx="11394141" cy="2692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3200" b="0" i="0">
                <a:solidFill>
                  <a:srgbClr val="180620"/>
                </a:solidFill>
                <a:latin typeface="Times New Roman"/>
                <a:cs typeface="Times New Roman"/>
              </a:rPr>
              <a:t>	</a:t>
            </a:r>
            <a:r>
              <a:rPr lang="ru-RU" sz="2800" b="0" i="0">
                <a:solidFill>
                  <a:srgbClr val="180620"/>
                </a:solidFill>
                <a:latin typeface="Times New Roman"/>
                <a:cs typeface="Times New Roman"/>
              </a:rPr>
              <a:t>JavaScript</a:t>
            </a:r>
            <a:r>
              <a:rPr lang="ru-RU" sz="2800" b="0" i="0">
                <a:solidFill>
                  <a:srgbClr val="180620"/>
                </a:solidFill>
                <a:latin typeface="Times New Roman"/>
                <a:cs typeface="Times New Roman"/>
              </a:rPr>
              <a:t> — это язык программирования, который используется для добавления интерактивности, анимации и обработки пользовательских действий на веб-страницах. </a:t>
            </a:r>
            <a:r>
              <a:rPr lang="ru-RU" sz="2800" b="0" i="0">
                <a:solidFill>
                  <a:srgbClr val="180620"/>
                </a:solidFill>
                <a:latin typeface="Times New Roman"/>
                <a:cs typeface="Times New Roman"/>
              </a:rPr>
              <a:t>JavaScript</a:t>
            </a:r>
            <a:r>
              <a:rPr lang="ru-RU" sz="2800" b="0" i="0">
                <a:solidFill>
                  <a:srgbClr val="180620"/>
                </a:solidFill>
                <a:latin typeface="Times New Roman"/>
                <a:cs typeface="Times New Roman"/>
              </a:rPr>
              <a:t> можно встраивать в HTML-документы или подключать как отдельные файлы.</a:t>
            </a:r>
            <a:endParaRPr lang="ru-RU" sz="3200">
              <a:latin typeface="Times New Roman"/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1228163" y="4028919"/>
            <a:ext cx="10018059" cy="1723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FF"/>
                </a:solidFill>
                <a:latin typeface="Consolas"/>
                <a:ea typeface="Times New Roman"/>
                <a:cs typeface="Times New Roman"/>
              </a:rPr>
              <a:t>function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</a:t>
            </a:r>
            <a:r>
              <a:rPr lang="en-US" sz="1800">
                <a:solidFill>
                  <a:srgbClr val="795E26"/>
                </a:solidFill>
                <a:latin typeface="Consolas"/>
                <a:ea typeface="Times New Roman"/>
                <a:cs typeface="Times New Roman"/>
              </a:rPr>
              <a:t>turnOn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() {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  </a:t>
            </a:r>
            <a:r>
              <a:rPr lang="en-US" sz="1800">
                <a:solidFill>
                  <a:srgbClr val="001080"/>
                </a:solidFill>
                <a:latin typeface="Consolas"/>
                <a:ea typeface="Times New Roman"/>
                <a:cs typeface="Times New Roman"/>
              </a:rPr>
              <a:t>document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.</a:t>
            </a:r>
            <a:r>
              <a:rPr lang="en-US" sz="1800">
                <a:solidFill>
                  <a:srgbClr val="795E26"/>
                </a:solidFill>
                <a:latin typeface="Consolas"/>
                <a:ea typeface="Times New Roman"/>
                <a:cs typeface="Times New Roman"/>
              </a:rPr>
              <a:t>getElementById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(</a:t>
            </a:r>
            <a:r>
              <a:rPr lang="en-US" sz="1800">
                <a:solidFill>
                  <a:srgbClr val="A31515"/>
                </a:solidFill>
                <a:latin typeface="Consolas"/>
                <a:ea typeface="Times New Roman"/>
                <a:cs typeface="Times New Roman"/>
              </a:rPr>
              <a:t>'light'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).</a:t>
            </a:r>
            <a:r>
              <a:rPr lang="en-US" sz="1800">
                <a:solidFill>
                  <a:srgbClr val="0070C1"/>
                </a:solidFill>
                <a:latin typeface="Consolas"/>
                <a:ea typeface="Times New Roman"/>
                <a:cs typeface="Times New Roman"/>
              </a:rPr>
              <a:t>style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.</a:t>
            </a:r>
            <a:r>
              <a:rPr lang="en-US" sz="1800">
                <a:solidFill>
                  <a:srgbClr val="001080"/>
                </a:solidFill>
                <a:latin typeface="Consolas"/>
                <a:ea typeface="Times New Roman"/>
                <a:cs typeface="Times New Roman"/>
              </a:rPr>
              <a:t>backgroundColor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 = </a:t>
            </a:r>
            <a:r>
              <a:rPr lang="en-US" sz="1800">
                <a:solidFill>
                  <a:srgbClr val="A31515"/>
                </a:solidFill>
                <a:latin typeface="Consolas"/>
                <a:ea typeface="Times New Roman"/>
                <a:cs typeface="Times New Roman"/>
              </a:rPr>
              <a:t>'yellow'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;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  </a:t>
            </a:r>
            <a:r>
              <a:rPr lang="en-US" sz="1800">
                <a:solidFill>
                  <a:srgbClr val="001080"/>
                </a:solidFill>
                <a:latin typeface="Consolas"/>
                <a:ea typeface="Times New Roman"/>
                <a:cs typeface="Times New Roman"/>
              </a:rPr>
              <a:t>document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.</a:t>
            </a:r>
            <a:r>
              <a:rPr lang="en-US" sz="1800">
                <a:solidFill>
                  <a:srgbClr val="795E26"/>
                </a:solidFill>
                <a:latin typeface="Consolas"/>
                <a:ea typeface="Times New Roman"/>
                <a:cs typeface="Times New Roman"/>
              </a:rPr>
              <a:t>getElementById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(</a:t>
            </a:r>
            <a:r>
              <a:rPr lang="en-US" sz="1800">
                <a:solidFill>
                  <a:srgbClr val="A31515"/>
                </a:solidFill>
                <a:latin typeface="Consolas"/>
                <a:ea typeface="Times New Roman"/>
                <a:cs typeface="Times New Roman"/>
              </a:rPr>
              <a:t>'light'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).</a:t>
            </a:r>
            <a:r>
              <a:rPr lang="en-US" sz="1800">
                <a:solidFill>
                  <a:srgbClr val="0070C1"/>
                </a:solidFill>
                <a:latin typeface="Consolas"/>
                <a:ea typeface="Times New Roman"/>
                <a:cs typeface="Times New Roman"/>
              </a:rPr>
              <a:t>style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.</a:t>
            </a:r>
            <a:r>
              <a:rPr lang="en-US" sz="1800">
                <a:solidFill>
                  <a:srgbClr val="001080"/>
                </a:solidFill>
                <a:latin typeface="Consolas"/>
                <a:ea typeface="Times New Roman"/>
                <a:cs typeface="Times New Roman"/>
              </a:rPr>
              <a:t>boxShadow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= </a:t>
            </a:r>
            <a:r>
              <a:rPr lang="en-US" sz="1800">
                <a:solidFill>
                  <a:srgbClr val="A31515"/>
                </a:solidFill>
                <a:latin typeface="Consolas"/>
                <a:ea typeface="Times New Roman"/>
                <a:cs typeface="Times New Roman"/>
              </a:rPr>
              <a:t>"0px </a:t>
            </a:r>
            <a:r>
              <a:rPr lang="en-US" sz="1800">
                <a:solidFill>
                  <a:srgbClr val="A31515"/>
                </a:solidFill>
                <a:latin typeface="Consolas"/>
                <a:ea typeface="Times New Roman"/>
                <a:cs typeface="Times New Roman"/>
              </a:rPr>
              <a:t>0px</a:t>
            </a:r>
            <a:r>
              <a:rPr lang="en-US" sz="1800">
                <a:solidFill>
                  <a:srgbClr val="A31515"/>
                </a:solidFill>
                <a:latin typeface="Consolas"/>
                <a:ea typeface="Times New Roman"/>
                <a:cs typeface="Times New Roman"/>
              </a:rPr>
              <a:t> 50px yellow"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;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}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 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FF"/>
                </a:solidFill>
                <a:latin typeface="Consolas"/>
                <a:ea typeface="Times New Roman"/>
                <a:cs typeface="Times New Roman"/>
              </a:rPr>
              <a:t>function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</a:t>
            </a:r>
            <a:r>
              <a:rPr lang="en-US" sz="1800">
                <a:solidFill>
                  <a:srgbClr val="795E26"/>
                </a:solidFill>
                <a:latin typeface="Consolas"/>
                <a:ea typeface="Times New Roman"/>
                <a:cs typeface="Times New Roman"/>
              </a:rPr>
              <a:t>turnOff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() {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  </a:t>
            </a:r>
            <a:r>
              <a:rPr lang="en-US" sz="1800">
                <a:solidFill>
                  <a:srgbClr val="001080"/>
                </a:solidFill>
                <a:latin typeface="Consolas"/>
                <a:ea typeface="Times New Roman"/>
                <a:cs typeface="Times New Roman"/>
              </a:rPr>
              <a:t>document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.</a:t>
            </a:r>
            <a:r>
              <a:rPr lang="en-US" sz="1800">
                <a:solidFill>
                  <a:srgbClr val="795E26"/>
                </a:solidFill>
                <a:latin typeface="Consolas"/>
                <a:ea typeface="Times New Roman"/>
                <a:cs typeface="Times New Roman"/>
              </a:rPr>
              <a:t>getElementById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(</a:t>
            </a:r>
            <a:r>
              <a:rPr lang="en-US" sz="1800">
                <a:solidFill>
                  <a:srgbClr val="A31515"/>
                </a:solidFill>
                <a:latin typeface="Consolas"/>
                <a:ea typeface="Times New Roman"/>
                <a:cs typeface="Times New Roman"/>
              </a:rPr>
              <a:t>'light'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).</a:t>
            </a:r>
            <a:r>
              <a:rPr lang="en-US" sz="1800">
                <a:solidFill>
                  <a:srgbClr val="0070C1"/>
                </a:solidFill>
                <a:latin typeface="Consolas"/>
                <a:ea typeface="Times New Roman"/>
                <a:cs typeface="Times New Roman"/>
              </a:rPr>
              <a:t>style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.</a:t>
            </a:r>
            <a:r>
              <a:rPr lang="en-US" sz="1800">
                <a:solidFill>
                  <a:srgbClr val="001080"/>
                </a:solidFill>
                <a:latin typeface="Consolas"/>
                <a:ea typeface="Times New Roman"/>
                <a:cs typeface="Times New Roman"/>
              </a:rPr>
              <a:t>backgroundColor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 = </a:t>
            </a:r>
            <a:r>
              <a:rPr lang="en-US" sz="1800">
                <a:solidFill>
                  <a:srgbClr val="A31515"/>
                </a:solidFill>
                <a:latin typeface="Consolas"/>
                <a:ea typeface="Times New Roman"/>
                <a:cs typeface="Times New Roman"/>
              </a:rPr>
              <a:t>'black'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;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  </a:t>
            </a:r>
            <a:r>
              <a:rPr lang="en-US" sz="1800">
                <a:solidFill>
                  <a:srgbClr val="001080"/>
                </a:solidFill>
                <a:latin typeface="Consolas"/>
                <a:ea typeface="Times New Roman"/>
                <a:cs typeface="Times New Roman"/>
              </a:rPr>
              <a:t>document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.</a:t>
            </a:r>
            <a:r>
              <a:rPr lang="en-US" sz="1800">
                <a:solidFill>
                  <a:srgbClr val="795E26"/>
                </a:solidFill>
                <a:latin typeface="Consolas"/>
                <a:ea typeface="Times New Roman"/>
                <a:cs typeface="Times New Roman"/>
              </a:rPr>
              <a:t>getElementById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(</a:t>
            </a:r>
            <a:r>
              <a:rPr lang="en-US" sz="1800">
                <a:solidFill>
                  <a:srgbClr val="A31515"/>
                </a:solidFill>
                <a:latin typeface="Consolas"/>
                <a:ea typeface="Times New Roman"/>
                <a:cs typeface="Times New Roman"/>
              </a:rPr>
              <a:t>'light'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).</a:t>
            </a:r>
            <a:r>
              <a:rPr lang="en-US" sz="1800">
                <a:solidFill>
                  <a:srgbClr val="0070C1"/>
                </a:solidFill>
                <a:latin typeface="Consolas"/>
                <a:ea typeface="Times New Roman"/>
                <a:cs typeface="Times New Roman"/>
              </a:rPr>
              <a:t>style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.</a:t>
            </a:r>
            <a:r>
              <a:rPr lang="en-US" sz="1800">
                <a:solidFill>
                  <a:srgbClr val="001080"/>
                </a:solidFill>
                <a:latin typeface="Consolas"/>
                <a:ea typeface="Times New Roman"/>
                <a:cs typeface="Times New Roman"/>
              </a:rPr>
              <a:t>boxShadow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= </a:t>
            </a:r>
            <a:r>
              <a:rPr lang="en-US" sz="1800">
                <a:solidFill>
                  <a:srgbClr val="A31515"/>
                </a:solidFill>
                <a:latin typeface="Consolas"/>
                <a:ea typeface="Times New Roman"/>
                <a:cs typeface="Times New Roman"/>
              </a:rPr>
              <a:t>"none"</a:t>
            </a:r>
            <a:r>
              <a:rPr lang="en-US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;</a:t>
            </a:r>
            <a:endParaRPr lang="ru-RU" sz="2000">
              <a:latin typeface="Calibri"/>
              <a:ea typeface="Calibri"/>
              <a:cs typeface="Times New Roman"/>
            </a:endParaRPr>
          </a:p>
          <a:p>
            <a:pPr>
              <a:lnSpc>
                <a:spcPts val="1425"/>
              </a:lnSpc>
              <a:spcAft>
                <a:spcPts val="0"/>
              </a:spcAft>
              <a:defRPr/>
            </a:pPr>
            <a:r>
              <a:rPr lang="ru-RU" sz="180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}</a:t>
            </a:r>
            <a:endParaRPr lang="ru-RU" sz="2000">
              <a:latin typeface="Calibri"/>
              <a:ea typeface="Calibri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1416424" y="1103583"/>
            <a:ext cx="9556376" cy="443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3200" b="0" i="0">
                <a:solidFill>
                  <a:srgbClr val="180620"/>
                </a:solidFill>
                <a:latin typeface="Times New Roman"/>
                <a:cs typeface="Times New Roman"/>
              </a:rPr>
              <a:t>	</a:t>
            </a:r>
            <a:r>
              <a:rPr lang="ru-RU" sz="3200" b="0" i="0">
                <a:solidFill>
                  <a:srgbClr val="180620"/>
                </a:solidFill>
                <a:latin typeface="Times New Roman"/>
                <a:cs typeface="Times New Roman"/>
              </a:rPr>
              <a:t>HTML, CSS и </a:t>
            </a:r>
            <a:r>
              <a:rPr lang="ru-RU" sz="3200" b="0" i="0">
                <a:solidFill>
                  <a:srgbClr val="180620"/>
                </a:solidFill>
                <a:latin typeface="Times New Roman"/>
                <a:cs typeface="Times New Roman"/>
              </a:rPr>
              <a:t>JavaScript</a:t>
            </a:r>
            <a:r>
              <a:rPr lang="ru-RU" sz="3200" b="0" i="0">
                <a:solidFill>
                  <a:srgbClr val="180620"/>
                </a:solidFill>
                <a:latin typeface="Times New Roman"/>
                <a:cs typeface="Times New Roman"/>
              </a:rPr>
              <a:t> работают вместе, чтобы создать динамичные и красивые веб-страницы. HTML определяет структуру и содержимое страницы, CSS задает стили и оформление, а </a:t>
            </a:r>
            <a:r>
              <a:rPr lang="ru-RU" sz="3200" b="0" i="0">
                <a:solidFill>
                  <a:srgbClr val="180620"/>
                </a:solidFill>
                <a:latin typeface="Times New Roman"/>
                <a:cs typeface="Times New Roman"/>
              </a:rPr>
              <a:t>JavaScript</a:t>
            </a:r>
            <a:r>
              <a:rPr lang="ru-RU" sz="3200" b="0" i="0">
                <a:solidFill>
                  <a:srgbClr val="180620"/>
                </a:solidFill>
                <a:latin typeface="Times New Roman"/>
                <a:cs typeface="Times New Roman"/>
              </a:rPr>
              <a:t> добавляет интерактивность и дополнительные функции.</a:t>
            </a:r>
            <a:endParaRPr lang="ru-RU"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4338916" y="474345"/>
            <a:ext cx="750345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2400">
                <a:latin typeface="Times New Roman"/>
                <a:cs typeface="Times New Roman"/>
              </a:rPr>
              <a:t>	</a:t>
            </a:r>
            <a:r>
              <a:rPr lang="ru-RU" sz="2400">
                <a:latin typeface="Times New Roman"/>
                <a:cs typeface="Times New Roman"/>
              </a:rPr>
              <a:t>Реализацию этих трех компонентов (HTML, CSS и </a:t>
            </a:r>
            <a:r>
              <a:rPr lang="ru-RU" sz="2400">
                <a:latin typeface="Times New Roman"/>
                <a:cs typeface="Times New Roman"/>
              </a:rPr>
              <a:t>JavaScript</a:t>
            </a:r>
            <a:r>
              <a:rPr lang="ru-RU" sz="2400">
                <a:latin typeface="Times New Roman"/>
                <a:cs typeface="Times New Roman"/>
              </a:rPr>
              <a:t>) можно выполнить в одном файле. Но на практике их выносят в отдельные с соответствующим расширением.</a:t>
            </a:r>
            <a:endParaRPr/>
          </a:p>
          <a:p>
            <a:pPr algn="just">
              <a:lnSpc>
                <a:spcPct val="150000"/>
              </a:lnSpc>
              <a:defRPr/>
            </a:pPr>
            <a:r>
              <a:rPr lang="en-US" sz="2400">
                <a:latin typeface="Times New Roman"/>
                <a:cs typeface="Times New Roman"/>
              </a:rPr>
              <a:t>	</a:t>
            </a:r>
            <a:r>
              <a:rPr lang="ru-RU" sz="2400">
                <a:latin typeface="Times New Roman"/>
                <a:cs typeface="Times New Roman"/>
              </a:rPr>
              <a:t>Для одной веб-страницы может использоваться несколько </a:t>
            </a:r>
            <a:r>
              <a:rPr lang="en-US" sz="2400">
                <a:latin typeface="Times New Roman"/>
                <a:cs typeface="Times New Roman"/>
              </a:rPr>
              <a:t>CSS </a:t>
            </a:r>
            <a:r>
              <a:rPr lang="ru-RU" sz="2400">
                <a:latin typeface="Times New Roman"/>
                <a:cs typeface="Times New Roman"/>
              </a:rPr>
              <a:t>и </a:t>
            </a:r>
            <a:r>
              <a:rPr lang="en-US" sz="2400">
                <a:latin typeface="Times New Roman"/>
                <a:cs typeface="Times New Roman"/>
              </a:rPr>
              <a:t>JavaScript</a:t>
            </a:r>
            <a:r>
              <a:rPr lang="ru-RU" sz="2400">
                <a:latin typeface="Times New Roman"/>
                <a:cs typeface="Times New Roman"/>
              </a:rPr>
              <a:t> файлов, а весь проект (даже небольшого размера) может содержать около ста различных файлов. </a:t>
            </a:r>
            <a:endParaRPr/>
          </a:p>
          <a:p>
            <a:pPr algn="just">
              <a:lnSpc>
                <a:spcPct val="150000"/>
              </a:lnSpc>
              <a:defRPr/>
            </a:pPr>
            <a:r>
              <a:rPr lang="en-US" sz="2400">
                <a:latin typeface="Times New Roman"/>
                <a:cs typeface="Times New Roman"/>
              </a:rPr>
              <a:t>	</a:t>
            </a:r>
            <a:r>
              <a:rPr lang="ru-RU" sz="2400">
                <a:latin typeface="Times New Roman"/>
                <a:cs typeface="Times New Roman"/>
              </a:rPr>
              <a:t>Здесь разработчику приходит на помощь система контроля версий и репозиторий </a:t>
            </a:r>
            <a:r>
              <a:rPr lang="en-US" sz="2400">
                <a:latin typeface="Times New Roman"/>
                <a:cs typeface="Times New Roman"/>
              </a:rPr>
              <a:t>GitHub</a:t>
            </a:r>
            <a:r>
              <a:rPr lang="ru-RU" sz="2400">
                <a:latin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49625" y="1671032"/>
            <a:ext cx="3681202" cy="3121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819150" y="1824243"/>
            <a:ext cx="10553700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3200">
                <a:latin typeface="Times New Roman"/>
                <a:cs typeface="Times New Roman"/>
              </a:rPr>
              <a:t>	</a:t>
            </a:r>
            <a:r>
              <a:rPr lang="ru-RU" sz="3200" b="1">
                <a:latin typeface="Times New Roman"/>
                <a:cs typeface="Times New Roman"/>
              </a:rPr>
              <a:t>Система контроля версий </a:t>
            </a:r>
            <a:r>
              <a:rPr lang="ru-RU" sz="3200">
                <a:latin typeface="Times New Roman"/>
                <a:cs typeface="Times New Roman"/>
              </a:rPr>
              <a:t>— это система, записывающая изменения в файл или набор файлов в течение времени и позволяющая вернуться позже к определённой версии.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 bwMode="auto">
          <a:xfrm>
            <a:off x="876299" y="1477023"/>
            <a:ext cx="10439400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400">
                <a:latin typeface="Times New Roman"/>
                <a:cs typeface="Times New Roman"/>
              </a:rPr>
              <a:t>	</a:t>
            </a:r>
            <a:r>
              <a:rPr lang="en-US" sz="2400" b="1">
                <a:latin typeface="Times New Roman"/>
                <a:cs typeface="Times New Roman"/>
              </a:rPr>
              <a:t>g</a:t>
            </a:r>
            <a:r>
              <a:rPr lang="ru-RU" sz="2400" b="1">
                <a:latin typeface="Times New Roman"/>
                <a:cs typeface="Times New Roman"/>
              </a:rPr>
              <a:t>it</a:t>
            </a:r>
            <a:r>
              <a:rPr lang="ru-RU" sz="2400" b="1">
                <a:latin typeface="Times New Roman"/>
                <a:cs typeface="Times New Roman"/>
              </a:rPr>
              <a:t> </a:t>
            </a:r>
            <a:r>
              <a:rPr lang="ru-RU" sz="2400">
                <a:latin typeface="Times New Roman"/>
                <a:cs typeface="Times New Roman"/>
              </a:rPr>
              <a:t>— самый популярный вариант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ru-RU" sz="2400">
                <a:latin typeface="Times New Roman"/>
                <a:cs typeface="Times New Roman"/>
              </a:rPr>
              <a:t>системы контроля версий, ставший синонимом «управления исходным кодом». Это консольная утилита, для отслеживания и ведения истории изменения файлов, в проекте</a:t>
            </a:r>
            <a:r>
              <a:rPr lang="en-US" sz="2400">
                <a:latin typeface="Times New Roman"/>
                <a:cs typeface="Times New Roman"/>
              </a:rPr>
              <a:t>.</a:t>
            </a:r>
            <a:r>
              <a:rPr lang="ru-RU" sz="2400">
                <a:latin typeface="Times New Roman"/>
                <a:cs typeface="Times New Roman"/>
              </a:rPr>
              <a:t> У </a:t>
            </a:r>
            <a:r>
              <a:rPr lang="en-US" sz="2400" b="1">
                <a:latin typeface="Times New Roman"/>
                <a:cs typeface="Times New Roman"/>
              </a:rPr>
              <a:t>g</a:t>
            </a:r>
            <a:r>
              <a:rPr lang="ru-RU" sz="2400" b="1">
                <a:latin typeface="Times New Roman"/>
                <a:cs typeface="Times New Roman"/>
              </a:rPr>
              <a:t>it</a:t>
            </a:r>
            <a:r>
              <a:rPr lang="ru-RU" sz="2400" b="1">
                <a:latin typeface="Times New Roman"/>
                <a:cs typeface="Times New Roman"/>
              </a:rPr>
              <a:t> </a:t>
            </a:r>
            <a:r>
              <a:rPr lang="ru-RU" sz="2400">
                <a:latin typeface="Times New Roman"/>
                <a:cs typeface="Times New Roman"/>
              </a:rPr>
              <a:t>две основных задачи: первая — хранить информацию о всех изменениях в коде, начиная с самой первой строчки, а вторая — обеспечение удобства работы над кодом и доступ к коду.</a:t>
            </a:r>
            <a:endParaRPr/>
          </a:p>
          <a:p>
            <a:pPr algn="just">
              <a:lnSpc>
                <a:spcPct val="150000"/>
              </a:lnSpc>
              <a:defRPr/>
            </a:pPr>
            <a:endParaRPr lang="ru-RU" sz="2400">
              <a:latin typeface="Times New Roman"/>
              <a:cs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957262" y="1915173"/>
            <a:ext cx="10277475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400">
                <a:latin typeface="Times New Roman"/>
                <a:cs typeface="Times New Roman"/>
              </a:rPr>
              <a:t>	Все изменения Вашего кода фиксируются в локальном репозитории на вашем компьютере, а затем отправляются в удаленный репозиторий для сохранности. Каждому разработчику необходимо уметь работать с локальными и удалёнными репозиториями. 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200024" y="6026289"/>
            <a:ext cx="93630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>
                <a:latin typeface="Times New Roman"/>
                <a:cs typeface="Times New Roman"/>
              </a:rPr>
              <a:t>*</a:t>
            </a:r>
            <a:r>
              <a:rPr lang="ru-RU" sz="2000" b="0" i="0">
                <a:latin typeface="Times New Roman"/>
                <a:cs typeface="Times New Roman"/>
              </a:rPr>
              <a:t>Репозито́рий</a:t>
            </a:r>
            <a:r>
              <a:rPr lang="ru-RU" sz="2000" b="0" i="0">
                <a:latin typeface="Times New Roman"/>
                <a:cs typeface="Times New Roman"/>
              </a:rPr>
              <a:t> — место, где хранятся и поддерживаются какие-либо данные. В нашем случае файлы веб-приложения.</a:t>
            </a:r>
            <a:endParaRPr lang="ru-RU"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552700" y="2643782"/>
            <a:ext cx="6924675" cy="389513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 bwMode="auto">
          <a:xfrm>
            <a:off x="738187" y="257175"/>
            <a:ext cx="10715626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400">
                <a:latin typeface="Times New Roman"/>
                <a:cs typeface="Times New Roman"/>
              </a:rPr>
              <a:t>	Удалённые репозитории представляют собой версии проекта, сохранённые в интернете или ещё где-то в сети. Разработчики могут фиксировать локальные изменения кода и отправлять их в удаленный репозиторий, или наоборот, загружать изменения из удаленного репозитория на свой компьютер.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 bwMode="auto">
          <a:xfrm>
            <a:off x="1146922" y="1960701"/>
            <a:ext cx="10031505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3200">
                <a:latin typeface="Times New Roman"/>
                <a:cs typeface="Times New Roman"/>
              </a:rPr>
              <a:t>	</a:t>
            </a:r>
            <a:r>
              <a:rPr lang="ru-RU" sz="3200" b="1">
                <a:latin typeface="Times New Roman"/>
                <a:cs typeface="Times New Roman"/>
              </a:rPr>
              <a:t>GitHub</a:t>
            </a:r>
            <a:r>
              <a:rPr lang="ru-RU" sz="3200">
                <a:latin typeface="Times New Roman"/>
                <a:cs typeface="Times New Roman"/>
              </a:rPr>
              <a:t> — крупнейший веб-сервис для размещения IT-проектов. Веб-сервис основан на системе контроля версий </a:t>
            </a:r>
            <a:r>
              <a:rPr lang="en-US" sz="3200" b="1">
                <a:latin typeface="Times New Roman"/>
                <a:cs typeface="Times New Roman"/>
              </a:rPr>
              <a:t>g</a:t>
            </a:r>
            <a:r>
              <a:rPr lang="ru-RU" sz="3200" b="1">
                <a:latin typeface="Times New Roman"/>
                <a:cs typeface="Times New Roman"/>
              </a:rPr>
              <a:t>it</a:t>
            </a:r>
            <a:r>
              <a:rPr lang="ru-RU" sz="3200">
                <a:latin typeface="Times New Roman"/>
                <a:cs typeface="Times New Roman"/>
              </a:rPr>
              <a:t>. Веб-сервис служит для создания удаленных репозиториев. </a:t>
            </a:r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279993" y="2036901"/>
            <a:ext cx="723107" cy="723107"/>
          </a:xfrm>
          <a:prstGeom prst="rect">
            <a:avLst/>
          </a:prstGeo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 bwMode="auto">
          <a:xfrm>
            <a:off x="746312" y="1203703"/>
            <a:ext cx="10699376" cy="3985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3200">
                <a:latin typeface="Times New Roman"/>
                <a:cs typeface="Times New Roman"/>
              </a:rPr>
              <a:t>	</a:t>
            </a:r>
            <a:r>
              <a:rPr lang="ru-RU" sz="2800">
                <a:latin typeface="Times New Roman"/>
                <a:cs typeface="Times New Roman"/>
              </a:rPr>
              <a:t>Используя </a:t>
            </a:r>
            <a:r>
              <a:rPr lang="en-US" sz="2800" b="1">
                <a:latin typeface="Times New Roman"/>
                <a:cs typeface="Times New Roman"/>
              </a:rPr>
              <a:t>Git</a:t>
            </a:r>
            <a:r>
              <a:rPr lang="ru-RU" sz="2800">
                <a:latin typeface="Times New Roman"/>
                <a:cs typeface="Times New Roman"/>
              </a:rPr>
              <a:t> и </a:t>
            </a:r>
            <a:r>
              <a:rPr lang="en-US" sz="2800" b="1">
                <a:latin typeface="Times New Roman"/>
                <a:cs typeface="Times New Roman"/>
              </a:rPr>
              <a:t>GitHub</a:t>
            </a:r>
            <a:r>
              <a:rPr lang="ru-RU" sz="2800">
                <a:latin typeface="Times New Roman"/>
                <a:cs typeface="Times New Roman"/>
              </a:rPr>
              <a:t> Вы никогда не потеряете свои изменения. Используя данный сервис Ваш код всегда будет у Вас под рукой. Так вы сможете работать на разном оборудование, и доступ к коду можно будет осуществить даже с мобильного устройства. Вы сможете работать над кодом вместе со своими одногруппниками и преподавателями.</a:t>
            </a:r>
            <a:endParaRPr lang="ru-RU"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1521190" y="1482569"/>
            <a:ext cx="9149620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ru-RU" sz="2800">
                <a:latin typeface="Times New Roman"/>
                <a:cs typeface="Times New Roman"/>
              </a:rPr>
              <a:t>Разберем шаг за шагом как начать работать с </a:t>
            </a:r>
            <a:r>
              <a:rPr lang="en-US" sz="2800" b="1">
                <a:latin typeface="Times New Roman"/>
                <a:cs typeface="Times New Roman"/>
              </a:rPr>
              <a:t>git</a:t>
            </a:r>
            <a:r>
              <a:rPr lang="en-US" sz="2800">
                <a:latin typeface="Times New Roman"/>
                <a:cs typeface="Times New Roman"/>
              </a:rPr>
              <a:t> </a:t>
            </a:r>
            <a:r>
              <a:rPr lang="ru-RU" sz="2800">
                <a:latin typeface="Times New Roman"/>
                <a:cs typeface="Times New Roman"/>
              </a:rPr>
              <a:t>и </a:t>
            </a:r>
            <a:r>
              <a:rPr lang="en-US" sz="2800" b="1">
                <a:latin typeface="Times New Roman"/>
                <a:cs typeface="Times New Roman"/>
              </a:rPr>
              <a:t>GitHub</a:t>
            </a:r>
            <a:r>
              <a:rPr lang="ru-RU" sz="2800">
                <a:latin typeface="Times New Roman"/>
                <a:cs typeface="Times New Roman"/>
              </a:rPr>
              <a:t>.</a:t>
            </a:r>
            <a:r>
              <a:rPr lang="en-US" sz="2800">
                <a:latin typeface="Times New Roman"/>
                <a:cs typeface="Times New Roman"/>
              </a:rPr>
              <a:t> </a:t>
            </a:r>
            <a:endParaRPr lang="ru-RU" sz="2800">
              <a:latin typeface="Times New Roman"/>
              <a:cs typeface="Times New Roman"/>
            </a:endParaRPr>
          </a:p>
          <a:p>
            <a:pPr algn="ctr">
              <a:lnSpc>
                <a:spcPct val="150000"/>
              </a:lnSpc>
              <a:defRPr/>
            </a:pPr>
            <a:endParaRPr lang="ru-RU" sz="2800">
              <a:latin typeface="Times New Roman"/>
              <a:cs typeface="Times New Roman"/>
            </a:endParaRPr>
          </a:p>
          <a:p>
            <a:pPr algn="ctr">
              <a:lnSpc>
                <a:spcPct val="150000"/>
              </a:lnSpc>
              <a:defRPr/>
            </a:pPr>
            <a:r>
              <a:rPr lang="ru-RU" sz="2800">
                <a:latin typeface="Times New Roman"/>
                <a:cs typeface="Times New Roman"/>
              </a:rPr>
              <a:t>Чтобы использовать </a:t>
            </a:r>
            <a:r>
              <a:rPr lang="en-US" sz="2800" b="1">
                <a:latin typeface="Times New Roman"/>
                <a:cs typeface="Times New Roman"/>
              </a:rPr>
              <a:t>g</a:t>
            </a:r>
            <a:r>
              <a:rPr lang="ru-RU" sz="2800" b="1">
                <a:latin typeface="Times New Roman"/>
                <a:cs typeface="Times New Roman"/>
              </a:rPr>
              <a:t>it</a:t>
            </a:r>
            <a:r>
              <a:rPr lang="ru-RU" sz="2800">
                <a:latin typeface="Times New Roman"/>
                <a:cs typeface="Times New Roman"/>
              </a:rPr>
              <a:t>, разработчику необходимо загрузить, установить и настроить </a:t>
            </a:r>
            <a:r>
              <a:rPr lang="en-US" sz="2800" b="1">
                <a:latin typeface="Times New Roman"/>
                <a:cs typeface="Times New Roman"/>
              </a:rPr>
              <a:t>g</a:t>
            </a:r>
            <a:r>
              <a:rPr lang="ru-RU" sz="2800" b="1">
                <a:latin typeface="Times New Roman"/>
                <a:cs typeface="Times New Roman"/>
              </a:rPr>
              <a:t>it</a:t>
            </a:r>
            <a:r>
              <a:rPr lang="ru-RU" sz="2800" b="1">
                <a:latin typeface="Times New Roman"/>
                <a:cs typeface="Times New Roman"/>
              </a:rPr>
              <a:t> </a:t>
            </a:r>
            <a:r>
              <a:rPr lang="ru-RU" sz="2800">
                <a:latin typeface="Times New Roman"/>
                <a:cs typeface="Times New Roman"/>
              </a:rPr>
              <a:t>на своем компьютере. </a:t>
            </a:r>
            <a:endParaRPr/>
          </a:p>
          <a:p>
            <a:pPr algn="ctr">
              <a:lnSpc>
                <a:spcPct val="150000"/>
              </a:lnSpc>
              <a:defRPr/>
            </a:pPr>
            <a:endParaRPr lang="ru-RU"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08869" y="1259846"/>
            <a:ext cx="5688519" cy="43383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 bwMode="auto">
          <a:xfrm>
            <a:off x="6096000" y="1827742"/>
            <a:ext cx="59615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ru-RU" sz="2400">
                <a:latin typeface="Times New Roman"/>
                <a:cs typeface="Times New Roman"/>
              </a:rPr>
              <a:t>Установить </a:t>
            </a:r>
            <a:r>
              <a:rPr lang="en-US" sz="2400">
                <a:latin typeface="Times New Roman"/>
                <a:cs typeface="Times New Roman"/>
              </a:rPr>
              <a:t>git </a:t>
            </a:r>
            <a:r>
              <a:rPr lang="ru-RU" sz="2400">
                <a:latin typeface="Times New Roman"/>
                <a:cs typeface="Times New Roman"/>
              </a:rPr>
              <a:t>можно с официального сайта: </a:t>
            </a:r>
            <a:r>
              <a:rPr lang="en-US" sz="2400" u="sng">
                <a:latin typeface="Times New Roman"/>
                <a:cs typeface="Times New Roman"/>
                <a:hlinkClick r:id="rId3" tooltip="https://git-scm.com/"/>
              </a:rPr>
              <a:t>https://git-scm.com/</a:t>
            </a:r>
            <a:endParaRPr lang="ru-RU" sz="2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ru-RU" sz="2400">
                <a:latin typeface="Times New Roman"/>
                <a:cs typeface="Times New Roman"/>
              </a:rPr>
              <a:t>После загрузки систему контроля версий можно использовать через </a:t>
            </a:r>
            <a:r>
              <a:rPr lang="ru-RU" sz="2400" b="1">
                <a:latin typeface="Times New Roman"/>
                <a:cs typeface="Times New Roman"/>
              </a:rPr>
              <a:t>командную строку ОС</a:t>
            </a:r>
            <a:r>
              <a:rPr lang="ru-RU" sz="2400">
                <a:latin typeface="Times New Roman"/>
                <a:cs typeface="Times New Roman"/>
              </a:rPr>
              <a:t> или </a:t>
            </a:r>
            <a:r>
              <a:rPr lang="ru-RU" sz="2400" b="1">
                <a:latin typeface="Times New Roman"/>
                <a:cs typeface="Times New Roman"/>
              </a:rPr>
              <a:t>GitBash</a:t>
            </a:r>
            <a:r>
              <a:rPr lang="en-US" sz="2400">
                <a:latin typeface="Times New Roman"/>
                <a:cs typeface="Times New Roman"/>
              </a:rPr>
              <a:t> (</a:t>
            </a:r>
            <a:r>
              <a:rPr lang="ru-RU" sz="2400">
                <a:latin typeface="Times New Roman"/>
                <a:cs typeface="Times New Roman"/>
              </a:rPr>
              <a:t>Терминал для выполнения команд </a:t>
            </a:r>
            <a:r>
              <a:rPr lang="en-US" sz="2400">
                <a:latin typeface="Times New Roman"/>
                <a:cs typeface="Times New Roman"/>
              </a:rPr>
              <a:t>git)</a:t>
            </a:r>
            <a:r>
              <a:rPr lang="ru-RU" sz="2400">
                <a:latin typeface="Times New Roman"/>
                <a:cs typeface="Times New Roman"/>
              </a:rPr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8" name="TextBox 7"/>
          <p:cNvSpPr txBox="1"/>
          <p:nvPr/>
        </p:nvSpPr>
        <p:spPr bwMode="auto">
          <a:xfrm>
            <a:off x="760492" y="572018"/>
            <a:ext cx="11027120" cy="278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800">
                <a:latin typeface="Times New Roman"/>
                <a:cs typeface="Times New Roman"/>
              </a:rPr>
              <a:t>	Чтобы проверить правильно ли прошла установка можно выполнить команду </a:t>
            </a:r>
            <a:r>
              <a:rPr lang="en-US" sz="3600" b="1">
                <a:latin typeface="Times New Roman"/>
                <a:cs typeface="Times New Roman"/>
              </a:rPr>
              <a:t>git version </a:t>
            </a:r>
            <a:r>
              <a:rPr lang="ru-RU" sz="2800">
                <a:latin typeface="Times New Roman"/>
                <a:cs typeface="Times New Roman"/>
              </a:rPr>
              <a:t>в терминале. Если установка прошла успешна в терминале отобразится текущая версия системы контроля версий </a:t>
            </a:r>
            <a:r>
              <a:rPr lang="en-US" sz="2800" b="1">
                <a:latin typeface="Times New Roman"/>
                <a:cs typeface="Times New Roman"/>
              </a:rPr>
              <a:t>git</a:t>
            </a:r>
            <a:r>
              <a:rPr lang="en-US" sz="2800">
                <a:latin typeface="Times New Roman"/>
                <a:cs typeface="Times New Roman"/>
              </a:rPr>
              <a:t>.</a:t>
            </a:r>
            <a:endParaRPr lang="ru-RU" sz="2800">
              <a:latin typeface="Times New Roman"/>
              <a:cs typeface="Times New Roman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455280" y="3853415"/>
            <a:ext cx="5281440" cy="1303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355534" y="1214962"/>
            <a:ext cx="5668334" cy="3237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 bwMode="auto">
          <a:xfrm>
            <a:off x="432303" y="778170"/>
            <a:ext cx="5334754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1800">
                <a:latin typeface="Times New Roman"/>
                <a:cs typeface="Times New Roman"/>
              </a:rPr>
              <a:t>	</a:t>
            </a:r>
            <a:r>
              <a:rPr lang="ru-RU" sz="2400">
                <a:latin typeface="Times New Roman"/>
                <a:cs typeface="Times New Roman"/>
              </a:rPr>
              <a:t>Чтобы использовать возможности </a:t>
            </a:r>
            <a:r>
              <a:rPr lang="en-US" sz="2400" b="1">
                <a:latin typeface="Times New Roman"/>
                <a:cs typeface="Times New Roman"/>
              </a:rPr>
              <a:t>GitHub</a:t>
            </a:r>
            <a:r>
              <a:rPr lang="ru-RU" sz="2400">
                <a:latin typeface="Times New Roman"/>
                <a:cs typeface="Times New Roman"/>
              </a:rPr>
              <a:t>, в нем необходимо зарегистрироваться. Для регистрации понадобится только адрес электронной почты.</a:t>
            </a:r>
            <a:endParaRPr/>
          </a:p>
          <a:p>
            <a:pPr algn="just">
              <a:lnSpc>
                <a:spcPct val="150000"/>
              </a:lnSpc>
              <a:defRPr/>
            </a:pPr>
            <a:endParaRPr lang="ru-RU" sz="24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defRPr/>
            </a:pPr>
            <a:r>
              <a:rPr lang="ru-RU" sz="2400">
                <a:latin typeface="Times New Roman"/>
                <a:cs typeface="Times New Roman"/>
              </a:rPr>
              <a:t>	После регистрации перейдите в раздел </a:t>
            </a:r>
            <a:r>
              <a:rPr lang="en-US" sz="2400" b="1">
                <a:latin typeface="Times New Roman"/>
                <a:cs typeface="Times New Roman"/>
              </a:rPr>
              <a:t>Repositories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ru-RU" sz="2400">
                <a:latin typeface="Times New Roman"/>
                <a:cs typeface="Times New Roman"/>
              </a:rPr>
              <a:t>и создайте новый репозиторий.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246891" y="0"/>
            <a:ext cx="5854185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 bwMode="auto">
          <a:xfrm>
            <a:off x="341769" y="872512"/>
            <a:ext cx="50359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sz="2400">
                <a:latin typeface="Times New Roman"/>
                <a:cs typeface="Times New Roman"/>
              </a:rPr>
              <a:t>	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341769" y="637530"/>
            <a:ext cx="5854185" cy="558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1800">
                <a:latin typeface="Times New Roman"/>
                <a:cs typeface="Times New Roman"/>
              </a:rPr>
              <a:t>	</a:t>
            </a:r>
            <a:r>
              <a:rPr lang="ru-RU" sz="2000">
                <a:latin typeface="Times New Roman"/>
                <a:cs typeface="Times New Roman"/>
              </a:rPr>
              <a:t>Для создания нового репозитория необходимо указать имя репозитория и его краткое описание. </a:t>
            </a:r>
            <a:endParaRPr/>
          </a:p>
          <a:p>
            <a:pPr algn="just">
              <a:lnSpc>
                <a:spcPct val="150000"/>
              </a:lnSpc>
              <a:defRPr/>
            </a:pPr>
            <a:endParaRPr lang="ru-RU" sz="20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defRPr/>
            </a:pPr>
            <a:r>
              <a:rPr lang="ru-RU" sz="2000">
                <a:latin typeface="Times New Roman"/>
                <a:cs typeface="Times New Roman"/>
              </a:rPr>
              <a:t>	Вы можете сделать репозиторий общедоступным, указав опцию </a:t>
            </a:r>
            <a:r>
              <a:rPr lang="en-US" sz="2000">
                <a:latin typeface="Times New Roman"/>
                <a:cs typeface="Times New Roman"/>
              </a:rPr>
              <a:t>Public</a:t>
            </a:r>
            <a:r>
              <a:rPr lang="ru-RU" sz="2000">
                <a:latin typeface="Times New Roman"/>
                <a:cs typeface="Times New Roman"/>
              </a:rPr>
              <a:t> при создании</a:t>
            </a:r>
            <a:r>
              <a:rPr lang="en-US" sz="2000">
                <a:latin typeface="Times New Roman"/>
                <a:cs typeface="Times New Roman"/>
              </a:rPr>
              <a:t> – </a:t>
            </a:r>
            <a:r>
              <a:rPr lang="ru-RU" sz="2000">
                <a:latin typeface="Times New Roman"/>
                <a:cs typeface="Times New Roman"/>
              </a:rPr>
              <a:t>все пользователи </a:t>
            </a:r>
            <a:r>
              <a:rPr lang="en-US" sz="2000" b="1">
                <a:latin typeface="Times New Roman"/>
                <a:cs typeface="Times New Roman"/>
              </a:rPr>
              <a:t>GitHub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ru-RU" sz="2000">
                <a:latin typeface="Times New Roman"/>
                <a:cs typeface="Times New Roman"/>
              </a:rPr>
              <a:t>будут видеть Ваш код. Или сделать его приватным, выбрав опцию </a:t>
            </a:r>
            <a:r>
              <a:rPr lang="en-US" sz="2000">
                <a:latin typeface="Times New Roman"/>
                <a:cs typeface="Times New Roman"/>
              </a:rPr>
              <a:t>Private</a:t>
            </a:r>
            <a:r>
              <a:rPr lang="ru-RU" sz="2000">
                <a:latin typeface="Times New Roman"/>
                <a:cs typeface="Times New Roman"/>
              </a:rPr>
              <a:t> – только Вы будете видеть Ваш код</a:t>
            </a:r>
            <a:r>
              <a:rPr lang="en-US" sz="2000">
                <a:latin typeface="Times New Roman"/>
                <a:cs typeface="Times New Roman"/>
              </a:rPr>
              <a:t>.</a:t>
            </a:r>
            <a:endParaRPr lang="ru-RU" sz="20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defRPr/>
            </a:pPr>
            <a:endParaRPr lang="ru-RU" sz="20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defRPr/>
            </a:pPr>
            <a:r>
              <a:rPr lang="ru-RU" sz="2000">
                <a:latin typeface="Times New Roman"/>
                <a:cs typeface="Times New Roman"/>
              </a:rPr>
              <a:t>	Так же при инициализации репозитория добавьте файл </a:t>
            </a:r>
            <a:r>
              <a:rPr lang="en-US" sz="2000">
                <a:latin typeface="Times New Roman"/>
                <a:cs typeface="Times New Roman"/>
              </a:rPr>
              <a:t>README</a:t>
            </a:r>
            <a:r>
              <a:rPr lang="ru-RU" sz="2000">
                <a:latin typeface="Times New Roman"/>
                <a:cs typeface="Times New Roman"/>
              </a:rPr>
              <a:t>.</a:t>
            </a:r>
            <a:endParaRPr lang="ru-RU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890257" y="1403348"/>
            <a:ext cx="10411485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400">
                <a:latin typeface="Times New Roman"/>
                <a:cs typeface="Times New Roman"/>
              </a:rPr>
              <a:t>	</a:t>
            </a:r>
            <a:r>
              <a:rPr lang="ru-RU" sz="2400" b="1">
                <a:latin typeface="Times New Roman"/>
                <a:cs typeface="Times New Roman"/>
              </a:rPr>
              <a:t>README</a:t>
            </a:r>
            <a:r>
              <a:rPr lang="ru-RU" sz="2400">
                <a:latin typeface="Times New Roman"/>
                <a:cs typeface="Times New Roman"/>
              </a:rPr>
              <a:t> — текстовый файл, который распространяется вместе с программным обеспечением и содержит информацию о нём.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ru-RU" sz="2400">
                <a:latin typeface="Times New Roman"/>
                <a:cs typeface="Times New Roman"/>
              </a:rPr>
              <a:t>Обычно это информация о продукте, например цель разработки, информация о разработчиках, или инструкция по развертыванию и использованию приложения.</a:t>
            </a:r>
            <a:endParaRPr/>
          </a:p>
          <a:p>
            <a:pPr algn="just">
              <a:lnSpc>
                <a:spcPct val="150000"/>
              </a:lnSpc>
              <a:defRPr/>
            </a:pPr>
            <a:r>
              <a:rPr lang="ru-RU" sz="2400">
                <a:latin typeface="Times New Roman"/>
                <a:cs typeface="Times New Roman"/>
              </a:rPr>
              <a:t>	</a:t>
            </a:r>
            <a:r>
              <a:rPr lang="en-US" sz="2400" b="1">
                <a:latin typeface="Times New Roman"/>
                <a:cs typeface="Times New Roman"/>
              </a:rPr>
              <a:t>GitHub</a:t>
            </a:r>
            <a:r>
              <a:rPr lang="ru-RU" sz="2400">
                <a:latin typeface="Times New Roman"/>
                <a:cs typeface="Times New Roman"/>
              </a:rPr>
              <a:t> автоматически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ru-RU" sz="2400">
                <a:latin typeface="Times New Roman"/>
                <a:cs typeface="Times New Roman"/>
              </a:rPr>
              <a:t>сгенерирует содержания файла </a:t>
            </a:r>
            <a:r>
              <a:rPr lang="en-US" sz="2400" b="1">
                <a:latin typeface="Times New Roman"/>
                <a:cs typeface="Times New Roman"/>
              </a:rPr>
              <a:t>README</a:t>
            </a:r>
            <a:r>
              <a:rPr lang="ru-RU" sz="2400" b="1">
                <a:latin typeface="Times New Roman"/>
                <a:cs typeface="Times New Roman"/>
              </a:rPr>
              <a:t>, </a:t>
            </a:r>
            <a:r>
              <a:rPr lang="ru-RU" sz="2400">
                <a:latin typeface="Times New Roman"/>
                <a:cs typeface="Times New Roman"/>
              </a:rPr>
              <a:t>расположив в нем название репозитория и его описание.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898640" y="1641394"/>
            <a:ext cx="6211409" cy="47149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790670" y="260942"/>
            <a:ext cx="10610660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400">
                <a:latin typeface="Times New Roman"/>
                <a:cs typeface="Times New Roman"/>
              </a:rPr>
              <a:t>	На данном слайде представлен пример созданного репозитория.</a:t>
            </a:r>
            <a:r>
              <a:rPr lang="en-GB" sz="2400">
                <a:latin typeface="Times New Roman"/>
                <a:cs typeface="Times New Roman"/>
              </a:rPr>
              <a:t> </a:t>
            </a:r>
            <a:r>
              <a:rPr lang="ru-RU" sz="2400" b="0" i="0">
                <a:solidFill>
                  <a:srgbClr val="040C28"/>
                </a:solidFill>
                <a:latin typeface="Times New Roman"/>
                <a:cs typeface="Times New Roman"/>
              </a:rPr>
              <a:t>Выполните копирование URL адреса страницы.</a:t>
            </a:r>
            <a:endParaRPr lang="ru-RU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775543" y="2242599"/>
            <a:ext cx="7636574" cy="180326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640668" y="5045591"/>
            <a:ext cx="5906324" cy="11145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63007" y="2396416"/>
            <a:ext cx="1267002" cy="1495634"/>
          </a:xfrm>
          <a:prstGeom prst="rect">
            <a:avLst/>
          </a:prstGeom>
        </p:spPr>
      </p:pic>
      <p:sp>
        <p:nvSpPr>
          <p:cNvPr id="3" name="Стрелка: вправо 2"/>
          <p:cNvSpPr/>
          <p:nvPr/>
        </p:nvSpPr>
        <p:spPr bwMode="auto">
          <a:xfrm>
            <a:off x="2282283" y="3022010"/>
            <a:ext cx="1140985" cy="406988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>
                <a:solidFill>
                  <a:schemeClr val="bg1"/>
                </a:solidFill>
              </a:rPr>
              <a:t>1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1018553" y="295090"/>
            <a:ext cx="10154894" cy="1584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000">
                <a:latin typeface="Times New Roman"/>
                <a:cs typeface="Times New Roman"/>
              </a:rPr>
              <a:t>	Создайте папку на рабочем столе, затем вернитесь в терминал, перейдите к расположению созданной папки и клонируйте созданный на </a:t>
            </a:r>
            <a:r>
              <a:rPr lang="en-US" sz="2000" b="1">
                <a:latin typeface="Times New Roman"/>
                <a:cs typeface="Times New Roman"/>
              </a:rPr>
              <a:t>GitHub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ru-RU" sz="2000">
                <a:latin typeface="Times New Roman"/>
                <a:cs typeface="Times New Roman"/>
              </a:rPr>
              <a:t>репозиторий на свой компьютер: </a:t>
            </a:r>
            <a:r>
              <a:rPr lang="en-US" sz="2800" b="1">
                <a:latin typeface="Times New Roman"/>
                <a:cs typeface="Times New Roman"/>
              </a:rPr>
              <a:t>git clone &lt;</a:t>
            </a:r>
            <a:r>
              <a:rPr lang="ru-RU" sz="2800" b="1">
                <a:latin typeface="Times New Roman"/>
                <a:cs typeface="Times New Roman"/>
              </a:rPr>
              <a:t>скопированный </a:t>
            </a:r>
            <a:r>
              <a:rPr lang="en-US" sz="2800" b="1">
                <a:latin typeface="Times New Roman"/>
                <a:cs typeface="Times New Roman"/>
              </a:rPr>
              <a:t>URL</a:t>
            </a:r>
            <a:r>
              <a:rPr lang="ru-RU" sz="2800" b="1">
                <a:latin typeface="Times New Roman"/>
                <a:cs typeface="Times New Roman"/>
              </a:rPr>
              <a:t> адрес</a:t>
            </a:r>
            <a:r>
              <a:rPr lang="en-US" sz="2800" b="1">
                <a:latin typeface="Times New Roman"/>
                <a:cs typeface="Times New Roman"/>
              </a:rPr>
              <a:t>&gt;</a:t>
            </a:r>
            <a:endParaRPr lang="ru-RU" sz="2000" b="1">
              <a:latin typeface="Times New Roman"/>
              <a:cs typeface="Times New Roman"/>
            </a:endParaRPr>
          </a:p>
        </p:txBody>
      </p:sp>
      <p:sp>
        <p:nvSpPr>
          <p:cNvPr id="10" name="Стрелка: вниз 9"/>
          <p:cNvSpPr/>
          <p:nvPr/>
        </p:nvSpPr>
        <p:spPr bwMode="auto">
          <a:xfrm>
            <a:off x="7113996" y="4168606"/>
            <a:ext cx="479834" cy="754248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/>
              <a:t>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142838" y="3429000"/>
            <a:ext cx="5906324" cy="11145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/>
          <p:cNvSpPr txBox="1"/>
          <p:nvPr/>
        </p:nvSpPr>
        <p:spPr bwMode="auto">
          <a:xfrm>
            <a:off x="1402674" y="918348"/>
            <a:ext cx="9386652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000">
                <a:latin typeface="Times New Roman"/>
                <a:cs typeface="Times New Roman"/>
              </a:rPr>
              <a:t>	Проверьте, что на компьютере, в созданной папке появился сгенерированный файл  </a:t>
            </a:r>
            <a:r>
              <a:rPr lang="en-US" sz="2000" b="1">
                <a:latin typeface="Times New Roman"/>
                <a:cs typeface="Times New Roman"/>
              </a:rPr>
              <a:t>README</a:t>
            </a:r>
            <a:r>
              <a:rPr lang="ru-RU" sz="2000">
                <a:latin typeface="Times New Roman"/>
                <a:cs typeface="Times New Roman"/>
              </a:rPr>
              <a:t>. Так же проверьте его содержимое.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19066" y="2840421"/>
            <a:ext cx="5887272" cy="133368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369955" y="4313239"/>
            <a:ext cx="5925377" cy="1552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907374" y="711604"/>
            <a:ext cx="10387958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000">
                <a:latin typeface="Times New Roman"/>
                <a:cs typeface="Times New Roman"/>
              </a:rPr>
              <a:t>	Создадим нашу первую веб страницу и сохраним её в удаленном репозитории. Для этого в рабочей папке создадим новую папку </a:t>
            </a:r>
            <a:r>
              <a:rPr lang="en-US" sz="2000" i="1">
                <a:latin typeface="Times New Roman"/>
                <a:cs typeface="Times New Roman"/>
              </a:rPr>
              <a:t>First program </a:t>
            </a:r>
            <a:r>
              <a:rPr lang="ru-RU" sz="2000">
                <a:latin typeface="Times New Roman"/>
                <a:cs typeface="Times New Roman"/>
              </a:rPr>
              <a:t>и добавим в неё три файла: </a:t>
            </a:r>
            <a:r>
              <a:rPr lang="en-US" sz="2000" i="1">
                <a:latin typeface="Times New Roman"/>
                <a:cs typeface="Times New Roman"/>
              </a:rPr>
              <a:t>page.html</a:t>
            </a:r>
            <a:r>
              <a:rPr lang="en-US" sz="2000">
                <a:latin typeface="Times New Roman"/>
                <a:cs typeface="Times New Roman"/>
              </a:rPr>
              <a:t>, </a:t>
            </a:r>
            <a:r>
              <a:rPr lang="en-US" sz="2000" i="1">
                <a:latin typeface="Times New Roman"/>
                <a:cs typeface="Times New Roman"/>
              </a:rPr>
              <a:t>script.js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ru-RU" sz="2000">
                <a:latin typeface="Times New Roman"/>
                <a:cs typeface="Times New Roman"/>
              </a:rPr>
              <a:t>и </a:t>
            </a:r>
            <a:r>
              <a:rPr lang="en-US" sz="2000" i="1">
                <a:latin typeface="Times New Roman"/>
                <a:cs typeface="Times New Roman"/>
              </a:rPr>
              <a:t>style.css</a:t>
            </a:r>
            <a:r>
              <a:rPr lang="en-US" sz="2000">
                <a:latin typeface="Times New Roman"/>
                <a:cs typeface="Times New Roman"/>
              </a:rPr>
              <a:t>.</a:t>
            </a:r>
            <a:endParaRPr lang="ru-RU" sz="200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  <a:defRPr/>
            </a:pPr>
            <a:endParaRPr lang="ru-RU"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 bwMode="auto">
          <a:xfrm>
            <a:off x="5299842" y="2070382"/>
            <a:ext cx="6111609" cy="42859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2357161" y="1660634"/>
            <a:ext cx="2330453" cy="69893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5562600" y="2480212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0">
                <a:solidFill>
                  <a:srgbClr val="800000"/>
                </a:solidFill>
                <a:latin typeface="Consolas"/>
              </a:rPr>
              <a:t>&lt;!DOCTYPE</a:t>
            </a:r>
            <a:r>
              <a:rPr lang="en-US" b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>
                <a:solidFill>
                  <a:srgbClr val="E50000"/>
                </a:solidFill>
                <a:latin typeface="Consolas"/>
              </a:rPr>
              <a:t>HTML</a:t>
            </a:r>
            <a:r>
              <a:rPr lang="en-US" b="0">
                <a:solidFill>
                  <a:srgbClr val="800000"/>
                </a:solidFill>
                <a:latin typeface="Consolas"/>
              </a:rPr>
              <a:t>&gt;</a:t>
            </a:r>
            <a:endParaRPr lang="en-US" b="0">
              <a:solidFill>
                <a:srgbClr val="000000"/>
              </a:solidFill>
              <a:latin typeface="Consolas"/>
            </a:endParaRPr>
          </a:p>
          <a:p>
            <a:pPr>
              <a:defRPr/>
            </a:pPr>
            <a:r>
              <a:rPr lang="en-US" b="0">
                <a:solidFill>
                  <a:srgbClr val="800000"/>
                </a:solidFill>
                <a:latin typeface="Consolas"/>
              </a:rPr>
              <a:t>&lt;html&gt;</a:t>
            </a:r>
            <a:endParaRPr lang="en-US" b="0">
              <a:solidFill>
                <a:srgbClr val="000000"/>
              </a:solidFill>
              <a:latin typeface="Consolas"/>
            </a:endParaRPr>
          </a:p>
          <a:p>
            <a:pPr>
              <a:defRPr/>
            </a:pPr>
            <a:r>
              <a:rPr lang="en-US" b="0">
                <a:solidFill>
                  <a:srgbClr val="800000"/>
                </a:solidFill>
                <a:latin typeface="Consolas"/>
              </a:rPr>
              <a:t>&lt;header&gt;</a:t>
            </a:r>
            <a:endParaRPr lang="en-US" b="0">
              <a:solidFill>
                <a:srgbClr val="000000"/>
              </a:solidFill>
              <a:latin typeface="Consolas"/>
            </a:endParaRPr>
          </a:p>
          <a:p>
            <a:pPr>
              <a:defRPr/>
            </a:pPr>
            <a:r>
              <a:rPr lang="en-US" b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b="0">
                <a:solidFill>
                  <a:srgbClr val="800000"/>
                </a:solidFill>
                <a:latin typeface="Consolas"/>
              </a:rPr>
              <a:t>&lt;meta</a:t>
            </a:r>
            <a:r>
              <a:rPr lang="en-US" b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>
                <a:solidFill>
                  <a:srgbClr val="E50000"/>
                </a:solidFill>
                <a:latin typeface="Consolas"/>
              </a:rPr>
              <a:t>charset</a:t>
            </a:r>
            <a:r>
              <a:rPr lang="en-US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0">
                <a:solidFill>
                  <a:srgbClr val="0000FF"/>
                </a:solidFill>
                <a:latin typeface="Consolas"/>
              </a:rPr>
              <a:t>"UTF-8"</a:t>
            </a:r>
            <a:r>
              <a:rPr lang="en-US" b="0">
                <a:solidFill>
                  <a:srgbClr val="800000"/>
                </a:solidFill>
                <a:latin typeface="Consolas"/>
              </a:rPr>
              <a:t>&gt;</a:t>
            </a:r>
            <a:endParaRPr lang="en-US" b="0">
              <a:solidFill>
                <a:srgbClr val="000000"/>
              </a:solidFill>
              <a:latin typeface="Consolas"/>
            </a:endParaRPr>
          </a:p>
          <a:p>
            <a:pPr>
              <a:defRPr/>
            </a:pPr>
            <a:r>
              <a:rPr lang="en-US" b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b="0">
                <a:solidFill>
                  <a:srgbClr val="800000"/>
                </a:solidFill>
                <a:latin typeface="Consolas"/>
              </a:rPr>
              <a:t>&lt;link</a:t>
            </a:r>
            <a:r>
              <a:rPr lang="en-US" b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>
                <a:solidFill>
                  <a:srgbClr val="E50000"/>
                </a:solidFill>
                <a:latin typeface="Consolas"/>
              </a:rPr>
              <a:t>href</a:t>
            </a:r>
            <a:r>
              <a:rPr lang="en-US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0">
                <a:solidFill>
                  <a:srgbClr val="0000FF"/>
                </a:solidFill>
                <a:latin typeface="Consolas"/>
              </a:rPr>
              <a:t>"style.css"</a:t>
            </a:r>
            <a:r>
              <a:rPr lang="en-US" b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>
                <a:solidFill>
                  <a:srgbClr val="E50000"/>
                </a:solidFill>
                <a:latin typeface="Consolas"/>
              </a:rPr>
              <a:t>rel</a:t>
            </a:r>
            <a:r>
              <a:rPr lang="en-US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0">
                <a:solidFill>
                  <a:srgbClr val="0000FF"/>
                </a:solidFill>
                <a:latin typeface="Consolas"/>
              </a:rPr>
              <a:t>"stylesheet"</a:t>
            </a:r>
            <a:r>
              <a:rPr lang="en-US" b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>
                <a:solidFill>
                  <a:srgbClr val="E50000"/>
                </a:solidFill>
                <a:latin typeface="Consolas"/>
              </a:rPr>
              <a:t>type</a:t>
            </a:r>
            <a:r>
              <a:rPr lang="en-US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0">
                <a:solidFill>
                  <a:srgbClr val="0000FF"/>
                </a:solidFill>
                <a:latin typeface="Consolas"/>
              </a:rPr>
              <a:t>"text/</a:t>
            </a:r>
            <a:r>
              <a:rPr lang="en-US" b="0">
                <a:solidFill>
                  <a:srgbClr val="0000FF"/>
                </a:solidFill>
                <a:latin typeface="Consolas"/>
              </a:rPr>
              <a:t>css</a:t>
            </a:r>
            <a:r>
              <a:rPr lang="en-US" b="0">
                <a:solidFill>
                  <a:srgbClr val="0000FF"/>
                </a:solidFill>
                <a:latin typeface="Consolas"/>
              </a:rPr>
              <a:t>"</a:t>
            </a:r>
            <a:r>
              <a:rPr lang="en-US" b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>
                <a:solidFill>
                  <a:srgbClr val="800000"/>
                </a:solidFill>
                <a:latin typeface="Consolas"/>
              </a:rPr>
              <a:t>/&gt;</a:t>
            </a:r>
            <a:r>
              <a:rPr lang="en-US" b="0">
                <a:solidFill>
                  <a:srgbClr val="000000"/>
                </a:solidFill>
                <a:latin typeface="Consolas"/>
              </a:rPr>
              <a:t> </a:t>
            </a:r>
            <a:endParaRPr/>
          </a:p>
          <a:p>
            <a:pPr>
              <a:defRPr/>
            </a:pPr>
            <a:r>
              <a:rPr lang="en-US" b="0">
                <a:solidFill>
                  <a:srgbClr val="800000"/>
                </a:solidFill>
                <a:latin typeface="Consolas"/>
              </a:rPr>
              <a:t>&lt;/header&gt;</a:t>
            </a:r>
            <a:endParaRPr lang="en-US" b="0">
              <a:solidFill>
                <a:srgbClr val="000000"/>
              </a:solidFill>
              <a:latin typeface="Consolas"/>
            </a:endParaRPr>
          </a:p>
          <a:p>
            <a:pPr>
              <a:defRPr/>
            </a:pPr>
            <a:r>
              <a:rPr lang="en-US" b="0">
                <a:solidFill>
                  <a:srgbClr val="800000"/>
                </a:solidFill>
                <a:latin typeface="Consolas"/>
              </a:rPr>
              <a:t>&lt;body&gt;</a:t>
            </a:r>
            <a:r>
              <a:rPr lang="en-US" b="0">
                <a:solidFill>
                  <a:srgbClr val="000000"/>
                </a:solidFill>
                <a:latin typeface="Consolas"/>
              </a:rPr>
              <a:t> </a:t>
            </a:r>
            <a:endParaRPr/>
          </a:p>
          <a:p>
            <a:pPr>
              <a:defRPr/>
            </a:pPr>
            <a:r>
              <a:rPr lang="en-US" b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b="0">
                <a:solidFill>
                  <a:srgbClr val="800000"/>
                </a:solidFill>
                <a:latin typeface="Consolas"/>
              </a:rPr>
              <a:t>&lt;h1&gt;</a:t>
            </a:r>
            <a:r>
              <a:rPr lang="en-US" b="0">
                <a:solidFill>
                  <a:srgbClr val="000000"/>
                </a:solidFill>
                <a:latin typeface="Consolas"/>
              </a:rPr>
              <a:t>My first program!</a:t>
            </a:r>
            <a:r>
              <a:rPr lang="en-US" b="0">
                <a:solidFill>
                  <a:srgbClr val="800000"/>
                </a:solidFill>
                <a:latin typeface="Consolas"/>
              </a:rPr>
              <a:t>&lt;/h1&gt;</a:t>
            </a:r>
            <a:endParaRPr lang="en-US" b="0">
              <a:solidFill>
                <a:srgbClr val="000000"/>
              </a:solidFill>
              <a:latin typeface="Consolas"/>
            </a:endParaRPr>
          </a:p>
          <a:p>
            <a:pPr>
              <a:defRPr/>
            </a:pPr>
            <a:r>
              <a:rPr lang="en-US" b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b="0">
                <a:solidFill>
                  <a:srgbClr val="800000"/>
                </a:solidFill>
                <a:latin typeface="Consolas"/>
              </a:rPr>
              <a:t>&lt;script</a:t>
            </a:r>
            <a:r>
              <a:rPr lang="en-US" b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>
                <a:solidFill>
                  <a:srgbClr val="E50000"/>
                </a:solidFill>
                <a:latin typeface="Consolas"/>
              </a:rPr>
              <a:t>src</a:t>
            </a:r>
            <a:r>
              <a:rPr lang="en-US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0">
                <a:solidFill>
                  <a:srgbClr val="0000FF"/>
                </a:solidFill>
                <a:latin typeface="Consolas"/>
              </a:rPr>
              <a:t>"script.js"</a:t>
            </a:r>
            <a:r>
              <a:rPr lang="en-US" b="0">
                <a:solidFill>
                  <a:srgbClr val="800000"/>
                </a:solidFill>
                <a:latin typeface="Consolas"/>
              </a:rPr>
              <a:t>&gt;&lt;/script&gt;</a:t>
            </a:r>
            <a:endParaRPr lang="en-US" b="0">
              <a:solidFill>
                <a:srgbClr val="000000"/>
              </a:solidFill>
              <a:latin typeface="Consolas"/>
            </a:endParaRPr>
          </a:p>
          <a:p>
            <a:pPr>
              <a:defRPr/>
            </a:pPr>
            <a:r>
              <a:rPr lang="en-US" b="0">
                <a:solidFill>
                  <a:srgbClr val="800000"/>
                </a:solidFill>
                <a:latin typeface="Consolas"/>
              </a:rPr>
              <a:t>&lt;/body&gt;</a:t>
            </a:r>
            <a:endParaRPr lang="en-US" b="0">
              <a:solidFill>
                <a:srgbClr val="000000"/>
              </a:solidFill>
              <a:latin typeface="Consolas"/>
            </a:endParaRPr>
          </a:p>
          <a:p>
            <a:pPr>
              <a:defRPr/>
            </a:pPr>
            <a:r>
              <a:rPr lang="en-US" b="0">
                <a:solidFill>
                  <a:srgbClr val="800000"/>
                </a:solidFill>
                <a:latin typeface="Consolas"/>
              </a:rPr>
              <a:t>&lt;/html&gt;</a:t>
            </a:r>
            <a:endParaRPr lang="en-US" b="0">
              <a:solidFill>
                <a:srgbClr val="000000"/>
              </a:solidFill>
              <a:latin typeface="Consola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80549" y="535915"/>
            <a:ext cx="3681202" cy="31214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 bwMode="auto">
          <a:xfrm>
            <a:off x="6067425" y="69985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>
                <a:latin typeface="Times New Roman"/>
                <a:cs typeface="Times New Roman"/>
              </a:rPr>
              <a:t>Содержание файла </a:t>
            </a:r>
            <a:r>
              <a:rPr lang="en-US" sz="2800">
                <a:latin typeface="Times New Roman"/>
                <a:cs typeface="Times New Roman"/>
              </a:rPr>
              <a:t>HTML</a:t>
            </a:r>
            <a:endParaRPr lang="ru-RU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 bwMode="auto">
          <a:xfrm>
            <a:off x="5077979" y="3079530"/>
            <a:ext cx="6756669" cy="25960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346651" y="2375337"/>
            <a:ext cx="2330453" cy="69893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80549" y="535915"/>
            <a:ext cx="3681202" cy="31214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5562600" y="365740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0">
                <a:solidFill>
                  <a:srgbClr val="800000"/>
                </a:solidFill>
                <a:latin typeface="Consolas"/>
              </a:rPr>
              <a:t>h1</a:t>
            </a:r>
            <a:r>
              <a:rPr lang="en-US" b="0">
                <a:solidFill>
                  <a:srgbClr val="000000"/>
                </a:solidFill>
                <a:latin typeface="Consolas"/>
              </a:rPr>
              <a:t> {</a:t>
            </a:r>
            <a:endParaRPr/>
          </a:p>
          <a:p>
            <a:pPr>
              <a:defRPr/>
            </a:pPr>
            <a:r>
              <a:rPr lang="en-US" b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b="0">
                <a:solidFill>
                  <a:srgbClr val="E50000"/>
                </a:solidFill>
                <a:latin typeface="Consolas"/>
              </a:rPr>
              <a:t>color</a:t>
            </a:r>
            <a:r>
              <a:rPr lang="en-US" b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b="0">
                <a:solidFill>
                  <a:srgbClr val="0451A5"/>
                </a:solidFill>
                <a:latin typeface="Consolas"/>
              </a:rPr>
              <a:t>green</a:t>
            </a:r>
            <a:r>
              <a:rPr lang="en-US" b="0">
                <a:solidFill>
                  <a:srgbClr val="000000"/>
                </a:solidFill>
                <a:latin typeface="Consolas"/>
              </a:rPr>
              <a:t>;</a:t>
            </a:r>
            <a:endParaRPr/>
          </a:p>
          <a:p>
            <a:pPr>
              <a:defRPr/>
            </a:pPr>
            <a:r>
              <a:rPr lang="en-US" b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b="0">
                <a:solidFill>
                  <a:srgbClr val="E50000"/>
                </a:solidFill>
                <a:latin typeface="Consolas"/>
              </a:rPr>
              <a:t>font-size</a:t>
            </a:r>
            <a:r>
              <a:rPr lang="en-US" b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b="0">
                <a:solidFill>
                  <a:srgbClr val="0451A5"/>
                </a:solidFill>
                <a:latin typeface="Consolas"/>
              </a:rPr>
              <a:t>large</a:t>
            </a:r>
            <a:r>
              <a:rPr lang="en-US" b="0">
                <a:solidFill>
                  <a:srgbClr val="000000"/>
                </a:solidFill>
                <a:latin typeface="Consolas"/>
              </a:rPr>
              <a:t>;</a:t>
            </a:r>
            <a:endParaRPr/>
          </a:p>
          <a:p>
            <a:pPr>
              <a:defRPr/>
            </a:pPr>
            <a:r>
              <a:rPr lang="en-US" b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b="0">
                <a:solidFill>
                  <a:srgbClr val="E50000"/>
                </a:solidFill>
                <a:latin typeface="Consolas"/>
              </a:rPr>
              <a:t>font-family</a:t>
            </a:r>
            <a:r>
              <a:rPr lang="en-US" b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b="0">
                <a:solidFill>
                  <a:srgbClr val="0451A5"/>
                </a:solidFill>
                <a:latin typeface="Consolas"/>
              </a:rPr>
              <a:t>Arial</a:t>
            </a:r>
            <a:r>
              <a:rPr lang="en-US" b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b="0">
                <a:solidFill>
                  <a:srgbClr val="0451A5"/>
                </a:solidFill>
                <a:latin typeface="Consolas"/>
              </a:rPr>
              <a:t>Helvetica</a:t>
            </a:r>
            <a:r>
              <a:rPr lang="en-US" b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b="0">
                <a:solidFill>
                  <a:srgbClr val="0451A5"/>
                </a:solidFill>
                <a:latin typeface="Consolas"/>
              </a:rPr>
              <a:t>sans-serif</a:t>
            </a:r>
            <a:r>
              <a:rPr lang="en-US" b="0">
                <a:solidFill>
                  <a:srgbClr val="000000"/>
                </a:solidFill>
                <a:latin typeface="Consolas"/>
              </a:rPr>
              <a:t>;</a:t>
            </a:r>
            <a:endParaRPr/>
          </a:p>
          <a:p>
            <a:pPr>
              <a:defRPr/>
            </a:pPr>
            <a:r>
              <a:rPr lang="en-US" b="0">
                <a:solidFill>
                  <a:srgbClr val="000000"/>
                </a:solidFill>
                <a:latin typeface="Consolas"/>
              </a:rPr>
              <a:t>}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6067425" y="69985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>
                <a:latin typeface="Times New Roman"/>
                <a:cs typeface="Times New Roman"/>
              </a:rPr>
              <a:t>Содержание файла </a:t>
            </a:r>
            <a:r>
              <a:rPr lang="en-US" sz="2800">
                <a:latin typeface="Times New Roman"/>
                <a:cs typeface="Times New Roman"/>
              </a:rPr>
              <a:t>CSS</a:t>
            </a:r>
            <a:endParaRPr lang="ru-RU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 bwMode="auto">
          <a:xfrm>
            <a:off x="5696606" y="3689130"/>
            <a:ext cx="5423339" cy="14504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 sz="2400"/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2388692" y="3079531"/>
            <a:ext cx="2330453" cy="69893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80549" y="535915"/>
            <a:ext cx="3681202" cy="3121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 bwMode="auto">
          <a:xfrm>
            <a:off x="5938345" y="420340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0">
                <a:solidFill>
                  <a:srgbClr val="795E26"/>
                </a:solidFill>
                <a:latin typeface="Consolas"/>
              </a:rPr>
              <a:t>alert</a:t>
            </a:r>
            <a:r>
              <a:rPr lang="en-US" sz="2400" b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400" b="0">
                <a:solidFill>
                  <a:srgbClr val="A31515"/>
                </a:solidFill>
                <a:latin typeface="Consolas"/>
              </a:rPr>
              <a:t>'Hello world!'</a:t>
            </a:r>
            <a:r>
              <a:rPr lang="en-US" sz="2400" b="0">
                <a:solidFill>
                  <a:srgbClr val="000000"/>
                </a:solidFill>
                <a:latin typeface="Consolas"/>
              </a:rPr>
              <a:t>);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6067425" y="69985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>
                <a:latin typeface="Times New Roman"/>
                <a:cs typeface="Times New Roman"/>
              </a:rPr>
              <a:t>Содержание файла </a:t>
            </a:r>
            <a:r>
              <a:rPr lang="en-US" sz="2800">
                <a:latin typeface="Times New Roman"/>
                <a:cs typeface="Times New Roman"/>
              </a:rPr>
              <a:t>JavaScript</a:t>
            </a:r>
            <a:endParaRPr lang="ru-RU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819905" y="1257948"/>
            <a:ext cx="10752970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400">
                <a:latin typeface="Times New Roman"/>
                <a:cs typeface="Times New Roman"/>
              </a:rPr>
              <a:t>	Теперь все внесенные локальные изменения нужно зафиксировать в удаленном репозитории. Данная фиксация носит название «Коммит». </a:t>
            </a:r>
            <a:endParaRPr/>
          </a:p>
          <a:p>
            <a:pPr algn="just">
              <a:lnSpc>
                <a:spcPct val="150000"/>
              </a:lnSpc>
              <a:defRPr/>
            </a:pPr>
            <a:endParaRPr lang="ru-RU" sz="24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defRPr/>
            </a:pPr>
            <a:r>
              <a:rPr lang="ru-RU" sz="2400">
                <a:latin typeface="Times New Roman"/>
                <a:cs typeface="Times New Roman"/>
              </a:rPr>
              <a:t>	Коммит - это способ сохранения изменений в коде. Каждый коммит содержит информацию о том, что было изменено в коде и кем были внесены эти изменения. Они позволяют разработчикам отслеживать изменения в своем коде и возвращаться к предыдущим версиям, если это необходимо.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55059" y="3622040"/>
            <a:ext cx="7281882" cy="21934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552449" y="285264"/>
            <a:ext cx="10715625" cy="298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400" b="0" i="0">
                <a:solidFill>
                  <a:srgbClr val="000000"/>
                </a:solidFill>
                <a:latin typeface="Times New Roman"/>
                <a:cs typeface="Times New Roman"/>
              </a:rPr>
              <a:t>	Перед выполнением коммита мы можем проверить текущий статус локального репозитория. Для этого нужно выполнить команду </a:t>
            </a:r>
            <a:r>
              <a:rPr lang="en-US" sz="3200" b="1" i="0">
                <a:solidFill>
                  <a:srgbClr val="000000"/>
                </a:solidFill>
                <a:latin typeface="Times New Roman"/>
                <a:cs typeface="Times New Roman"/>
              </a:rPr>
              <a:t>git status</a:t>
            </a:r>
            <a:endParaRPr/>
          </a:p>
          <a:p>
            <a:pPr algn="just">
              <a:lnSpc>
                <a:spcPct val="150000"/>
              </a:lnSpc>
              <a:defRPr/>
            </a:pPr>
            <a:endParaRPr lang="en-US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defRPr/>
            </a:pPr>
            <a:r>
              <a:rPr lang="ru-RU" sz="2400">
                <a:solidFill>
                  <a:srgbClr val="000000"/>
                </a:solidFill>
                <a:latin typeface="Times New Roman"/>
                <a:cs typeface="Times New Roman"/>
              </a:rPr>
              <a:t>	На изображении видно что есть незафиксированные изменения </a:t>
            </a:r>
            <a:r>
              <a:rPr lang="en-US" sz="2400" b="1">
                <a:solidFill>
                  <a:srgbClr val="FF0000"/>
                </a:solidFill>
                <a:latin typeface="Times New Roman"/>
                <a:cs typeface="Times New Roman"/>
              </a:rPr>
              <a:t>First program/ </a:t>
            </a:r>
            <a:r>
              <a:rPr lang="en-US" sz="2400">
                <a:latin typeface="Times New Roman"/>
                <a:cs typeface="Times New Roman"/>
              </a:rPr>
              <a:t>– </a:t>
            </a:r>
            <a:r>
              <a:rPr lang="ru-RU" sz="2400">
                <a:latin typeface="Times New Roman"/>
                <a:cs typeface="Times New Roman"/>
              </a:rPr>
              <a:t>название папки с кодом нашего первого веб-приложения.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367083" y="2943068"/>
            <a:ext cx="5439534" cy="22482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614743" y="537636"/>
            <a:ext cx="10420350" cy="5207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000" b="0" i="0">
                <a:solidFill>
                  <a:srgbClr val="000000"/>
                </a:solidFill>
                <a:latin typeface="Times New Roman"/>
                <a:cs typeface="Times New Roman"/>
              </a:rPr>
              <a:t>	Чтобы использовать команду </a:t>
            </a:r>
            <a:r>
              <a:rPr lang="ru-RU" sz="2000" b="0" i="0">
                <a:solidFill>
                  <a:srgbClr val="000000"/>
                </a:solidFill>
                <a:latin typeface="Times New Roman"/>
                <a:cs typeface="Times New Roman"/>
              </a:rPr>
              <a:t>commit</a:t>
            </a:r>
            <a:r>
              <a:rPr lang="ru-RU" sz="2000" b="0" i="0">
                <a:solidFill>
                  <a:srgbClr val="000000"/>
                </a:solidFill>
                <a:latin typeface="Times New Roman"/>
                <a:cs typeface="Times New Roman"/>
              </a:rPr>
              <a:t>, разработчик должен сначала использовать команду </a:t>
            </a:r>
            <a:r>
              <a:rPr lang="ru-RU" sz="2800" b="1" i="0">
                <a:solidFill>
                  <a:srgbClr val="000000"/>
                </a:solidFill>
                <a:latin typeface="Times New Roman"/>
                <a:cs typeface="Times New Roman"/>
              </a:rPr>
              <a:t>git</a:t>
            </a:r>
            <a:r>
              <a:rPr lang="ru-RU" sz="2800" b="1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sz="2800" b="1" i="0">
                <a:solidFill>
                  <a:srgbClr val="000000"/>
                </a:solidFill>
                <a:latin typeface="Times New Roman"/>
                <a:cs typeface="Times New Roman"/>
              </a:rPr>
              <a:t>add</a:t>
            </a:r>
            <a:r>
              <a:rPr lang="ru-RU" sz="2000" b="0" i="0">
                <a:solidFill>
                  <a:srgbClr val="000000"/>
                </a:solidFill>
                <a:latin typeface="Times New Roman"/>
                <a:cs typeface="Times New Roman"/>
              </a:rPr>
              <a:t>, чтобы добавить измененные файлы</a:t>
            </a: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endParaRPr/>
          </a:p>
          <a:p>
            <a:pPr algn="just">
              <a:lnSpc>
                <a:spcPct val="150000"/>
              </a:lnSpc>
              <a:defRPr/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defRPr/>
            </a:pPr>
            <a:r>
              <a:rPr lang="ru-RU" sz="2000">
                <a:solidFill>
                  <a:srgbClr val="000000"/>
                </a:solidFill>
                <a:latin typeface="Times New Roman"/>
                <a:cs typeface="Times New Roman"/>
              </a:rPr>
              <a:t>Есть несколько вариантов выполнения данной команды: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defRPr/>
            </a:pPr>
            <a:endParaRPr lang="ru-RU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defRPr/>
            </a:pPr>
            <a:r>
              <a:rPr lang="ru-RU" sz="2800" b="1" i="0">
                <a:solidFill>
                  <a:srgbClr val="000000"/>
                </a:solidFill>
                <a:latin typeface="Times New Roman"/>
                <a:cs typeface="Times New Roman"/>
              </a:rPr>
              <a:t>git</a:t>
            </a:r>
            <a:r>
              <a:rPr lang="ru-RU" sz="2800" b="1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sz="2800" b="1" i="0">
                <a:solidFill>
                  <a:srgbClr val="000000"/>
                </a:solidFill>
                <a:latin typeface="Times New Roman"/>
                <a:cs typeface="Times New Roman"/>
              </a:rPr>
              <a:t>add</a:t>
            </a:r>
            <a:r>
              <a:rPr lang="ru-RU" sz="2800" b="1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800" b="1">
                <a:solidFill>
                  <a:srgbClr val="000000"/>
                </a:solidFill>
                <a:latin typeface="Times New Roman"/>
                <a:cs typeface="Times New Roman"/>
              </a:rPr>
              <a:t>&lt;</a:t>
            </a:r>
            <a:r>
              <a:rPr lang="ru-RU" sz="2800" b="1">
                <a:solidFill>
                  <a:srgbClr val="000000"/>
                </a:solidFill>
                <a:latin typeface="Times New Roman"/>
                <a:cs typeface="Times New Roman"/>
              </a:rPr>
              <a:t>название файла</a:t>
            </a:r>
            <a:r>
              <a:rPr lang="en-US" sz="2800" b="1">
                <a:solidFill>
                  <a:srgbClr val="000000"/>
                </a:solidFill>
                <a:latin typeface="Times New Roman"/>
                <a:cs typeface="Times New Roman"/>
              </a:rPr>
              <a:t>&gt;</a:t>
            </a:r>
            <a:endParaRPr/>
          </a:p>
          <a:p>
            <a:pPr algn="just">
              <a:lnSpc>
                <a:spcPct val="150000"/>
              </a:lnSpc>
              <a:defRPr/>
            </a:pPr>
            <a:r>
              <a:rPr lang="ru-RU" sz="2800" b="1" i="0">
                <a:solidFill>
                  <a:srgbClr val="000000"/>
                </a:solidFill>
                <a:latin typeface="Times New Roman"/>
                <a:cs typeface="Times New Roman"/>
              </a:rPr>
              <a:t>git</a:t>
            </a:r>
            <a:r>
              <a:rPr lang="ru-RU" sz="2800" b="1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sz="2800" b="1" i="0">
                <a:solidFill>
                  <a:srgbClr val="000000"/>
                </a:solidFill>
                <a:latin typeface="Times New Roman"/>
                <a:cs typeface="Times New Roman"/>
              </a:rPr>
              <a:t>add</a:t>
            </a:r>
            <a:r>
              <a:rPr lang="en-US" sz="2800" b="1" i="0">
                <a:solidFill>
                  <a:srgbClr val="000000"/>
                </a:solidFill>
                <a:latin typeface="Times New Roman"/>
                <a:cs typeface="Times New Roman"/>
              </a:rPr>
              <a:t> .</a:t>
            </a:r>
            <a:endParaRPr/>
          </a:p>
          <a:p>
            <a:pPr algn="just">
              <a:lnSpc>
                <a:spcPct val="150000"/>
              </a:lnSpc>
              <a:defRPr/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defRPr/>
            </a:pPr>
            <a:r>
              <a:rPr lang="ru-RU" sz="2000">
                <a:solidFill>
                  <a:srgbClr val="000000"/>
                </a:solidFill>
                <a:latin typeface="Times New Roman"/>
                <a:cs typeface="Times New Roman"/>
              </a:rPr>
              <a:t>Точка – обозначает все измененные файлы.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defRPr/>
            </a:pPr>
            <a:endParaRPr lang="ru-RU"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390522" y="3668125"/>
            <a:ext cx="5410955" cy="24101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 bwMode="auto">
          <a:xfrm>
            <a:off x="781049" y="409437"/>
            <a:ext cx="10963275" cy="298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2400">
                <a:latin typeface="Times New Roman"/>
                <a:cs typeface="Times New Roman"/>
              </a:rPr>
              <a:t>	</a:t>
            </a:r>
            <a:r>
              <a:rPr lang="ru-RU" sz="2400">
                <a:latin typeface="Times New Roman"/>
                <a:cs typeface="Times New Roman"/>
              </a:rPr>
              <a:t>После того как файлы добавлены</a:t>
            </a:r>
            <a:r>
              <a:rPr lang="en-US" sz="2400">
                <a:latin typeface="Times New Roman"/>
                <a:cs typeface="Times New Roman"/>
              </a:rPr>
              <a:t> (</a:t>
            </a:r>
            <a:r>
              <a:rPr lang="en-US" sz="2400" b="1">
                <a:latin typeface="Times New Roman"/>
                <a:cs typeface="Times New Roman"/>
              </a:rPr>
              <a:t>git add</a:t>
            </a:r>
            <a:r>
              <a:rPr lang="ru-RU" sz="2400" b="1">
                <a:latin typeface="Times New Roman"/>
                <a:cs typeface="Times New Roman"/>
              </a:rPr>
              <a:t> .</a:t>
            </a:r>
            <a:r>
              <a:rPr lang="en-US" sz="2400">
                <a:latin typeface="Times New Roman"/>
                <a:cs typeface="Times New Roman"/>
              </a:rPr>
              <a:t>)</a:t>
            </a:r>
            <a:r>
              <a:rPr lang="ru-RU" sz="2400">
                <a:latin typeface="Times New Roman"/>
                <a:cs typeface="Times New Roman"/>
              </a:rPr>
              <a:t>, разработчик может использовать команду </a:t>
            </a:r>
            <a:r>
              <a:rPr lang="ru-RU" sz="3200" b="1">
                <a:latin typeface="Times New Roman"/>
                <a:cs typeface="Times New Roman"/>
              </a:rPr>
              <a:t>git</a:t>
            </a:r>
            <a:r>
              <a:rPr lang="ru-RU" sz="3200" b="1">
                <a:latin typeface="Times New Roman"/>
                <a:cs typeface="Times New Roman"/>
              </a:rPr>
              <a:t> </a:t>
            </a:r>
            <a:r>
              <a:rPr lang="ru-RU" sz="3200" b="1">
                <a:latin typeface="Times New Roman"/>
                <a:cs typeface="Times New Roman"/>
              </a:rPr>
              <a:t>commit</a:t>
            </a:r>
            <a:r>
              <a:rPr lang="en-US" sz="3200" b="1">
                <a:latin typeface="Times New Roman"/>
                <a:cs typeface="Times New Roman"/>
              </a:rPr>
              <a:t> –m </a:t>
            </a:r>
            <a:r>
              <a:rPr lang="en-GB" sz="3200" b="1">
                <a:latin typeface="Times New Roman"/>
                <a:cs typeface="Times New Roman"/>
              </a:rPr>
              <a:t>&lt;</a:t>
            </a:r>
            <a:r>
              <a:rPr lang="ru-RU" sz="3200" b="1">
                <a:latin typeface="Times New Roman"/>
                <a:cs typeface="Times New Roman"/>
              </a:rPr>
              <a:t>сообщение</a:t>
            </a:r>
            <a:r>
              <a:rPr lang="en-GB" sz="3200" b="1">
                <a:latin typeface="Times New Roman"/>
                <a:cs typeface="Times New Roman"/>
              </a:rPr>
              <a:t>&gt;</a:t>
            </a:r>
            <a:r>
              <a:rPr lang="ru-RU" sz="2400">
                <a:latin typeface="Times New Roman"/>
                <a:cs typeface="Times New Roman"/>
              </a:rPr>
              <a:t>, чтобы сохранить изменения. При этом нужно написать сообщение о внесенных изменениях. Сообщение обычно должно содержать краткое описание того, что сделал разработчик и что теперь работает по-другому.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928686" y="1267473"/>
            <a:ext cx="10334625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400">
                <a:latin typeface="Times New Roman"/>
                <a:cs typeface="Times New Roman"/>
              </a:rPr>
              <a:t>	Хорошее сообщение должно содержать краткое описание внесенных изменений и иметь понятную структуру. </a:t>
            </a:r>
            <a:endParaRPr/>
          </a:p>
          <a:p>
            <a:pPr algn="just">
              <a:lnSpc>
                <a:spcPct val="150000"/>
              </a:lnSpc>
              <a:defRPr/>
            </a:pPr>
            <a:endParaRPr lang="ru-RU" sz="240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  <a:defRPr/>
            </a:pPr>
            <a:r>
              <a:rPr lang="ru-RU" sz="2400">
                <a:latin typeface="Times New Roman"/>
                <a:cs typeface="Times New Roman"/>
              </a:rPr>
              <a:t>Старайтесь использовать понятные и информативные заголовки.</a:t>
            </a:r>
            <a:endParaRPr/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  <a:defRPr/>
            </a:pPr>
            <a:r>
              <a:rPr lang="ru-RU" sz="2400">
                <a:latin typeface="Times New Roman"/>
                <a:cs typeface="Times New Roman"/>
              </a:rPr>
              <a:t>Опишите внесенные изменения и поясните, почему они были сделаны.</a:t>
            </a:r>
            <a:endParaRPr/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  <a:defRPr/>
            </a:pPr>
            <a:r>
              <a:rPr lang="ru-RU" sz="2400">
                <a:latin typeface="Times New Roman"/>
                <a:cs typeface="Times New Roman"/>
              </a:rPr>
              <a:t>Используйте простой язык и старайтесь избегать сложных технических терминов.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sp>
        <p:nvSpPr>
          <p:cNvPr id="8" name="TextBox 7"/>
          <p:cNvSpPr txBox="1"/>
          <p:nvPr/>
        </p:nvSpPr>
        <p:spPr bwMode="auto">
          <a:xfrm>
            <a:off x="788478" y="1652588"/>
            <a:ext cx="10565321" cy="211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800">
                <a:latin typeface="Times New Roman"/>
                <a:cs typeface="Times New Roman"/>
              </a:rPr>
              <a:t>	Зафиксированные локальные изменения можно перенести в удаленный репозиторий на платформу </a:t>
            </a:r>
            <a:r>
              <a:rPr lang="en-US" sz="2800" b="1">
                <a:latin typeface="Times New Roman"/>
                <a:cs typeface="Times New Roman"/>
              </a:rPr>
              <a:t>GitHub</a:t>
            </a:r>
            <a:r>
              <a:rPr lang="en-GB" sz="2800">
                <a:latin typeface="Times New Roman"/>
                <a:cs typeface="Times New Roman"/>
              </a:rPr>
              <a:t>.</a:t>
            </a:r>
            <a:r>
              <a:rPr lang="ru-RU" sz="2800">
                <a:latin typeface="Times New Roman"/>
                <a:cs typeface="Times New Roman"/>
              </a:rPr>
              <a:t> Для этого в терминале выполняется команда </a:t>
            </a:r>
            <a:r>
              <a:rPr lang="en-US" sz="3600" b="1">
                <a:latin typeface="Times New Roman"/>
                <a:cs typeface="Times New Roman"/>
              </a:rPr>
              <a:t>git push origin main</a:t>
            </a:r>
            <a:endParaRPr lang="ru-RU" sz="2800" b="1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64652" y="3554495"/>
            <a:ext cx="4821725" cy="316697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648303" y="3831456"/>
            <a:ext cx="6170956" cy="27947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 bwMode="auto">
          <a:xfrm>
            <a:off x="862012" y="295475"/>
            <a:ext cx="10468334" cy="1189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defRPr/>
            </a:pPr>
            <a:r>
              <a:rPr lang="ru-RU" sz="2400">
                <a:latin typeface="Times New Roman"/>
                <a:cs typeface="Times New Roman"/>
              </a:rPr>
              <a:t>	Теперь доступ к Вашему первому веб-сайту можно получить с платформы </a:t>
            </a:r>
            <a:r>
              <a:rPr lang="en-US" sz="2400" b="1">
                <a:latin typeface="Times New Roman"/>
                <a:cs typeface="Times New Roman"/>
              </a:rPr>
              <a:t>GitHub</a:t>
            </a:r>
            <a:r>
              <a:rPr lang="en-US" sz="2400">
                <a:latin typeface="Times New Roman"/>
                <a:cs typeface="Times New Roman"/>
              </a:rPr>
              <a:t>. </a:t>
            </a:r>
            <a:r>
              <a:rPr lang="ru-RU" sz="2400">
                <a:latin typeface="Times New Roman"/>
                <a:cs typeface="Times New Roman"/>
              </a:rPr>
              <a:t>Проверьте наличие папки </a:t>
            </a:r>
            <a:r>
              <a:rPr lang="en-US" sz="2400" i="1">
                <a:latin typeface="Times New Roman"/>
                <a:cs typeface="Times New Roman"/>
              </a:rPr>
              <a:t>First program</a:t>
            </a:r>
            <a:r>
              <a:rPr lang="ru-RU" sz="2400" i="1">
                <a:latin typeface="Times New Roman"/>
                <a:cs typeface="Times New Roman"/>
              </a:rPr>
              <a:t> </a:t>
            </a:r>
            <a:r>
              <a:rPr lang="ru-RU" sz="2400">
                <a:latin typeface="Times New Roman"/>
                <a:cs typeface="Times New Roman"/>
              </a:rPr>
              <a:t>в Вашем созданном репозитории и содержание файлов.</a:t>
            </a:r>
            <a:r>
              <a:rPr lang="en-US" sz="2400">
                <a:latin typeface="Times New Roman"/>
                <a:cs typeface="Times New Roman"/>
              </a:rPr>
              <a:t> </a:t>
            </a:r>
            <a:endParaRPr lang="ru-RU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248613" y="4405739"/>
            <a:ext cx="3694773" cy="13621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 bwMode="auto">
          <a:xfrm>
            <a:off x="685800" y="386060"/>
            <a:ext cx="10972800" cy="3431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800">
                <a:latin typeface="Times New Roman"/>
                <a:cs typeface="Times New Roman"/>
              </a:rPr>
              <a:t>	Для извлечения и загрузки содержимого из удаленного репозитория и немедленного обновления локального репозитория этим содержимым используется команда </a:t>
            </a:r>
            <a:r>
              <a:rPr lang="en-US" sz="3600" b="1">
                <a:latin typeface="Times New Roman"/>
                <a:cs typeface="Times New Roman"/>
              </a:rPr>
              <a:t>git pull </a:t>
            </a:r>
            <a:endParaRPr/>
          </a:p>
          <a:p>
            <a:pPr algn="just">
              <a:lnSpc>
                <a:spcPct val="150000"/>
              </a:lnSpc>
              <a:defRPr/>
            </a:pPr>
            <a:endParaRPr lang="en-US" sz="28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defRPr/>
            </a:pPr>
            <a:r>
              <a:rPr lang="ru-RU" sz="2800">
                <a:latin typeface="Times New Roman"/>
                <a:cs typeface="Times New Roman"/>
              </a:rPr>
              <a:t>	Это обратный процесс команды </a:t>
            </a:r>
            <a:r>
              <a:rPr lang="en-US" sz="2800" b="1">
                <a:latin typeface="Times New Roman"/>
                <a:cs typeface="Times New Roman"/>
              </a:rPr>
              <a:t>git push </a:t>
            </a:r>
            <a:endParaRPr lang="ru-RU" sz="2800" b="1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C4382C-70C1-4F05-867A-98903F7CA334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R7-Office/7.4.0.112</Application>
  <DocSecurity>0</DocSecurity>
  <PresentationFormat>Широкоэкранный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Валерия Хлызова</dc:creator>
  <cp:keywords/>
  <dc:description/>
  <dc:identifier/>
  <dc:language/>
  <cp:lastModifiedBy>Валерия Хлызовва</cp:lastModifiedBy>
  <cp:revision>11</cp:revision>
  <dcterms:created xsi:type="dcterms:W3CDTF">2023-10-31T16:25:22Z</dcterms:created>
  <dcterms:modified xsi:type="dcterms:W3CDTF">2023-11-04T04:45:43Z</dcterms:modified>
  <cp:category/>
  <cp:contentStatus/>
  <cp:version/>
</cp:coreProperties>
</file>